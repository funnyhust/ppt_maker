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  <Relationship Id="rId3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Mở đầu kỳ review ngày 23/07/2026, phạm vi đánh giá từ 20/03 đến 22/07/2026.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Bài trình bày giữ nguyên bốn phần của template cũ: dự án, AI, tự đánh giá và mục tiêu.</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Trong kỳ có 114 task được quy hoạch thành bốn nhóm dự án chính; 102 task đã Done, tương đương 89,5%. KNX, Auto Test và MSB giữ phạm vi riêng, còn toàn bộ tool test và tool loader sản xuất được gom dưới Tool Design.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KNX là trọng tâm lớn nhất với 98 task, bao phủ sản phẩm, tool, hệ thống và đào tạo.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Đầu ra KNX đi xuyên suốt từ firmware đến Jig, benchmark, kiểm thử, tài liệu và đào tạo.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Ảnh phóng lớn cho thấy bảng điều khiển tập trung, hỗ trợ theo dõi thiết bị và trạng thái benchmark.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Giao diện tạo test case chuẩn hóa dữ liệu đầu vào và giảm thao tác rời rạc trong quá trình kiểm thử.</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Báo cáo tổng hợp kết quả pass/fail và bằng chứng test, giúp truy vết và xác nhận đầu ra.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Điểm tiến bộ chính là tư duy end-to-end và quy trình tái hiện, đo, đối chiếu, xác nhận.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Tool nạp code gom cấu hình, điều khiển nhiều máy và log vận hành vào một giao diện thống nhất.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Đã hoàn thành KNX Basic Course, đạt 88,5% lý thuyết và 96% thực hành; được KNX Association công nhận KNX Partner số 147063 ngày 31/05/2026.</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Auto Test đang ở giai đoạn xây nền, đã hoàn thành 4 trên 5 task trong phạm vi review.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Tool Design là nhóm dự án mẹ cho tool nguồn DC, loader Luto, tool test và loader Lumes V2, cùng tool test Smart Lighting. Cách gom này giúp thể hiện rõ một năng lực xuyên suốt: tích hợp phần cứng–phần mềm, thiết kế theo operator và chuẩn hóa bàn giao.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Ảnh giao diện phóng lớn minh họa hai vòng chỉnh sửa, ưu tiên độ ổn định, dễ dùng và dễ bảo trì.</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Hai đầu ra loader chính là loader Luto và loader mạch main Lumes V2 đều thuộc Tool Design. Cả hai dùng chung tư duy nhận cấu hình, giao tiếp thiết bị, nạp và xác nhận, sau đó lưu log để dễ vận hành và truy vết.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Với Lumes V2, phần tool test nguồn được tách rõ khỏi công đoạn nạp code. Tool đã hoàn thành theo flow nhà máy, đồng thời cho thấy bài học cần xác nhận sớm fixture, tương thích mạch và tiêu chí acceptance.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MSB là dự án riêng, tập trung xử lý lỗi đo sai năng lượng và kiểm tra Jig tại nhà máy.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Nhánh Tool Design cho Smart Lighting bắt đầu từ ngày 20 tháng 7 và đang dựng nền tool test cho Deep Dimming và CCT Tunable. Trọng tâm hiện tại là chốt dải đo, cấu trúc dữ liệu và tiêu chí pass fail trước khi hoàn thiện tool.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AI hỗ trợ code, tài liệu và học nhanh; mọi kết luận kỹ thuật vẫn phải được kiểm chứng thực tế.</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Điểm mạnh là năng lực end-to-end và chủ động; điểm cần cải thiện là ưu tiên và đóng vòng công việc.</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Bài học chung là chuẩn hóa interface, logging, acceptance và handoff càng sớm càng tốt.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Mục tiêu tiếp theo là hoàn tất dự án đang chạy, đóng task còn mở và chuẩn hóa tài sản dùng lại.</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Cảm ơn và sẵn sàng trao đổi thêm.</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review_nhan_su_t7_re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review_nhan_su_t7_re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b7dad2eee78ee9d.png"/>
  <Relationship Id="rId3" Type="http://schemas.openxmlformats.org/officeDocument/2006/relationships/image" Target="../media/image_b3ef018bf0b10f2b.pn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10fcf8f9f909b91.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3db7369d2c1e7d49.jp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b10707da1aef28a0.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fd5d8ea2d71d37bf.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b9e63bc5fbef4046.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6c42e28fcff89fb.png"/>
  <Relationship Id="rId4" Type="http://schemas.openxmlformats.org/officeDocument/2006/relationships/image" Target="../media/image_1769f417fa58109b.png"/>
  <Relationship Id="rId5"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6c42e28fcff89fb.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f37076700b99ce05.jpg"/>
  <Relationship Id="rId4" Type="http://schemas.openxmlformats.org/officeDocument/2006/relationships/image" Target="../media/image_1769f417fa58109b.png"/>
  <Relationship Id="rId5"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ee3708cd69e1814.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69664ee4becf20cb.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deea19358d7d9df9.jp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ebf0602e5ed4ba86.jp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b7dad2eee78ee9d.png"/>
  <Relationship Id="rId3" Type="http://schemas.openxmlformats.org/officeDocument/2006/relationships/image" Target="../media/image_b3ef018bf0b10f2b.png"/>
  <Relationship Id="rId4" Type="http://schemas.openxmlformats.org/officeDocument/2006/relationships/image" Target="../media/image_cd22578ee1f97165.png"/>
  <Relationship Id="rId5" Type="http://schemas.openxmlformats.org/officeDocument/2006/relationships/image" Target="../media/image_5a1205fbd766d78e.png"/>
  <Relationship Id="rId6" Type="http://schemas.openxmlformats.org/officeDocument/2006/relationships/image" Target="../media/image_3f64fe1646839cff.png"/>
  <Relationship Id="rId7"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00050" y="323850"/>
            <a:ext cx="1562100" cy="457200"/>
          </a:xfrm>
          <a:prstGeom prst="rect">
            <a:avLst/>
          </a:prstGeom>
        </p:spPr>
      </p:pic>
      <p:grpSp>
        <p:nvGrpSpPr>
          <p:cNvPr id="8" name="Group 8"/>
          <p:cNvGrpSpPr/>
          <p:nvPr/>
        </p:nvGrpSpPr>
        <p:grpSpPr>
          <a:xfrm>
            <a:off x="386334" y="2708910"/>
            <a:ext cx="4090416" cy="1765268"/>
            <a:chOff x="386334" y="2708910"/>
            <a:chExt cx="4090416" cy="1765268"/>
          </a:xfrm>
        </p:grpSpPr>
        <p:sp>
          <p:nvSpPr>
            <p:cNvPr id="3" name="TextBox 3"/>
            <p:cNvSpPr txBox="1"/>
            <p:nvPr/>
          </p:nvSpPr>
          <p:spPr>
            <a:xfrm>
              <a:off x="386334" y="2708910"/>
              <a:ext cx="2773375" cy="528066"/>
            </a:xfrm>
            <a:prstGeom prst="rect">
              <a:avLst/>
            </a:prstGeom>
            <a:noFill/>
            <a:ln>
              <a:noFill/>
            </a:ln>
          </p:spPr>
          <p:txBody>
            <a:bodyPr wrap="none" lIns="0" tIns="0" rIns="0" bIns="0" anchor="t" anchorCtr="0">
              <a:spAutoFit/>
            </a:bodyPr>
            <a:lstStyle/>
            <a:p>
              <a:pPr algn="l"/>
              <a:r>
                <a:rPr lang="en-US" sz="2700" dirty="0">
                  <a:solidFill>
                    <a:srgbClr val="FFFFFF"/>
                  </a:solidFill>
                  <a:latin typeface="+mn-lt"/>
                  <a:ea typeface="+mn-ea"/>
                  <a:cs typeface="+mn-cs"/>
                </a:rPr>
                <a:t>REVIEW NHÂN SỰ</a:t>
              </a:r>
            </a:p>
          </p:txBody>
        </p:sp>
        <p:sp>
          <p:nvSpPr>
            <p:cNvPr id="4" name="TextBox 4"/>
            <p:cNvSpPr txBox="1"/>
            <p:nvPr/>
          </p:nvSpPr>
          <p:spPr>
            <a:xfrm>
              <a:off x="392430" y="3362325"/>
              <a:ext cx="2791097"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mn-lt"/>
                  <a:ea typeface="+mn-ea"/>
                  <a:cs typeface="+mn-cs"/>
                </a:rPr>
                <a:t>Họ và tên: Nguyễn Văn Dương</a:t>
              </a:r>
            </a:p>
          </p:txBody>
        </p:sp>
        <p:sp>
          <p:nvSpPr>
            <p:cNvPr id="5" name="Line 5"/>
            <p:cNvSpPr/>
            <p:nvPr/>
          </p:nvSpPr>
          <p:spPr>
            <a:xfrm>
              <a:off x="400050" y="3762375"/>
              <a:ext cx="4076700" cy="9525"/>
            </a:xfrm>
            <a:custGeom>
              <a:avLst/>
              <a:gdLst/>
              <a:ahLst/>
              <a:cxnLst/>
              <a:rect l="l" t="t" r="r" b="b"/>
              <a:pathLst>
                <a:path w="4076700" h="9525">
                  <a:moveTo>
                    <a:pt x="0" y="0"/>
                  </a:moveTo>
                  <a:lnTo>
                    <a:pt x="4076700" y="0"/>
                  </a:lnTo>
                </a:path>
              </a:pathLst>
            </a:custGeom>
            <a:noFill/>
            <a:ln w="9525">
              <a:solidFill>
                <a:srgbClr val="FFFFFF">
                  <a:alpha val="45000"/>
                </a:srgbClr>
              </a:solidFill>
            </a:ln>
          </p:spPr>
        </p:sp>
        <p:sp>
          <p:nvSpPr>
            <p:cNvPr id="6" name="TextBox 6"/>
            <p:cNvSpPr txBox="1"/>
            <p:nvPr/>
          </p:nvSpPr>
          <p:spPr>
            <a:xfrm>
              <a:off x="393573" y="3929539"/>
              <a:ext cx="2109750"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Ngày review: 23/07/2026</a:t>
              </a:r>
            </a:p>
          </p:txBody>
        </p:sp>
        <p:sp>
          <p:nvSpPr>
            <p:cNvPr id="7" name="TextBox 7"/>
            <p:cNvSpPr txBox="1"/>
            <p:nvPr/>
          </p:nvSpPr>
          <p:spPr>
            <a:xfrm>
              <a:off x="393573" y="4224814"/>
              <a:ext cx="3023333"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Giai đoạn review: 20/03–22/07/2026</a:t>
              </a:r>
            </a:p>
          </p:txBody>
        </p:sp>
      </p:grpSp>
      <p:grpSp>
        <p:nvGrpSpPr>
          <p:cNvPr id="10" name="Group 10"/>
          <p:cNvGrpSpPr/>
          <p:nvPr/>
        </p:nvGrpSpPr>
        <p:grpSpPr>
          <a:xfrm>
            <a:off x="6781800" y="847725"/>
            <a:ext cx="5143500" cy="5143500"/>
            <a:chOff x="6781800" y="847725"/>
            <a:chExt cx="5143500" cy="5143500"/>
          </a:xfrm>
        </p:grpSpPr>
        <p:pic>
          <p:nvPicPr>
            <p:cNvPr id="9" name="Image 9"/>
            <p:cNvPicPr>
              <a:picLocks noChangeAspect="1"/>
            </p:cNvPicPr>
            <p:nvPr/>
          </p:nvPicPr>
          <p:blipFill>
            <a:blip r:embed="rId3"/>
            <a:stretch>
              <a:fillRect/>
            </a:stretch>
          </p:blipFill>
          <p:spPr>
            <a:xfrm>
              <a:off x="6781800" y="847725"/>
              <a:ext cx="5143500" cy="5143500"/>
            </a:xfrm>
            <a:prstGeom prst="rect">
              <a:avLst/>
            </a:prstGeom>
          </p:spPr>
        </p:pic>
      </p:grpSp>
      <p:sp>
        <p:nvSpPr>
          <p:cNvPr id="11" name="TextBox 11"/>
          <p:cNvSpPr txBox="1"/>
          <p:nvPr/>
        </p:nvSpPr>
        <p:spPr>
          <a:xfrm>
            <a:off x="393954" y="6290310"/>
            <a:ext cx="103799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www.lumi.vn</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377741" y="285750"/>
            <a:ext cx="1444792" cy="419100"/>
          </a:xfrm>
          <a:prstGeom prst="rect">
            <a:avLst/>
          </a:prstGeom>
        </p:spPr>
      </p:pic>
      <p:grpSp>
        <p:nvGrpSpPr>
          <p:cNvPr id="5" name="Group 5"/>
          <p:cNvGrpSpPr/>
          <p:nvPr/>
        </p:nvGrpSpPr>
        <p:grpSpPr>
          <a:xfrm>
            <a:off x="709026" y="952500"/>
            <a:ext cx="2487198" cy="4953000"/>
            <a:chOff x="709026" y="952500"/>
            <a:chExt cx="2487198" cy="4953000"/>
          </a:xfrm>
        </p:grpSpPr>
        <p:pic>
          <p:nvPicPr>
            <p:cNvPr id="3" name="Image 3"/>
            <p:cNvPicPr>
              <a:picLocks noChangeAspect="1"/>
            </p:cNvPicPr>
            <p:nvPr/>
          </p:nvPicPr>
          <p:blipFill>
            <a:blip r:embed="rId3"/>
            <a:stretch>
              <a:fillRect/>
            </a:stretch>
          </p:blipFill>
          <p:spPr>
            <a:xfrm>
              <a:off x="709026" y="952500"/>
              <a:ext cx="2487198" cy="4953000"/>
            </a:xfrm>
            <a:prstGeom prst="rect">
              <a:avLst/>
            </a:prstGeom>
          </p:spPr>
        </p:pic>
        <p:sp>
          <p:nvSpPr>
            <p:cNvPr id="4" name="TextBox 4"/>
            <p:cNvSpPr txBox="1"/>
            <p:nvPr/>
          </p:nvSpPr>
          <p:spPr>
            <a:xfrm>
              <a:off x="1330361" y="3202305"/>
              <a:ext cx="1244529"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NỘI DUNG</a:t>
              </a:r>
            </a:p>
          </p:txBody>
        </p:sp>
      </p:grpSp>
      <p:grpSp>
        <p:nvGrpSpPr>
          <p:cNvPr id="34" name="Group 34"/>
          <p:cNvGrpSpPr/>
          <p:nvPr/>
        </p:nvGrpSpPr>
        <p:grpSpPr>
          <a:xfrm>
            <a:off x="3743325" y="1371600"/>
            <a:ext cx="5849993" cy="3489198"/>
            <a:chOff x="3743325" y="1371600"/>
            <a:chExt cx="5849993" cy="3489198"/>
          </a:xfrm>
        </p:grpSpPr>
        <p:grpSp>
          <p:nvGrpSpPr>
            <p:cNvPr id="12" name="Group 12"/>
            <p:cNvGrpSpPr/>
            <p:nvPr/>
          </p:nvGrpSpPr>
          <p:grpSpPr>
            <a:xfrm>
              <a:off x="3743325" y="1371600"/>
              <a:ext cx="5849993" cy="488823"/>
              <a:chOff x="3743325" y="1371600"/>
              <a:chExt cx="5849993" cy="488823"/>
            </a:xfrm>
          </p:grpSpPr>
          <p:sp>
            <p:nvSpPr>
              <p:cNvPr id="6" name="Ellipse 6"/>
              <p:cNvSpPr/>
              <p:nvPr/>
            </p:nvSpPr>
            <p:spPr>
              <a:xfrm>
                <a:off x="3743325" y="1552575"/>
                <a:ext cx="76200" cy="76200"/>
              </a:xfrm>
              <a:prstGeom prst="ellipse">
                <a:avLst/>
              </a:prstGeom>
              <a:solidFill>
                <a:schemeClr val="accent1"/>
              </a:solidFill>
              <a:ln>
                <a:noFill/>
              </a:ln>
            </p:spPr>
          </p:sp>
          <p:sp>
            <p:nvSpPr>
              <p:cNvPr id="7" name="Line 7"/>
              <p:cNvSpPr/>
              <p:nvPr/>
            </p:nvSpPr>
            <p:spPr>
              <a:xfrm>
                <a:off x="3819525" y="1590675"/>
                <a:ext cx="180975" cy="9525"/>
              </a:xfrm>
              <a:custGeom>
                <a:avLst/>
                <a:gdLst/>
                <a:ahLst/>
                <a:cxnLst/>
                <a:rect l="l" t="t" r="r" b="b"/>
                <a:pathLst>
                  <a:path w="180975" h="9525">
                    <a:moveTo>
                      <a:pt x="0" y="0"/>
                    </a:moveTo>
                    <a:lnTo>
                      <a:pt x="180975" y="0"/>
                    </a:lnTo>
                  </a:path>
                </a:pathLst>
              </a:custGeom>
              <a:noFill/>
              <a:ln w="19050">
                <a:solidFill>
                  <a:schemeClr val="accent1"/>
                </a:solidFill>
              </a:ln>
            </p:spPr>
          </p:sp>
          <p:sp>
            <p:nvSpPr>
              <p:cNvPr id="8" name="Freeform 8"/>
              <p:cNvSpPr/>
              <p:nvPr/>
            </p:nvSpPr>
            <p:spPr>
              <a:xfrm>
                <a:off x="4000500" y="1371600"/>
                <a:ext cx="1238250" cy="438150"/>
              </a:xfrm>
              <a:custGeom>
                <a:avLst/>
                <a:gdLst/>
                <a:ahLst/>
                <a:cxnLst/>
                <a:rect l="l" t="t" r="r" b="b"/>
                <a:pathLst>
                  <a:path w="1238250" h="438150">
                    <a:moveTo>
                      <a:pt x="95250" y="0"/>
                    </a:moveTo>
                    <a:lnTo>
                      <a:pt x="1143000" y="0"/>
                    </a:lnTo>
                    <a:lnTo>
                      <a:pt x="1238250" y="95250"/>
                    </a:lnTo>
                    <a:lnTo>
                      <a:pt x="1238250" y="342900"/>
                    </a:lnTo>
                    <a:lnTo>
                      <a:pt x="1143000" y="438150"/>
                    </a:lnTo>
                    <a:lnTo>
                      <a:pt x="95250" y="438150"/>
                    </a:lnTo>
                    <a:lnTo>
                      <a:pt x="0" y="342900"/>
                    </a:lnTo>
                    <a:lnTo>
                      <a:pt x="0" y="95250"/>
                    </a:lnTo>
                    <a:close/>
                  </a:path>
                </a:pathLst>
              </a:custGeom>
              <a:solidFill>
                <a:schemeClr val="lt1"/>
              </a:solidFill>
              <a:ln w="19050">
                <a:solidFill>
                  <a:schemeClr val="accent3"/>
                </a:solidFill>
              </a:ln>
            </p:spPr>
          </p:sp>
          <p:sp>
            <p:nvSpPr>
              <p:cNvPr id="9" name="Freeform 9"/>
              <p:cNvSpPr/>
              <p:nvPr/>
            </p:nvSpPr>
            <p:spPr>
              <a:xfrm>
                <a:off x="5000625" y="1371600"/>
                <a:ext cx="161925" cy="438150"/>
              </a:xfrm>
              <a:custGeom>
                <a:avLst/>
                <a:gdLst/>
                <a:ahLst/>
                <a:cxnLst/>
                <a:rect l="l" t="t" r="r" b="b"/>
                <a:pathLst>
                  <a:path w="161925" h="438150">
                    <a:moveTo>
                      <a:pt x="0" y="0"/>
                    </a:moveTo>
                    <a:lnTo>
                      <a:pt x="76200" y="76200"/>
                    </a:lnTo>
                    <a:moveTo>
                      <a:pt x="85725" y="0"/>
                    </a:moveTo>
                    <a:lnTo>
                      <a:pt x="161925" y="76200"/>
                    </a:lnTo>
                    <a:moveTo>
                      <a:pt x="0" y="438150"/>
                    </a:moveTo>
                    <a:lnTo>
                      <a:pt x="76200" y="361950"/>
                    </a:lnTo>
                    <a:moveTo>
                      <a:pt x="85725" y="438150"/>
                    </a:moveTo>
                    <a:lnTo>
                      <a:pt x="161925" y="361950"/>
                    </a:lnTo>
                  </a:path>
                </a:pathLst>
              </a:custGeom>
              <a:solidFill>
                <a:schemeClr val="accent1"/>
              </a:solidFill>
              <a:ln w="19050">
                <a:solidFill>
                  <a:schemeClr val="accent1"/>
                </a:solidFill>
              </a:ln>
            </p:spPr>
          </p:sp>
          <p:sp>
            <p:nvSpPr>
              <p:cNvPr id="10" name="TextBox 10"/>
              <p:cNvSpPr txBox="1"/>
              <p:nvPr/>
            </p:nvSpPr>
            <p:spPr>
              <a:xfrm>
                <a:off x="4410570" y="1463040"/>
                <a:ext cx="418109"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01.</a:t>
                </a:r>
              </a:p>
            </p:txBody>
          </p:sp>
          <p:sp>
            <p:nvSpPr>
              <p:cNvPr id="11" name="TextBox 11"/>
              <p:cNvSpPr txBox="1"/>
              <p:nvPr/>
            </p:nvSpPr>
            <p:spPr>
              <a:xfrm>
                <a:off x="5561457" y="1449705"/>
                <a:ext cx="403186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Các dự án tham gia và kết quả</a:t>
                </a:r>
              </a:p>
            </p:txBody>
          </p:sp>
        </p:grpSp>
        <p:grpSp>
          <p:nvGrpSpPr>
            <p:cNvPr id="19" name="Group 19"/>
            <p:cNvGrpSpPr/>
            <p:nvPr/>
          </p:nvGrpSpPr>
          <p:grpSpPr>
            <a:xfrm>
              <a:off x="3743325" y="2371725"/>
              <a:ext cx="5416067" cy="488823"/>
              <a:chOff x="3743325" y="2371725"/>
              <a:chExt cx="5416067" cy="488823"/>
            </a:xfrm>
          </p:grpSpPr>
          <p:sp>
            <p:nvSpPr>
              <p:cNvPr id="13" name="Ellipse 13"/>
              <p:cNvSpPr/>
              <p:nvPr/>
            </p:nvSpPr>
            <p:spPr>
              <a:xfrm>
                <a:off x="3743325" y="2552700"/>
                <a:ext cx="76200" cy="76200"/>
              </a:xfrm>
              <a:prstGeom prst="ellipse">
                <a:avLst/>
              </a:prstGeom>
              <a:solidFill>
                <a:schemeClr val="accent1"/>
              </a:solidFill>
              <a:ln>
                <a:noFill/>
              </a:ln>
            </p:spPr>
          </p:sp>
          <p:sp>
            <p:nvSpPr>
              <p:cNvPr id="14" name="Line 14"/>
              <p:cNvSpPr/>
              <p:nvPr/>
            </p:nvSpPr>
            <p:spPr>
              <a:xfrm>
                <a:off x="3819525" y="2590800"/>
                <a:ext cx="180975" cy="9525"/>
              </a:xfrm>
              <a:custGeom>
                <a:avLst/>
                <a:gdLst/>
                <a:ahLst/>
                <a:cxnLst/>
                <a:rect l="l" t="t" r="r" b="b"/>
                <a:pathLst>
                  <a:path w="180975" h="9525">
                    <a:moveTo>
                      <a:pt x="0" y="0"/>
                    </a:moveTo>
                    <a:lnTo>
                      <a:pt x="180975" y="0"/>
                    </a:lnTo>
                  </a:path>
                </a:pathLst>
              </a:custGeom>
              <a:noFill/>
              <a:ln w="19050">
                <a:solidFill>
                  <a:schemeClr val="accent1"/>
                </a:solidFill>
              </a:ln>
            </p:spPr>
          </p:sp>
          <p:sp>
            <p:nvSpPr>
              <p:cNvPr id="15" name="Freeform 15"/>
              <p:cNvSpPr/>
              <p:nvPr/>
            </p:nvSpPr>
            <p:spPr>
              <a:xfrm>
                <a:off x="4000500" y="2371725"/>
                <a:ext cx="1238250" cy="438150"/>
              </a:xfrm>
              <a:custGeom>
                <a:avLst/>
                <a:gdLst/>
                <a:ahLst/>
                <a:cxnLst/>
                <a:rect l="l" t="t" r="r" b="b"/>
                <a:pathLst>
                  <a:path w="1238250" h="438150">
                    <a:moveTo>
                      <a:pt x="95250" y="0"/>
                    </a:moveTo>
                    <a:lnTo>
                      <a:pt x="1143000" y="0"/>
                    </a:lnTo>
                    <a:lnTo>
                      <a:pt x="1238250" y="95250"/>
                    </a:lnTo>
                    <a:lnTo>
                      <a:pt x="1238250" y="342900"/>
                    </a:lnTo>
                    <a:lnTo>
                      <a:pt x="1143000" y="438150"/>
                    </a:lnTo>
                    <a:lnTo>
                      <a:pt x="95250" y="438150"/>
                    </a:lnTo>
                    <a:lnTo>
                      <a:pt x="0" y="342900"/>
                    </a:lnTo>
                    <a:lnTo>
                      <a:pt x="0" y="95250"/>
                    </a:lnTo>
                    <a:close/>
                  </a:path>
                </a:pathLst>
              </a:custGeom>
              <a:solidFill>
                <a:schemeClr val="lt1"/>
              </a:solidFill>
              <a:ln w="19050">
                <a:solidFill>
                  <a:schemeClr val="accent3"/>
                </a:solidFill>
              </a:ln>
            </p:spPr>
          </p:sp>
          <p:sp>
            <p:nvSpPr>
              <p:cNvPr id="16" name="Freeform 16"/>
              <p:cNvSpPr/>
              <p:nvPr/>
            </p:nvSpPr>
            <p:spPr>
              <a:xfrm>
                <a:off x="5000625" y="2371725"/>
                <a:ext cx="161925" cy="438150"/>
              </a:xfrm>
              <a:custGeom>
                <a:avLst/>
                <a:gdLst/>
                <a:ahLst/>
                <a:cxnLst/>
                <a:rect l="l" t="t" r="r" b="b"/>
                <a:pathLst>
                  <a:path w="161925" h="438150">
                    <a:moveTo>
                      <a:pt x="0" y="0"/>
                    </a:moveTo>
                    <a:lnTo>
                      <a:pt x="76200" y="76200"/>
                    </a:lnTo>
                    <a:moveTo>
                      <a:pt x="85725" y="0"/>
                    </a:moveTo>
                    <a:lnTo>
                      <a:pt x="161925" y="76200"/>
                    </a:lnTo>
                    <a:moveTo>
                      <a:pt x="0" y="438150"/>
                    </a:moveTo>
                    <a:lnTo>
                      <a:pt x="76200" y="361950"/>
                    </a:lnTo>
                    <a:moveTo>
                      <a:pt x="85725" y="438150"/>
                    </a:moveTo>
                    <a:lnTo>
                      <a:pt x="161925" y="361950"/>
                    </a:lnTo>
                  </a:path>
                </a:pathLst>
              </a:custGeom>
              <a:solidFill>
                <a:schemeClr val="accent1"/>
              </a:solidFill>
              <a:ln w="19050">
                <a:solidFill>
                  <a:schemeClr val="accent1"/>
                </a:solidFill>
              </a:ln>
            </p:spPr>
          </p:sp>
          <p:sp>
            <p:nvSpPr>
              <p:cNvPr id="17" name="TextBox 17"/>
              <p:cNvSpPr txBox="1"/>
              <p:nvPr/>
            </p:nvSpPr>
            <p:spPr>
              <a:xfrm>
                <a:off x="4410570" y="2463165"/>
                <a:ext cx="418109"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02.</a:t>
                </a:r>
              </a:p>
            </p:txBody>
          </p:sp>
          <p:sp>
            <p:nvSpPr>
              <p:cNvPr id="18" name="TextBox 18"/>
              <p:cNvSpPr txBox="1"/>
              <p:nvPr/>
            </p:nvSpPr>
            <p:spPr>
              <a:xfrm>
                <a:off x="5561457" y="2449830"/>
                <a:ext cx="3597935"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Sử dụng AI trong công việc</a:t>
                </a:r>
              </a:p>
            </p:txBody>
          </p:sp>
        </p:grpSp>
        <p:grpSp>
          <p:nvGrpSpPr>
            <p:cNvPr id="26" name="Group 26"/>
            <p:cNvGrpSpPr/>
            <p:nvPr/>
          </p:nvGrpSpPr>
          <p:grpSpPr>
            <a:xfrm>
              <a:off x="3743325" y="3371850"/>
              <a:ext cx="5454120" cy="488823"/>
              <a:chOff x="3743325" y="3371850"/>
              <a:chExt cx="5454120" cy="488823"/>
            </a:xfrm>
          </p:grpSpPr>
          <p:sp>
            <p:nvSpPr>
              <p:cNvPr id="20" name="Ellipse 20"/>
              <p:cNvSpPr/>
              <p:nvPr/>
            </p:nvSpPr>
            <p:spPr>
              <a:xfrm>
                <a:off x="3743325" y="3552825"/>
                <a:ext cx="76200" cy="76200"/>
              </a:xfrm>
              <a:prstGeom prst="ellipse">
                <a:avLst/>
              </a:prstGeom>
              <a:solidFill>
                <a:schemeClr val="accent1"/>
              </a:solidFill>
              <a:ln>
                <a:noFill/>
              </a:ln>
            </p:spPr>
          </p:sp>
          <p:sp>
            <p:nvSpPr>
              <p:cNvPr id="21" name="Line 21"/>
              <p:cNvSpPr/>
              <p:nvPr/>
            </p:nvSpPr>
            <p:spPr>
              <a:xfrm>
                <a:off x="3819525" y="3590925"/>
                <a:ext cx="180975" cy="9525"/>
              </a:xfrm>
              <a:custGeom>
                <a:avLst/>
                <a:gdLst/>
                <a:ahLst/>
                <a:cxnLst/>
                <a:rect l="l" t="t" r="r" b="b"/>
                <a:pathLst>
                  <a:path w="180975" h="9525">
                    <a:moveTo>
                      <a:pt x="0" y="0"/>
                    </a:moveTo>
                    <a:lnTo>
                      <a:pt x="180975" y="0"/>
                    </a:lnTo>
                  </a:path>
                </a:pathLst>
              </a:custGeom>
              <a:noFill/>
              <a:ln w="19050">
                <a:solidFill>
                  <a:schemeClr val="accent1"/>
                </a:solidFill>
              </a:ln>
            </p:spPr>
          </p:sp>
          <p:sp>
            <p:nvSpPr>
              <p:cNvPr id="22" name="Freeform 22"/>
              <p:cNvSpPr/>
              <p:nvPr/>
            </p:nvSpPr>
            <p:spPr>
              <a:xfrm>
                <a:off x="4000500" y="3371850"/>
                <a:ext cx="1238250" cy="438150"/>
              </a:xfrm>
              <a:custGeom>
                <a:avLst/>
                <a:gdLst/>
                <a:ahLst/>
                <a:cxnLst/>
                <a:rect l="l" t="t" r="r" b="b"/>
                <a:pathLst>
                  <a:path w="1238250" h="438150">
                    <a:moveTo>
                      <a:pt x="95250" y="0"/>
                    </a:moveTo>
                    <a:lnTo>
                      <a:pt x="1143000" y="0"/>
                    </a:lnTo>
                    <a:lnTo>
                      <a:pt x="1238250" y="95250"/>
                    </a:lnTo>
                    <a:lnTo>
                      <a:pt x="1238250" y="342900"/>
                    </a:lnTo>
                    <a:lnTo>
                      <a:pt x="1143000" y="438150"/>
                    </a:lnTo>
                    <a:lnTo>
                      <a:pt x="95250" y="438150"/>
                    </a:lnTo>
                    <a:lnTo>
                      <a:pt x="0" y="342900"/>
                    </a:lnTo>
                    <a:lnTo>
                      <a:pt x="0" y="95250"/>
                    </a:lnTo>
                    <a:close/>
                  </a:path>
                </a:pathLst>
              </a:custGeom>
              <a:solidFill>
                <a:schemeClr val="lt1"/>
              </a:solidFill>
              <a:ln w="19050">
                <a:solidFill>
                  <a:schemeClr val="accent3"/>
                </a:solidFill>
              </a:ln>
            </p:spPr>
          </p:sp>
          <p:sp>
            <p:nvSpPr>
              <p:cNvPr id="23" name="Freeform 23"/>
              <p:cNvSpPr/>
              <p:nvPr/>
            </p:nvSpPr>
            <p:spPr>
              <a:xfrm>
                <a:off x="5000625" y="3371850"/>
                <a:ext cx="161925" cy="438150"/>
              </a:xfrm>
              <a:custGeom>
                <a:avLst/>
                <a:gdLst/>
                <a:ahLst/>
                <a:cxnLst/>
                <a:rect l="l" t="t" r="r" b="b"/>
                <a:pathLst>
                  <a:path w="161925" h="438150">
                    <a:moveTo>
                      <a:pt x="0" y="0"/>
                    </a:moveTo>
                    <a:lnTo>
                      <a:pt x="76200" y="76200"/>
                    </a:lnTo>
                    <a:moveTo>
                      <a:pt x="85725" y="0"/>
                    </a:moveTo>
                    <a:lnTo>
                      <a:pt x="161925" y="76200"/>
                    </a:lnTo>
                    <a:moveTo>
                      <a:pt x="0" y="438150"/>
                    </a:moveTo>
                    <a:lnTo>
                      <a:pt x="76200" y="361950"/>
                    </a:lnTo>
                    <a:moveTo>
                      <a:pt x="85725" y="438150"/>
                    </a:moveTo>
                    <a:lnTo>
                      <a:pt x="161925" y="361950"/>
                    </a:lnTo>
                  </a:path>
                </a:pathLst>
              </a:custGeom>
              <a:solidFill>
                <a:schemeClr val="accent1"/>
              </a:solidFill>
              <a:ln w="19050">
                <a:solidFill>
                  <a:schemeClr val="accent1"/>
                </a:solidFill>
              </a:ln>
            </p:spPr>
          </p:sp>
          <p:sp>
            <p:nvSpPr>
              <p:cNvPr id="24" name="TextBox 24"/>
              <p:cNvSpPr txBox="1"/>
              <p:nvPr/>
            </p:nvSpPr>
            <p:spPr>
              <a:xfrm>
                <a:off x="4410570" y="3463290"/>
                <a:ext cx="418109"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03.</a:t>
                </a:r>
              </a:p>
            </p:txBody>
          </p:sp>
          <p:sp>
            <p:nvSpPr>
              <p:cNvPr id="25" name="TextBox 25"/>
              <p:cNvSpPr txBox="1"/>
              <p:nvPr/>
            </p:nvSpPr>
            <p:spPr>
              <a:xfrm>
                <a:off x="5561457" y="3449955"/>
                <a:ext cx="3635988"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Tự đánh giá ưu, nhược điểm</a:t>
                </a:r>
              </a:p>
            </p:txBody>
          </p:sp>
        </p:grpSp>
        <p:grpSp>
          <p:nvGrpSpPr>
            <p:cNvPr id="33" name="Group 33"/>
            <p:cNvGrpSpPr/>
            <p:nvPr/>
          </p:nvGrpSpPr>
          <p:grpSpPr>
            <a:xfrm>
              <a:off x="3743325" y="4371975"/>
              <a:ext cx="4039948" cy="488823"/>
              <a:chOff x="3743325" y="4371975"/>
              <a:chExt cx="4039948" cy="488823"/>
            </a:xfrm>
          </p:grpSpPr>
          <p:sp>
            <p:nvSpPr>
              <p:cNvPr id="27" name="Ellipse 27"/>
              <p:cNvSpPr/>
              <p:nvPr/>
            </p:nvSpPr>
            <p:spPr>
              <a:xfrm>
                <a:off x="3743325" y="4552950"/>
                <a:ext cx="76200" cy="76200"/>
              </a:xfrm>
              <a:prstGeom prst="ellipse">
                <a:avLst/>
              </a:prstGeom>
              <a:solidFill>
                <a:schemeClr val="accent1"/>
              </a:solidFill>
              <a:ln>
                <a:noFill/>
              </a:ln>
            </p:spPr>
          </p:sp>
          <p:sp>
            <p:nvSpPr>
              <p:cNvPr id="28" name="Line 28"/>
              <p:cNvSpPr/>
              <p:nvPr/>
            </p:nvSpPr>
            <p:spPr>
              <a:xfrm>
                <a:off x="3819525" y="4591050"/>
                <a:ext cx="180975" cy="9525"/>
              </a:xfrm>
              <a:custGeom>
                <a:avLst/>
                <a:gdLst/>
                <a:ahLst/>
                <a:cxnLst/>
                <a:rect l="l" t="t" r="r" b="b"/>
                <a:pathLst>
                  <a:path w="180975" h="9525">
                    <a:moveTo>
                      <a:pt x="0" y="0"/>
                    </a:moveTo>
                    <a:lnTo>
                      <a:pt x="180975" y="0"/>
                    </a:lnTo>
                  </a:path>
                </a:pathLst>
              </a:custGeom>
              <a:noFill/>
              <a:ln w="19050">
                <a:solidFill>
                  <a:schemeClr val="accent1"/>
                </a:solidFill>
              </a:ln>
            </p:spPr>
          </p:sp>
          <p:sp>
            <p:nvSpPr>
              <p:cNvPr id="29" name="Freeform 29"/>
              <p:cNvSpPr/>
              <p:nvPr/>
            </p:nvSpPr>
            <p:spPr>
              <a:xfrm>
                <a:off x="4000500" y="4371975"/>
                <a:ext cx="1238250" cy="438150"/>
              </a:xfrm>
              <a:custGeom>
                <a:avLst/>
                <a:gdLst/>
                <a:ahLst/>
                <a:cxnLst/>
                <a:rect l="l" t="t" r="r" b="b"/>
                <a:pathLst>
                  <a:path w="1238250" h="438150">
                    <a:moveTo>
                      <a:pt x="95250" y="0"/>
                    </a:moveTo>
                    <a:lnTo>
                      <a:pt x="1143000" y="0"/>
                    </a:lnTo>
                    <a:lnTo>
                      <a:pt x="1238250" y="95250"/>
                    </a:lnTo>
                    <a:lnTo>
                      <a:pt x="1238250" y="342900"/>
                    </a:lnTo>
                    <a:lnTo>
                      <a:pt x="1143000" y="438150"/>
                    </a:lnTo>
                    <a:lnTo>
                      <a:pt x="95250" y="438150"/>
                    </a:lnTo>
                    <a:lnTo>
                      <a:pt x="0" y="342900"/>
                    </a:lnTo>
                    <a:lnTo>
                      <a:pt x="0" y="95250"/>
                    </a:lnTo>
                    <a:close/>
                  </a:path>
                </a:pathLst>
              </a:custGeom>
              <a:solidFill>
                <a:schemeClr val="lt1"/>
              </a:solidFill>
              <a:ln w="19050">
                <a:solidFill>
                  <a:schemeClr val="accent3"/>
                </a:solidFill>
              </a:ln>
            </p:spPr>
          </p:sp>
          <p:sp>
            <p:nvSpPr>
              <p:cNvPr id="30" name="Freeform 30"/>
              <p:cNvSpPr/>
              <p:nvPr/>
            </p:nvSpPr>
            <p:spPr>
              <a:xfrm>
                <a:off x="5000625" y="4371975"/>
                <a:ext cx="161925" cy="438150"/>
              </a:xfrm>
              <a:custGeom>
                <a:avLst/>
                <a:gdLst/>
                <a:ahLst/>
                <a:cxnLst/>
                <a:rect l="l" t="t" r="r" b="b"/>
                <a:pathLst>
                  <a:path w="161925" h="438150">
                    <a:moveTo>
                      <a:pt x="0" y="0"/>
                    </a:moveTo>
                    <a:lnTo>
                      <a:pt x="76200" y="76200"/>
                    </a:lnTo>
                    <a:moveTo>
                      <a:pt x="85725" y="0"/>
                    </a:moveTo>
                    <a:lnTo>
                      <a:pt x="161925" y="76200"/>
                    </a:lnTo>
                    <a:moveTo>
                      <a:pt x="0" y="438150"/>
                    </a:moveTo>
                    <a:lnTo>
                      <a:pt x="76200" y="361950"/>
                    </a:lnTo>
                    <a:moveTo>
                      <a:pt x="85725" y="438150"/>
                    </a:moveTo>
                    <a:lnTo>
                      <a:pt x="161925" y="361950"/>
                    </a:lnTo>
                  </a:path>
                </a:pathLst>
              </a:custGeom>
              <a:solidFill>
                <a:schemeClr val="accent1"/>
              </a:solidFill>
              <a:ln w="19050">
                <a:solidFill>
                  <a:schemeClr val="accent1"/>
                </a:solidFill>
              </a:ln>
            </p:spPr>
          </p:sp>
          <p:sp>
            <p:nvSpPr>
              <p:cNvPr id="31" name="TextBox 31"/>
              <p:cNvSpPr txBox="1"/>
              <p:nvPr/>
            </p:nvSpPr>
            <p:spPr>
              <a:xfrm>
                <a:off x="4410570" y="4463415"/>
                <a:ext cx="418109"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04.</a:t>
                </a:r>
              </a:p>
            </p:txBody>
          </p:sp>
          <p:sp>
            <p:nvSpPr>
              <p:cNvPr id="32" name="TextBox 32"/>
              <p:cNvSpPr txBox="1"/>
              <p:nvPr/>
            </p:nvSpPr>
            <p:spPr>
              <a:xfrm>
                <a:off x="5561457" y="4450080"/>
                <a:ext cx="2221816"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Mục tiêu sắp tới</a:t>
                </a:r>
              </a:p>
            </p:txBody>
          </p:sp>
        </p:grpSp>
      </p:grpSp>
      <p:sp>
        <p:nvSpPr>
          <p:cNvPr id="35" name="Line 35"/>
          <p:cNvSpPr/>
          <p:nvPr/>
        </p:nvSpPr>
        <p:spPr>
          <a:xfrm>
            <a:off x="0" y="6515100"/>
            <a:ext cx="12192000" cy="9525"/>
          </a:xfrm>
          <a:custGeom>
            <a:avLst/>
            <a:gdLst/>
            <a:ahLst/>
            <a:cxnLst/>
            <a:rect l="l" t="t" r="r" b="b"/>
            <a:pathLst>
              <a:path w="12192000" h="9525">
                <a:moveTo>
                  <a:pt x="0" y="0"/>
                </a:moveTo>
                <a:lnTo>
                  <a:pt x="12192000" y="0"/>
                </a:lnTo>
              </a:path>
            </a:pathLst>
          </a:custGeom>
          <a:noFill/>
          <a:ln w="9525">
            <a:solidFill>
              <a:srgbClr val="DDE6E1"/>
            </a:solidFill>
          </a:ln>
        </p:spPr>
      </p:sp>
      <p:sp>
        <p:nvSpPr>
          <p:cNvPr id="36" name="TextBox 36"/>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02 / 23</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5441641"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Các dự án tham gia và kết quả</a:t>
            </a:r>
          </a:p>
        </p:txBody>
      </p:sp>
      <p:grpSp>
        <p:nvGrpSpPr>
          <p:cNvPr id="10" name="Group 10"/>
          <p:cNvGrpSpPr/>
          <p:nvPr/>
        </p:nvGrpSpPr>
        <p:grpSpPr>
          <a:xfrm>
            <a:off x="8953500" y="228600"/>
            <a:ext cx="2667000" cy="647700"/>
            <a:chOff x="8953500" y="228600"/>
            <a:chExt cx="2667000" cy="647700"/>
          </a:xfrm>
        </p:grpSpPr>
        <p:sp>
          <p:nvSpPr>
            <p:cNvPr id="4" name="Rectangle 4"/>
            <p:cNvSpPr/>
            <p:nvPr/>
          </p:nvSpPr>
          <p:spPr>
            <a:xfrm>
              <a:off x="8953500" y="228600"/>
              <a:ext cx="1200150" cy="647700"/>
            </a:xfrm>
            <a:prstGeom prst="roundRect">
              <a:avLst>
                <a:gd name="adj" fmla="val 5882"/>
              </a:avLst>
            </a:prstGeom>
            <a:solidFill>
              <a:srgbClr val="EAF6F0"/>
            </a:solidFill>
            <a:ln>
              <a:noFill/>
            </a:ln>
          </p:spPr>
        </p:sp>
        <p:sp>
          <p:nvSpPr>
            <p:cNvPr id="5" name="TextBox 5"/>
            <p:cNvSpPr txBox="1"/>
            <p:nvPr/>
          </p:nvSpPr>
          <p:spPr>
            <a:xfrm>
              <a:off x="9279762" y="338138"/>
              <a:ext cx="547626" cy="440055"/>
            </a:xfrm>
            <a:prstGeom prst="rect">
              <a:avLst/>
            </a:prstGeom>
            <a:noFill/>
            <a:ln>
              <a:noFill/>
            </a:ln>
          </p:spPr>
          <p:txBody>
            <a:bodyPr wrap="none" lIns="0" tIns="0" rIns="0" bIns="0" anchor="t" anchorCtr="0">
              <a:spAutoFit/>
            </a:bodyPr>
            <a:lstStyle/>
            <a:p>
              <a:pPr algn="ctr"/>
              <a:r>
                <a:rPr lang="en-US" sz="2250" b="1" dirty="0">
                  <a:solidFill>
                    <a:schemeClr val="accent1"/>
                  </a:solidFill>
                  <a:latin typeface="+mn-lt"/>
                  <a:ea typeface="+mn-ea"/>
                  <a:cs typeface="+mn-cs"/>
                </a:rPr>
                <a:t>114</a:t>
              </a:r>
            </a:p>
          </p:txBody>
        </p:sp>
        <p:sp>
          <p:nvSpPr>
            <p:cNvPr id="6" name="TextBox 6"/>
            <p:cNvSpPr txBox="1"/>
            <p:nvPr/>
          </p:nvSpPr>
          <p:spPr>
            <a:xfrm>
              <a:off x="9383954" y="667702"/>
              <a:ext cx="339242" cy="205359"/>
            </a:xfrm>
            <a:prstGeom prst="rect">
              <a:avLst/>
            </a:prstGeom>
            <a:noFill/>
            <a:ln>
              <a:noFill/>
            </a:ln>
          </p:spPr>
          <p:txBody>
            <a:bodyPr wrap="none" lIns="0" tIns="0" rIns="0" bIns="0" anchor="t" anchorCtr="0">
              <a:spAutoFit/>
            </a:bodyPr>
            <a:lstStyle/>
            <a:p>
              <a:pPr algn="ctr"/>
              <a:r>
                <a:rPr lang="en-US" sz="1050" dirty="0">
                  <a:solidFill>
                    <a:schemeClr val="dk1"/>
                  </a:solidFill>
                  <a:latin typeface="+mn-lt"/>
                  <a:ea typeface="+mn-ea"/>
                  <a:cs typeface="+mn-cs"/>
                </a:rPr>
                <a:t>TASK</a:t>
              </a:r>
            </a:p>
          </p:txBody>
        </p:sp>
        <p:sp>
          <p:nvSpPr>
            <p:cNvPr id="7" name="Rectangle 7"/>
            <p:cNvSpPr/>
            <p:nvPr/>
          </p:nvSpPr>
          <p:spPr>
            <a:xfrm>
              <a:off x="10267950" y="228600"/>
              <a:ext cx="1352550" cy="647700"/>
            </a:xfrm>
            <a:prstGeom prst="roundRect">
              <a:avLst>
                <a:gd name="adj" fmla="val 5882"/>
              </a:avLst>
            </a:prstGeom>
            <a:solidFill>
              <a:schemeClr val="accent1"/>
            </a:solidFill>
            <a:ln>
              <a:noFill/>
            </a:ln>
          </p:spPr>
        </p:sp>
        <p:sp>
          <p:nvSpPr>
            <p:cNvPr id="8" name="TextBox 8"/>
            <p:cNvSpPr txBox="1"/>
            <p:nvPr/>
          </p:nvSpPr>
          <p:spPr>
            <a:xfrm>
              <a:off x="10670412" y="338138"/>
              <a:ext cx="547626"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102</a:t>
              </a:r>
            </a:p>
          </p:txBody>
        </p:sp>
        <p:sp>
          <p:nvSpPr>
            <p:cNvPr id="9" name="TextBox 9"/>
            <p:cNvSpPr txBox="1"/>
            <p:nvPr/>
          </p:nvSpPr>
          <p:spPr>
            <a:xfrm>
              <a:off x="10453497" y="667702"/>
              <a:ext cx="981456" cy="205359"/>
            </a:xfrm>
            <a:prstGeom prst="rect">
              <a:avLst/>
            </a:prstGeom>
            <a:noFill/>
            <a:ln>
              <a:noFill/>
            </a:ln>
          </p:spPr>
          <p:txBody>
            <a:bodyPr wrap="none" lIns="0" tIns="0" rIns="0" bIns="0" anchor="t" anchorCtr="0">
              <a:spAutoFit/>
            </a:bodyPr>
            <a:lstStyle/>
            <a:p>
              <a:pPr algn="ctr"/>
              <a:r>
                <a:rPr lang="en-US" sz="1050" dirty="0">
                  <a:solidFill>
                    <a:srgbClr val="FFFFFF"/>
                  </a:solidFill>
                  <a:latin typeface="+mn-lt"/>
                  <a:ea typeface="+mn-ea"/>
                  <a:cs typeface="+mn-cs"/>
                </a:rPr>
                <a:t>DONE · 89,5%</a:t>
              </a:r>
            </a:p>
          </p:txBody>
        </p:sp>
      </p:grpSp>
      <p:grpSp>
        <p:nvGrpSpPr>
          <p:cNvPr id="17" name="Group 17"/>
          <p:cNvGrpSpPr/>
          <p:nvPr/>
        </p:nvGrpSpPr>
        <p:grpSpPr>
          <a:xfrm>
            <a:off x="3328035" y="1135856"/>
            <a:ext cx="7917180" cy="264319"/>
            <a:chOff x="3328035" y="1135856"/>
            <a:chExt cx="7917180" cy="264319"/>
          </a:xfrm>
        </p:grpSpPr>
        <p:sp>
          <p:nvSpPr>
            <p:cNvPr id="11" name="Line 11"/>
            <p:cNvSpPr/>
            <p:nvPr/>
          </p:nvSpPr>
          <p:spPr>
            <a:xfrm>
              <a:off x="3333750" y="1390650"/>
              <a:ext cx="7905750" cy="9525"/>
            </a:xfrm>
            <a:custGeom>
              <a:avLst/>
              <a:gdLst/>
              <a:ahLst/>
              <a:cxnLst/>
              <a:rect l="l" t="t" r="r" b="b"/>
              <a:pathLst>
                <a:path w="7905750" h="9525">
                  <a:moveTo>
                    <a:pt x="0" y="0"/>
                  </a:moveTo>
                  <a:lnTo>
                    <a:pt x="7905750" y="0"/>
                  </a:lnTo>
                </a:path>
              </a:pathLst>
            </a:custGeom>
            <a:noFill/>
            <a:ln w="19050">
              <a:solidFill>
                <a:srgbClr val="CBD8D1"/>
              </a:solidFill>
            </a:ln>
          </p:spPr>
        </p:sp>
        <p:sp>
          <p:nvSpPr>
            <p:cNvPr id="12" name="TextBox 12"/>
            <p:cNvSpPr txBox="1"/>
            <p:nvPr/>
          </p:nvSpPr>
          <p:spPr>
            <a:xfrm>
              <a:off x="3328035" y="1135856"/>
              <a:ext cx="426060"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20/03</a:t>
              </a:r>
            </a:p>
          </p:txBody>
        </p:sp>
        <p:sp>
          <p:nvSpPr>
            <p:cNvPr id="13" name="TextBox 13"/>
            <p:cNvSpPr txBox="1"/>
            <p:nvPr/>
          </p:nvSpPr>
          <p:spPr>
            <a:xfrm>
              <a:off x="5233035" y="1135856"/>
              <a:ext cx="426060"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01/05</a:t>
              </a:r>
            </a:p>
          </p:txBody>
        </p:sp>
        <p:sp>
          <p:nvSpPr>
            <p:cNvPr id="14" name="TextBox 14"/>
            <p:cNvSpPr txBox="1"/>
            <p:nvPr/>
          </p:nvSpPr>
          <p:spPr>
            <a:xfrm>
              <a:off x="7328535" y="1135856"/>
              <a:ext cx="426060"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01/06</a:t>
              </a:r>
            </a:p>
          </p:txBody>
        </p:sp>
        <p:sp>
          <p:nvSpPr>
            <p:cNvPr id="15" name="TextBox 15"/>
            <p:cNvSpPr txBox="1"/>
            <p:nvPr/>
          </p:nvSpPr>
          <p:spPr>
            <a:xfrm>
              <a:off x="9519285" y="1135856"/>
              <a:ext cx="426060"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01/07</a:t>
              </a:r>
            </a:p>
          </p:txBody>
        </p:sp>
        <p:sp>
          <p:nvSpPr>
            <p:cNvPr id="16" name="TextBox 16"/>
            <p:cNvSpPr txBox="1"/>
            <p:nvPr/>
          </p:nvSpPr>
          <p:spPr>
            <a:xfrm>
              <a:off x="10819155" y="1135856"/>
              <a:ext cx="426060" cy="220028"/>
            </a:xfrm>
            <a:prstGeom prst="rect">
              <a:avLst/>
            </a:prstGeom>
            <a:noFill/>
            <a:ln>
              <a:noFill/>
            </a:ln>
          </p:spPr>
          <p:txBody>
            <a:bodyPr wrap="none" lIns="0" tIns="0" rIns="0" bIns="0" anchor="t" anchorCtr="0">
              <a:spAutoFit/>
            </a:bodyPr>
            <a:lstStyle/>
            <a:p>
              <a:pPr algn="r"/>
              <a:r>
                <a:rPr lang="en-US" sz="1120" dirty="0">
                  <a:solidFill>
                    <a:srgbClr val="66706A"/>
                  </a:solidFill>
                  <a:latin typeface="+mn-lt"/>
                  <a:ea typeface="+mn-ea"/>
                  <a:cs typeface="+mn-cs"/>
                </a:rPr>
                <a:t>22/07</a:t>
              </a:r>
            </a:p>
          </p:txBody>
        </p:sp>
      </p:grpSp>
      <p:grpSp>
        <p:nvGrpSpPr>
          <p:cNvPr id="22" name="Group 22"/>
          <p:cNvGrpSpPr/>
          <p:nvPr/>
        </p:nvGrpSpPr>
        <p:grpSpPr>
          <a:xfrm>
            <a:off x="658368" y="1707832"/>
            <a:ext cx="10581132" cy="514827"/>
            <a:chOff x="658368" y="1707832"/>
            <a:chExt cx="10581132" cy="514827"/>
          </a:xfrm>
        </p:grpSpPr>
        <p:sp>
          <p:nvSpPr>
            <p:cNvPr id="18" name="TextBox 18"/>
            <p:cNvSpPr txBox="1"/>
            <p:nvPr/>
          </p:nvSpPr>
          <p:spPr>
            <a:xfrm>
              <a:off x="658368" y="1707832"/>
              <a:ext cx="768378"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01 KNX</a:t>
              </a:r>
            </a:p>
          </p:txBody>
        </p:sp>
        <p:sp>
          <p:nvSpPr>
            <p:cNvPr id="19" name="TextBox 19"/>
            <p:cNvSpPr txBox="1"/>
            <p:nvPr/>
          </p:nvSpPr>
          <p:spPr>
            <a:xfrm>
              <a:off x="661035" y="2002631"/>
              <a:ext cx="1279304"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98 task · 91 Done</a:t>
              </a:r>
            </a:p>
          </p:txBody>
        </p:sp>
        <p:sp>
          <p:nvSpPr>
            <p:cNvPr id="20" name="Rectangle 20"/>
            <p:cNvSpPr/>
            <p:nvPr/>
          </p:nvSpPr>
          <p:spPr>
            <a:xfrm>
              <a:off x="3333750" y="1714500"/>
              <a:ext cx="7905750" cy="361950"/>
            </a:xfrm>
            <a:prstGeom prst="roundRect">
              <a:avLst>
                <a:gd name="adj" fmla="val 10526"/>
              </a:avLst>
            </a:prstGeom>
            <a:solidFill>
              <a:schemeClr val="accent1"/>
            </a:solidFill>
            <a:ln>
              <a:noFill/>
            </a:ln>
          </p:spPr>
        </p:sp>
        <p:sp>
          <p:nvSpPr>
            <p:cNvPr id="21" name="TextBox 21"/>
            <p:cNvSpPr txBox="1"/>
            <p:nvPr/>
          </p:nvSpPr>
          <p:spPr>
            <a:xfrm>
              <a:off x="10085491" y="1831181"/>
              <a:ext cx="969224" cy="220028"/>
            </a:xfrm>
            <a:prstGeom prst="rect">
              <a:avLst/>
            </a:prstGeom>
            <a:noFill/>
            <a:ln>
              <a:noFill/>
            </a:ln>
          </p:spPr>
          <p:txBody>
            <a:bodyPr wrap="none" lIns="0" tIns="0" rIns="0" bIns="0" anchor="t" anchorCtr="0">
              <a:spAutoFit/>
            </a:bodyPr>
            <a:lstStyle/>
            <a:p>
              <a:pPr algn="r"/>
              <a:r>
                <a:rPr lang="en-US" sz="1120" b="1" dirty="0">
                  <a:solidFill>
                    <a:srgbClr val="FFFFFF"/>
                  </a:solidFill>
                  <a:latin typeface="+mn-lt"/>
                  <a:ea typeface="+mn-ea"/>
                  <a:cs typeface="+mn-cs"/>
                </a:rPr>
                <a:t>20/03–22/07</a:t>
              </a:r>
            </a:p>
          </p:txBody>
        </p:sp>
      </p:grpSp>
      <p:grpSp>
        <p:nvGrpSpPr>
          <p:cNvPr id="27" name="Group 27"/>
          <p:cNvGrpSpPr/>
          <p:nvPr/>
        </p:nvGrpSpPr>
        <p:grpSpPr>
          <a:xfrm>
            <a:off x="658368" y="2590800"/>
            <a:ext cx="10581132" cy="527209"/>
            <a:chOff x="658368" y="2590800"/>
            <a:chExt cx="10581132" cy="527209"/>
          </a:xfrm>
        </p:grpSpPr>
        <p:sp>
          <p:nvSpPr>
            <p:cNvPr id="23" name="TextBox 23"/>
            <p:cNvSpPr txBox="1"/>
            <p:nvPr/>
          </p:nvSpPr>
          <p:spPr>
            <a:xfrm>
              <a:off x="658368" y="2603182"/>
              <a:ext cx="145959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02 Auto Test</a:t>
              </a:r>
            </a:p>
          </p:txBody>
        </p:sp>
        <p:sp>
          <p:nvSpPr>
            <p:cNvPr id="24" name="TextBox 24"/>
            <p:cNvSpPr txBox="1"/>
            <p:nvPr/>
          </p:nvSpPr>
          <p:spPr>
            <a:xfrm>
              <a:off x="661035" y="2897981"/>
              <a:ext cx="2218400"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Automation · cảm biến · servo</a:t>
              </a:r>
            </a:p>
          </p:txBody>
        </p:sp>
        <p:sp>
          <p:nvSpPr>
            <p:cNvPr id="25" name="Rectangle 25"/>
            <p:cNvSpPr/>
            <p:nvPr/>
          </p:nvSpPr>
          <p:spPr>
            <a:xfrm>
              <a:off x="9906000" y="2590800"/>
              <a:ext cx="1333500" cy="361950"/>
            </a:xfrm>
            <a:prstGeom prst="roundRect">
              <a:avLst>
                <a:gd name="adj" fmla="val 10526"/>
              </a:avLst>
            </a:prstGeom>
            <a:solidFill>
              <a:schemeClr val="accent1"/>
            </a:solidFill>
            <a:ln>
              <a:noFill/>
            </a:ln>
          </p:spPr>
        </p:sp>
        <p:sp>
          <p:nvSpPr>
            <p:cNvPr id="26" name="TextBox 26"/>
            <p:cNvSpPr txBox="1"/>
            <p:nvPr/>
          </p:nvSpPr>
          <p:spPr>
            <a:xfrm>
              <a:off x="8323473" y="2697956"/>
              <a:ext cx="1473942" cy="220028"/>
            </a:xfrm>
            <a:prstGeom prst="rect">
              <a:avLst/>
            </a:prstGeom>
            <a:noFill/>
            <a:ln>
              <a:noFill/>
            </a:ln>
          </p:spPr>
          <p:txBody>
            <a:bodyPr wrap="none" lIns="0" tIns="0" rIns="0" bIns="0" anchor="t" anchorCtr="0">
              <a:spAutoFit/>
            </a:bodyPr>
            <a:lstStyle/>
            <a:p>
              <a:pPr algn="r"/>
              <a:r>
                <a:rPr lang="en-US" sz="1120" dirty="0">
                  <a:solidFill>
                    <a:srgbClr val="66706A"/>
                  </a:solidFill>
                  <a:latin typeface="+mn-lt"/>
                  <a:ea typeface="+mn-ea"/>
                  <a:cs typeface="+mn-cs"/>
                </a:rPr>
                <a:t>06/07–25/07 dự kiến</a:t>
              </a:r>
            </a:p>
          </p:txBody>
        </p:sp>
      </p:grpSp>
      <p:grpSp>
        <p:nvGrpSpPr>
          <p:cNvPr id="34" name="Group 34"/>
          <p:cNvGrpSpPr/>
          <p:nvPr/>
        </p:nvGrpSpPr>
        <p:grpSpPr>
          <a:xfrm>
            <a:off x="658368" y="3448050"/>
            <a:ext cx="10581132" cy="765334"/>
            <a:chOff x="658368" y="3448050"/>
            <a:chExt cx="10581132" cy="765334"/>
          </a:xfrm>
        </p:grpSpPr>
        <p:sp>
          <p:nvSpPr>
            <p:cNvPr id="28" name="TextBox 28"/>
            <p:cNvSpPr txBox="1"/>
            <p:nvPr/>
          </p:nvSpPr>
          <p:spPr>
            <a:xfrm>
              <a:off x="658368" y="3460432"/>
              <a:ext cx="159709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03 Tool Design</a:t>
              </a:r>
            </a:p>
          </p:txBody>
        </p:sp>
        <p:sp>
          <p:nvSpPr>
            <p:cNvPr id="29" name="TextBox 29"/>
            <p:cNvSpPr txBox="1"/>
            <p:nvPr/>
          </p:nvSpPr>
          <p:spPr>
            <a:xfrm>
              <a:off x="661035" y="3783806"/>
              <a:ext cx="2895235"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Tool nguồn DC · Loader Luto · Lumes V2</a:t>
              </a:r>
            </a:p>
          </p:txBody>
        </p:sp>
        <p:sp>
          <p:nvSpPr>
            <p:cNvPr id="30" name="TextBox 30"/>
            <p:cNvSpPr txBox="1"/>
            <p:nvPr/>
          </p:nvSpPr>
          <p:spPr>
            <a:xfrm>
              <a:off x="661035" y="3993356"/>
              <a:ext cx="1820154"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Tool test Smart Lighting</a:t>
              </a:r>
            </a:p>
          </p:txBody>
        </p:sp>
        <p:sp>
          <p:nvSpPr>
            <p:cNvPr id="31" name="Rectangle 31"/>
            <p:cNvSpPr/>
            <p:nvPr/>
          </p:nvSpPr>
          <p:spPr>
            <a:xfrm>
              <a:off x="6191250" y="3448050"/>
              <a:ext cx="5048250" cy="514350"/>
            </a:xfrm>
            <a:prstGeom prst="roundRect">
              <a:avLst>
                <a:gd name="adj" fmla="val 7407"/>
              </a:avLst>
            </a:prstGeom>
            <a:solidFill>
              <a:schemeClr val="accent2"/>
            </a:solidFill>
            <a:ln>
              <a:noFill/>
            </a:ln>
          </p:spPr>
        </p:sp>
        <p:sp>
          <p:nvSpPr>
            <p:cNvPr id="32" name="TextBox 32"/>
            <p:cNvSpPr txBox="1"/>
            <p:nvPr/>
          </p:nvSpPr>
          <p:spPr>
            <a:xfrm>
              <a:off x="6395085" y="3555206"/>
              <a:ext cx="1776173"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18/05–ĐANG TRIỂN KHAI</a:t>
              </a:r>
            </a:p>
          </p:txBody>
        </p:sp>
        <p:sp>
          <p:nvSpPr>
            <p:cNvPr id="33" name="TextBox 33"/>
            <p:cNvSpPr txBox="1"/>
            <p:nvPr/>
          </p:nvSpPr>
          <p:spPr>
            <a:xfrm>
              <a:off x="6395466" y="3763328"/>
              <a:ext cx="3620219" cy="205359"/>
            </a:xfrm>
            <a:prstGeom prst="rect">
              <a:avLst/>
            </a:prstGeom>
            <a:noFill/>
            <a:ln>
              <a:noFill/>
            </a:ln>
          </p:spPr>
          <p:txBody>
            <a:bodyPr wrap="none" lIns="0" tIns="0" rIns="0" bIns="0" anchor="t" anchorCtr="0">
              <a:spAutoFit/>
            </a:bodyPr>
            <a:lstStyle/>
            <a:p>
              <a:pPr algn="l"/>
              <a:r>
                <a:rPr lang="en-US" sz="1050" dirty="0">
                  <a:solidFill>
                    <a:srgbClr val="FFFFFF"/>
                  </a:solidFill>
                  <a:latin typeface="+mn-lt"/>
                  <a:ea typeface="+mn-ea"/>
                  <a:cs typeface="+mn-cs"/>
                </a:rPr>
                <a:t>Test tool + loader được quản lý trong một nhóm dự án</a:t>
              </a:r>
            </a:p>
          </p:txBody>
        </p:sp>
      </p:grpSp>
      <p:grpSp>
        <p:nvGrpSpPr>
          <p:cNvPr id="39" name="Group 39"/>
          <p:cNvGrpSpPr/>
          <p:nvPr/>
        </p:nvGrpSpPr>
        <p:grpSpPr>
          <a:xfrm>
            <a:off x="658368" y="4762500"/>
            <a:ext cx="5288732" cy="527209"/>
            <a:chOff x="658368" y="4762500"/>
            <a:chExt cx="5288732" cy="527209"/>
          </a:xfrm>
        </p:grpSpPr>
        <p:sp>
          <p:nvSpPr>
            <p:cNvPr id="35" name="TextBox 35"/>
            <p:cNvSpPr txBox="1"/>
            <p:nvPr/>
          </p:nvSpPr>
          <p:spPr>
            <a:xfrm>
              <a:off x="658368" y="4774882"/>
              <a:ext cx="164262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04 MSB Office</a:t>
              </a:r>
            </a:p>
          </p:txBody>
        </p:sp>
        <p:sp>
          <p:nvSpPr>
            <p:cNvPr id="36" name="TextBox 36"/>
            <p:cNvSpPr txBox="1"/>
            <p:nvPr/>
          </p:nvSpPr>
          <p:spPr>
            <a:xfrm>
              <a:off x="661035" y="5069681"/>
              <a:ext cx="2293726"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Jig test · đo lường · hiệu chỉnh</a:t>
              </a:r>
            </a:p>
          </p:txBody>
        </p:sp>
        <p:sp>
          <p:nvSpPr>
            <p:cNvPr id="37" name="Rectangle 37"/>
            <p:cNvSpPr/>
            <p:nvPr/>
          </p:nvSpPr>
          <p:spPr>
            <a:xfrm>
              <a:off x="4343400" y="4762500"/>
              <a:ext cx="552450" cy="323850"/>
            </a:xfrm>
            <a:prstGeom prst="roundRect">
              <a:avLst>
                <a:gd name="adj" fmla="val 11765"/>
              </a:avLst>
            </a:prstGeom>
            <a:solidFill>
              <a:schemeClr val="accent3"/>
            </a:solidFill>
            <a:ln>
              <a:noFill/>
            </a:ln>
          </p:spPr>
        </p:sp>
        <p:sp>
          <p:nvSpPr>
            <p:cNvPr id="38" name="TextBox 38"/>
            <p:cNvSpPr txBox="1"/>
            <p:nvPr/>
          </p:nvSpPr>
          <p:spPr>
            <a:xfrm>
              <a:off x="5023485" y="4860131"/>
              <a:ext cx="923615"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07/04–10/04</a:t>
              </a:r>
            </a:p>
          </p:txBody>
        </p:sp>
      </p:grpSp>
      <p:grpSp>
        <p:nvGrpSpPr>
          <p:cNvPr id="44" name="Group 44"/>
          <p:cNvGrpSpPr/>
          <p:nvPr/>
        </p:nvGrpSpPr>
        <p:grpSpPr>
          <a:xfrm>
            <a:off x="495300" y="5753100"/>
            <a:ext cx="11125200" cy="590550"/>
            <a:chOff x="495300" y="5753100"/>
            <a:chExt cx="11125200" cy="590550"/>
          </a:xfrm>
        </p:grpSpPr>
        <p:sp>
          <p:nvSpPr>
            <p:cNvPr id="40" name="Rectangle 40"/>
            <p:cNvSpPr/>
            <p:nvPr/>
          </p:nvSpPr>
          <p:spPr>
            <a:xfrm>
              <a:off x="495300" y="5753100"/>
              <a:ext cx="11125200" cy="590550"/>
            </a:xfrm>
            <a:prstGeom prst="roundRect">
              <a:avLst>
                <a:gd name="adj" fmla="val 6452"/>
              </a:avLst>
            </a:prstGeom>
            <a:solidFill>
              <a:schemeClr val="lt2"/>
            </a:solidFill>
            <a:ln>
              <a:noFill/>
            </a:ln>
          </p:spPr>
        </p:sp>
        <p:sp>
          <p:nvSpPr>
            <p:cNvPr id="41" name="Rectangle 41"/>
            <p:cNvSpPr/>
            <p:nvPr/>
          </p:nvSpPr>
          <p:spPr>
            <a:xfrm>
              <a:off x="495300" y="5753100"/>
              <a:ext cx="76200" cy="590550"/>
            </a:xfrm>
            <a:prstGeom prst="rect">
              <a:avLst/>
            </a:prstGeom>
            <a:solidFill>
              <a:schemeClr val="accent1"/>
            </a:solidFill>
            <a:ln>
              <a:noFill/>
            </a:ln>
          </p:spPr>
        </p:sp>
        <p:sp>
          <p:nvSpPr>
            <p:cNvPr id="42" name="TextBox 42"/>
            <p:cNvSpPr txBox="1"/>
            <p:nvPr/>
          </p:nvSpPr>
          <p:spPr>
            <a:xfrm>
              <a:off x="736473" y="5872639"/>
              <a:ext cx="175260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4 NHÓM DỰ ÁN CHÍNH</a:t>
              </a:r>
            </a:p>
          </p:txBody>
        </p:sp>
        <p:sp>
          <p:nvSpPr>
            <p:cNvPr id="43" name="TextBox 43"/>
            <p:cNvSpPr txBox="1"/>
            <p:nvPr/>
          </p:nvSpPr>
          <p:spPr>
            <a:xfrm>
              <a:off x="736473" y="6091714"/>
              <a:ext cx="751788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Các đầu việc test tool và loader sản xuất được gom dưới Tool Design để quản lý thống nhất.</a:t>
              </a:r>
            </a:p>
          </p:txBody>
        </p:sp>
      </p:grpSp>
      <p:sp>
        <p:nvSpPr>
          <p:cNvPr id="45" name="TextBox 45"/>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03 / 23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4576961"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1. Dự án KNX — Tổng quan</a:t>
            </a:r>
          </a:p>
        </p:txBody>
      </p:sp>
      <p:sp>
        <p:nvSpPr>
          <p:cNvPr id="4" name="Rectangle 4"/>
          <p:cNvSpPr/>
          <p:nvPr/>
        </p:nvSpPr>
        <p:spPr>
          <a:xfrm>
            <a:off x="9239250" y="285750"/>
            <a:ext cx="2381250" cy="400050"/>
          </a:xfrm>
          <a:prstGeom prst="roundRect">
            <a:avLst>
              <a:gd name="adj" fmla="val 50000"/>
            </a:avLst>
          </a:prstGeom>
          <a:solidFill>
            <a:srgbClr val="EAF6F0"/>
          </a:solidFill>
          <a:ln>
            <a:noFill/>
          </a:ln>
        </p:spPr>
      </p:sp>
      <p:sp>
        <p:nvSpPr>
          <p:cNvPr id="5" name="TextBox 5"/>
          <p:cNvSpPr txBox="1"/>
          <p:nvPr/>
        </p:nvSpPr>
        <p:spPr>
          <a:xfrm>
            <a:off x="9627309" y="405289"/>
            <a:ext cx="1605132"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20/03–22/07/2026</a:t>
            </a:r>
          </a:p>
        </p:txBody>
      </p:sp>
      <p:grpSp>
        <p:nvGrpSpPr>
          <p:cNvPr id="12" name="Group 12"/>
          <p:cNvGrpSpPr/>
          <p:nvPr/>
        </p:nvGrpSpPr>
        <p:grpSpPr>
          <a:xfrm>
            <a:off x="533400" y="1190625"/>
            <a:ext cx="4762500" cy="2286000"/>
            <a:chOff x="533400" y="1190625"/>
            <a:chExt cx="4762500" cy="2286000"/>
          </a:xfrm>
        </p:grpSpPr>
        <p:sp>
          <p:nvSpPr>
            <p:cNvPr id="6" name="Rectangle 6"/>
            <p:cNvSpPr/>
            <p:nvPr/>
          </p:nvSpPr>
          <p:spPr>
            <a:xfrm>
              <a:off x="533400" y="1190625"/>
              <a:ext cx="4762500" cy="2286000"/>
            </a:xfrm>
            <a:prstGeom prst="roundRect">
              <a:avLst>
                <a:gd name="adj" fmla="val 7500"/>
              </a:avLst>
            </a:prstGeom>
            <a:solidFill>
              <a:schemeClr val="lt2"/>
            </a:solidFill>
            <a:ln>
              <a:noFill/>
            </a:ln>
          </p:spPr>
        </p:sp>
        <p:sp>
          <p:nvSpPr>
            <p:cNvPr id="7" name="TextBox 7"/>
            <p:cNvSpPr txBox="1"/>
            <p:nvPr/>
          </p:nvSpPr>
          <p:spPr>
            <a:xfrm>
              <a:off x="812673" y="1443514"/>
              <a:ext cx="1542318"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PHẠM VI ĐÓNG GÓP</a:t>
              </a:r>
            </a:p>
          </p:txBody>
        </p:sp>
        <p:sp>
          <p:nvSpPr>
            <p:cNvPr id="8" name="TextBox 8"/>
            <p:cNvSpPr txBox="1"/>
            <p:nvPr/>
          </p:nvSpPr>
          <p:spPr>
            <a:xfrm>
              <a:off x="810768" y="1793558"/>
              <a:ext cx="215719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Thiết bị &amp; firmware</a:t>
              </a:r>
            </a:p>
          </p:txBody>
        </p:sp>
        <p:sp>
          <p:nvSpPr>
            <p:cNvPr id="9" name="TextBox 9"/>
            <p:cNvSpPr txBox="1"/>
            <p:nvPr/>
          </p:nvSpPr>
          <p:spPr>
            <a:xfrm>
              <a:off x="810768" y="2155508"/>
              <a:ext cx="323179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Tool, Jig, loader &amp; benchmark</a:t>
              </a:r>
            </a:p>
          </p:txBody>
        </p:sp>
        <p:sp>
          <p:nvSpPr>
            <p:cNvPr id="10" name="TextBox 10"/>
            <p:cNvSpPr txBox="1"/>
            <p:nvPr/>
          </p:nvSpPr>
          <p:spPr>
            <a:xfrm>
              <a:off x="810768" y="2517458"/>
              <a:ext cx="337836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Kiểm thử hệ thống &amp; KNX Secure</a:t>
              </a:r>
            </a:p>
          </p:txBody>
        </p:sp>
        <p:sp>
          <p:nvSpPr>
            <p:cNvPr id="11" name="TextBox 11"/>
            <p:cNvSpPr txBox="1"/>
            <p:nvPr/>
          </p:nvSpPr>
          <p:spPr>
            <a:xfrm>
              <a:off x="810768" y="2879408"/>
              <a:ext cx="313448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Giáo trình, đào tạo &amp; tài liệu</a:t>
              </a:r>
            </a:p>
          </p:txBody>
        </p:sp>
      </p:grpSp>
      <p:pic>
        <p:nvPicPr>
          <p:cNvPr id="13" name="Image 13"/>
          <p:cNvPicPr>
            <a:picLocks noChangeAspect="1"/>
          </p:cNvPicPr>
          <p:nvPr/>
        </p:nvPicPr>
        <p:blipFill>
          <a:blip r:embed="rId3"/>
          <a:stretch>
            <a:fillRect/>
          </a:stretch>
        </p:blipFill>
        <p:spPr>
          <a:xfrm>
            <a:off x="6393656" y="1143000"/>
            <a:ext cx="4167188" cy="2381250"/>
          </a:xfrm>
          <a:prstGeom prst="rect">
            <a:avLst/>
          </a:prstGeom>
        </p:spPr>
      </p:pic>
      <p:grpSp>
        <p:nvGrpSpPr>
          <p:cNvPr id="25" name="Group 25"/>
          <p:cNvGrpSpPr/>
          <p:nvPr/>
        </p:nvGrpSpPr>
        <p:grpSpPr>
          <a:xfrm>
            <a:off x="533400" y="3762375"/>
            <a:ext cx="11180047" cy="1047750"/>
            <a:chOff x="533400" y="3762375"/>
            <a:chExt cx="11180047" cy="1047750"/>
          </a:xfrm>
        </p:grpSpPr>
        <p:sp>
          <p:nvSpPr>
            <p:cNvPr id="14" name="Rectangle 14"/>
            <p:cNvSpPr/>
            <p:nvPr/>
          </p:nvSpPr>
          <p:spPr>
            <a:xfrm>
              <a:off x="533400" y="3762375"/>
              <a:ext cx="3429000" cy="1047750"/>
            </a:xfrm>
            <a:prstGeom prst="roundRect">
              <a:avLst>
                <a:gd name="adj" fmla="val 14545"/>
              </a:avLst>
            </a:prstGeom>
            <a:solidFill>
              <a:schemeClr val="accent1"/>
            </a:solidFill>
            <a:ln>
              <a:noFill/>
            </a:ln>
          </p:spPr>
        </p:sp>
        <p:sp>
          <p:nvSpPr>
            <p:cNvPr id="15" name="TextBox 15"/>
            <p:cNvSpPr txBox="1"/>
            <p:nvPr/>
          </p:nvSpPr>
          <p:spPr>
            <a:xfrm>
              <a:off x="800862" y="3888105"/>
              <a:ext cx="596326" cy="704088"/>
            </a:xfrm>
            <a:prstGeom prst="rect">
              <a:avLst/>
            </a:prstGeom>
            <a:noFill/>
            <a:ln>
              <a:noFill/>
            </a:ln>
          </p:spPr>
          <p:txBody>
            <a:bodyPr wrap="none" lIns="0" tIns="0" rIns="0" bIns="0" anchor="t" anchorCtr="0">
              <a:spAutoFit/>
            </a:bodyPr>
            <a:lstStyle/>
            <a:p>
              <a:pPr algn="l"/>
              <a:r>
                <a:rPr lang="en-US" sz="3600" b="1" dirty="0">
                  <a:solidFill>
                    <a:srgbClr val="FFFFFF"/>
                  </a:solidFill>
                  <a:latin typeface="+mn-lt"/>
                  <a:ea typeface="+mn-ea"/>
                  <a:cs typeface="+mn-cs"/>
                </a:rPr>
                <a:t>98</a:t>
              </a:r>
            </a:p>
          </p:txBody>
        </p:sp>
        <p:sp>
          <p:nvSpPr>
            <p:cNvPr id="16" name="TextBox 16"/>
            <p:cNvSpPr txBox="1"/>
            <p:nvPr/>
          </p:nvSpPr>
          <p:spPr>
            <a:xfrm>
              <a:off x="1612011" y="4122896"/>
              <a:ext cx="827039" cy="278702"/>
            </a:xfrm>
            <a:prstGeom prst="rect">
              <a:avLst/>
            </a:prstGeom>
            <a:noFill/>
            <a:ln>
              <a:noFill/>
            </a:ln>
          </p:spPr>
          <p:txBody>
            <a:bodyPr wrap="none" lIns="0" tIns="0" rIns="0" bIns="0" anchor="t" anchorCtr="0">
              <a:spAutoFit/>
            </a:bodyPr>
            <a:lstStyle/>
            <a:p>
              <a:pPr algn="l"/>
              <a:r>
                <a:rPr lang="en-US" sz="1420" dirty="0">
                  <a:solidFill>
                    <a:srgbClr val="FFFFFF"/>
                  </a:solidFill>
                  <a:latin typeface="+mn-lt"/>
                  <a:ea typeface="+mn-ea"/>
                  <a:cs typeface="+mn-cs"/>
                </a:rPr>
                <a:t>task KNX</a:t>
              </a:r>
            </a:p>
          </p:txBody>
        </p:sp>
        <p:sp>
          <p:nvSpPr>
            <p:cNvPr id="17" name="TextBox 17"/>
            <p:cNvSpPr txBox="1"/>
            <p:nvPr/>
          </p:nvSpPr>
          <p:spPr>
            <a:xfrm>
              <a:off x="813054" y="4461510"/>
              <a:ext cx="2330348"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86% tổng khối lượng kỳ review</a:t>
              </a:r>
            </a:p>
          </p:txBody>
        </p:sp>
        <p:sp>
          <p:nvSpPr>
            <p:cNvPr id="18" name="Rectangle 18"/>
            <p:cNvSpPr/>
            <p:nvPr/>
          </p:nvSpPr>
          <p:spPr>
            <a:xfrm>
              <a:off x="4210050" y="3762375"/>
              <a:ext cx="3429000" cy="1047750"/>
            </a:xfrm>
            <a:prstGeom prst="roundRect">
              <a:avLst>
                <a:gd name="adj" fmla="val 14545"/>
              </a:avLst>
            </a:prstGeom>
            <a:solidFill>
              <a:srgbClr val="EAF6F0"/>
            </a:solidFill>
            <a:ln>
              <a:noFill/>
            </a:ln>
          </p:spPr>
        </p:sp>
        <p:sp>
          <p:nvSpPr>
            <p:cNvPr id="19" name="TextBox 19"/>
            <p:cNvSpPr txBox="1"/>
            <p:nvPr/>
          </p:nvSpPr>
          <p:spPr>
            <a:xfrm>
              <a:off x="4477512" y="3888105"/>
              <a:ext cx="596326"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91</a:t>
              </a:r>
            </a:p>
          </p:txBody>
        </p:sp>
        <p:sp>
          <p:nvSpPr>
            <p:cNvPr id="20" name="TextBox 20"/>
            <p:cNvSpPr txBox="1"/>
            <p:nvPr/>
          </p:nvSpPr>
          <p:spPr>
            <a:xfrm>
              <a:off x="5279136" y="4122896"/>
              <a:ext cx="44098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Done</a:t>
              </a:r>
            </a:p>
          </p:txBody>
        </p:sp>
        <p:sp>
          <p:nvSpPr>
            <p:cNvPr id="21" name="TextBox 21"/>
            <p:cNvSpPr txBox="1"/>
            <p:nvPr/>
          </p:nvSpPr>
          <p:spPr>
            <a:xfrm>
              <a:off x="4489704" y="4461510"/>
              <a:ext cx="2497507" cy="234696"/>
            </a:xfrm>
            <a:prstGeom prst="rect">
              <a:avLst/>
            </a:prstGeom>
            <a:noFill/>
            <a:ln>
              <a:noFill/>
            </a:ln>
          </p:spPr>
          <p:txBody>
            <a:bodyPr wrap="none" lIns="0" tIns="0" rIns="0" bIns="0" anchor="t" anchorCtr="0">
              <a:spAutoFit/>
            </a:bodyPr>
            <a:lstStyle/>
            <a:p>
              <a:pPr algn="l"/>
              <a:r>
                <a:rPr lang="en-US" sz="1200" dirty="0">
                  <a:solidFill>
                    <a:srgbClr val="66706A"/>
                  </a:solidFill>
                  <a:latin typeface="+mn-lt"/>
                  <a:ea typeface="+mn-ea"/>
                  <a:cs typeface="+mn-cs"/>
                </a:rPr>
                <a:t>Đầu ra đã xác nhận trong dữ liệu</a:t>
              </a:r>
            </a:p>
          </p:txBody>
        </p:sp>
        <p:sp>
          <p:nvSpPr>
            <p:cNvPr id="22" name="Rectangle 22"/>
            <p:cNvSpPr/>
            <p:nvPr/>
          </p:nvSpPr>
          <p:spPr>
            <a:xfrm>
              <a:off x="7886700" y="3762375"/>
              <a:ext cx="3771900" cy="1047750"/>
            </a:xfrm>
            <a:prstGeom prst="roundRect">
              <a:avLst>
                <a:gd name="adj" fmla="val 14545"/>
              </a:avLst>
            </a:prstGeom>
            <a:solidFill>
              <a:schemeClr val="lt2"/>
            </a:solidFill>
            <a:ln>
              <a:noFill/>
            </a:ln>
          </p:spPr>
        </p:sp>
        <p:sp>
          <p:nvSpPr>
            <p:cNvPr id="23" name="TextBox 23"/>
            <p:cNvSpPr txBox="1"/>
            <p:nvPr/>
          </p:nvSpPr>
          <p:spPr>
            <a:xfrm>
              <a:off x="8165211" y="4018121"/>
              <a:ext cx="13091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7 task còn lại</a:t>
              </a:r>
            </a:p>
          </p:txBody>
        </p:sp>
        <p:sp>
          <p:nvSpPr>
            <p:cNvPr id="24" name="TextBox 24"/>
            <p:cNvSpPr txBox="1"/>
            <p:nvPr/>
          </p:nvSpPr>
          <p:spPr>
            <a:xfrm>
              <a:off x="8166354" y="4347210"/>
              <a:ext cx="3547093" cy="234696"/>
            </a:xfrm>
            <a:prstGeom prst="rect">
              <a:avLst/>
            </a:prstGeom>
            <a:noFill/>
            <a:ln>
              <a:noFill/>
            </a:ln>
          </p:spPr>
          <p:txBody>
            <a:bodyPr wrap="none" lIns="0" tIns="0" rIns="0" bIns="0" anchor="t" anchorCtr="0">
              <a:spAutoFit/>
            </a:bodyPr>
            <a:lstStyle/>
            <a:p>
              <a:pPr algn="l"/>
              <a:r>
                <a:rPr lang="en-US" sz="1200" dirty="0">
                  <a:solidFill>
                    <a:srgbClr val="66706A"/>
                  </a:solidFill>
                  <a:latin typeface="+mn-lt"/>
                  <a:ea typeface="+mn-ea"/>
                  <a:cs typeface="+mn-cs"/>
                </a:rPr>
                <a:t>2 Ongoing · 2 Late · 2 Not started · 1 Closed</a:t>
              </a:r>
            </a:p>
          </p:txBody>
        </p:sp>
      </p:grpSp>
      <p:grpSp>
        <p:nvGrpSpPr>
          <p:cNvPr id="33" name="Group 33"/>
          <p:cNvGrpSpPr/>
          <p:nvPr/>
        </p:nvGrpSpPr>
        <p:grpSpPr>
          <a:xfrm>
            <a:off x="526923" y="5196364"/>
            <a:ext cx="11131677" cy="899636"/>
            <a:chOff x="526923" y="5196364"/>
            <a:chExt cx="11131677" cy="899636"/>
          </a:xfrm>
        </p:grpSpPr>
        <p:sp>
          <p:nvSpPr>
            <p:cNvPr id="26" name="TextBox 26"/>
            <p:cNvSpPr txBox="1"/>
            <p:nvPr/>
          </p:nvSpPr>
          <p:spPr>
            <a:xfrm>
              <a:off x="526923" y="5196364"/>
              <a:ext cx="171437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THÀNH TÍCH NỔI BẬT</a:t>
              </a:r>
            </a:p>
          </p:txBody>
        </p:sp>
        <p:sp>
          <p:nvSpPr>
            <p:cNvPr id="27" name="Rectangle 27"/>
            <p:cNvSpPr/>
            <p:nvPr/>
          </p:nvSpPr>
          <p:spPr>
            <a:xfrm>
              <a:off x="533400" y="5486400"/>
              <a:ext cx="3429000" cy="609600"/>
            </a:xfrm>
            <a:prstGeom prst="roundRect">
              <a:avLst>
                <a:gd name="adj" fmla="val 18750"/>
              </a:avLst>
            </a:prstGeom>
            <a:solidFill>
              <a:schemeClr val="lt1"/>
            </a:solidFill>
            <a:ln w="9525">
              <a:solidFill>
                <a:srgbClr val="CFE0D7"/>
              </a:solidFill>
            </a:ln>
          </p:spPr>
        </p:sp>
        <p:sp>
          <p:nvSpPr>
            <p:cNvPr id="28" name="TextBox 28"/>
            <p:cNvSpPr txBox="1"/>
            <p:nvPr/>
          </p:nvSpPr>
          <p:spPr>
            <a:xfrm>
              <a:off x="717423" y="5710714"/>
              <a:ext cx="21985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Firmware đa dòng thiết bị</a:t>
              </a:r>
            </a:p>
          </p:txBody>
        </p:sp>
        <p:sp>
          <p:nvSpPr>
            <p:cNvPr id="29" name="Rectangle 29"/>
            <p:cNvSpPr/>
            <p:nvPr/>
          </p:nvSpPr>
          <p:spPr>
            <a:xfrm>
              <a:off x="4210050" y="5486400"/>
              <a:ext cx="3429000" cy="609600"/>
            </a:xfrm>
            <a:prstGeom prst="roundRect">
              <a:avLst>
                <a:gd name="adj" fmla="val 18750"/>
              </a:avLst>
            </a:prstGeom>
            <a:solidFill>
              <a:schemeClr val="lt1"/>
            </a:solidFill>
            <a:ln w="9525">
              <a:solidFill>
                <a:srgbClr val="CFE0D7"/>
              </a:solidFill>
            </a:ln>
          </p:spPr>
        </p:sp>
        <p:sp>
          <p:nvSpPr>
            <p:cNvPr id="30" name="TextBox 30"/>
            <p:cNvSpPr txBox="1"/>
            <p:nvPr/>
          </p:nvSpPr>
          <p:spPr>
            <a:xfrm>
              <a:off x="4394073" y="5710714"/>
              <a:ext cx="264398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Tool/Jig và benchmark hệ thống</a:t>
              </a:r>
            </a:p>
          </p:txBody>
        </p:sp>
        <p:sp>
          <p:nvSpPr>
            <p:cNvPr id="31" name="Rectangle 31"/>
            <p:cNvSpPr/>
            <p:nvPr/>
          </p:nvSpPr>
          <p:spPr>
            <a:xfrm>
              <a:off x="7886700" y="5486400"/>
              <a:ext cx="3771900" cy="609600"/>
            </a:xfrm>
            <a:prstGeom prst="roundRect">
              <a:avLst>
                <a:gd name="adj" fmla="val 18750"/>
              </a:avLst>
            </a:prstGeom>
            <a:solidFill>
              <a:schemeClr val="lt1"/>
            </a:solidFill>
            <a:ln w="9525">
              <a:solidFill>
                <a:srgbClr val="CFE0D7"/>
              </a:solidFill>
            </a:ln>
          </p:spPr>
        </p:sp>
        <p:sp>
          <p:nvSpPr>
            <p:cNvPr id="32" name="TextBox 32"/>
            <p:cNvSpPr txBox="1"/>
            <p:nvPr/>
          </p:nvSpPr>
          <p:spPr>
            <a:xfrm>
              <a:off x="8070723" y="5710714"/>
              <a:ext cx="20543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Giáo trình &amp; đào tạo KNX</a:t>
              </a:r>
            </a:p>
          </p:txBody>
        </p:sp>
      </p:grpSp>
      <p:sp>
        <p:nvSpPr>
          <p:cNvPr id="34" name="TextBox 34"/>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04 / 23</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5830343"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KNX — Công việc chính &amp; kết quả</a:t>
            </a:r>
          </a:p>
        </p:txBody>
      </p:sp>
      <p:sp>
        <p:nvSpPr>
          <p:cNvPr id="4" name="Rectangle 4"/>
          <p:cNvSpPr/>
          <p:nvPr/>
        </p:nvSpPr>
        <p:spPr>
          <a:xfrm>
            <a:off x="9239250" y="285750"/>
            <a:ext cx="2381250" cy="400050"/>
          </a:xfrm>
          <a:prstGeom prst="roundRect">
            <a:avLst>
              <a:gd name="adj" fmla="val 50000"/>
            </a:avLst>
          </a:prstGeom>
          <a:solidFill>
            <a:srgbClr val="EAF6F0"/>
          </a:solidFill>
          <a:ln>
            <a:noFill/>
          </a:ln>
        </p:spPr>
      </p:sp>
      <p:sp>
        <p:nvSpPr>
          <p:cNvPr id="5" name="TextBox 5"/>
          <p:cNvSpPr txBox="1"/>
          <p:nvPr/>
        </p:nvSpPr>
        <p:spPr>
          <a:xfrm>
            <a:off x="9627309" y="405289"/>
            <a:ext cx="1605132"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20/03–22/07/2026</a:t>
            </a:r>
          </a:p>
        </p:txBody>
      </p:sp>
      <p:grpSp>
        <p:nvGrpSpPr>
          <p:cNvPr id="39" name="Group 39"/>
          <p:cNvGrpSpPr/>
          <p:nvPr/>
        </p:nvGrpSpPr>
        <p:grpSpPr>
          <a:xfrm>
            <a:off x="533400" y="1143000"/>
            <a:ext cx="11125200" cy="4095750"/>
            <a:chOff x="533400" y="1143000"/>
            <a:chExt cx="11125200" cy="4095750"/>
          </a:xfrm>
        </p:grpSpPr>
        <p:grpSp>
          <p:nvGrpSpPr>
            <p:cNvPr id="16" name="Group 16"/>
            <p:cNvGrpSpPr/>
            <p:nvPr/>
          </p:nvGrpSpPr>
          <p:grpSpPr>
            <a:xfrm>
              <a:off x="533400" y="1143000"/>
              <a:ext cx="3429000" cy="4095750"/>
              <a:chOff x="533400" y="1143000"/>
              <a:chExt cx="3429000" cy="4095750"/>
            </a:xfrm>
          </p:grpSpPr>
          <p:sp>
            <p:nvSpPr>
              <p:cNvPr id="6" name="Rectangle 6"/>
              <p:cNvSpPr/>
              <p:nvPr/>
            </p:nvSpPr>
            <p:spPr>
              <a:xfrm>
                <a:off x="533400" y="1143000"/>
                <a:ext cx="3429000" cy="4095750"/>
              </a:xfrm>
              <a:prstGeom prst="roundRect">
                <a:avLst>
                  <a:gd name="adj" fmla="val 5000"/>
                </a:avLst>
              </a:prstGeom>
              <a:solidFill>
                <a:schemeClr val="lt2"/>
              </a:solidFill>
              <a:ln>
                <a:noFill/>
              </a:ln>
            </p:spPr>
          </p:sp>
          <p:sp>
            <p:nvSpPr>
              <p:cNvPr id="7" name="Rectangle 7"/>
              <p:cNvSpPr/>
              <p:nvPr/>
            </p:nvSpPr>
            <p:spPr>
              <a:xfrm>
                <a:off x="533400" y="1143000"/>
                <a:ext cx="76200" cy="4095750"/>
              </a:xfrm>
              <a:prstGeom prst="roundRect">
                <a:avLst>
                  <a:gd name="adj" fmla="val 50000"/>
                </a:avLst>
              </a:prstGeom>
              <a:solidFill>
                <a:schemeClr val="accent1"/>
              </a:solidFill>
              <a:ln>
                <a:noFill/>
              </a:ln>
            </p:spPr>
          </p:sp>
          <p:sp>
            <p:nvSpPr>
              <p:cNvPr id="8" name="TextBox 8"/>
              <p:cNvSpPr txBox="1"/>
              <p:nvPr/>
            </p:nvSpPr>
            <p:spPr>
              <a:xfrm>
                <a:off x="811530" y="1409700"/>
                <a:ext cx="247954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01 THIẾT BỊ &amp; FIRMWARE</a:t>
                </a:r>
              </a:p>
            </p:txBody>
          </p:sp>
          <p:sp>
            <p:nvSpPr>
              <p:cNvPr id="9" name="TextBox 9"/>
              <p:cNvSpPr txBox="1"/>
              <p:nvPr/>
            </p:nvSpPr>
            <p:spPr>
              <a:xfrm>
                <a:off x="811911" y="1941671"/>
                <a:ext cx="1715319"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Công tắc 2/4 nút</a:t>
                </a:r>
              </a:p>
            </p:txBody>
          </p:sp>
          <p:sp>
            <p:nvSpPr>
              <p:cNvPr id="10" name="TextBox 10"/>
              <p:cNvSpPr txBox="1"/>
              <p:nvPr/>
            </p:nvSpPr>
            <p:spPr>
              <a:xfrm>
                <a:off x="811911" y="2284571"/>
                <a:ext cx="219107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Rèm, Actuator, KNOB</a:t>
                </a:r>
              </a:p>
            </p:txBody>
          </p:sp>
          <p:sp>
            <p:nvSpPr>
              <p:cNvPr id="11" name="TextBox 11"/>
              <p:cNvSpPr txBox="1"/>
              <p:nvPr/>
            </p:nvSpPr>
            <p:spPr>
              <a:xfrm>
                <a:off x="811911" y="2627471"/>
                <a:ext cx="2936833"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Cấu hình và đóng gói .knxprod</a:t>
                </a:r>
              </a:p>
            </p:txBody>
          </p:sp>
          <p:sp>
            <p:nvSpPr>
              <p:cNvPr id="12" name="Line 12"/>
              <p:cNvSpPr/>
              <p:nvPr/>
            </p:nvSpPr>
            <p:spPr>
              <a:xfrm>
                <a:off x="819150" y="3476625"/>
                <a:ext cx="2857500" cy="9525"/>
              </a:xfrm>
              <a:custGeom>
                <a:avLst/>
                <a:gdLst/>
                <a:ahLst/>
                <a:cxnLst/>
                <a:rect l="l" t="t" r="r" b="b"/>
                <a:pathLst>
                  <a:path w="2857500" h="9525">
                    <a:moveTo>
                      <a:pt x="0" y="0"/>
                    </a:moveTo>
                    <a:lnTo>
                      <a:pt x="2857500" y="0"/>
                    </a:lnTo>
                  </a:path>
                </a:pathLst>
              </a:custGeom>
              <a:noFill/>
              <a:ln w="9525">
                <a:solidFill>
                  <a:srgbClr val="C8D8D0"/>
                </a:solidFill>
              </a:ln>
            </p:spPr>
          </p:sp>
          <p:sp>
            <p:nvSpPr>
              <p:cNvPr id="13" name="TextBox 13"/>
              <p:cNvSpPr txBox="1"/>
              <p:nvPr/>
            </p:nvSpPr>
            <p:spPr>
              <a:xfrm>
                <a:off x="813054" y="3728085"/>
                <a:ext cx="69323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KẾT QUẢ</a:t>
                </a:r>
              </a:p>
            </p:txBody>
          </p:sp>
          <p:sp>
            <p:nvSpPr>
              <p:cNvPr id="14" name="TextBox 14"/>
              <p:cNvSpPr txBox="1"/>
              <p:nvPr/>
            </p:nvSpPr>
            <p:spPr>
              <a:xfrm>
                <a:off x="812292" y="4092892"/>
                <a:ext cx="282743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Hoàn thiện nhiều luồng firmware</a:t>
                </a:r>
              </a:p>
            </p:txBody>
          </p:sp>
          <p:sp>
            <p:nvSpPr>
              <p:cNvPr id="15" name="TextBox 15"/>
              <p:cNvSpPr txBox="1"/>
              <p:nvPr/>
            </p:nvSpPr>
            <p:spPr>
              <a:xfrm>
                <a:off x="812292" y="4388168"/>
                <a:ext cx="24762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và chuẩn hóa cách kiểm thử.</a:t>
                </a:r>
              </a:p>
            </p:txBody>
          </p:sp>
        </p:grpSp>
        <p:grpSp>
          <p:nvGrpSpPr>
            <p:cNvPr id="27" name="Group 27"/>
            <p:cNvGrpSpPr/>
            <p:nvPr/>
          </p:nvGrpSpPr>
          <p:grpSpPr>
            <a:xfrm>
              <a:off x="4210050" y="1143000"/>
              <a:ext cx="3429000" cy="4095750"/>
              <a:chOff x="4210050" y="1143000"/>
              <a:chExt cx="3429000" cy="4095750"/>
            </a:xfrm>
          </p:grpSpPr>
          <p:sp>
            <p:nvSpPr>
              <p:cNvPr id="17" name="Rectangle 17"/>
              <p:cNvSpPr/>
              <p:nvPr/>
            </p:nvSpPr>
            <p:spPr>
              <a:xfrm>
                <a:off x="4210050" y="1143000"/>
                <a:ext cx="3429000" cy="4095750"/>
              </a:xfrm>
              <a:prstGeom prst="roundRect">
                <a:avLst>
                  <a:gd name="adj" fmla="val 5000"/>
                </a:avLst>
              </a:prstGeom>
              <a:solidFill>
                <a:srgbClr val="EAF6F0"/>
              </a:solidFill>
              <a:ln>
                <a:noFill/>
              </a:ln>
            </p:spPr>
          </p:sp>
          <p:sp>
            <p:nvSpPr>
              <p:cNvPr id="18" name="Rectangle 18"/>
              <p:cNvSpPr/>
              <p:nvPr/>
            </p:nvSpPr>
            <p:spPr>
              <a:xfrm>
                <a:off x="4210050" y="1143000"/>
                <a:ext cx="76200" cy="4095750"/>
              </a:xfrm>
              <a:prstGeom prst="roundRect">
                <a:avLst>
                  <a:gd name="adj" fmla="val 50000"/>
                </a:avLst>
              </a:prstGeom>
              <a:solidFill>
                <a:schemeClr val="accent1"/>
              </a:solidFill>
              <a:ln>
                <a:noFill/>
              </a:ln>
            </p:spPr>
          </p:sp>
          <p:sp>
            <p:nvSpPr>
              <p:cNvPr id="19" name="TextBox 19"/>
              <p:cNvSpPr txBox="1"/>
              <p:nvPr/>
            </p:nvSpPr>
            <p:spPr>
              <a:xfrm>
                <a:off x="4488180" y="1409700"/>
                <a:ext cx="2098700"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02 TOOL &amp; HỆ THỐNG</a:t>
                </a:r>
              </a:p>
            </p:txBody>
          </p:sp>
          <p:sp>
            <p:nvSpPr>
              <p:cNvPr id="20" name="TextBox 20"/>
              <p:cNvSpPr txBox="1"/>
              <p:nvPr/>
            </p:nvSpPr>
            <p:spPr>
              <a:xfrm>
                <a:off x="4488561" y="1941671"/>
                <a:ext cx="2334672"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Jig, loader, benchmark</a:t>
                </a:r>
              </a:p>
            </p:txBody>
          </p:sp>
          <p:sp>
            <p:nvSpPr>
              <p:cNvPr id="21" name="TextBox 21"/>
              <p:cNvSpPr txBox="1"/>
              <p:nvPr/>
            </p:nvSpPr>
            <p:spPr>
              <a:xfrm>
                <a:off x="4488561" y="2284571"/>
                <a:ext cx="2300017"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GA delay/miss, Coupler</a:t>
                </a:r>
              </a:p>
            </p:txBody>
          </p:sp>
          <p:sp>
            <p:nvSpPr>
              <p:cNvPr id="22" name="TextBox 22"/>
              <p:cNvSpPr txBox="1"/>
              <p:nvPr/>
            </p:nvSpPr>
            <p:spPr>
              <a:xfrm>
                <a:off x="4488561" y="2627471"/>
                <a:ext cx="2718290"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KNX Secure &amp; download flow</a:t>
                </a:r>
              </a:p>
            </p:txBody>
          </p:sp>
          <p:sp>
            <p:nvSpPr>
              <p:cNvPr id="23" name="Line 23"/>
              <p:cNvSpPr/>
              <p:nvPr/>
            </p:nvSpPr>
            <p:spPr>
              <a:xfrm>
                <a:off x="4495800" y="3476625"/>
                <a:ext cx="2857500" cy="9525"/>
              </a:xfrm>
              <a:custGeom>
                <a:avLst/>
                <a:gdLst/>
                <a:ahLst/>
                <a:cxnLst/>
                <a:rect l="l" t="t" r="r" b="b"/>
                <a:pathLst>
                  <a:path w="2857500" h="9525">
                    <a:moveTo>
                      <a:pt x="0" y="0"/>
                    </a:moveTo>
                    <a:lnTo>
                      <a:pt x="2857500" y="0"/>
                    </a:lnTo>
                  </a:path>
                </a:pathLst>
              </a:custGeom>
              <a:noFill/>
              <a:ln w="9525">
                <a:solidFill>
                  <a:srgbClr val="B8D8C7"/>
                </a:solidFill>
              </a:ln>
            </p:spPr>
          </p:sp>
          <p:sp>
            <p:nvSpPr>
              <p:cNvPr id="24" name="TextBox 24"/>
              <p:cNvSpPr txBox="1"/>
              <p:nvPr/>
            </p:nvSpPr>
            <p:spPr>
              <a:xfrm>
                <a:off x="4489704" y="3728085"/>
                <a:ext cx="69323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KẾT QUẢ</a:t>
                </a:r>
              </a:p>
            </p:txBody>
          </p:sp>
          <p:sp>
            <p:nvSpPr>
              <p:cNvPr id="25" name="TextBox 25"/>
              <p:cNvSpPr txBox="1"/>
              <p:nvPr/>
            </p:nvSpPr>
            <p:spPr>
              <a:xfrm>
                <a:off x="4488942" y="4092892"/>
                <a:ext cx="230097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Tăng khả năng tái hiện, đo</a:t>
                </a:r>
              </a:p>
            </p:txBody>
          </p:sp>
          <p:sp>
            <p:nvSpPr>
              <p:cNvPr id="26" name="TextBox 26"/>
              <p:cNvSpPr txBox="1"/>
              <p:nvPr/>
            </p:nvSpPr>
            <p:spPr>
              <a:xfrm>
                <a:off x="4488942" y="4388168"/>
                <a:ext cx="219456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và xác nhận lỗi hệ thống.</a:t>
                </a:r>
              </a:p>
            </p:txBody>
          </p:sp>
        </p:grpSp>
        <p:grpSp>
          <p:nvGrpSpPr>
            <p:cNvPr id="38" name="Group 38"/>
            <p:cNvGrpSpPr/>
            <p:nvPr/>
          </p:nvGrpSpPr>
          <p:grpSpPr>
            <a:xfrm>
              <a:off x="7886700" y="1143000"/>
              <a:ext cx="3771900" cy="4095750"/>
              <a:chOff x="7886700" y="1143000"/>
              <a:chExt cx="3771900" cy="4095750"/>
            </a:xfrm>
          </p:grpSpPr>
          <p:sp>
            <p:nvSpPr>
              <p:cNvPr id="28" name="Rectangle 28"/>
              <p:cNvSpPr/>
              <p:nvPr/>
            </p:nvSpPr>
            <p:spPr>
              <a:xfrm>
                <a:off x="7886700" y="1143000"/>
                <a:ext cx="3771900" cy="4095750"/>
              </a:xfrm>
              <a:prstGeom prst="roundRect">
                <a:avLst>
                  <a:gd name="adj" fmla="val 4545"/>
                </a:avLst>
              </a:prstGeom>
              <a:solidFill>
                <a:schemeClr val="lt2"/>
              </a:solidFill>
              <a:ln>
                <a:noFill/>
              </a:ln>
            </p:spPr>
          </p:sp>
          <p:sp>
            <p:nvSpPr>
              <p:cNvPr id="29" name="Rectangle 29"/>
              <p:cNvSpPr/>
              <p:nvPr/>
            </p:nvSpPr>
            <p:spPr>
              <a:xfrm>
                <a:off x="7886700" y="1143000"/>
                <a:ext cx="76200" cy="4095750"/>
              </a:xfrm>
              <a:prstGeom prst="roundRect">
                <a:avLst>
                  <a:gd name="adj" fmla="val 50000"/>
                </a:avLst>
              </a:prstGeom>
              <a:solidFill>
                <a:schemeClr val="accent1"/>
              </a:solidFill>
              <a:ln>
                <a:noFill/>
              </a:ln>
            </p:spPr>
          </p:sp>
          <p:sp>
            <p:nvSpPr>
              <p:cNvPr id="30" name="TextBox 30"/>
              <p:cNvSpPr txBox="1"/>
              <p:nvPr/>
            </p:nvSpPr>
            <p:spPr>
              <a:xfrm>
                <a:off x="8164830" y="1409700"/>
                <a:ext cx="230032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03 TÀI LIỆU &amp; ĐÀO TẠO</a:t>
                </a:r>
              </a:p>
            </p:txBody>
          </p:sp>
          <p:sp>
            <p:nvSpPr>
              <p:cNvPr id="31" name="TextBox 31"/>
              <p:cNvSpPr txBox="1"/>
              <p:nvPr/>
            </p:nvSpPr>
            <p:spPr>
              <a:xfrm>
                <a:off x="8165211" y="1941671"/>
                <a:ext cx="1789771"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Giáo trình và ETS</a:t>
                </a:r>
              </a:p>
            </p:txBody>
          </p:sp>
          <p:sp>
            <p:nvSpPr>
              <p:cNvPr id="32" name="TextBox 32"/>
              <p:cNvSpPr txBox="1"/>
              <p:nvPr/>
            </p:nvSpPr>
            <p:spPr>
              <a:xfrm>
                <a:off x="8165211" y="2284571"/>
                <a:ext cx="2081149"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Quiz, Q&amp;A, Topology</a:t>
                </a:r>
              </a:p>
            </p:txBody>
          </p:sp>
          <p:sp>
            <p:nvSpPr>
              <p:cNvPr id="33" name="TextBox 33"/>
              <p:cNvSpPr txBox="1"/>
              <p:nvPr/>
            </p:nvSpPr>
            <p:spPr>
              <a:xfrm>
                <a:off x="8165211" y="2627471"/>
                <a:ext cx="3058302"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Hỗ trợ Tester và đào tạo nội bộ</a:t>
                </a:r>
              </a:p>
            </p:txBody>
          </p:sp>
          <p:sp>
            <p:nvSpPr>
              <p:cNvPr id="34" name="Line 34"/>
              <p:cNvSpPr/>
              <p:nvPr/>
            </p:nvSpPr>
            <p:spPr>
              <a:xfrm>
                <a:off x="8172450" y="3476625"/>
                <a:ext cx="3200400" cy="9525"/>
              </a:xfrm>
              <a:custGeom>
                <a:avLst/>
                <a:gdLst/>
                <a:ahLst/>
                <a:cxnLst/>
                <a:rect l="l" t="t" r="r" b="b"/>
                <a:pathLst>
                  <a:path w="3200400" h="9525">
                    <a:moveTo>
                      <a:pt x="0" y="0"/>
                    </a:moveTo>
                    <a:lnTo>
                      <a:pt x="3200400" y="0"/>
                    </a:lnTo>
                  </a:path>
                </a:pathLst>
              </a:custGeom>
              <a:noFill/>
              <a:ln w="9525">
                <a:solidFill>
                  <a:srgbClr val="C8D8D0"/>
                </a:solidFill>
              </a:ln>
            </p:spPr>
          </p:sp>
          <p:sp>
            <p:nvSpPr>
              <p:cNvPr id="35" name="TextBox 35"/>
              <p:cNvSpPr txBox="1"/>
              <p:nvPr/>
            </p:nvSpPr>
            <p:spPr>
              <a:xfrm>
                <a:off x="8166354" y="3728085"/>
                <a:ext cx="69323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KẾT QUẢ</a:t>
                </a:r>
              </a:p>
            </p:txBody>
          </p:sp>
          <p:sp>
            <p:nvSpPr>
              <p:cNvPr id="36" name="TextBox 36"/>
              <p:cNvSpPr txBox="1"/>
              <p:nvPr/>
            </p:nvSpPr>
            <p:spPr>
              <a:xfrm>
                <a:off x="8165592" y="4092892"/>
                <a:ext cx="274594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Chuyển tri thức kỹ thuật thành</a:t>
                </a:r>
              </a:p>
            </p:txBody>
          </p:sp>
          <p:sp>
            <p:nvSpPr>
              <p:cNvPr id="37" name="TextBox 37"/>
              <p:cNvSpPr txBox="1"/>
              <p:nvPr/>
            </p:nvSpPr>
            <p:spPr>
              <a:xfrm>
                <a:off x="8165592" y="4388168"/>
                <a:ext cx="204917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tài sản có thể dùng lại.</a:t>
                </a:r>
              </a:p>
            </p:txBody>
          </p:sp>
        </p:grpSp>
      </p:grpSp>
      <p:sp>
        <p:nvSpPr>
          <p:cNvPr id="40" name="Rectangle 40"/>
          <p:cNvSpPr/>
          <p:nvPr/>
        </p:nvSpPr>
        <p:spPr>
          <a:xfrm>
            <a:off x="533400" y="5524500"/>
            <a:ext cx="11125200" cy="609600"/>
          </a:xfrm>
          <a:prstGeom prst="roundRect">
            <a:avLst>
              <a:gd name="adj" fmla="val 25000"/>
            </a:avLst>
          </a:prstGeom>
          <a:solidFill>
            <a:schemeClr val="accent1"/>
          </a:solidFill>
          <a:ln>
            <a:noFill/>
          </a:ln>
        </p:spPr>
      </p:sp>
      <p:sp>
        <p:nvSpPr>
          <p:cNvPr id="41" name="TextBox 41"/>
          <p:cNvSpPr txBox="1"/>
          <p:nvPr/>
        </p:nvSpPr>
        <p:spPr>
          <a:xfrm>
            <a:off x="852438" y="5735479"/>
            <a:ext cx="10487124"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mn-lt"/>
                <a:ea typeface="+mn-ea"/>
                <a:cs typeface="+mn-cs"/>
              </a:rPr>
              <a:t>Các trang tiếp theo phóng lớn từng bằng chứng benchmark để có thể đọc trực tiếp trên màn hình.</a:t>
            </a:r>
          </a:p>
        </p:txBody>
      </p:sp>
      <p:sp>
        <p:nvSpPr>
          <p:cNvPr id="42" name="TextBox 4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05 / 23</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76250" y="228600"/>
            <a:ext cx="1238250" cy="361950"/>
          </a:xfrm>
          <a:prstGeom prst="rect">
            <a:avLst/>
          </a:prstGeom>
        </p:spPr>
      </p:pic>
      <p:sp>
        <p:nvSpPr>
          <p:cNvPr id="3" name="TextBox 3"/>
          <p:cNvSpPr txBox="1"/>
          <p:nvPr/>
        </p:nvSpPr>
        <p:spPr>
          <a:xfrm>
            <a:off x="2083308" y="331470"/>
            <a:ext cx="5342169"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KNX Benchmark — Bảng điều khiển</a:t>
            </a:r>
          </a:p>
        </p:txBody>
      </p:sp>
      <p:sp>
        <p:nvSpPr>
          <p:cNvPr id="4" name="Rectangle 4"/>
          <p:cNvSpPr/>
          <p:nvPr/>
        </p:nvSpPr>
        <p:spPr>
          <a:xfrm>
            <a:off x="9810750" y="247650"/>
            <a:ext cx="1809750" cy="361950"/>
          </a:xfrm>
          <a:prstGeom prst="roundRect">
            <a:avLst>
              <a:gd name="adj" fmla="val 50000"/>
            </a:avLst>
          </a:prstGeom>
          <a:solidFill>
            <a:srgbClr val="EAF6F0"/>
          </a:solidFill>
          <a:ln>
            <a:noFill/>
          </a:ln>
        </p:spPr>
      </p:sp>
      <p:sp>
        <p:nvSpPr>
          <p:cNvPr id="5" name="TextBox 5"/>
          <p:cNvSpPr txBox="1"/>
          <p:nvPr/>
        </p:nvSpPr>
        <p:spPr>
          <a:xfrm>
            <a:off x="9965540" y="364331"/>
            <a:ext cx="1500171"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BẰNG CHỨNG 01 / 03</a:t>
            </a:r>
          </a:p>
        </p:txBody>
      </p:sp>
      <p:grpSp>
        <p:nvGrpSpPr>
          <p:cNvPr id="11" name="Group 11"/>
          <p:cNvGrpSpPr/>
          <p:nvPr/>
        </p:nvGrpSpPr>
        <p:grpSpPr>
          <a:xfrm>
            <a:off x="533400" y="876300"/>
            <a:ext cx="11125200" cy="5429250"/>
            <a:chOff x="533400" y="876300"/>
            <a:chExt cx="11125200" cy="5429250"/>
          </a:xfrm>
        </p:grpSpPr>
        <p:sp>
          <p:nvSpPr>
            <p:cNvPr id="6" name="Rectangle 6"/>
            <p:cNvSpPr/>
            <p:nvPr/>
          </p:nvSpPr>
          <p:spPr>
            <a:xfrm>
              <a:off x="533400" y="876300"/>
              <a:ext cx="11125200" cy="5429250"/>
            </a:xfrm>
            <a:prstGeom prst="roundRect">
              <a:avLst>
                <a:gd name="adj" fmla="val 3158"/>
              </a:avLst>
            </a:prstGeom>
            <a:solidFill>
              <a:schemeClr val="lt2"/>
            </a:solidFill>
            <a:ln w="19050">
              <a:solidFill>
                <a:srgbClr val="B8D8C7"/>
              </a:solidFill>
            </a:ln>
          </p:spPr>
        </p:sp>
        <p:pic>
          <p:nvPicPr>
            <p:cNvPr id="7" name="Image 7"/>
            <p:cNvPicPr>
              <a:picLocks noChangeAspect="1"/>
            </p:cNvPicPr>
            <p:nvPr/>
          </p:nvPicPr>
          <p:blipFill>
            <a:blip r:embed="rId3"/>
            <a:stretch>
              <a:fillRect/>
            </a:stretch>
          </p:blipFill>
          <p:spPr>
            <a:xfrm>
              <a:off x="1140139" y="1009650"/>
              <a:ext cx="9911721" cy="4762500"/>
            </a:xfrm>
            <a:prstGeom prst="rect">
              <a:avLst/>
            </a:prstGeom>
          </p:spPr>
        </p:pic>
        <p:sp>
          <p:nvSpPr>
            <p:cNvPr id="8" name="Rectangle 8"/>
            <p:cNvSpPr/>
            <p:nvPr/>
          </p:nvSpPr>
          <p:spPr>
            <a:xfrm>
              <a:off x="666750" y="5829300"/>
              <a:ext cx="10858500" cy="361950"/>
            </a:xfrm>
            <a:prstGeom prst="roundRect">
              <a:avLst>
                <a:gd name="adj" fmla="val 26316"/>
              </a:avLst>
            </a:prstGeom>
            <a:solidFill>
              <a:schemeClr val="lt1"/>
            </a:solidFill>
            <a:ln>
              <a:noFill/>
            </a:ln>
          </p:spPr>
        </p:sp>
        <p:sp>
          <p:nvSpPr>
            <p:cNvPr id="9" name="TextBox 9"/>
            <p:cNvSpPr txBox="1"/>
            <p:nvPr/>
          </p:nvSpPr>
          <p:spPr>
            <a:xfrm>
              <a:off x="850773" y="5929789"/>
              <a:ext cx="84454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MỤC ĐÍCH</a:t>
              </a:r>
            </a:p>
          </p:txBody>
        </p:sp>
        <p:sp>
          <p:nvSpPr>
            <p:cNvPr id="10" name="TextBox 10"/>
            <p:cNvSpPr txBox="1"/>
            <p:nvPr/>
          </p:nvSpPr>
          <p:spPr>
            <a:xfrm>
              <a:off x="1850898" y="5929789"/>
              <a:ext cx="634282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Theo dõi thiết bị, trạng thái test và điều khiển luồng benchmark tập trung.</a:t>
              </a:r>
            </a:p>
          </p:txBody>
        </p:sp>
      </p:grpSp>
      <p:sp>
        <p:nvSpPr>
          <p:cNvPr id="12" name="TextBox 1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06 / 23</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76250" y="228600"/>
            <a:ext cx="1238250" cy="361950"/>
          </a:xfrm>
          <a:prstGeom prst="rect">
            <a:avLst/>
          </a:prstGeom>
        </p:spPr>
      </p:pic>
      <p:sp>
        <p:nvSpPr>
          <p:cNvPr id="3" name="TextBox 3"/>
          <p:cNvSpPr txBox="1"/>
          <p:nvPr/>
        </p:nvSpPr>
        <p:spPr>
          <a:xfrm>
            <a:off x="2083308" y="331470"/>
            <a:ext cx="5141295"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KNX Benchmark — Tạo test case</a:t>
            </a:r>
          </a:p>
        </p:txBody>
      </p:sp>
      <p:sp>
        <p:nvSpPr>
          <p:cNvPr id="4" name="Rectangle 4"/>
          <p:cNvSpPr/>
          <p:nvPr/>
        </p:nvSpPr>
        <p:spPr>
          <a:xfrm>
            <a:off x="9810750" y="247650"/>
            <a:ext cx="1809750" cy="361950"/>
          </a:xfrm>
          <a:prstGeom prst="roundRect">
            <a:avLst>
              <a:gd name="adj" fmla="val 50000"/>
            </a:avLst>
          </a:prstGeom>
          <a:solidFill>
            <a:srgbClr val="EAF6F0"/>
          </a:solidFill>
          <a:ln>
            <a:noFill/>
          </a:ln>
        </p:spPr>
      </p:sp>
      <p:sp>
        <p:nvSpPr>
          <p:cNvPr id="5" name="TextBox 5"/>
          <p:cNvSpPr txBox="1"/>
          <p:nvPr/>
        </p:nvSpPr>
        <p:spPr>
          <a:xfrm>
            <a:off x="9965540" y="364331"/>
            <a:ext cx="1500171"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BẰNG CHỨNG 02 / 03</a:t>
            </a:r>
          </a:p>
        </p:txBody>
      </p:sp>
      <p:grpSp>
        <p:nvGrpSpPr>
          <p:cNvPr id="11" name="Group 11"/>
          <p:cNvGrpSpPr/>
          <p:nvPr/>
        </p:nvGrpSpPr>
        <p:grpSpPr>
          <a:xfrm>
            <a:off x="533400" y="876300"/>
            <a:ext cx="11125200" cy="5429250"/>
            <a:chOff x="533400" y="876300"/>
            <a:chExt cx="11125200" cy="5429250"/>
          </a:xfrm>
        </p:grpSpPr>
        <p:sp>
          <p:nvSpPr>
            <p:cNvPr id="6" name="Rectangle 6"/>
            <p:cNvSpPr/>
            <p:nvPr/>
          </p:nvSpPr>
          <p:spPr>
            <a:xfrm>
              <a:off x="533400" y="876300"/>
              <a:ext cx="11125200" cy="5429250"/>
            </a:xfrm>
            <a:prstGeom prst="roundRect">
              <a:avLst>
                <a:gd name="adj" fmla="val 3158"/>
              </a:avLst>
            </a:prstGeom>
            <a:solidFill>
              <a:schemeClr val="lt2"/>
            </a:solidFill>
            <a:ln w="19050">
              <a:solidFill>
                <a:srgbClr val="B8D8C7"/>
              </a:solidFill>
            </a:ln>
          </p:spPr>
        </p:sp>
        <p:pic>
          <p:nvPicPr>
            <p:cNvPr id="7" name="Image 7"/>
            <p:cNvPicPr>
              <a:picLocks noChangeAspect="1"/>
            </p:cNvPicPr>
            <p:nvPr/>
          </p:nvPicPr>
          <p:blipFill>
            <a:blip r:embed="rId3"/>
            <a:stretch>
              <a:fillRect/>
            </a:stretch>
          </p:blipFill>
          <p:spPr>
            <a:xfrm>
              <a:off x="1076725" y="1009650"/>
              <a:ext cx="10038550" cy="4762500"/>
            </a:xfrm>
            <a:prstGeom prst="rect">
              <a:avLst/>
            </a:prstGeom>
          </p:spPr>
        </p:pic>
        <p:sp>
          <p:nvSpPr>
            <p:cNvPr id="8" name="Rectangle 8"/>
            <p:cNvSpPr/>
            <p:nvPr/>
          </p:nvSpPr>
          <p:spPr>
            <a:xfrm>
              <a:off x="666750" y="5829300"/>
              <a:ext cx="10858500" cy="361950"/>
            </a:xfrm>
            <a:prstGeom prst="roundRect">
              <a:avLst>
                <a:gd name="adj" fmla="val 26316"/>
              </a:avLst>
            </a:prstGeom>
            <a:solidFill>
              <a:schemeClr val="lt1"/>
            </a:solidFill>
            <a:ln>
              <a:noFill/>
            </a:ln>
          </p:spPr>
        </p:sp>
        <p:sp>
          <p:nvSpPr>
            <p:cNvPr id="9" name="TextBox 9"/>
            <p:cNvSpPr txBox="1"/>
            <p:nvPr/>
          </p:nvSpPr>
          <p:spPr>
            <a:xfrm>
              <a:off x="850773" y="5929789"/>
              <a:ext cx="73940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KẾT QUẢ</a:t>
              </a:r>
            </a:p>
          </p:txBody>
        </p:sp>
        <p:sp>
          <p:nvSpPr>
            <p:cNvPr id="10" name="TextBox 10"/>
            <p:cNvSpPr txBox="1"/>
            <p:nvPr/>
          </p:nvSpPr>
          <p:spPr>
            <a:xfrm>
              <a:off x="1803273" y="5929789"/>
              <a:ext cx="686004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Chuẩn hóa dữ liệu đầu vào, thao tác tạo và quản lý test case trong cùng một flow.</a:t>
              </a:r>
            </a:p>
          </p:txBody>
        </p:sp>
      </p:grpSp>
      <p:sp>
        <p:nvSpPr>
          <p:cNvPr id="12" name="TextBox 1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07 / 23</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76250" y="228600"/>
            <a:ext cx="1238250" cy="361950"/>
          </a:xfrm>
          <a:prstGeom prst="rect">
            <a:avLst/>
          </a:prstGeom>
        </p:spPr>
      </p:pic>
      <p:sp>
        <p:nvSpPr>
          <p:cNvPr id="3" name="TextBox 3"/>
          <p:cNvSpPr txBox="1"/>
          <p:nvPr/>
        </p:nvSpPr>
        <p:spPr>
          <a:xfrm>
            <a:off x="2083308" y="331470"/>
            <a:ext cx="5430460"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KNX Benchmark — Báo cáo kết quả</a:t>
            </a:r>
          </a:p>
        </p:txBody>
      </p:sp>
      <p:sp>
        <p:nvSpPr>
          <p:cNvPr id="4" name="Rectangle 4"/>
          <p:cNvSpPr/>
          <p:nvPr/>
        </p:nvSpPr>
        <p:spPr>
          <a:xfrm>
            <a:off x="9810750" y="247650"/>
            <a:ext cx="1809750" cy="361950"/>
          </a:xfrm>
          <a:prstGeom prst="roundRect">
            <a:avLst>
              <a:gd name="adj" fmla="val 50000"/>
            </a:avLst>
          </a:prstGeom>
          <a:solidFill>
            <a:srgbClr val="EAF6F0"/>
          </a:solidFill>
          <a:ln>
            <a:noFill/>
          </a:ln>
        </p:spPr>
      </p:sp>
      <p:sp>
        <p:nvSpPr>
          <p:cNvPr id="5" name="TextBox 5"/>
          <p:cNvSpPr txBox="1"/>
          <p:nvPr/>
        </p:nvSpPr>
        <p:spPr>
          <a:xfrm>
            <a:off x="9965540" y="364331"/>
            <a:ext cx="1500171"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BẰNG CHỨNG 03 / 03</a:t>
            </a:r>
          </a:p>
        </p:txBody>
      </p:sp>
      <p:grpSp>
        <p:nvGrpSpPr>
          <p:cNvPr id="11" name="Group 11"/>
          <p:cNvGrpSpPr/>
          <p:nvPr/>
        </p:nvGrpSpPr>
        <p:grpSpPr>
          <a:xfrm>
            <a:off x="533400" y="876300"/>
            <a:ext cx="11125200" cy="5429250"/>
            <a:chOff x="533400" y="876300"/>
            <a:chExt cx="11125200" cy="5429250"/>
          </a:xfrm>
        </p:grpSpPr>
        <p:sp>
          <p:nvSpPr>
            <p:cNvPr id="6" name="Rectangle 6"/>
            <p:cNvSpPr/>
            <p:nvPr/>
          </p:nvSpPr>
          <p:spPr>
            <a:xfrm>
              <a:off x="533400" y="876300"/>
              <a:ext cx="11125200" cy="5429250"/>
            </a:xfrm>
            <a:prstGeom prst="roundRect">
              <a:avLst>
                <a:gd name="adj" fmla="val 3158"/>
              </a:avLst>
            </a:prstGeom>
            <a:solidFill>
              <a:schemeClr val="lt2"/>
            </a:solidFill>
            <a:ln w="19050">
              <a:solidFill>
                <a:srgbClr val="B8D8C7"/>
              </a:solidFill>
            </a:ln>
          </p:spPr>
        </p:sp>
        <p:pic>
          <p:nvPicPr>
            <p:cNvPr id="7" name="Image 7"/>
            <p:cNvPicPr>
              <a:picLocks noChangeAspect="1"/>
            </p:cNvPicPr>
            <p:nvPr/>
          </p:nvPicPr>
          <p:blipFill>
            <a:blip r:embed="rId3"/>
            <a:stretch>
              <a:fillRect/>
            </a:stretch>
          </p:blipFill>
          <p:spPr>
            <a:xfrm>
              <a:off x="1020811" y="1009650"/>
              <a:ext cx="10150379" cy="4762500"/>
            </a:xfrm>
            <a:prstGeom prst="rect">
              <a:avLst/>
            </a:prstGeom>
          </p:spPr>
        </p:pic>
        <p:sp>
          <p:nvSpPr>
            <p:cNvPr id="8" name="Rectangle 8"/>
            <p:cNvSpPr/>
            <p:nvPr/>
          </p:nvSpPr>
          <p:spPr>
            <a:xfrm>
              <a:off x="666750" y="5829300"/>
              <a:ext cx="10858500" cy="361950"/>
            </a:xfrm>
            <a:prstGeom prst="roundRect">
              <a:avLst>
                <a:gd name="adj" fmla="val 26316"/>
              </a:avLst>
            </a:prstGeom>
            <a:solidFill>
              <a:schemeClr val="lt1"/>
            </a:solidFill>
            <a:ln>
              <a:noFill/>
            </a:ln>
          </p:spPr>
        </p:sp>
        <p:sp>
          <p:nvSpPr>
            <p:cNvPr id="9" name="TextBox 9"/>
            <p:cNvSpPr txBox="1"/>
            <p:nvPr/>
          </p:nvSpPr>
          <p:spPr>
            <a:xfrm>
              <a:off x="850773" y="5929789"/>
              <a:ext cx="596024"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ĐẦU RA</a:t>
              </a:r>
            </a:p>
          </p:txBody>
        </p:sp>
        <p:sp>
          <p:nvSpPr>
            <p:cNvPr id="10" name="TextBox 10"/>
            <p:cNvSpPr txBox="1"/>
            <p:nvPr/>
          </p:nvSpPr>
          <p:spPr>
            <a:xfrm>
              <a:off x="1660398" y="5929789"/>
              <a:ext cx="629139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Tổng hợp trạng thái, kết quả pass/fail và bằng chứng kiểm thử để truy vết.</a:t>
              </a:r>
            </a:p>
          </p:txBody>
        </p:sp>
      </p:grpSp>
      <p:sp>
        <p:nvSpPr>
          <p:cNvPr id="12" name="TextBox 1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08 / 23</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4246259"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KNX: Năng lực &amp; bài học</a:t>
            </a:r>
          </a:p>
        </p:txBody>
      </p:sp>
      <p:sp>
        <p:nvSpPr>
          <p:cNvPr id="4" name="Rectangle 4"/>
          <p:cNvSpPr/>
          <p:nvPr/>
        </p:nvSpPr>
        <p:spPr>
          <a:xfrm>
            <a:off x="9239250" y="285750"/>
            <a:ext cx="2381250" cy="400050"/>
          </a:xfrm>
          <a:prstGeom prst="roundRect">
            <a:avLst>
              <a:gd name="adj" fmla="val 50000"/>
            </a:avLst>
          </a:prstGeom>
          <a:solidFill>
            <a:srgbClr val="EAF6F0"/>
          </a:solidFill>
          <a:ln>
            <a:noFill/>
          </a:ln>
        </p:spPr>
      </p:sp>
      <p:sp>
        <p:nvSpPr>
          <p:cNvPr id="5" name="TextBox 5"/>
          <p:cNvSpPr txBox="1"/>
          <p:nvPr/>
        </p:nvSpPr>
        <p:spPr>
          <a:xfrm>
            <a:off x="9627309" y="405289"/>
            <a:ext cx="1605132"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20/03–22/07/2026</a:t>
            </a:r>
          </a:p>
        </p:txBody>
      </p:sp>
      <p:grpSp>
        <p:nvGrpSpPr>
          <p:cNvPr id="30" name="Group 30"/>
          <p:cNvGrpSpPr/>
          <p:nvPr/>
        </p:nvGrpSpPr>
        <p:grpSpPr>
          <a:xfrm>
            <a:off x="533400" y="1066800"/>
            <a:ext cx="6896100" cy="4343400"/>
            <a:chOff x="533400" y="1066800"/>
            <a:chExt cx="6896100" cy="4343400"/>
          </a:xfrm>
        </p:grpSpPr>
        <p:grpSp>
          <p:nvGrpSpPr>
            <p:cNvPr id="11" name="Group 11"/>
            <p:cNvGrpSpPr/>
            <p:nvPr/>
          </p:nvGrpSpPr>
          <p:grpSpPr>
            <a:xfrm>
              <a:off x="533400" y="1066800"/>
              <a:ext cx="3333750" cy="2057400"/>
              <a:chOff x="533400" y="1066800"/>
              <a:chExt cx="3333750" cy="2057400"/>
            </a:xfrm>
          </p:grpSpPr>
          <p:sp>
            <p:nvSpPr>
              <p:cNvPr id="6" name="Rectangle 6"/>
              <p:cNvSpPr/>
              <p:nvPr/>
            </p:nvSpPr>
            <p:spPr>
              <a:xfrm>
                <a:off x="533400" y="1066800"/>
                <a:ext cx="3333750" cy="2057400"/>
              </a:xfrm>
              <a:prstGeom prst="roundRect">
                <a:avLst>
                  <a:gd name="adj" fmla="val 7407"/>
                </a:avLst>
              </a:prstGeom>
              <a:solidFill>
                <a:schemeClr val="lt2"/>
              </a:solidFill>
              <a:ln>
                <a:noFill/>
              </a:ln>
            </p:spPr>
          </p:sp>
          <p:sp>
            <p:nvSpPr>
              <p:cNvPr id="7" name="TextBox 7"/>
              <p:cNvSpPr txBox="1"/>
              <p:nvPr/>
            </p:nvSpPr>
            <p:spPr>
              <a:xfrm>
                <a:off x="774192" y="1292542"/>
                <a:ext cx="73956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KỸ NĂNG</a:t>
                </a:r>
              </a:p>
            </p:txBody>
          </p:sp>
          <p:sp>
            <p:nvSpPr>
              <p:cNvPr id="8" name="TextBox 8"/>
              <p:cNvSpPr txBox="1"/>
              <p:nvPr/>
            </p:nvSpPr>
            <p:spPr>
              <a:xfrm>
                <a:off x="774573" y="1672114"/>
                <a:ext cx="226376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Firmware · ETS · .knxprod</a:t>
                </a:r>
              </a:p>
            </p:txBody>
          </p:sp>
          <p:sp>
            <p:nvSpPr>
              <p:cNvPr id="9" name="TextBox 9"/>
              <p:cNvSpPr txBox="1"/>
              <p:nvPr/>
            </p:nvSpPr>
            <p:spPr>
              <a:xfrm>
                <a:off x="774573" y="1957864"/>
                <a:ext cx="179960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Debug hệ thống và Jig</a:t>
                </a:r>
              </a:p>
            </p:txBody>
          </p:sp>
          <p:sp>
            <p:nvSpPr>
              <p:cNvPr id="10" name="TextBox 10"/>
              <p:cNvSpPr txBox="1"/>
              <p:nvPr/>
            </p:nvSpPr>
            <p:spPr>
              <a:xfrm>
                <a:off x="774573" y="2243614"/>
                <a:ext cx="18109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Viết tài liệu &amp; đào tạo</a:t>
                </a:r>
              </a:p>
            </p:txBody>
          </p:sp>
        </p:grpSp>
        <p:grpSp>
          <p:nvGrpSpPr>
            <p:cNvPr id="17" name="Group 17"/>
            <p:cNvGrpSpPr/>
            <p:nvPr/>
          </p:nvGrpSpPr>
          <p:grpSpPr>
            <a:xfrm>
              <a:off x="4095750" y="1066800"/>
              <a:ext cx="3333750" cy="2057400"/>
              <a:chOff x="4095750" y="1066800"/>
              <a:chExt cx="3333750" cy="2057400"/>
            </a:xfrm>
          </p:grpSpPr>
          <p:sp>
            <p:nvSpPr>
              <p:cNvPr id="12" name="Rectangle 12"/>
              <p:cNvSpPr/>
              <p:nvPr/>
            </p:nvSpPr>
            <p:spPr>
              <a:xfrm>
                <a:off x="4095750" y="1066800"/>
                <a:ext cx="3333750" cy="2057400"/>
              </a:xfrm>
              <a:prstGeom prst="roundRect">
                <a:avLst>
                  <a:gd name="adj" fmla="val 7407"/>
                </a:avLst>
              </a:prstGeom>
              <a:solidFill>
                <a:srgbClr val="EAF6F0"/>
              </a:solidFill>
              <a:ln>
                <a:noFill/>
              </a:ln>
            </p:spPr>
          </p:sp>
          <p:sp>
            <p:nvSpPr>
              <p:cNvPr id="13" name="TextBox 13"/>
              <p:cNvSpPr txBox="1"/>
              <p:nvPr/>
            </p:nvSpPr>
            <p:spPr>
              <a:xfrm>
                <a:off x="4336542" y="1292542"/>
                <a:ext cx="62867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TƯ DUY</a:t>
                </a:r>
              </a:p>
            </p:txBody>
          </p:sp>
          <p:sp>
            <p:nvSpPr>
              <p:cNvPr id="14" name="TextBox 14"/>
              <p:cNvSpPr txBox="1"/>
              <p:nvPr/>
            </p:nvSpPr>
            <p:spPr>
              <a:xfrm>
                <a:off x="4336923" y="1672114"/>
                <a:ext cx="289685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Nhìn end-to-end, không tách lỗi lẻ</a:t>
                </a:r>
              </a:p>
            </p:txBody>
          </p:sp>
          <p:sp>
            <p:nvSpPr>
              <p:cNvPr id="15" name="TextBox 15"/>
              <p:cNvSpPr txBox="1"/>
              <p:nvPr/>
            </p:nvSpPr>
            <p:spPr>
              <a:xfrm>
                <a:off x="4336923" y="1957864"/>
                <a:ext cx="22245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Ưu tiên bằng chứng đo được</a:t>
                </a:r>
              </a:p>
            </p:txBody>
          </p:sp>
          <p:sp>
            <p:nvSpPr>
              <p:cNvPr id="16" name="TextBox 16"/>
              <p:cNvSpPr txBox="1"/>
              <p:nvPr/>
            </p:nvSpPr>
            <p:spPr>
              <a:xfrm>
                <a:off x="4336923" y="2243614"/>
                <a:ext cx="246557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Biến tri thức thành quy trình</a:t>
                </a:r>
              </a:p>
            </p:txBody>
          </p:sp>
        </p:grpSp>
        <p:grpSp>
          <p:nvGrpSpPr>
            <p:cNvPr id="23" name="Group 23"/>
            <p:cNvGrpSpPr/>
            <p:nvPr/>
          </p:nvGrpSpPr>
          <p:grpSpPr>
            <a:xfrm>
              <a:off x="533400" y="3352800"/>
              <a:ext cx="3333750" cy="2057400"/>
              <a:chOff x="533400" y="3352800"/>
              <a:chExt cx="3333750" cy="2057400"/>
            </a:xfrm>
          </p:grpSpPr>
          <p:sp>
            <p:nvSpPr>
              <p:cNvPr id="18" name="Rectangle 18"/>
              <p:cNvSpPr/>
              <p:nvPr/>
            </p:nvSpPr>
            <p:spPr>
              <a:xfrm>
                <a:off x="533400" y="3352800"/>
                <a:ext cx="3333750" cy="2057400"/>
              </a:xfrm>
              <a:prstGeom prst="roundRect">
                <a:avLst>
                  <a:gd name="adj" fmla="val 7407"/>
                </a:avLst>
              </a:prstGeom>
              <a:solidFill>
                <a:srgbClr val="EEF3FF"/>
              </a:solidFill>
              <a:ln>
                <a:noFill/>
              </a:ln>
            </p:spPr>
          </p:sp>
          <p:sp>
            <p:nvSpPr>
              <p:cNvPr id="19" name="TextBox 19"/>
              <p:cNvSpPr txBox="1"/>
              <p:nvPr/>
            </p:nvSpPr>
            <p:spPr>
              <a:xfrm>
                <a:off x="774192" y="3578542"/>
                <a:ext cx="689160"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BÀI HỌC</a:t>
                </a:r>
              </a:p>
            </p:txBody>
          </p:sp>
          <p:sp>
            <p:nvSpPr>
              <p:cNvPr id="20" name="TextBox 20"/>
              <p:cNvSpPr txBox="1"/>
              <p:nvPr/>
            </p:nvSpPr>
            <p:spPr>
              <a:xfrm>
                <a:off x="774573" y="3958114"/>
                <a:ext cx="187149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Chuẩn hóa test từ sớm</a:t>
                </a:r>
              </a:p>
            </p:txBody>
          </p:sp>
          <p:sp>
            <p:nvSpPr>
              <p:cNvPr id="21" name="TextBox 21"/>
              <p:cNvSpPr txBox="1"/>
              <p:nvPr/>
            </p:nvSpPr>
            <p:spPr>
              <a:xfrm>
                <a:off x="774573" y="4243864"/>
                <a:ext cx="250012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Giữ log, benchmark, checklist</a:t>
                </a:r>
              </a:p>
            </p:txBody>
          </p:sp>
          <p:sp>
            <p:nvSpPr>
              <p:cNvPr id="22" name="TextBox 22"/>
              <p:cNvSpPr txBox="1"/>
              <p:nvPr/>
            </p:nvSpPr>
            <p:spPr>
              <a:xfrm>
                <a:off x="774573" y="4529614"/>
                <a:ext cx="240537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Handoff đủ context kỹ thuật</a:t>
                </a:r>
              </a:p>
            </p:txBody>
          </p:sp>
        </p:grpSp>
        <p:grpSp>
          <p:nvGrpSpPr>
            <p:cNvPr id="29" name="Group 29"/>
            <p:cNvGrpSpPr/>
            <p:nvPr/>
          </p:nvGrpSpPr>
          <p:grpSpPr>
            <a:xfrm>
              <a:off x="4095750" y="3352800"/>
              <a:ext cx="3333750" cy="2057400"/>
              <a:chOff x="4095750" y="3352800"/>
              <a:chExt cx="3333750" cy="2057400"/>
            </a:xfrm>
          </p:grpSpPr>
          <p:sp>
            <p:nvSpPr>
              <p:cNvPr id="24" name="Rectangle 24"/>
              <p:cNvSpPr/>
              <p:nvPr/>
            </p:nvSpPr>
            <p:spPr>
              <a:xfrm>
                <a:off x="4095750" y="3352800"/>
                <a:ext cx="3333750" cy="2057400"/>
              </a:xfrm>
              <a:prstGeom prst="roundRect">
                <a:avLst>
                  <a:gd name="adj" fmla="val 7407"/>
                </a:avLst>
              </a:prstGeom>
              <a:solidFill>
                <a:srgbClr val="FFF7E8"/>
              </a:solidFill>
              <a:ln>
                <a:noFill/>
              </a:ln>
            </p:spPr>
          </p:sp>
          <p:sp>
            <p:nvSpPr>
              <p:cNvPr id="25" name="TextBox 25"/>
              <p:cNvSpPr txBox="1"/>
              <p:nvPr/>
            </p:nvSpPr>
            <p:spPr>
              <a:xfrm>
                <a:off x="4336542" y="3578542"/>
                <a:ext cx="2090456" cy="264033"/>
              </a:xfrm>
              <a:prstGeom prst="rect">
                <a:avLst/>
              </a:prstGeom>
              <a:noFill/>
              <a:ln>
                <a:noFill/>
              </a:ln>
            </p:spPr>
            <p:txBody>
              <a:bodyPr wrap="none" lIns="0" tIns="0" rIns="0" bIns="0" anchor="t" anchorCtr="0">
                <a:spAutoFit/>
              </a:bodyPr>
              <a:lstStyle/>
              <a:p>
                <a:pPr algn="l"/>
                <a:r>
                  <a:rPr lang="en-US" sz="1350" b="1" dirty="0">
                    <a:solidFill>
                      <a:srgbClr val="B56A00"/>
                    </a:solidFill>
                    <a:latin typeface="+mn-lt"/>
                    <a:ea typeface="+mn-ea"/>
                    <a:cs typeface="+mn-cs"/>
                  </a:rPr>
                  <a:t>KHÓ KHĂN &amp; CÁCH XỬ LÝ</a:t>
                </a:r>
              </a:p>
            </p:txBody>
          </p:sp>
          <p:sp>
            <p:nvSpPr>
              <p:cNvPr id="26" name="TextBox 26"/>
              <p:cNvSpPr txBox="1"/>
              <p:nvPr/>
            </p:nvSpPr>
            <p:spPr>
              <a:xfrm>
                <a:off x="4336923" y="3958114"/>
                <a:ext cx="276119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GA delay/miss · Secure · Coupler</a:t>
                </a:r>
              </a:p>
            </p:txBody>
          </p:sp>
          <p:sp>
            <p:nvSpPr>
              <p:cNvPr id="27" name="TextBox 27"/>
              <p:cNvSpPr txBox="1"/>
              <p:nvPr/>
            </p:nvSpPr>
            <p:spPr>
              <a:xfrm>
                <a:off x="4336923" y="4243864"/>
                <a:ext cx="195793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Tái hiện → đo → đối chiếu</a:t>
                </a:r>
              </a:p>
            </p:txBody>
          </p:sp>
          <p:sp>
            <p:nvSpPr>
              <p:cNvPr id="28" name="TextBox 28"/>
              <p:cNvSpPr txBox="1"/>
              <p:nvPr/>
            </p:nvSpPr>
            <p:spPr>
              <a:xfrm>
                <a:off x="4336923" y="4529614"/>
                <a:ext cx="261214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Xác nhận lại trên cấu hình thật</a:t>
                </a:r>
              </a:p>
            </p:txBody>
          </p:sp>
        </p:grpSp>
      </p:grpSp>
      <p:grpSp>
        <p:nvGrpSpPr>
          <p:cNvPr id="44" name="Group 44"/>
          <p:cNvGrpSpPr/>
          <p:nvPr/>
        </p:nvGrpSpPr>
        <p:grpSpPr>
          <a:xfrm>
            <a:off x="7658100" y="1066800"/>
            <a:ext cx="4000500" cy="4343400"/>
            <a:chOff x="7658100" y="1066800"/>
            <a:chExt cx="4000500" cy="4343400"/>
          </a:xfrm>
        </p:grpSpPr>
        <p:sp>
          <p:nvSpPr>
            <p:cNvPr id="31" name="Rectangle 31"/>
            <p:cNvSpPr/>
            <p:nvPr/>
          </p:nvSpPr>
          <p:spPr>
            <a:xfrm>
              <a:off x="7658100" y="1066800"/>
              <a:ext cx="4000500" cy="2571750"/>
            </a:xfrm>
            <a:prstGeom prst="roundRect">
              <a:avLst>
                <a:gd name="adj" fmla="val 5926"/>
              </a:avLst>
            </a:prstGeom>
            <a:solidFill>
              <a:schemeClr val="lt1"/>
            </a:solidFill>
            <a:ln w="19050">
              <a:solidFill>
                <a:srgbClr val="B8D8C7"/>
              </a:solidFill>
            </a:ln>
          </p:spPr>
        </p:sp>
        <p:sp>
          <p:nvSpPr>
            <p:cNvPr id="32" name="TextBox 32"/>
            <p:cNvSpPr txBox="1"/>
            <p:nvPr/>
          </p:nvSpPr>
          <p:spPr>
            <a:xfrm>
              <a:off x="7880985" y="1269206"/>
              <a:ext cx="1778961" cy="220028"/>
            </a:xfrm>
            <a:prstGeom prst="rect">
              <a:avLst/>
            </a:prstGeom>
            <a:noFill/>
            <a:ln>
              <a:noFill/>
            </a:ln>
          </p:spPr>
          <p:txBody>
            <a:bodyPr wrap="none" lIns="0" tIns="0" rIns="0" bIns="0" anchor="t" anchorCtr="0">
              <a:spAutoFit/>
            </a:bodyPr>
            <a:lstStyle/>
            <a:p>
              <a:pPr algn="l"/>
              <a:r>
                <a:rPr lang="en-US" sz="1120" b="1" spc="98" dirty="0">
                  <a:solidFill>
                    <a:srgbClr val="66706A"/>
                  </a:solidFill>
                  <a:latin typeface="+mn-lt"/>
                  <a:ea typeface="+mn-ea"/>
                  <a:cs typeface="+mn-cs"/>
                </a:rPr>
                <a:t>BẰNG CHỨNG THỰC TẾ</a:t>
              </a:r>
            </a:p>
          </p:txBody>
        </p:sp>
        <p:sp>
          <p:nvSpPr>
            <p:cNvPr id="33" name="Rectangle 33"/>
            <p:cNvSpPr/>
            <p:nvPr/>
          </p:nvSpPr>
          <p:spPr>
            <a:xfrm>
              <a:off x="7886700" y="1543050"/>
              <a:ext cx="3543300" cy="1695450"/>
            </a:xfrm>
            <a:prstGeom prst="roundRect">
              <a:avLst>
                <a:gd name="adj" fmla="val 4494"/>
              </a:avLst>
            </a:prstGeom>
            <a:solidFill>
              <a:schemeClr val="lt2"/>
            </a:solidFill>
            <a:ln>
              <a:noFill/>
            </a:ln>
          </p:spPr>
        </p:sp>
        <p:pic>
          <p:nvPicPr>
            <p:cNvPr id="34" name="Image 34"/>
            <p:cNvPicPr>
              <a:picLocks noChangeAspect="1"/>
            </p:cNvPicPr>
            <p:nvPr/>
          </p:nvPicPr>
          <p:blipFill>
            <a:blip r:embed="rId3"/>
            <a:stretch>
              <a:fillRect/>
            </a:stretch>
          </p:blipFill>
          <p:spPr>
            <a:xfrm>
              <a:off x="8048778" y="1543050"/>
              <a:ext cx="3219144" cy="1695450"/>
            </a:xfrm>
            <a:prstGeom prst="rect">
              <a:avLst/>
            </a:prstGeom>
          </p:spPr>
        </p:pic>
        <p:sp>
          <p:nvSpPr>
            <p:cNvPr id="35" name="TextBox 35"/>
            <p:cNvSpPr txBox="1"/>
            <p:nvPr/>
          </p:nvSpPr>
          <p:spPr>
            <a:xfrm>
              <a:off x="7880604" y="3347085"/>
              <a:ext cx="311485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Tool nạp code KNX · giao diện vận hành</a:t>
              </a:r>
            </a:p>
          </p:txBody>
        </p:sp>
        <p:sp>
          <p:nvSpPr>
            <p:cNvPr id="36" name="Rectangle 36"/>
            <p:cNvSpPr/>
            <p:nvPr/>
          </p:nvSpPr>
          <p:spPr>
            <a:xfrm>
              <a:off x="7658100" y="3867150"/>
              <a:ext cx="4000500" cy="1543050"/>
            </a:xfrm>
            <a:prstGeom prst="roundRect">
              <a:avLst>
                <a:gd name="adj" fmla="val 9877"/>
              </a:avLst>
            </a:prstGeom>
            <a:solidFill>
              <a:schemeClr val="accent1"/>
            </a:solidFill>
            <a:ln>
              <a:noFill/>
            </a:ln>
          </p:spPr>
        </p:sp>
        <p:sp>
          <p:nvSpPr>
            <p:cNvPr id="37" name="TextBox 37"/>
            <p:cNvSpPr txBox="1"/>
            <p:nvPr/>
          </p:nvSpPr>
          <p:spPr>
            <a:xfrm>
              <a:off x="7880985" y="4060031"/>
              <a:ext cx="1717798" cy="220028"/>
            </a:xfrm>
            <a:prstGeom prst="rect">
              <a:avLst/>
            </a:prstGeom>
            <a:noFill/>
            <a:ln>
              <a:noFill/>
            </a:ln>
          </p:spPr>
          <p:txBody>
            <a:bodyPr wrap="none" lIns="0" tIns="0" rIns="0" bIns="0" anchor="t" anchorCtr="0">
              <a:spAutoFit/>
            </a:bodyPr>
            <a:lstStyle/>
            <a:p>
              <a:pPr algn="l"/>
              <a:r>
                <a:rPr lang="en-US" sz="1120" b="1" spc="90" dirty="0">
                  <a:solidFill>
                    <a:srgbClr val="FFFFFF"/>
                  </a:solidFill>
                  <a:latin typeface="+mn-lt"/>
                  <a:ea typeface="+mn-ea"/>
                  <a:cs typeface="+mn-cs"/>
                </a:rPr>
                <a:t>THÀNH TÍCH NỔI BẬT</a:t>
              </a:r>
            </a:p>
          </p:txBody>
        </p:sp>
        <p:sp>
          <p:nvSpPr>
            <p:cNvPr id="38" name="TextBox 38"/>
            <p:cNvSpPr txBox="1"/>
            <p:nvPr/>
          </p:nvSpPr>
          <p:spPr>
            <a:xfrm>
              <a:off x="7868412" y="4383405"/>
              <a:ext cx="596326" cy="704088"/>
            </a:xfrm>
            <a:prstGeom prst="rect">
              <a:avLst/>
            </a:prstGeom>
            <a:noFill/>
            <a:ln>
              <a:noFill/>
            </a:ln>
          </p:spPr>
          <p:txBody>
            <a:bodyPr wrap="none" lIns="0" tIns="0" rIns="0" bIns="0" anchor="t" anchorCtr="0">
              <a:spAutoFit/>
            </a:bodyPr>
            <a:lstStyle/>
            <a:p>
              <a:pPr algn="l"/>
              <a:r>
                <a:rPr lang="en-US" sz="3600" b="1" dirty="0">
                  <a:solidFill>
                    <a:srgbClr val="FFFFFF"/>
                  </a:solidFill>
                  <a:latin typeface="+mn-lt"/>
                  <a:ea typeface="+mn-ea"/>
                  <a:cs typeface="+mn-cs"/>
                </a:rPr>
                <a:t>91</a:t>
              </a:r>
            </a:p>
          </p:txBody>
        </p:sp>
        <p:sp>
          <p:nvSpPr>
            <p:cNvPr id="39" name="TextBox 39"/>
            <p:cNvSpPr txBox="1"/>
            <p:nvPr/>
          </p:nvSpPr>
          <p:spPr>
            <a:xfrm>
              <a:off x="8622411" y="4541996"/>
              <a:ext cx="964529"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task Done</a:t>
              </a:r>
            </a:p>
          </p:txBody>
        </p:sp>
        <p:sp>
          <p:nvSpPr>
            <p:cNvPr id="40" name="TextBox 40"/>
            <p:cNvSpPr txBox="1"/>
            <p:nvPr/>
          </p:nvSpPr>
          <p:spPr>
            <a:xfrm>
              <a:off x="8624316" y="4858702"/>
              <a:ext cx="1436989" cy="205359"/>
            </a:xfrm>
            <a:prstGeom prst="rect">
              <a:avLst/>
            </a:prstGeom>
            <a:noFill/>
            <a:ln>
              <a:noFill/>
            </a:ln>
          </p:spPr>
          <p:txBody>
            <a:bodyPr wrap="none" lIns="0" tIns="0" rIns="0" bIns="0" anchor="t" anchorCtr="0">
              <a:spAutoFit/>
            </a:bodyPr>
            <a:lstStyle/>
            <a:p>
              <a:pPr algn="l"/>
              <a:r>
                <a:rPr lang="en-US" sz="1050" dirty="0">
                  <a:solidFill>
                    <a:srgbClr val="DDF3E8"/>
                  </a:solidFill>
                  <a:latin typeface="+mn-lt"/>
                  <a:ea typeface="+mn-ea"/>
                  <a:cs typeface="+mn-cs"/>
                </a:rPr>
                <a:t>Tool · test · đào tạo</a:t>
              </a:r>
            </a:p>
          </p:txBody>
        </p:sp>
        <p:sp>
          <p:nvSpPr>
            <p:cNvPr id="41" name="Rectangle 41"/>
            <p:cNvSpPr/>
            <p:nvPr/>
          </p:nvSpPr>
          <p:spPr>
            <a:xfrm>
              <a:off x="10001250" y="4171950"/>
              <a:ext cx="1428750" cy="914400"/>
            </a:xfrm>
            <a:prstGeom prst="roundRect">
              <a:avLst>
                <a:gd name="adj" fmla="val 6250"/>
              </a:avLst>
            </a:prstGeom>
            <a:solidFill>
              <a:schemeClr val="lt1"/>
            </a:solidFill>
            <a:ln>
              <a:noFill/>
            </a:ln>
          </p:spPr>
        </p:sp>
        <p:pic>
          <p:nvPicPr>
            <p:cNvPr id="42" name="Image 42"/>
            <p:cNvPicPr>
              <a:picLocks noChangeAspect="1"/>
            </p:cNvPicPr>
            <p:nvPr/>
          </p:nvPicPr>
          <p:blipFill>
            <a:blip r:embed="rId4"/>
            <a:stretch>
              <a:fillRect/>
            </a:stretch>
          </p:blipFill>
          <p:spPr>
            <a:xfrm>
              <a:off x="10001250" y="4171950"/>
              <a:ext cx="1428750" cy="914400"/>
            </a:xfrm>
            <a:prstGeom prst="rect">
              <a:avLst/>
            </a:prstGeom>
          </p:spPr>
        </p:pic>
        <p:sp>
          <p:nvSpPr>
            <p:cNvPr id="43" name="TextBox 43"/>
            <p:cNvSpPr txBox="1"/>
            <p:nvPr/>
          </p:nvSpPr>
          <p:spPr>
            <a:xfrm>
              <a:off x="9995916" y="5153978"/>
              <a:ext cx="1394321"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KNX Basic · 91 điểm</a:t>
              </a:r>
            </a:p>
          </p:txBody>
        </p:sp>
      </p:grpSp>
      <p:sp>
        <p:nvSpPr>
          <p:cNvPr id="45" name="TextBox 45"/>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09 / 23</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76250" y="228600"/>
            <a:ext cx="1238250" cy="361950"/>
          </a:xfrm>
          <a:prstGeom prst="rect">
            <a:avLst/>
          </a:prstGeom>
        </p:spPr>
      </p:pic>
      <p:sp>
        <p:nvSpPr>
          <p:cNvPr id="3" name="TextBox 3"/>
          <p:cNvSpPr txBox="1"/>
          <p:nvPr/>
        </p:nvSpPr>
        <p:spPr>
          <a:xfrm>
            <a:off x="2083308" y="331470"/>
            <a:ext cx="3195889"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KNX — Tool nạp code</a:t>
            </a:r>
          </a:p>
        </p:txBody>
      </p:sp>
      <p:sp>
        <p:nvSpPr>
          <p:cNvPr id="4" name="Rectangle 4"/>
          <p:cNvSpPr/>
          <p:nvPr/>
        </p:nvSpPr>
        <p:spPr>
          <a:xfrm>
            <a:off x="9810750" y="247650"/>
            <a:ext cx="1809750" cy="361950"/>
          </a:xfrm>
          <a:prstGeom prst="roundRect">
            <a:avLst>
              <a:gd name="adj" fmla="val 50000"/>
            </a:avLst>
          </a:prstGeom>
          <a:solidFill>
            <a:srgbClr val="EAF6F0"/>
          </a:solidFill>
          <a:ln>
            <a:noFill/>
          </a:ln>
        </p:spPr>
      </p:sp>
      <p:sp>
        <p:nvSpPr>
          <p:cNvPr id="5" name="TextBox 5"/>
          <p:cNvSpPr txBox="1"/>
          <p:nvPr/>
        </p:nvSpPr>
        <p:spPr>
          <a:xfrm>
            <a:off x="10028267" y="364331"/>
            <a:ext cx="1374715"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BẰNG CHỨNG TOOL</a:t>
            </a:r>
          </a:p>
        </p:txBody>
      </p:sp>
      <p:grpSp>
        <p:nvGrpSpPr>
          <p:cNvPr id="11" name="Group 11"/>
          <p:cNvGrpSpPr/>
          <p:nvPr/>
        </p:nvGrpSpPr>
        <p:grpSpPr>
          <a:xfrm>
            <a:off x="533400" y="876300"/>
            <a:ext cx="11125200" cy="5429250"/>
            <a:chOff x="533400" y="876300"/>
            <a:chExt cx="11125200" cy="5429250"/>
          </a:xfrm>
        </p:grpSpPr>
        <p:sp>
          <p:nvSpPr>
            <p:cNvPr id="6" name="Rectangle 6"/>
            <p:cNvSpPr/>
            <p:nvPr/>
          </p:nvSpPr>
          <p:spPr>
            <a:xfrm>
              <a:off x="533400" y="876300"/>
              <a:ext cx="11125200" cy="5429250"/>
            </a:xfrm>
            <a:prstGeom prst="roundRect">
              <a:avLst>
                <a:gd name="adj" fmla="val 3158"/>
              </a:avLst>
            </a:prstGeom>
            <a:solidFill>
              <a:schemeClr val="lt2"/>
            </a:solidFill>
            <a:ln w="19050">
              <a:solidFill>
                <a:srgbClr val="B8D8C7"/>
              </a:solidFill>
            </a:ln>
          </p:spPr>
        </p:sp>
        <p:pic>
          <p:nvPicPr>
            <p:cNvPr id="7" name="Image 7"/>
            <p:cNvPicPr>
              <a:picLocks noChangeAspect="1"/>
            </p:cNvPicPr>
            <p:nvPr/>
          </p:nvPicPr>
          <p:blipFill>
            <a:blip r:embed="rId3"/>
            <a:stretch>
              <a:fillRect/>
            </a:stretch>
          </p:blipFill>
          <p:spPr>
            <a:xfrm>
              <a:off x="1574730" y="1009650"/>
              <a:ext cx="9042540" cy="4762500"/>
            </a:xfrm>
            <a:prstGeom prst="rect">
              <a:avLst/>
            </a:prstGeom>
          </p:spPr>
        </p:pic>
        <p:sp>
          <p:nvSpPr>
            <p:cNvPr id="8" name="Rectangle 8"/>
            <p:cNvSpPr/>
            <p:nvPr/>
          </p:nvSpPr>
          <p:spPr>
            <a:xfrm>
              <a:off x="666750" y="5829300"/>
              <a:ext cx="10858500" cy="361950"/>
            </a:xfrm>
            <a:prstGeom prst="roundRect">
              <a:avLst>
                <a:gd name="adj" fmla="val 26316"/>
              </a:avLst>
            </a:prstGeom>
            <a:solidFill>
              <a:schemeClr val="lt1"/>
            </a:solidFill>
            <a:ln>
              <a:noFill/>
            </a:ln>
          </p:spPr>
        </p:sp>
        <p:sp>
          <p:nvSpPr>
            <p:cNvPr id="9" name="TextBox 9"/>
            <p:cNvSpPr txBox="1"/>
            <p:nvPr/>
          </p:nvSpPr>
          <p:spPr>
            <a:xfrm>
              <a:off x="850773" y="5929789"/>
              <a:ext cx="65337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GIÁ TRỊ</a:t>
              </a:r>
            </a:p>
          </p:txBody>
        </p:sp>
        <p:sp>
          <p:nvSpPr>
            <p:cNvPr id="10" name="TextBox 10"/>
            <p:cNvSpPr txBox="1"/>
            <p:nvPr/>
          </p:nvSpPr>
          <p:spPr>
            <a:xfrm>
              <a:off x="1612773" y="5929789"/>
              <a:ext cx="675656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Gom cấu hình, điều khiển nhiều máy và log vận hành vào một giao diện thống nhất.</a:t>
              </a:r>
            </a:p>
          </p:txBody>
        </p:sp>
      </p:grpSp>
      <p:sp>
        <p:nvSpPr>
          <p:cNvPr id="12" name="TextBox 1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10 / 23</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76250" y="228600"/>
            <a:ext cx="1238250" cy="361950"/>
          </a:xfrm>
          <a:prstGeom prst="rect">
            <a:avLst/>
          </a:prstGeom>
        </p:spPr>
      </p:pic>
      <p:sp>
        <p:nvSpPr>
          <p:cNvPr id="3" name="TextBox 3"/>
          <p:cNvSpPr txBox="1"/>
          <p:nvPr/>
        </p:nvSpPr>
        <p:spPr>
          <a:xfrm>
            <a:off x="2083308" y="331470"/>
            <a:ext cx="575386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KNX Partner — Chứng chỉ &amp; năng lực</a:t>
            </a:r>
          </a:p>
        </p:txBody>
      </p:sp>
      <p:sp>
        <p:nvSpPr>
          <p:cNvPr id="4" name="Rectangle 4"/>
          <p:cNvSpPr/>
          <p:nvPr/>
        </p:nvSpPr>
        <p:spPr>
          <a:xfrm>
            <a:off x="9810750" y="247650"/>
            <a:ext cx="1809750" cy="361950"/>
          </a:xfrm>
          <a:prstGeom prst="roundRect">
            <a:avLst>
              <a:gd name="adj" fmla="val 50000"/>
            </a:avLst>
          </a:prstGeom>
          <a:solidFill>
            <a:srgbClr val="EAF6F0"/>
          </a:solidFill>
          <a:ln>
            <a:noFill/>
          </a:ln>
        </p:spPr>
      </p:sp>
      <p:sp>
        <p:nvSpPr>
          <p:cNvPr id="5" name="TextBox 5"/>
          <p:cNvSpPr txBox="1"/>
          <p:nvPr/>
        </p:nvSpPr>
        <p:spPr>
          <a:xfrm>
            <a:off x="9877721" y="364331"/>
            <a:ext cx="1675809"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PASSED · 31/05/2026</a:t>
            </a:r>
          </a:p>
        </p:txBody>
      </p:sp>
      <p:grpSp>
        <p:nvGrpSpPr>
          <p:cNvPr id="8" name="Group 8"/>
          <p:cNvGrpSpPr/>
          <p:nvPr/>
        </p:nvGrpSpPr>
        <p:grpSpPr>
          <a:xfrm>
            <a:off x="533400" y="876300"/>
            <a:ext cx="4286250" cy="5429250"/>
            <a:chOff x="533400" y="876300"/>
            <a:chExt cx="4286250" cy="5429250"/>
          </a:xfrm>
        </p:grpSpPr>
        <p:sp>
          <p:nvSpPr>
            <p:cNvPr id="6" name="Rectangle 6"/>
            <p:cNvSpPr/>
            <p:nvPr/>
          </p:nvSpPr>
          <p:spPr>
            <a:xfrm>
              <a:off x="533400" y="876300"/>
              <a:ext cx="4286250" cy="5429250"/>
            </a:xfrm>
            <a:prstGeom prst="roundRect">
              <a:avLst>
                <a:gd name="adj" fmla="val 4000"/>
              </a:avLst>
            </a:prstGeom>
            <a:solidFill>
              <a:schemeClr val="lt2"/>
            </a:solidFill>
            <a:ln w="19050">
              <a:solidFill>
                <a:srgbClr val="B8D8C7"/>
              </a:solidFill>
            </a:ln>
          </p:spPr>
        </p:sp>
        <p:pic>
          <p:nvPicPr>
            <p:cNvPr id="7" name="Image 7"/>
            <p:cNvPicPr>
              <a:picLocks noChangeAspect="1"/>
            </p:cNvPicPr>
            <p:nvPr/>
          </p:nvPicPr>
          <p:blipFill>
            <a:blip r:embed="rId3"/>
            <a:stretch>
              <a:fillRect/>
            </a:stretch>
          </p:blipFill>
          <p:spPr>
            <a:xfrm>
              <a:off x="837150" y="990600"/>
              <a:ext cx="3678750" cy="5200650"/>
            </a:xfrm>
            <a:prstGeom prst="rect">
              <a:avLst/>
            </a:prstGeom>
          </p:spPr>
        </p:pic>
      </p:grpSp>
      <p:grpSp>
        <p:nvGrpSpPr>
          <p:cNvPr id="26" name="Group 26"/>
          <p:cNvGrpSpPr/>
          <p:nvPr/>
        </p:nvGrpSpPr>
        <p:grpSpPr>
          <a:xfrm>
            <a:off x="5086350" y="876300"/>
            <a:ext cx="6572250" cy="5295900"/>
            <a:chOff x="5086350" y="876300"/>
            <a:chExt cx="6572250" cy="5295900"/>
          </a:xfrm>
        </p:grpSpPr>
        <p:sp>
          <p:nvSpPr>
            <p:cNvPr id="9" name="Rectangle 9"/>
            <p:cNvSpPr/>
            <p:nvPr/>
          </p:nvSpPr>
          <p:spPr>
            <a:xfrm>
              <a:off x="5086350" y="876300"/>
              <a:ext cx="6572250" cy="1847850"/>
            </a:xfrm>
            <a:prstGeom prst="roundRect">
              <a:avLst>
                <a:gd name="adj" fmla="val 9278"/>
              </a:avLst>
            </a:prstGeom>
            <a:solidFill>
              <a:schemeClr val="accent1"/>
            </a:solidFill>
            <a:ln>
              <a:noFill/>
            </a:ln>
          </p:spPr>
        </p:sp>
        <p:sp>
          <p:nvSpPr>
            <p:cNvPr id="10" name="TextBox 10"/>
            <p:cNvSpPr txBox="1"/>
            <p:nvPr/>
          </p:nvSpPr>
          <p:spPr>
            <a:xfrm>
              <a:off x="5404104" y="1127760"/>
              <a:ext cx="1994591" cy="234696"/>
            </a:xfrm>
            <a:prstGeom prst="rect">
              <a:avLst/>
            </a:prstGeom>
            <a:noFill/>
            <a:ln>
              <a:noFill/>
            </a:ln>
          </p:spPr>
          <p:txBody>
            <a:bodyPr wrap="none" lIns="0" tIns="0" rIns="0" bIns="0" anchor="t" anchorCtr="0">
              <a:spAutoFit/>
            </a:bodyPr>
            <a:lstStyle/>
            <a:p>
              <a:pPr algn="l"/>
              <a:r>
                <a:rPr lang="en-US" sz="1200" b="1" spc="112" dirty="0">
                  <a:solidFill>
                    <a:srgbClr val="DDF3E8"/>
                  </a:solidFill>
                  <a:latin typeface="+mn-lt"/>
                  <a:ea typeface="+mn-ea"/>
                  <a:cs typeface="+mn-cs"/>
                </a:rPr>
                <a:t>THÀNH TÍCH ĐÀO TẠO</a:t>
              </a:r>
            </a:p>
          </p:txBody>
        </p:sp>
        <p:sp>
          <p:nvSpPr>
            <p:cNvPr id="11" name="TextBox 11"/>
            <p:cNvSpPr txBox="1"/>
            <p:nvPr/>
          </p:nvSpPr>
          <p:spPr>
            <a:xfrm>
              <a:off x="5395722" y="1483042"/>
              <a:ext cx="2497745" cy="557403"/>
            </a:xfrm>
            <a:prstGeom prst="rect">
              <a:avLst/>
            </a:prstGeom>
            <a:noFill/>
            <a:ln>
              <a:noFill/>
            </a:ln>
          </p:spPr>
          <p:txBody>
            <a:bodyPr wrap="none" lIns="0" tIns="0" rIns="0" bIns="0" anchor="t" anchorCtr="0">
              <a:spAutoFit/>
            </a:bodyPr>
            <a:lstStyle/>
            <a:p>
              <a:pPr algn="l"/>
              <a:r>
                <a:rPr lang="en-US" sz="2850" b="1" dirty="0">
                  <a:solidFill>
                    <a:srgbClr val="FFFFFF"/>
                  </a:solidFill>
                  <a:latin typeface="+mn-lt"/>
                  <a:ea typeface="+mn-ea"/>
                  <a:cs typeface="+mn-cs"/>
                </a:rPr>
                <a:t>KNX PARTNER</a:t>
              </a:r>
            </a:p>
          </p:txBody>
        </p:sp>
        <p:sp>
          <p:nvSpPr>
            <p:cNvPr id="12" name="TextBox 12"/>
            <p:cNvSpPr txBox="1"/>
            <p:nvPr/>
          </p:nvSpPr>
          <p:spPr>
            <a:xfrm>
              <a:off x="5402580" y="2038350"/>
              <a:ext cx="3868459"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mn-lt"/>
                  <a:ea typeface="+mn-ea"/>
                  <a:cs typeface="+mn-cs"/>
                </a:rPr>
                <a:t>Partner No. 147063 · Nguyễn Văn Dương</a:t>
              </a:r>
            </a:p>
          </p:txBody>
        </p:sp>
        <p:sp>
          <p:nvSpPr>
            <p:cNvPr id="13" name="Rectangle 13"/>
            <p:cNvSpPr/>
            <p:nvPr/>
          </p:nvSpPr>
          <p:spPr>
            <a:xfrm>
              <a:off x="9810750" y="1371600"/>
              <a:ext cx="1504950" cy="514350"/>
            </a:xfrm>
            <a:prstGeom prst="roundRect">
              <a:avLst>
                <a:gd name="adj" fmla="val 50000"/>
              </a:avLst>
            </a:prstGeom>
            <a:solidFill>
              <a:schemeClr val="lt1"/>
            </a:solidFill>
            <a:ln>
              <a:noFill/>
            </a:ln>
          </p:spPr>
        </p:sp>
        <p:sp>
          <p:nvSpPr>
            <p:cNvPr id="14" name="TextBox 14"/>
            <p:cNvSpPr txBox="1"/>
            <p:nvPr/>
          </p:nvSpPr>
          <p:spPr>
            <a:xfrm>
              <a:off x="10165863" y="1534954"/>
              <a:ext cx="794723" cy="308039"/>
            </a:xfrm>
            <a:prstGeom prst="rect">
              <a:avLst/>
            </a:prstGeom>
            <a:noFill/>
            <a:ln>
              <a:noFill/>
            </a:ln>
          </p:spPr>
          <p:txBody>
            <a:bodyPr wrap="none" lIns="0" tIns="0" rIns="0" bIns="0" anchor="t" anchorCtr="0">
              <a:spAutoFit/>
            </a:bodyPr>
            <a:lstStyle/>
            <a:p>
              <a:pPr algn="ctr"/>
              <a:r>
                <a:rPr lang="en-US" sz="1580" b="1" dirty="0">
                  <a:solidFill>
                    <a:schemeClr val="accent1"/>
                  </a:solidFill>
                  <a:latin typeface="+mn-lt"/>
                  <a:ea typeface="+mn-ea"/>
                  <a:cs typeface="+mn-cs"/>
                </a:rPr>
                <a:t>PASSED</a:t>
              </a:r>
            </a:p>
          </p:txBody>
        </p:sp>
        <p:sp>
          <p:nvSpPr>
            <p:cNvPr id="15" name="Rectangle 15"/>
            <p:cNvSpPr/>
            <p:nvPr/>
          </p:nvSpPr>
          <p:spPr>
            <a:xfrm>
              <a:off x="5086350" y="2952750"/>
              <a:ext cx="6572250" cy="2305050"/>
            </a:xfrm>
            <a:prstGeom prst="roundRect">
              <a:avLst>
                <a:gd name="adj" fmla="val 7438"/>
              </a:avLst>
            </a:prstGeom>
            <a:solidFill>
              <a:schemeClr val="lt2"/>
            </a:solidFill>
            <a:ln>
              <a:noFill/>
            </a:ln>
          </p:spPr>
        </p:sp>
        <p:sp>
          <p:nvSpPr>
            <p:cNvPr id="16" name="TextBox 16"/>
            <p:cNvSpPr txBox="1"/>
            <p:nvPr/>
          </p:nvSpPr>
          <p:spPr>
            <a:xfrm>
              <a:off x="5403723" y="3196114"/>
              <a:ext cx="249817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KẾT QUẢ KHÓA HỌC KNX BASIC</a:t>
              </a:r>
            </a:p>
          </p:txBody>
        </p:sp>
        <p:sp>
          <p:nvSpPr>
            <p:cNvPr id="17" name="Rectangle 17"/>
            <p:cNvSpPr/>
            <p:nvPr/>
          </p:nvSpPr>
          <p:spPr>
            <a:xfrm>
              <a:off x="5410200" y="3524250"/>
              <a:ext cx="2857500" cy="1524000"/>
            </a:xfrm>
            <a:prstGeom prst="roundRect">
              <a:avLst>
                <a:gd name="adj" fmla="val 6250"/>
              </a:avLst>
            </a:prstGeom>
            <a:solidFill>
              <a:schemeClr val="lt1"/>
            </a:solidFill>
            <a:ln>
              <a:noFill/>
            </a:ln>
          </p:spPr>
        </p:sp>
        <p:pic>
          <p:nvPicPr>
            <p:cNvPr id="18" name="Image 18"/>
            <p:cNvPicPr>
              <a:picLocks noChangeAspect="1"/>
            </p:cNvPicPr>
            <p:nvPr/>
          </p:nvPicPr>
          <p:blipFill>
            <a:blip r:embed="rId4"/>
            <a:stretch>
              <a:fillRect/>
            </a:stretch>
          </p:blipFill>
          <p:spPr>
            <a:xfrm>
              <a:off x="5649730" y="3524250"/>
              <a:ext cx="2378439" cy="1524000"/>
            </a:xfrm>
            <a:prstGeom prst="rect">
              <a:avLst/>
            </a:prstGeom>
          </p:spPr>
        </p:pic>
        <p:sp>
          <p:nvSpPr>
            <p:cNvPr id="19" name="TextBox 19"/>
            <p:cNvSpPr txBox="1"/>
            <p:nvPr/>
          </p:nvSpPr>
          <p:spPr>
            <a:xfrm>
              <a:off x="8652510" y="3619500"/>
              <a:ext cx="101620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PASS</a:t>
              </a:r>
            </a:p>
          </p:txBody>
        </p:sp>
        <p:sp>
          <p:nvSpPr>
            <p:cNvPr id="20" name="TextBox 20"/>
            <p:cNvSpPr txBox="1"/>
            <p:nvPr/>
          </p:nvSpPr>
          <p:spPr>
            <a:xfrm>
              <a:off x="8661273" y="4196239"/>
              <a:ext cx="148798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Lý thuyết: 88,5%</a:t>
              </a:r>
            </a:p>
          </p:txBody>
        </p:sp>
        <p:sp>
          <p:nvSpPr>
            <p:cNvPr id="21" name="TextBox 21"/>
            <p:cNvSpPr txBox="1"/>
            <p:nvPr/>
          </p:nvSpPr>
          <p:spPr>
            <a:xfrm>
              <a:off x="8661273" y="4501039"/>
              <a:ext cx="129709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Thực hành: 96%</a:t>
              </a:r>
            </a:p>
          </p:txBody>
        </p:sp>
        <p:sp>
          <p:nvSpPr>
            <p:cNvPr id="22" name="TextBox 22"/>
            <p:cNvSpPr txBox="1"/>
            <p:nvPr/>
          </p:nvSpPr>
          <p:spPr>
            <a:xfrm>
              <a:off x="8661273" y="4805839"/>
              <a:ext cx="176477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Hoàn thành KNX Basic</a:t>
              </a:r>
            </a:p>
          </p:txBody>
        </p:sp>
        <p:sp>
          <p:nvSpPr>
            <p:cNvPr id="23" name="Rectangle 23"/>
            <p:cNvSpPr/>
            <p:nvPr/>
          </p:nvSpPr>
          <p:spPr>
            <a:xfrm>
              <a:off x="5086350" y="5486400"/>
              <a:ext cx="6572250" cy="685800"/>
            </a:xfrm>
            <a:prstGeom prst="roundRect">
              <a:avLst>
                <a:gd name="adj" fmla="val 22222"/>
              </a:avLst>
            </a:prstGeom>
            <a:solidFill>
              <a:srgbClr val="EEF3FF"/>
            </a:solidFill>
            <a:ln>
              <a:noFill/>
            </a:ln>
          </p:spPr>
        </p:sp>
        <p:sp>
          <p:nvSpPr>
            <p:cNvPr id="24" name="TextBox 24"/>
            <p:cNvSpPr txBox="1"/>
            <p:nvPr/>
          </p:nvSpPr>
          <p:spPr>
            <a:xfrm>
              <a:off x="5404485" y="5650706"/>
              <a:ext cx="1868174"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NĂNG LỰC ĐƯỢC XÁC NHẬN</a:t>
              </a:r>
            </a:p>
          </p:txBody>
        </p:sp>
        <p:sp>
          <p:nvSpPr>
            <p:cNvPr id="25" name="TextBox 25"/>
            <p:cNvSpPr txBox="1"/>
            <p:nvPr/>
          </p:nvSpPr>
          <p:spPr>
            <a:xfrm>
              <a:off x="5403723" y="5891689"/>
              <a:ext cx="428579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Thiết kế · commissioning · chẩn đoán hệ thống KNX.</a:t>
              </a:r>
            </a:p>
          </p:txBody>
        </p:sp>
      </p:grpSp>
      <p:sp>
        <p:nvSpPr>
          <p:cNvPr id="27" name="TextBox 27"/>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11 / 23</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3472163"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2. Dự án Auto Test</a:t>
            </a:r>
          </a:p>
        </p:txBody>
      </p:sp>
      <p:sp>
        <p:nvSpPr>
          <p:cNvPr id="4" name="Rectangle 4"/>
          <p:cNvSpPr/>
          <p:nvPr/>
        </p:nvSpPr>
        <p:spPr>
          <a:xfrm>
            <a:off x="8858250" y="285750"/>
            <a:ext cx="2762250" cy="400050"/>
          </a:xfrm>
          <a:prstGeom prst="roundRect">
            <a:avLst>
              <a:gd name="adj" fmla="val 50000"/>
            </a:avLst>
          </a:prstGeom>
          <a:solidFill>
            <a:srgbClr val="EEF3FF"/>
          </a:solidFill>
          <a:ln>
            <a:noFill/>
          </a:ln>
        </p:spPr>
      </p:sp>
      <p:sp>
        <p:nvSpPr>
          <p:cNvPr id="5" name="TextBox 5"/>
          <p:cNvSpPr txBox="1"/>
          <p:nvPr/>
        </p:nvSpPr>
        <p:spPr>
          <a:xfrm>
            <a:off x="9018368" y="405289"/>
            <a:ext cx="2442015"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06/07–25/07/2026 · Dự kiến</a:t>
            </a:r>
          </a:p>
        </p:txBody>
      </p:sp>
      <p:grpSp>
        <p:nvGrpSpPr>
          <p:cNvPr id="43" name="Group 43"/>
          <p:cNvGrpSpPr/>
          <p:nvPr/>
        </p:nvGrpSpPr>
        <p:grpSpPr>
          <a:xfrm>
            <a:off x="533400" y="1066800"/>
            <a:ext cx="11125200" cy="4533900"/>
            <a:chOff x="533400" y="1066800"/>
            <a:chExt cx="11125200" cy="4533900"/>
          </a:xfrm>
        </p:grpSpPr>
        <p:grpSp>
          <p:nvGrpSpPr>
            <p:cNvPr id="11" name="Group 11"/>
            <p:cNvGrpSpPr/>
            <p:nvPr/>
          </p:nvGrpSpPr>
          <p:grpSpPr>
            <a:xfrm>
              <a:off x="533400" y="1066800"/>
              <a:ext cx="3429000" cy="2143125"/>
              <a:chOff x="533400" y="1066800"/>
              <a:chExt cx="3429000" cy="2143125"/>
            </a:xfrm>
          </p:grpSpPr>
          <p:sp>
            <p:nvSpPr>
              <p:cNvPr id="6" name="Rectangle 6"/>
              <p:cNvSpPr/>
              <p:nvPr/>
            </p:nvSpPr>
            <p:spPr>
              <a:xfrm>
                <a:off x="533400" y="1066800"/>
                <a:ext cx="3429000" cy="2143125"/>
              </a:xfrm>
              <a:prstGeom prst="roundRect">
                <a:avLst>
                  <a:gd name="adj" fmla="val 7111"/>
                </a:avLst>
              </a:prstGeom>
              <a:solidFill>
                <a:schemeClr val="lt2"/>
              </a:solidFill>
              <a:ln>
                <a:noFill/>
              </a:ln>
            </p:spPr>
          </p:sp>
          <p:sp>
            <p:nvSpPr>
              <p:cNvPr id="7" name="TextBox 7"/>
              <p:cNvSpPr txBox="1"/>
              <p:nvPr/>
            </p:nvSpPr>
            <p:spPr>
              <a:xfrm>
                <a:off x="773811" y="1284446"/>
                <a:ext cx="1605077"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CÔNG VIỆC CHÍNH</a:t>
                </a:r>
              </a:p>
            </p:txBody>
          </p:sp>
          <p:sp>
            <p:nvSpPr>
              <p:cNvPr id="8" name="TextBox 8"/>
              <p:cNvSpPr txBox="1"/>
              <p:nvPr/>
            </p:nvSpPr>
            <p:spPr>
              <a:xfrm>
                <a:off x="774192" y="1664018"/>
                <a:ext cx="196477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Khảo sát cảm biến màu</a:t>
                </a:r>
              </a:p>
            </p:txBody>
          </p:sp>
          <p:sp>
            <p:nvSpPr>
              <p:cNvPr id="9" name="TextBox 9"/>
              <p:cNvSpPr txBox="1"/>
              <p:nvPr/>
            </p:nvSpPr>
            <p:spPr>
              <a:xfrm>
                <a:off x="774192" y="1959292"/>
                <a:ext cx="26417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Thiết kế API &amp; luồng Auto Test</a:t>
                </a:r>
              </a:p>
            </p:txBody>
          </p:sp>
          <p:sp>
            <p:nvSpPr>
              <p:cNvPr id="10" name="TextBox 10"/>
              <p:cNvSpPr txBox="1"/>
              <p:nvPr/>
            </p:nvSpPr>
            <p:spPr>
              <a:xfrm>
                <a:off x="774192" y="2254568"/>
                <a:ext cx="313658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Controller, servo và sensor module</a:t>
                </a:r>
              </a:p>
            </p:txBody>
          </p:sp>
        </p:grpSp>
        <p:grpSp>
          <p:nvGrpSpPr>
            <p:cNvPr id="17" name="Group 17"/>
            <p:cNvGrpSpPr/>
            <p:nvPr/>
          </p:nvGrpSpPr>
          <p:grpSpPr>
            <a:xfrm>
              <a:off x="4210050" y="1066800"/>
              <a:ext cx="3429000" cy="2143125"/>
              <a:chOff x="4210050" y="1066800"/>
              <a:chExt cx="3429000" cy="2143125"/>
            </a:xfrm>
          </p:grpSpPr>
          <p:sp>
            <p:nvSpPr>
              <p:cNvPr id="12" name="Rectangle 12"/>
              <p:cNvSpPr/>
              <p:nvPr/>
            </p:nvSpPr>
            <p:spPr>
              <a:xfrm>
                <a:off x="4210050" y="1066800"/>
                <a:ext cx="3429000" cy="2143125"/>
              </a:xfrm>
              <a:prstGeom prst="roundRect">
                <a:avLst>
                  <a:gd name="adj" fmla="val 7111"/>
                </a:avLst>
              </a:prstGeom>
              <a:solidFill>
                <a:srgbClr val="EAF6F0"/>
              </a:solidFill>
              <a:ln>
                <a:noFill/>
              </a:ln>
            </p:spPr>
          </p:sp>
          <p:sp>
            <p:nvSpPr>
              <p:cNvPr id="13" name="TextBox 13"/>
              <p:cNvSpPr txBox="1"/>
              <p:nvPr/>
            </p:nvSpPr>
            <p:spPr>
              <a:xfrm>
                <a:off x="4450461" y="1284446"/>
                <a:ext cx="82038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KẾT QUẢ</a:t>
                </a:r>
              </a:p>
            </p:txBody>
          </p:sp>
          <p:sp>
            <p:nvSpPr>
              <p:cNvPr id="14" name="TextBox 14"/>
              <p:cNvSpPr txBox="1"/>
              <p:nvPr/>
            </p:nvSpPr>
            <p:spPr>
              <a:xfrm>
                <a:off x="4450842" y="1664018"/>
                <a:ext cx="268333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4/5 task Done trong kỳ review</a:t>
                </a:r>
              </a:p>
            </p:txBody>
          </p:sp>
          <p:sp>
            <p:nvSpPr>
              <p:cNvPr id="15" name="TextBox 15"/>
              <p:cNvSpPr txBox="1"/>
              <p:nvPr/>
            </p:nvSpPr>
            <p:spPr>
              <a:xfrm>
                <a:off x="4450842" y="1959292"/>
                <a:ext cx="241897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Có tài liệu API/flow ban đầu</a:t>
                </a:r>
              </a:p>
            </p:txBody>
          </p:sp>
          <p:sp>
            <p:nvSpPr>
              <p:cNvPr id="16" name="TextBox 16"/>
              <p:cNvSpPr txBox="1"/>
              <p:nvPr/>
            </p:nvSpPr>
            <p:spPr>
              <a:xfrm>
                <a:off x="4450842" y="2254568"/>
                <a:ext cx="25828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1 task Ongoing đúng kế hoạch</a:t>
                </a:r>
              </a:p>
            </p:txBody>
          </p:sp>
        </p:grpSp>
        <p:grpSp>
          <p:nvGrpSpPr>
            <p:cNvPr id="23" name="Group 23"/>
            <p:cNvGrpSpPr/>
            <p:nvPr/>
          </p:nvGrpSpPr>
          <p:grpSpPr>
            <a:xfrm>
              <a:off x="7886700" y="1066800"/>
              <a:ext cx="3771900" cy="2143125"/>
              <a:chOff x="7886700" y="1066800"/>
              <a:chExt cx="3771900" cy="2143125"/>
            </a:xfrm>
          </p:grpSpPr>
          <p:sp>
            <p:nvSpPr>
              <p:cNvPr id="18" name="Rectangle 18"/>
              <p:cNvSpPr/>
              <p:nvPr/>
            </p:nvSpPr>
            <p:spPr>
              <a:xfrm>
                <a:off x="7886700" y="1066800"/>
                <a:ext cx="3771900" cy="2143125"/>
              </a:xfrm>
              <a:prstGeom prst="roundRect">
                <a:avLst>
                  <a:gd name="adj" fmla="val 7111"/>
                </a:avLst>
              </a:prstGeom>
              <a:solidFill>
                <a:schemeClr val="lt2"/>
              </a:solidFill>
              <a:ln>
                <a:noFill/>
              </a:ln>
            </p:spPr>
          </p:sp>
          <p:sp>
            <p:nvSpPr>
              <p:cNvPr id="19" name="TextBox 19"/>
              <p:cNvSpPr txBox="1"/>
              <p:nvPr/>
            </p:nvSpPr>
            <p:spPr>
              <a:xfrm>
                <a:off x="8127111" y="1284446"/>
                <a:ext cx="77796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KỸ NĂNG</a:t>
                </a:r>
              </a:p>
            </p:txBody>
          </p:sp>
          <p:sp>
            <p:nvSpPr>
              <p:cNvPr id="20" name="TextBox 20"/>
              <p:cNvSpPr txBox="1"/>
              <p:nvPr/>
            </p:nvSpPr>
            <p:spPr>
              <a:xfrm>
                <a:off x="8127492" y="1664018"/>
                <a:ext cx="221866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Thiết kế flow automation</a:t>
                </a:r>
              </a:p>
            </p:txBody>
          </p:sp>
          <p:sp>
            <p:nvSpPr>
              <p:cNvPr id="21" name="TextBox 21"/>
              <p:cNvSpPr txBox="1"/>
              <p:nvPr/>
            </p:nvSpPr>
            <p:spPr>
              <a:xfrm>
                <a:off x="8127492" y="1959292"/>
                <a:ext cx="303664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Tích hợp sensor/servo/controller</a:t>
                </a:r>
              </a:p>
            </p:txBody>
          </p:sp>
          <p:sp>
            <p:nvSpPr>
              <p:cNvPr id="22" name="TextBox 22"/>
              <p:cNvSpPr txBox="1"/>
              <p:nvPr/>
            </p:nvSpPr>
            <p:spPr>
              <a:xfrm>
                <a:off x="8127492" y="2254568"/>
                <a:ext cx="221807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Viết API và test scenario</a:t>
                </a:r>
              </a:p>
            </p:txBody>
          </p:sp>
        </p:grpSp>
        <p:grpSp>
          <p:nvGrpSpPr>
            <p:cNvPr id="29" name="Group 29"/>
            <p:cNvGrpSpPr/>
            <p:nvPr/>
          </p:nvGrpSpPr>
          <p:grpSpPr>
            <a:xfrm>
              <a:off x="533400" y="3457575"/>
              <a:ext cx="3429000" cy="2143125"/>
              <a:chOff x="533400" y="3457575"/>
              <a:chExt cx="3429000" cy="2143125"/>
            </a:xfrm>
          </p:grpSpPr>
          <p:sp>
            <p:nvSpPr>
              <p:cNvPr id="24" name="Rectangle 24"/>
              <p:cNvSpPr/>
              <p:nvPr/>
            </p:nvSpPr>
            <p:spPr>
              <a:xfrm>
                <a:off x="533400" y="3457575"/>
                <a:ext cx="3429000" cy="2143125"/>
              </a:xfrm>
              <a:prstGeom prst="roundRect">
                <a:avLst>
                  <a:gd name="adj" fmla="val 7111"/>
                </a:avLst>
              </a:prstGeom>
              <a:solidFill>
                <a:srgbClr val="EEF3FF"/>
              </a:solidFill>
              <a:ln>
                <a:noFill/>
              </a:ln>
            </p:spPr>
          </p:sp>
          <p:sp>
            <p:nvSpPr>
              <p:cNvPr id="25" name="TextBox 25"/>
              <p:cNvSpPr txBox="1"/>
              <p:nvPr/>
            </p:nvSpPr>
            <p:spPr>
              <a:xfrm>
                <a:off x="773811" y="3675221"/>
                <a:ext cx="661322"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TƯ DUY</a:t>
                </a:r>
              </a:p>
            </p:txBody>
          </p:sp>
          <p:sp>
            <p:nvSpPr>
              <p:cNvPr id="26" name="TextBox 26"/>
              <p:cNvSpPr txBox="1"/>
              <p:nvPr/>
            </p:nvSpPr>
            <p:spPr>
              <a:xfrm>
                <a:off x="774192" y="4054792"/>
                <a:ext cx="184608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Modular và API-first</a:t>
                </a:r>
              </a:p>
            </p:txBody>
          </p:sp>
          <p:sp>
            <p:nvSpPr>
              <p:cNvPr id="27" name="TextBox 27"/>
              <p:cNvSpPr txBox="1"/>
              <p:nvPr/>
            </p:nvSpPr>
            <p:spPr>
              <a:xfrm>
                <a:off x="774192" y="4350068"/>
                <a:ext cx="265486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Tách phần cứng khỏi test logic</a:t>
                </a:r>
              </a:p>
            </p:txBody>
          </p:sp>
          <p:sp>
            <p:nvSpPr>
              <p:cNvPr id="28" name="TextBox 28"/>
              <p:cNvSpPr txBox="1"/>
              <p:nvPr/>
            </p:nvSpPr>
            <p:spPr>
              <a:xfrm>
                <a:off x="774192" y="4645342"/>
                <a:ext cx="233742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Thiết kế để mở rộng về sau</a:t>
                </a:r>
              </a:p>
            </p:txBody>
          </p:sp>
        </p:grpSp>
        <p:grpSp>
          <p:nvGrpSpPr>
            <p:cNvPr id="35" name="Group 35"/>
            <p:cNvGrpSpPr/>
            <p:nvPr/>
          </p:nvGrpSpPr>
          <p:grpSpPr>
            <a:xfrm>
              <a:off x="4210050" y="3457575"/>
              <a:ext cx="3429000" cy="2143125"/>
              <a:chOff x="4210050" y="3457575"/>
              <a:chExt cx="3429000" cy="2143125"/>
            </a:xfrm>
          </p:grpSpPr>
          <p:sp>
            <p:nvSpPr>
              <p:cNvPr id="30" name="Rectangle 30"/>
              <p:cNvSpPr/>
              <p:nvPr/>
            </p:nvSpPr>
            <p:spPr>
              <a:xfrm>
                <a:off x="4210050" y="3457575"/>
                <a:ext cx="3429000" cy="2143125"/>
              </a:xfrm>
              <a:prstGeom prst="roundRect">
                <a:avLst>
                  <a:gd name="adj" fmla="val 7111"/>
                </a:avLst>
              </a:prstGeom>
              <a:solidFill>
                <a:srgbClr val="FFF7E8"/>
              </a:solidFill>
              <a:ln>
                <a:noFill/>
              </a:ln>
            </p:spPr>
          </p:sp>
          <p:sp>
            <p:nvSpPr>
              <p:cNvPr id="31" name="TextBox 31"/>
              <p:cNvSpPr txBox="1"/>
              <p:nvPr/>
            </p:nvSpPr>
            <p:spPr>
              <a:xfrm>
                <a:off x="4450461" y="3675221"/>
                <a:ext cx="1848969" cy="278702"/>
              </a:xfrm>
              <a:prstGeom prst="rect">
                <a:avLst/>
              </a:prstGeom>
              <a:noFill/>
              <a:ln>
                <a:noFill/>
              </a:ln>
            </p:spPr>
            <p:txBody>
              <a:bodyPr wrap="none" lIns="0" tIns="0" rIns="0" bIns="0" anchor="t" anchorCtr="0">
                <a:spAutoFit/>
              </a:bodyPr>
              <a:lstStyle/>
              <a:p>
                <a:pPr algn="l"/>
                <a:r>
                  <a:rPr lang="en-US" sz="1420" b="1" dirty="0">
                    <a:solidFill>
                      <a:srgbClr val="B56A00"/>
                    </a:solidFill>
                    <a:latin typeface="+mn-lt"/>
                    <a:ea typeface="+mn-ea"/>
                    <a:cs typeface="+mn-cs"/>
                  </a:rPr>
                  <a:t>BÀI HỌC &amp; KHÓ KHĂN</a:t>
                </a:r>
              </a:p>
            </p:txBody>
          </p:sp>
          <p:sp>
            <p:nvSpPr>
              <p:cNvPr id="32" name="TextBox 32"/>
              <p:cNvSpPr txBox="1"/>
              <p:nvPr/>
            </p:nvSpPr>
            <p:spPr>
              <a:xfrm>
                <a:off x="4450842" y="4054792"/>
                <a:ext cx="283728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Khó đồng bộ cơ khí–sensor–code</a:t>
                </a:r>
              </a:p>
            </p:txBody>
          </p:sp>
          <p:sp>
            <p:nvSpPr>
              <p:cNvPr id="33" name="TextBox 33"/>
              <p:cNvSpPr txBox="1"/>
              <p:nvPr/>
            </p:nvSpPr>
            <p:spPr>
              <a:xfrm>
                <a:off x="4450842" y="4350068"/>
                <a:ext cx="304575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Cần chốt interface trước tích hợp</a:t>
                </a:r>
              </a:p>
            </p:txBody>
          </p:sp>
          <p:sp>
            <p:nvSpPr>
              <p:cNvPr id="34" name="TextBox 34"/>
              <p:cNvSpPr txBox="1"/>
              <p:nvPr/>
            </p:nvSpPr>
            <p:spPr>
              <a:xfrm>
                <a:off x="4450842" y="4645342"/>
                <a:ext cx="257340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Test sớm từng module độc lập</a:t>
                </a:r>
              </a:p>
            </p:txBody>
          </p:sp>
        </p:grpSp>
        <p:grpSp>
          <p:nvGrpSpPr>
            <p:cNvPr id="42" name="Group 42"/>
            <p:cNvGrpSpPr/>
            <p:nvPr/>
          </p:nvGrpSpPr>
          <p:grpSpPr>
            <a:xfrm>
              <a:off x="7886700" y="3457575"/>
              <a:ext cx="3771900" cy="2143125"/>
              <a:chOff x="7886700" y="3457575"/>
              <a:chExt cx="3771900" cy="2143125"/>
            </a:xfrm>
          </p:grpSpPr>
          <p:sp>
            <p:nvSpPr>
              <p:cNvPr id="36" name="Rectangle 36"/>
              <p:cNvSpPr/>
              <p:nvPr/>
            </p:nvSpPr>
            <p:spPr>
              <a:xfrm>
                <a:off x="7886700" y="3457575"/>
                <a:ext cx="3771900" cy="2143125"/>
              </a:xfrm>
              <a:prstGeom prst="roundRect">
                <a:avLst>
                  <a:gd name="adj" fmla="val 7111"/>
                </a:avLst>
              </a:prstGeom>
              <a:solidFill>
                <a:schemeClr val="accent1"/>
              </a:solidFill>
              <a:ln>
                <a:noFill/>
              </a:ln>
            </p:spPr>
          </p:sp>
          <p:sp>
            <p:nvSpPr>
              <p:cNvPr id="37" name="TextBox 37"/>
              <p:cNvSpPr txBox="1"/>
              <p:nvPr/>
            </p:nvSpPr>
            <p:spPr>
              <a:xfrm>
                <a:off x="8127111" y="3675221"/>
                <a:ext cx="1901989"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THÀNH TÍCH NỔI BẬT</a:t>
                </a:r>
              </a:p>
            </p:txBody>
          </p:sp>
          <p:sp>
            <p:nvSpPr>
              <p:cNvPr id="38" name="TextBox 38"/>
              <p:cNvSpPr txBox="1"/>
              <p:nvPr/>
            </p:nvSpPr>
            <p:spPr>
              <a:xfrm>
                <a:off x="8116062" y="4088130"/>
                <a:ext cx="876201" cy="704088"/>
              </a:xfrm>
              <a:prstGeom prst="rect">
                <a:avLst/>
              </a:prstGeom>
              <a:noFill/>
              <a:ln>
                <a:noFill/>
              </a:ln>
            </p:spPr>
            <p:txBody>
              <a:bodyPr wrap="none" lIns="0" tIns="0" rIns="0" bIns="0" anchor="t" anchorCtr="0">
                <a:spAutoFit/>
              </a:bodyPr>
              <a:lstStyle/>
              <a:p>
                <a:pPr algn="l"/>
                <a:r>
                  <a:rPr lang="en-US" sz="3600" b="1" dirty="0">
                    <a:solidFill>
                      <a:srgbClr val="FFFFFF"/>
                    </a:solidFill>
                    <a:latin typeface="+mn-lt"/>
                    <a:ea typeface="+mn-ea"/>
                    <a:cs typeface="+mn-cs"/>
                  </a:rPr>
                  <a:t>4/5</a:t>
                </a:r>
              </a:p>
            </p:txBody>
          </p:sp>
          <p:sp>
            <p:nvSpPr>
              <p:cNvPr id="39" name="TextBox 39"/>
              <p:cNvSpPr txBox="1"/>
              <p:nvPr/>
            </p:nvSpPr>
            <p:spPr>
              <a:xfrm>
                <a:off x="9136380" y="4276725"/>
                <a:ext cx="971026"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mn-lt"/>
                    <a:ea typeface="+mn-ea"/>
                    <a:cs typeface="+mn-cs"/>
                  </a:rPr>
                  <a:t>task Done</a:t>
                </a:r>
              </a:p>
            </p:txBody>
          </p:sp>
          <p:sp>
            <p:nvSpPr>
              <p:cNvPr id="40" name="TextBox 40"/>
              <p:cNvSpPr txBox="1"/>
              <p:nvPr/>
            </p:nvSpPr>
            <p:spPr>
              <a:xfrm>
                <a:off x="8127873" y="4815364"/>
                <a:ext cx="2667260"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Đặt nền kiến trúc cho Auto Test</a:t>
                </a:r>
              </a:p>
            </p:txBody>
          </p:sp>
          <p:pic>
            <p:nvPicPr>
              <p:cNvPr id="41" name="Image 41"/>
              <p:cNvPicPr>
                <a:picLocks noChangeAspect="1"/>
              </p:cNvPicPr>
              <p:nvPr/>
            </p:nvPicPr>
            <p:blipFill>
              <a:blip r:embed="rId3"/>
              <a:srcRect l="0" t="14819" r="0" b="14819"/>
              <a:stretch>
                <a:fillRect/>
              </a:stretch>
            </p:blipFill>
            <p:spPr>
              <a:xfrm>
                <a:off x="10382250" y="4143375"/>
                <a:ext cx="1000125" cy="1190625"/>
              </a:xfrm>
              <a:prstGeom prst="rect">
                <a:avLst/>
              </a:prstGeom>
            </p:spPr>
          </p:pic>
        </p:grpSp>
      </p:grpSp>
      <p:sp>
        <p:nvSpPr>
          <p:cNvPr id="44" name="TextBox 44"/>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12 / 23</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grpSp>
        <p:nvGrpSpPr>
          <p:cNvPr id="6" name="Group 6"/>
          <p:cNvGrpSpPr/>
          <p:nvPr/>
        </p:nvGrpSpPr>
        <p:grpSpPr>
          <a:xfrm>
            <a:off x="2462784" y="266700"/>
            <a:ext cx="9157716" cy="617601"/>
            <a:chOff x="2462784" y="266700"/>
            <a:chExt cx="9157716" cy="617601"/>
          </a:xfrm>
        </p:grpSpPr>
        <p:sp>
          <p:nvSpPr>
            <p:cNvPr id="3" name="TextBox 3"/>
            <p:cNvSpPr txBox="1"/>
            <p:nvPr/>
          </p:nvSpPr>
          <p:spPr>
            <a:xfrm>
              <a:off x="2462784" y="356235"/>
              <a:ext cx="3697062"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3. Dự án Tool Design</a:t>
              </a:r>
            </a:p>
          </p:txBody>
        </p:sp>
        <p:sp>
          <p:nvSpPr>
            <p:cNvPr id="4" name="Rectangle 4"/>
            <p:cNvSpPr/>
            <p:nvPr/>
          </p:nvSpPr>
          <p:spPr>
            <a:xfrm>
              <a:off x="9315450" y="266700"/>
              <a:ext cx="2305050" cy="400050"/>
            </a:xfrm>
            <a:prstGeom prst="roundRect">
              <a:avLst>
                <a:gd name="adj" fmla="val 9524"/>
              </a:avLst>
            </a:prstGeom>
            <a:solidFill>
              <a:srgbClr val="EAF6F0"/>
            </a:solidFill>
            <a:ln>
              <a:noFill/>
            </a:ln>
          </p:spPr>
        </p:sp>
        <p:sp>
          <p:nvSpPr>
            <p:cNvPr id="5" name="TextBox 5"/>
            <p:cNvSpPr txBox="1"/>
            <p:nvPr/>
          </p:nvSpPr>
          <p:spPr>
            <a:xfrm>
              <a:off x="9500866" y="386239"/>
              <a:ext cx="1934218"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18/05/2026–ONGOING</a:t>
              </a:r>
            </a:p>
          </p:txBody>
        </p:sp>
      </p:grpSp>
      <p:grpSp>
        <p:nvGrpSpPr>
          <p:cNvPr id="10" name="Group 10"/>
          <p:cNvGrpSpPr/>
          <p:nvPr/>
        </p:nvGrpSpPr>
        <p:grpSpPr>
          <a:xfrm>
            <a:off x="533400" y="1066800"/>
            <a:ext cx="11125200" cy="723900"/>
            <a:chOff x="533400" y="1066800"/>
            <a:chExt cx="11125200" cy="723900"/>
          </a:xfrm>
        </p:grpSpPr>
        <p:sp>
          <p:nvSpPr>
            <p:cNvPr id="7" name="Rectangle 7"/>
            <p:cNvSpPr/>
            <p:nvPr/>
          </p:nvSpPr>
          <p:spPr>
            <a:xfrm>
              <a:off x="533400" y="1066800"/>
              <a:ext cx="11125200" cy="723900"/>
            </a:xfrm>
            <a:prstGeom prst="roundRect">
              <a:avLst>
                <a:gd name="adj" fmla="val 5263"/>
              </a:avLst>
            </a:prstGeom>
            <a:solidFill>
              <a:schemeClr val="accent1"/>
            </a:solidFill>
            <a:ln>
              <a:noFill/>
            </a:ln>
          </p:spPr>
        </p:sp>
        <p:sp>
          <p:nvSpPr>
            <p:cNvPr id="8" name="TextBox 8"/>
            <p:cNvSpPr txBox="1"/>
            <p:nvPr/>
          </p:nvSpPr>
          <p:spPr>
            <a:xfrm>
              <a:off x="775335" y="1240631"/>
              <a:ext cx="2027085"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PHẠM VI ĐÃ QUY HOẠCH LẠI</a:t>
              </a:r>
            </a:p>
          </p:txBody>
        </p:sp>
        <p:sp>
          <p:nvSpPr>
            <p:cNvPr id="9" name="TextBox 9"/>
            <p:cNvSpPr txBox="1"/>
            <p:nvPr/>
          </p:nvSpPr>
          <p:spPr>
            <a:xfrm>
              <a:off x="772668" y="1450658"/>
              <a:ext cx="805205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Toàn bộ tool test và tool loader sản xuất được quản lý dưới Tool Design.</a:t>
              </a:r>
            </a:p>
          </p:txBody>
        </p:sp>
      </p:grpSp>
      <p:grpSp>
        <p:nvGrpSpPr>
          <p:cNvPr id="15" name="Group 15"/>
          <p:cNvGrpSpPr/>
          <p:nvPr/>
        </p:nvGrpSpPr>
        <p:grpSpPr>
          <a:xfrm>
            <a:off x="526923" y="2126932"/>
            <a:ext cx="5226177" cy="663893"/>
            <a:chOff x="526923" y="2126932"/>
            <a:chExt cx="5226177" cy="663893"/>
          </a:xfrm>
        </p:grpSpPr>
        <p:sp>
          <p:nvSpPr>
            <p:cNvPr id="11" name="TextBox 11"/>
            <p:cNvSpPr txBox="1"/>
            <p:nvPr/>
          </p:nvSpPr>
          <p:spPr>
            <a:xfrm>
              <a:off x="526923" y="2167414"/>
              <a:ext cx="21197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01</a:t>
              </a:r>
            </a:p>
          </p:txBody>
        </p:sp>
        <p:sp>
          <p:nvSpPr>
            <p:cNvPr id="12" name="TextBox 12"/>
            <p:cNvSpPr txBox="1"/>
            <p:nvPr/>
          </p:nvSpPr>
          <p:spPr>
            <a:xfrm>
              <a:off x="1020318" y="2126932"/>
              <a:ext cx="15324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Tool nguồn DC</a:t>
              </a:r>
            </a:p>
          </p:txBody>
        </p:sp>
        <p:sp>
          <p:nvSpPr>
            <p:cNvPr id="13" name="TextBox 13"/>
            <p:cNvSpPr txBox="1"/>
            <p:nvPr/>
          </p:nvSpPr>
          <p:spPr>
            <a:xfrm>
              <a:off x="1022223" y="2434114"/>
              <a:ext cx="3878848"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Hai vòng chỉnh sửa theo flow vận hành nhà máy</a:t>
              </a:r>
            </a:p>
          </p:txBody>
        </p:sp>
        <p:sp>
          <p:nvSpPr>
            <p:cNvPr id="14" name="Line 14"/>
            <p:cNvSpPr/>
            <p:nvPr/>
          </p:nvSpPr>
          <p:spPr>
            <a:xfrm>
              <a:off x="533400" y="2781300"/>
              <a:ext cx="5219700" cy="9525"/>
            </a:xfrm>
            <a:custGeom>
              <a:avLst/>
              <a:gdLst/>
              <a:ahLst/>
              <a:cxnLst/>
              <a:rect l="l" t="t" r="r" b="b"/>
              <a:pathLst>
                <a:path w="5219700" h="9525">
                  <a:moveTo>
                    <a:pt x="0" y="0"/>
                  </a:moveTo>
                  <a:lnTo>
                    <a:pt x="5219700" y="0"/>
                  </a:lnTo>
                </a:path>
              </a:pathLst>
            </a:custGeom>
            <a:noFill/>
            <a:ln w="19050">
              <a:solidFill>
                <a:srgbClr val="D7E4DD"/>
              </a:solidFill>
            </a:ln>
          </p:spPr>
        </p:sp>
      </p:grpSp>
      <p:grpSp>
        <p:nvGrpSpPr>
          <p:cNvPr id="20" name="Group 20"/>
          <p:cNvGrpSpPr/>
          <p:nvPr/>
        </p:nvGrpSpPr>
        <p:grpSpPr>
          <a:xfrm>
            <a:off x="6146673" y="2126932"/>
            <a:ext cx="5511927" cy="663893"/>
            <a:chOff x="6146673" y="2126932"/>
            <a:chExt cx="5511927" cy="663893"/>
          </a:xfrm>
        </p:grpSpPr>
        <p:sp>
          <p:nvSpPr>
            <p:cNvPr id="16" name="TextBox 16"/>
            <p:cNvSpPr txBox="1"/>
            <p:nvPr/>
          </p:nvSpPr>
          <p:spPr>
            <a:xfrm>
              <a:off x="6146673" y="2167414"/>
              <a:ext cx="21197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02</a:t>
              </a:r>
            </a:p>
          </p:txBody>
        </p:sp>
        <p:sp>
          <p:nvSpPr>
            <p:cNvPr id="17" name="TextBox 17"/>
            <p:cNvSpPr txBox="1"/>
            <p:nvPr/>
          </p:nvSpPr>
          <p:spPr>
            <a:xfrm>
              <a:off x="6640068" y="2126932"/>
              <a:ext cx="1384807"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Loader Luto</a:t>
              </a:r>
            </a:p>
          </p:txBody>
        </p:sp>
        <p:sp>
          <p:nvSpPr>
            <p:cNvPr id="18" name="TextBox 18"/>
            <p:cNvSpPr txBox="1"/>
            <p:nvPr/>
          </p:nvSpPr>
          <p:spPr>
            <a:xfrm>
              <a:off x="6641973" y="2434114"/>
              <a:ext cx="4085612"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Hoàn thành, bàn giao và làm rõ interface sử dụng</a:t>
              </a:r>
            </a:p>
          </p:txBody>
        </p:sp>
        <p:sp>
          <p:nvSpPr>
            <p:cNvPr id="19" name="Line 19"/>
            <p:cNvSpPr/>
            <p:nvPr/>
          </p:nvSpPr>
          <p:spPr>
            <a:xfrm>
              <a:off x="6153150" y="2781300"/>
              <a:ext cx="5505450" cy="9525"/>
            </a:xfrm>
            <a:custGeom>
              <a:avLst/>
              <a:gdLst/>
              <a:ahLst/>
              <a:cxnLst/>
              <a:rect l="l" t="t" r="r" b="b"/>
              <a:pathLst>
                <a:path w="5505450" h="9525">
                  <a:moveTo>
                    <a:pt x="0" y="0"/>
                  </a:moveTo>
                  <a:lnTo>
                    <a:pt x="5505450" y="0"/>
                  </a:lnTo>
                </a:path>
              </a:pathLst>
            </a:custGeom>
            <a:noFill/>
            <a:ln w="19050">
              <a:solidFill>
                <a:srgbClr val="D7E4DD"/>
              </a:solidFill>
            </a:ln>
          </p:spPr>
        </p:sp>
      </p:grpSp>
      <p:grpSp>
        <p:nvGrpSpPr>
          <p:cNvPr id="25" name="Group 25"/>
          <p:cNvGrpSpPr/>
          <p:nvPr/>
        </p:nvGrpSpPr>
        <p:grpSpPr>
          <a:xfrm>
            <a:off x="526923" y="3136582"/>
            <a:ext cx="5226177" cy="663893"/>
            <a:chOff x="526923" y="3136582"/>
            <a:chExt cx="5226177" cy="663893"/>
          </a:xfrm>
        </p:grpSpPr>
        <p:sp>
          <p:nvSpPr>
            <p:cNvPr id="21" name="TextBox 21"/>
            <p:cNvSpPr txBox="1"/>
            <p:nvPr/>
          </p:nvSpPr>
          <p:spPr>
            <a:xfrm>
              <a:off x="526923" y="3177064"/>
              <a:ext cx="21197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03</a:t>
              </a:r>
            </a:p>
          </p:txBody>
        </p:sp>
        <p:sp>
          <p:nvSpPr>
            <p:cNvPr id="22" name="TextBox 22"/>
            <p:cNvSpPr txBox="1"/>
            <p:nvPr/>
          </p:nvSpPr>
          <p:spPr>
            <a:xfrm>
              <a:off x="1020318" y="3136582"/>
              <a:ext cx="314504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Tool test &amp; loader Lumes V2</a:t>
              </a:r>
            </a:p>
          </p:txBody>
        </p:sp>
        <p:sp>
          <p:nvSpPr>
            <p:cNvPr id="23" name="TextBox 23"/>
            <p:cNvSpPr txBox="1"/>
            <p:nvPr/>
          </p:nvSpPr>
          <p:spPr>
            <a:xfrm>
              <a:off x="1022223" y="3443764"/>
              <a:ext cx="4111498"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Tách công đoạn test nguồn và nạp code mạch main</a:t>
              </a:r>
            </a:p>
          </p:txBody>
        </p:sp>
        <p:sp>
          <p:nvSpPr>
            <p:cNvPr id="24" name="Line 24"/>
            <p:cNvSpPr/>
            <p:nvPr/>
          </p:nvSpPr>
          <p:spPr>
            <a:xfrm>
              <a:off x="533400" y="3790950"/>
              <a:ext cx="5219700" cy="9525"/>
            </a:xfrm>
            <a:custGeom>
              <a:avLst/>
              <a:gdLst/>
              <a:ahLst/>
              <a:cxnLst/>
              <a:rect l="l" t="t" r="r" b="b"/>
              <a:pathLst>
                <a:path w="5219700" h="9525">
                  <a:moveTo>
                    <a:pt x="0" y="0"/>
                  </a:moveTo>
                  <a:lnTo>
                    <a:pt x="5219700" y="0"/>
                  </a:lnTo>
                </a:path>
              </a:pathLst>
            </a:custGeom>
            <a:noFill/>
            <a:ln w="19050">
              <a:solidFill>
                <a:srgbClr val="D7E4DD"/>
              </a:solidFill>
            </a:ln>
          </p:spPr>
        </p:sp>
      </p:grpSp>
      <p:grpSp>
        <p:nvGrpSpPr>
          <p:cNvPr id="30" name="Group 30"/>
          <p:cNvGrpSpPr/>
          <p:nvPr/>
        </p:nvGrpSpPr>
        <p:grpSpPr>
          <a:xfrm>
            <a:off x="6146673" y="3136582"/>
            <a:ext cx="5511927" cy="663893"/>
            <a:chOff x="6146673" y="3136582"/>
            <a:chExt cx="5511927" cy="663893"/>
          </a:xfrm>
        </p:grpSpPr>
        <p:sp>
          <p:nvSpPr>
            <p:cNvPr id="26" name="TextBox 26"/>
            <p:cNvSpPr txBox="1"/>
            <p:nvPr/>
          </p:nvSpPr>
          <p:spPr>
            <a:xfrm>
              <a:off x="6146673" y="3177064"/>
              <a:ext cx="211976"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04</a:t>
              </a:r>
            </a:p>
          </p:txBody>
        </p:sp>
        <p:sp>
          <p:nvSpPr>
            <p:cNvPr id="27" name="TextBox 27"/>
            <p:cNvSpPr txBox="1"/>
            <p:nvPr/>
          </p:nvSpPr>
          <p:spPr>
            <a:xfrm>
              <a:off x="6640068" y="3136582"/>
              <a:ext cx="281463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Tool test Smart Lighting</a:t>
              </a:r>
            </a:p>
          </p:txBody>
        </p:sp>
        <p:sp>
          <p:nvSpPr>
            <p:cNvPr id="28" name="TextBox 28"/>
            <p:cNvSpPr txBox="1"/>
            <p:nvPr/>
          </p:nvSpPr>
          <p:spPr>
            <a:xfrm>
              <a:off x="6641973" y="3443764"/>
              <a:ext cx="3728597"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Deep Dimming &amp; CCT Tunable · đang triển khai</a:t>
              </a:r>
            </a:p>
          </p:txBody>
        </p:sp>
        <p:sp>
          <p:nvSpPr>
            <p:cNvPr id="29" name="Line 29"/>
            <p:cNvSpPr/>
            <p:nvPr/>
          </p:nvSpPr>
          <p:spPr>
            <a:xfrm>
              <a:off x="6153150" y="3790950"/>
              <a:ext cx="5505450" cy="9525"/>
            </a:xfrm>
            <a:custGeom>
              <a:avLst/>
              <a:gdLst/>
              <a:ahLst/>
              <a:cxnLst/>
              <a:rect l="l" t="t" r="r" b="b"/>
              <a:pathLst>
                <a:path w="5505450" h="9525">
                  <a:moveTo>
                    <a:pt x="0" y="0"/>
                  </a:moveTo>
                  <a:lnTo>
                    <a:pt x="5505450" y="0"/>
                  </a:lnTo>
                </a:path>
              </a:pathLst>
            </a:custGeom>
            <a:noFill/>
            <a:ln w="19050">
              <a:solidFill>
                <a:srgbClr val="D7E4DD"/>
              </a:solidFill>
            </a:ln>
          </p:spPr>
        </p:sp>
      </p:grpSp>
      <p:grpSp>
        <p:nvGrpSpPr>
          <p:cNvPr id="40" name="Group 40"/>
          <p:cNvGrpSpPr/>
          <p:nvPr/>
        </p:nvGrpSpPr>
        <p:grpSpPr>
          <a:xfrm>
            <a:off x="533400" y="4171950"/>
            <a:ext cx="11125200" cy="1562100"/>
            <a:chOff x="533400" y="4171950"/>
            <a:chExt cx="11125200" cy="1562100"/>
          </a:xfrm>
        </p:grpSpPr>
        <p:sp>
          <p:nvSpPr>
            <p:cNvPr id="31" name="Rectangle 31"/>
            <p:cNvSpPr/>
            <p:nvPr/>
          </p:nvSpPr>
          <p:spPr>
            <a:xfrm>
              <a:off x="533400" y="4171950"/>
              <a:ext cx="11125200" cy="1562100"/>
            </a:xfrm>
            <a:prstGeom prst="roundRect">
              <a:avLst>
                <a:gd name="adj" fmla="val 2439"/>
              </a:avLst>
            </a:prstGeom>
            <a:solidFill>
              <a:schemeClr val="lt2"/>
            </a:solidFill>
            <a:ln>
              <a:noFill/>
            </a:ln>
          </p:spPr>
        </p:sp>
        <p:sp>
          <p:nvSpPr>
            <p:cNvPr id="32" name="TextBox 32"/>
            <p:cNvSpPr txBox="1"/>
            <p:nvPr/>
          </p:nvSpPr>
          <p:spPr>
            <a:xfrm>
              <a:off x="775335" y="4355306"/>
              <a:ext cx="1215805" cy="220028"/>
            </a:xfrm>
            <a:prstGeom prst="rect">
              <a:avLst/>
            </a:prstGeom>
            <a:noFill/>
            <a:ln>
              <a:noFill/>
            </a:ln>
          </p:spPr>
          <p:txBody>
            <a:bodyPr wrap="none" lIns="0" tIns="0" rIns="0" bIns="0" anchor="t" anchorCtr="0">
              <a:spAutoFit/>
            </a:bodyPr>
            <a:lstStyle/>
            <a:p>
              <a:pPr algn="l"/>
              <a:r>
                <a:rPr lang="en-US" sz="1120" b="1" dirty="0">
                  <a:solidFill>
                    <a:srgbClr val="66706A"/>
                  </a:solidFill>
                  <a:latin typeface="+mn-lt"/>
                  <a:ea typeface="+mn-ea"/>
                  <a:cs typeface="+mn-cs"/>
                </a:rPr>
                <a:t>NĂNG LỰC CHUNG</a:t>
              </a:r>
            </a:p>
          </p:txBody>
        </p:sp>
        <p:sp>
          <p:nvSpPr>
            <p:cNvPr id="33" name="TextBox 33"/>
            <p:cNvSpPr txBox="1"/>
            <p:nvPr/>
          </p:nvSpPr>
          <p:spPr>
            <a:xfrm>
              <a:off x="772668" y="4679632"/>
              <a:ext cx="334883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Tích hợp phần cứng–phần mềm</a:t>
              </a:r>
            </a:p>
          </p:txBody>
        </p:sp>
        <p:sp>
          <p:nvSpPr>
            <p:cNvPr id="34" name="TextBox 34"/>
            <p:cNvSpPr txBox="1"/>
            <p:nvPr/>
          </p:nvSpPr>
          <p:spPr>
            <a:xfrm>
              <a:off x="774573" y="5034439"/>
              <a:ext cx="3112020"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Đo lường · giao tiếp thiết bị · logging</a:t>
              </a:r>
            </a:p>
          </p:txBody>
        </p:sp>
        <p:sp>
          <p:nvSpPr>
            <p:cNvPr id="35" name="TextBox 35"/>
            <p:cNvSpPr txBox="1"/>
            <p:nvPr/>
          </p:nvSpPr>
          <p:spPr>
            <a:xfrm>
              <a:off x="4182618" y="4679632"/>
              <a:ext cx="261332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Thiết kế theo operator</a:t>
              </a:r>
            </a:p>
          </p:txBody>
        </p:sp>
        <p:sp>
          <p:nvSpPr>
            <p:cNvPr id="36" name="TextBox 36"/>
            <p:cNvSpPr txBox="1"/>
            <p:nvPr/>
          </p:nvSpPr>
          <p:spPr>
            <a:xfrm>
              <a:off x="4184523" y="5034439"/>
              <a:ext cx="3095716"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Ít thao tác · dễ sử dụng · dễ bảo trì</a:t>
              </a:r>
            </a:p>
          </p:txBody>
        </p:sp>
        <p:sp>
          <p:nvSpPr>
            <p:cNvPr id="37" name="TextBox 37"/>
            <p:cNvSpPr txBox="1"/>
            <p:nvPr/>
          </p:nvSpPr>
          <p:spPr>
            <a:xfrm>
              <a:off x="7840218" y="4679632"/>
              <a:ext cx="210033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Chuẩn hóa bàn giao</a:t>
              </a:r>
            </a:p>
          </p:txBody>
        </p:sp>
        <p:sp>
          <p:nvSpPr>
            <p:cNvPr id="38" name="TextBox 38"/>
            <p:cNvSpPr txBox="1"/>
            <p:nvPr/>
          </p:nvSpPr>
          <p:spPr>
            <a:xfrm>
              <a:off x="7842123" y="5034439"/>
              <a:ext cx="2758705"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Interface · acceptance · tài liệu</a:t>
              </a:r>
            </a:p>
          </p:txBody>
        </p:sp>
        <p:sp>
          <p:nvSpPr>
            <p:cNvPr id="39" name="Rectangle 39"/>
            <p:cNvSpPr/>
            <p:nvPr/>
          </p:nvSpPr>
          <p:spPr>
            <a:xfrm>
              <a:off x="781050" y="5429250"/>
              <a:ext cx="10553700" cy="38100"/>
            </a:xfrm>
            <a:prstGeom prst="rect">
              <a:avLst/>
            </a:prstGeom>
            <a:solidFill>
              <a:schemeClr val="accent1"/>
            </a:solidFill>
            <a:ln>
              <a:noFill/>
            </a:ln>
          </p:spPr>
        </p:sp>
      </p:grpSp>
      <p:grpSp>
        <p:nvGrpSpPr>
          <p:cNvPr id="43" name="Group 43"/>
          <p:cNvGrpSpPr/>
          <p:nvPr/>
        </p:nvGrpSpPr>
        <p:grpSpPr>
          <a:xfrm>
            <a:off x="526923" y="6044089"/>
            <a:ext cx="7926750" cy="249364"/>
            <a:chOff x="526923" y="6044089"/>
            <a:chExt cx="7926750" cy="249364"/>
          </a:xfrm>
        </p:grpSpPr>
        <p:sp>
          <p:nvSpPr>
            <p:cNvPr id="41" name="TextBox 41"/>
            <p:cNvSpPr txBox="1"/>
            <p:nvPr/>
          </p:nvSpPr>
          <p:spPr>
            <a:xfrm>
              <a:off x="526923" y="6044089"/>
              <a:ext cx="73940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KẾT QUẢ</a:t>
              </a:r>
            </a:p>
          </p:txBody>
        </p:sp>
        <p:sp>
          <p:nvSpPr>
            <p:cNvPr id="42" name="TextBox 42"/>
            <p:cNvSpPr txBox="1"/>
            <p:nvPr/>
          </p:nvSpPr>
          <p:spPr>
            <a:xfrm>
              <a:off x="1593723" y="6044089"/>
              <a:ext cx="685995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Tool đã hoàn thành được dùng làm nền tái sử dụng cho các dòng sản phẩm tiếp theo.</a:t>
              </a:r>
            </a:p>
          </p:txBody>
        </p:sp>
      </p:grpSp>
      <p:sp>
        <p:nvSpPr>
          <p:cNvPr id="44" name="TextBox 44"/>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13 / 23</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76250" y="228600"/>
            <a:ext cx="1238250" cy="361950"/>
          </a:xfrm>
          <a:prstGeom prst="rect">
            <a:avLst/>
          </a:prstGeom>
        </p:spPr>
      </p:pic>
      <p:sp>
        <p:nvSpPr>
          <p:cNvPr id="3" name="TextBox 3"/>
          <p:cNvSpPr txBox="1"/>
          <p:nvPr/>
        </p:nvSpPr>
        <p:spPr>
          <a:xfrm>
            <a:off x="2083308" y="331470"/>
            <a:ext cx="5181739"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Tool Design — Giao diện vận hành</a:t>
            </a:r>
          </a:p>
        </p:txBody>
      </p:sp>
      <p:sp>
        <p:nvSpPr>
          <p:cNvPr id="4" name="Rectangle 4"/>
          <p:cNvSpPr/>
          <p:nvPr/>
        </p:nvSpPr>
        <p:spPr>
          <a:xfrm>
            <a:off x="9810750" y="247650"/>
            <a:ext cx="1809750" cy="361950"/>
          </a:xfrm>
          <a:prstGeom prst="roundRect">
            <a:avLst>
              <a:gd name="adj" fmla="val 50000"/>
            </a:avLst>
          </a:prstGeom>
          <a:solidFill>
            <a:srgbClr val="EAF6F0"/>
          </a:solidFill>
          <a:ln>
            <a:noFill/>
          </a:ln>
        </p:spPr>
      </p:sp>
      <p:sp>
        <p:nvSpPr>
          <p:cNvPr id="5" name="TextBox 5"/>
          <p:cNvSpPr txBox="1"/>
          <p:nvPr/>
        </p:nvSpPr>
        <p:spPr>
          <a:xfrm>
            <a:off x="10013332" y="364331"/>
            <a:ext cx="1404585"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21/05–27/05/2026</a:t>
            </a:r>
          </a:p>
        </p:txBody>
      </p:sp>
      <p:grpSp>
        <p:nvGrpSpPr>
          <p:cNvPr id="11" name="Group 11"/>
          <p:cNvGrpSpPr/>
          <p:nvPr/>
        </p:nvGrpSpPr>
        <p:grpSpPr>
          <a:xfrm>
            <a:off x="533400" y="876300"/>
            <a:ext cx="11125200" cy="5429250"/>
            <a:chOff x="533400" y="876300"/>
            <a:chExt cx="11125200" cy="5429250"/>
          </a:xfrm>
        </p:grpSpPr>
        <p:sp>
          <p:nvSpPr>
            <p:cNvPr id="6" name="Rectangle 6"/>
            <p:cNvSpPr/>
            <p:nvPr/>
          </p:nvSpPr>
          <p:spPr>
            <a:xfrm>
              <a:off x="533400" y="876300"/>
              <a:ext cx="11125200" cy="5429250"/>
            </a:xfrm>
            <a:prstGeom prst="roundRect">
              <a:avLst>
                <a:gd name="adj" fmla="val 3158"/>
              </a:avLst>
            </a:prstGeom>
            <a:solidFill>
              <a:schemeClr val="lt2"/>
            </a:solidFill>
            <a:ln w="19050">
              <a:solidFill>
                <a:srgbClr val="B8D8C7"/>
              </a:solidFill>
            </a:ln>
          </p:spPr>
        </p:sp>
        <p:pic>
          <p:nvPicPr>
            <p:cNvPr id="7" name="Image 7"/>
            <p:cNvPicPr>
              <a:picLocks noChangeAspect="1"/>
            </p:cNvPicPr>
            <p:nvPr/>
          </p:nvPicPr>
          <p:blipFill>
            <a:blip r:embed="rId3"/>
            <a:stretch>
              <a:fillRect/>
            </a:stretch>
          </p:blipFill>
          <p:spPr>
            <a:xfrm>
              <a:off x="1493543" y="1009650"/>
              <a:ext cx="9204913" cy="4762500"/>
            </a:xfrm>
            <a:prstGeom prst="rect">
              <a:avLst/>
            </a:prstGeom>
          </p:spPr>
        </p:pic>
        <p:sp>
          <p:nvSpPr>
            <p:cNvPr id="8" name="Rectangle 8"/>
            <p:cNvSpPr/>
            <p:nvPr/>
          </p:nvSpPr>
          <p:spPr>
            <a:xfrm>
              <a:off x="666750" y="5829300"/>
              <a:ext cx="10858500" cy="361950"/>
            </a:xfrm>
            <a:prstGeom prst="roundRect">
              <a:avLst>
                <a:gd name="adj" fmla="val 26316"/>
              </a:avLst>
            </a:prstGeom>
            <a:solidFill>
              <a:schemeClr val="lt1"/>
            </a:solidFill>
            <a:ln>
              <a:noFill/>
            </a:ln>
          </p:spPr>
        </p:sp>
        <p:sp>
          <p:nvSpPr>
            <p:cNvPr id="9" name="TextBox 9"/>
            <p:cNvSpPr txBox="1"/>
            <p:nvPr/>
          </p:nvSpPr>
          <p:spPr>
            <a:xfrm>
              <a:off x="850773" y="5929789"/>
              <a:ext cx="1016599"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THÀNH TÍCH</a:t>
              </a:r>
            </a:p>
          </p:txBody>
        </p:sp>
        <p:sp>
          <p:nvSpPr>
            <p:cNvPr id="10" name="TextBox 10"/>
            <p:cNvSpPr txBox="1"/>
            <p:nvPr/>
          </p:nvSpPr>
          <p:spPr>
            <a:xfrm>
              <a:off x="2041398" y="5929789"/>
              <a:ext cx="729964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Hoàn tất hai vòng chỉnh sửa, ưu tiên thao tác nhà máy, độ ổn định và khả năng bảo trì.</a:t>
              </a:r>
            </a:p>
          </p:txBody>
        </p:sp>
      </p:grpSp>
      <p:sp>
        <p:nvSpPr>
          <p:cNvPr id="12" name="TextBox 1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14 / 23</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grpSp>
        <p:nvGrpSpPr>
          <p:cNvPr id="6" name="Group 6"/>
          <p:cNvGrpSpPr/>
          <p:nvPr/>
        </p:nvGrpSpPr>
        <p:grpSpPr>
          <a:xfrm>
            <a:off x="2462784" y="266700"/>
            <a:ext cx="9157716" cy="617601"/>
            <a:chOff x="2462784" y="266700"/>
            <a:chExt cx="9157716" cy="617601"/>
          </a:xfrm>
        </p:grpSpPr>
        <p:sp>
          <p:nvSpPr>
            <p:cNvPr id="3" name="TextBox 3"/>
            <p:cNvSpPr txBox="1"/>
            <p:nvPr/>
          </p:nvSpPr>
          <p:spPr>
            <a:xfrm>
              <a:off x="2462784" y="356235"/>
              <a:ext cx="5486841"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Tool Design — Loader sản xuất</a:t>
              </a:r>
            </a:p>
          </p:txBody>
        </p:sp>
        <p:sp>
          <p:nvSpPr>
            <p:cNvPr id="4" name="Rectangle 4"/>
            <p:cNvSpPr/>
            <p:nvPr/>
          </p:nvSpPr>
          <p:spPr>
            <a:xfrm>
              <a:off x="9715500" y="266700"/>
              <a:ext cx="1905000" cy="400050"/>
            </a:xfrm>
            <a:prstGeom prst="roundRect">
              <a:avLst>
                <a:gd name="adj" fmla="val 9524"/>
              </a:avLst>
            </a:prstGeom>
            <a:solidFill>
              <a:srgbClr val="EAF6F0"/>
            </a:solidFill>
            <a:ln>
              <a:noFill/>
            </a:ln>
          </p:spPr>
        </p:sp>
        <p:sp>
          <p:nvSpPr>
            <p:cNvPr id="5" name="TextBox 5"/>
            <p:cNvSpPr txBox="1"/>
            <p:nvPr/>
          </p:nvSpPr>
          <p:spPr>
            <a:xfrm>
              <a:off x="9987647" y="386239"/>
              <a:ext cx="1360706"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2 LOADER DONE</a:t>
              </a:r>
            </a:p>
          </p:txBody>
        </p:sp>
      </p:grpSp>
      <p:grpSp>
        <p:nvGrpSpPr>
          <p:cNvPr id="17" name="Group 17"/>
          <p:cNvGrpSpPr/>
          <p:nvPr/>
        </p:nvGrpSpPr>
        <p:grpSpPr>
          <a:xfrm>
            <a:off x="533400" y="1104900"/>
            <a:ext cx="5219700" cy="2857500"/>
            <a:chOff x="533400" y="1104900"/>
            <a:chExt cx="5219700" cy="2857500"/>
          </a:xfrm>
        </p:grpSpPr>
        <p:sp>
          <p:nvSpPr>
            <p:cNvPr id="7" name="Rectangle 7"/>
            <p:cNvSpPr/>
            <p:nvPr/>
          </p:nvSpPr>
          <p:spPr>
            <a:xfrm>
              <a:off x="533400" y="1104900"/>
              <a:ext cx="5219700" cy="2857500"/>
            </a:xfrm>
            <a:prstGeom prst="roundRect">
              <a:avLst>
                <a:gd name="adj" fmla="val 1333"/>
              </a:avLst>
            </a:prstGeom>
            <a:solidFill>
              <a:schemeClr val="lt2"/>
            </a:solidFill>
            <a:ln>
              <a:noFill/>
            </a:ln>
          </p:spPr>
        </p:sp>
        <p:sp>
          <p:nvSpPr>
            <p:cNvPr id="8" name="Rectangle 8"/>
            <p:cNvSpPr/>
            <p:nvPr/>
          </p:nvSpPr>
          <p:spPr>
            <a:xfrm>
              <a:off x="533400" y="1104900"/>
              <a:ext cx="95250" cy="2857500"/>
            </a:xfrm>
            <a:prstGeom prst="rect">
              <a:avLst/>
            </a:prstGeom>
            <a:solidFill>
              <a:schemeClr val="accent1"/>
            </a:solidFill>
            <a:ln>
              <a:noFill/>
            </a:ln>
          </p:spPr>
        </p:sp>
        <p:sp>
          <p:nvSpPr>
            <p:cNvPr id="9" name="TextBox 9"/>
            <p:cNvSpPr txBox="1"/>
            <p:nvPr/>
          </p:nvSpPr>
          <p:spPr>
            <a:xfrm>
              <a:off x="832485" y="1345406"/>
              <a:ext cx="78925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01 · LUTO</a:t>
              </a:r>
            </a:p>
          </p:txBody>
        </p:sp>
        <p:sp>
          <p:nvSpPr>
            <p:cNvPr id="10" name="TextBox 10"/>
            <p:cNvSpPr txBox="1"/>
            <p:nvPr/>
          </p:nvSpPr>
          <p:spPr>
            <a:xfrm>
              <a:off x="827532" y="1611630"/>
              <a:ext cx="233184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Loader nạp code</a:t>
              </a:r>
            </a:p>
          </p:txBody>
        </p:sp>
        <p:sp>
          <p:nvSpPr>
            <p:cNvPr id="11" name="TextBox 11"/>
            <p:cNvSpPr txBox="1"/>
            <p:nvPr/>
          </p:nvSpPr>
          <p:spPr>
            <a:xfrm>
              <a:off x="830961" y="2055971"/>
              <a:ext cx="2248380"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Hoàn thành và bàn giao</a:t>
              </a:r>
            </a:p>
          </p:txBody>
        </p:sp>
        <p:sp>
          <p:nvSpPr>
            <p:cNvPr id="12" name="TextBox 12"/>
            <p:cNvSpPr txBox="1"/>
            <p:nvPr/>
          </p:nvSpPr>
          <p:spPr>
            <a:xfrm>
              <a:off x="830961" y="2379821"/>
              <a:ext cx="2296320"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Chuẩn hóa thao tác nạp</a:t>
              </a:r>
            </a:p>
          </p:txBody>
        </p:sp>
        <p:sp>
          <p:nvSpPr>
            <p:cNvPr id="13" name="TextBox 13"/>
            <p:cNvSpPr txBox="1"/>
            <p:nvPr/>
          </p:nvSpPr>
          <p:spPr>
            <a:xfrm>
              <a:off x="830961" y="2703671"/>
              <a:ext cx="2496939"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Làm rõ interface sử dụng</a:t>
              </a:r>
            </a:p>
          </p:txBody>
        </p:sp>
        <p:sp>
          <p:nvSpPr>
            <p:cNvPr id="14" name="Line 14"/>
            <p:cNvSpPr/>
            <p:nvPr/>
          </p:nvSpPr>
          <p:spPr>
            <a:xfrm>
              <a:off x="838200" y="3276600"/>
              <a:ext cx="4610100" cy="9525"/>
            </a:xfrm>
            <a:custGeom>
              <a:avLst/>
              <a:gdLst/>
              <a:ahLst/>
              <a:cxnLst/>
              <a:rect l="l" t="t" r="r" b="b"/>
              <a:pathLst>
                <a:path w="4610100" h="9525">
                  <a:moveTo>
                    <a:pt x="0" y="0"/>
                  </a:moveTo>
                  <a:lnTo>
                    <a:pt x="4610100" y="0"/>
                  </a:lnTo>
                </a:path>
              </a:pathLst>
            </a:custGeom>
            <a:noFill/>
            <a:ln w="19050">
              <a:solidFill>
                <a:srgbClr val="B8D8C7"/>
              </a:solidFill>
            </a:ln>
          </p:spPr>
        </p:sp>
        <p:sp>
          <p:nvSpPr>
            <p:cNvPr id="15" name="TextBox 15"/>
            <p:cNvSpPr txBox="1"/>
            <p:nvPr/>
          </p:nvSpPr>
          <p:spPr>
            <a:xfrm>
              <a:off x="831723" y="3481864"/>
              <a:ext cx="73940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KẾT QUẢ</a:t>
              </a:r>
            </a:p>
          </p:txBody>
        </p:sp>
        <p:sp>
          <p:nvSpPr>
            <p:cNvPr id="16" name="TextBox 16"/>
            <p:cNvSpPr txBox="1"/>
            <p:nvPr/>
          </p:nvSpPr>
          <p:spPr>
            <a:xfrm>
              <a:off x="1784223" y="3481864"/>
              <a:ext cx="203502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Đã bàn giao cho vận hành</a:t>
              </a:r>
            </a:p>
          </p:txBody>
        </p:sp>
      </p:grpSp>
      <p:grpSp>
        <p:nvGrpSpPr>
          <p:cNvPr id="28" name="Group 28"/>
          <p:cNvGrpSpPr/>
          <p:nvPr/>
        </p:nvGrpSpPr>
        <p:grpSpPr>
          <a:xfrm>
            <a:off x="6153150" y="1104900"/>
            <a:ext cx="5505450" cy="2857500"/>
            <a:chOff x="6153150" y="1104900"/>
            <a:chExt cx="5505450" cy="2857500"/>
          </a:xfrm>
        </p:grpSpPr>
        <p:sp>
          <p:nvSpPr>
            <p:cNvPr id="18" name="Rectangle 18"/>
            <p:cNvSpPr/>
            <p:nvPr/>
          </p:nvSpPr>
          <p:spPr>
            <a:xfrm>
              <a:off x="6153150" y="1104900"/>
              <a:ext cx="5505450" cy="2857500"/>
            </a:xfrm>
            <a:prstGeom prst="roundRect">
              <a:avLst>
                <a:gd name="adj" fmla="val 1333"/>
              </a:avLst>
            </a:prstGeom>
            <a:solidFill>
              <a:srgbClr val="EAF6F0"/>
            </a:solidFill>
            <a:ln>
              <a:noFill/>
            </a:ln>
          </p:spPr>
        </p:sp>
        <p:sp>
          <p:nvSpPr>
            <p:cNvPr id="19" name="Rectangle 19"/>
            <p:cNvSpPr/>
            <p:nvPr/>
          </p:nvSpPr>
          <p:spPr>
            <a:xfrm>
              <a:off x="6153150" y="1104900"/>
              <a:ext cx="95250" cy="2857500"/>
            </a:xfrm>
            <a:prstGeom prst="rect">
              <a:avLst/>
            </a:prstGeom>
            <a:solidFill>
              <a:schemeClr val="accent2"/>
            </a:solidFill>
            <a:ln>
              <a:noFill/>
            </a:ln>
          </p:spPr>
        </p:sp>
        <p:sp>
          <p:nvSpPr>
            <p:cNvPr id="20" name="TextBox 20"/>
            <p:cNvSpPr txBox="1"/>
            <p:nvPr/>
          </p:nvSpPr>
          <p:spPr>
            <a:xfrm>
              <a:off x="6452235" y="1345406"/>
              <a:ext cx="1115440"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02 · LUMES V2</a:t>
              </a:r>
            </a:p>
          </p:txBody>
        </p:sp>
        <p:sp>
          <p:nvSpPr>
            <p:cNvPr id="21" name="TextBox 21"/>
            <p:cNvSpPr txBox="1"/>
            <p:nvPr/>
          </p:nvSpPr>
          <p:spPr>
            <a:xfrm>
              <a:off x="6447282" y="1611630"/>
              <a:ext cx="296724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Loader mạch main V2</a:t>
              </a:r>
            </a:p>
          </p:txBody>
        </p:sp>
        <p:sp>
          <p:nvSpPr>
            <p:cNvPr id="22" name="TextBox 22"/>
            <p:cNvSpPr txBox="1"/>
            <p:nvPr/>
          </p:nvSpPr>
          <p:spPr>
            <a:xfrm>
              <a:off x="6450711" y="2055971"/>
              <a:ext cx="2458599"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Hoàn thành tool nạp code</a:t>
              </a:r>
            </a:p>
          </p:txBody>
        </p:sp>
        <p:sp>
          <p:nvSpPr>
            <p:cNvPr id="23" name="TextBox 23"/>
            <p:cNvSpPr txBox="1"/>
            <p:nvPr/>
          </p:nvSpPr>
          <p:spPr>
            <a:xfrm>
              <a:off x="6450711" y="2379821"/>
              <a:ext cx="313720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Tích hợp giao tiếp với mạch main</a:t>
              </a:r>
            </a:p>
          </p:txBody>
        </p:sp>
        <p:sp>
          <p:nvSpPr>
            <p:cNvPr id="24" name="TextBox 24"/>
            <p:cNvSpPr txBox="1"/>
            <p:nvPr/>
          </p:nvSpPr>
          <p:spPr>
            <a:xfrm>
              <a:off x="6450711" y="2703671"/>
              <a:ext cx="3185098"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Tách riêng flow test và flow nạp</a:t>
              </a:r>
            </a:p>
          </p:txBody>
        </p:sp>
        <p:sp>
          <p:nvSpPr>
            <p:cNvPr id="25" name="Line 25"/>
            <p:cNvSpPr/>
            <p:nvPr/>
          </p:nvSpPr>
          <p:spPr>
            <a:xfrm>
              <a:off x="6457950" y="3276600"/>
              <a:ext cx="4895850" cy="9525"/>
            </a:xfrm>
            <a:custGeom>
              <a:avLst/>
              <a:gdLst/>
              <a:ahLst/>
              <a:cxnLst/>
              <a:rect l="l" t="t" r="r" b="b"/>
              <a:pathLst>
                <a:path w="4895850" h="9525">
                  <a:moveTo>
                    <a:pt x="0" y="0"/>
                  </a:moveTo>
                  <a:lnTo>
                    <a:pt x="4895850" y="0"/>
                  </a:lnTo>
                </a:path>
              </a:pathLst>
            </a:custGeom>
            <a:noFill/>
            <a:ln w="19050">
              <a:solidFill>
                <a:srgbClr val="B8D8C7"/>
              </a:solidFill>
            </a:ln>
          </p:spPr>
        </p:sp>
        <p:sp>
          <p:nvSpPr>
            <p:cNvPr id="26" name="TextBox 26"/>
            <p:cNvSpPr txBox="1"/>
            <p:nvPr/>
          </p:nvSpPr>
          <p:spPr>
            <a:xfrm>
              <a:off x="6451473" y="3481864"/>
              <a:ext cx="739402"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KẾT QUẢ</a:t>
              </a:r>
            </a:p>
          </p:txBody>
        </p:sp>
        <p:sp>
          <p:nvSpPr>
            <p:cNvPr id="27" name="TextBox 27"/>
            <p:cNvSpPr txBox="1"/>
            <p:nvPr/>
          </p:nvSpPr>
          <p:spPr>
            <a:xfrm>
              <a:off x="7403973" y="3481864"/>
              <a:ext cx="269849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Sẵn sàng tích hợp vào công đoạn</a:t>
              </a:r>
            </a:p>
          </p:txBody>
        </p:sp>
      </p:grpSp>
      <p:grpSp>
        <p:nvGrpSpPr>
          <p:cNvPr id="43" name="Group 43"/>
          <p:cNvGrpSpPr/>
          <p:nvPr/>
        </p:nvGrpSpPr>
        <p:grpSpPr>
          <a:xfrm>
            <a:off x="527685" y="4431506"/>
            <a:ext cx="11130915" cy="1016794"/>
            <a:chOff x="527685" y="4431506"/>
            <a:chExt cx="11130915" cy="1016794"/>
          </a:xfrm>
        </p:grpSpPr>
        <p:sp>
          <p:nvSpPr>
            <p:cNvPr id="29" name="TextBox 29"/>
            <p:cNvSpPr txBox="1"/>
            <p:nvPr/>
          </p:nvSpPr>
          <p:spPr>
            <a:xfrm>
              <a:off x="527685" y="4431506"/>
              <a:ext cx="1918356" cy="220028"/>
            </a:xfrm>
            <a:prstGeom prst="rect">
              <a:avLst/>
            </a:prstGeom>
            <a:noFill/>
            <a:ln>
              <a:noFill/>
            </a:ln>
          </p:spPr>
          <p:txBody>
            <a:bodyPr wrap="none" lIns="0" tIns="0" rIns="0" bIns="0" anchor="t" anchorCtr="0">
              <a:spAutoFit/>
            </a:bodyPr>
            <a:lstStyle/>
            <a:p>
              <a:pPr algn="l"/>
              <a:r>
                <a:rPr lang="en-US" sz="1120" b="1" dirty="0">
                  <a:solidFill>
                    <a:srgbClr val="66706A"/>
                  </a:solidFill>
                  <a:latin typeface="+mn-lt"/>
                  <a:ea typeface="+mn-ea"/>
                  <a:cs typeface="+mn-cs"/>
                </a:rPr>
                <a:t>NỀN TẢNG THIẾT KẾ CHUNG</a:t>
              </a:r>
            </a:p>
          </p:txBody>
        </p:sp>
        <p:sp>
          <p:nvSpPr>
            <p:cNvPr id="30" name="Line 30"/>
            <p:cNvSpPr/>
            <p:nvPr/>
          </p:nvSpPr>
          <p:spPr>
            <a:xfrm>
              <a:off x="533400" y="4876800"/>
              <a:ext cx="11125200" cy="9525"/>
            </a:xfrm>
            <a:custGeom>
              <a:avLst/>
              <a:gdLst/>
              <a:ahLst/>
              <a:cxnLst/>
              <a:rect l="l" t="t" r="r" b="b"/>
              <a:pathLst>
                <a:path w="11125200" h="9525">
                  <a:moveTo>
                    <a:pt x="0" y="0"/>
                  </a:moveTo>
                  <a:lnTo>
                    <a:pt x="11125200" y="0"/>
                  </a:lnTo>
                </a:path>
              </a:pathLst>
            </a:custGeom>
            <a:noFill/>
            <a:ln w="19050">
              <a:solidFill>
                <a:srgbClr val="D7E4DD"/>
              </a:solidFill>
            </a:ln>
          </p:spPr>
        </p:sp>
        <p:sp>
          <p:nvSpPr>
            <p:cNvPr id="31" name="Ellipse 31"/>
            <p:cNvSpPr/>
            <p:nvPr/>
          </p:nvSpPr>
          <p:spPr>
            <a:xfrm>
              <a:off x="1333500" y="4991100"/>
              <a:ext cx="457200" cy="457200"/>
            </a:xfrm>
            <a:prstGeom prst="ellipse">
              <a:avLst/>
            </a:prstGeom>
            <a:solidFill>
              <a:schemeClr val="accent1"/>
            </a:solidFill>
            <a:ln>
              <a:noFill/>
            </a:ln>
          </p:spPr>
        </p:sp>
        <p:sp>
          <p:nvSpPr>
            <p:cNvPr id="32" name="TextBox 32"/>
            <p:cNvSpPr txBox="1"/>
            <p:nvPr/>
          </p:nvSpPr>
          <p:spPr>
            <a:xfrm>
              <a:off x="1505867" y="5148739"/>
              <a:ext cx="11246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1</a:t>
              </a:r>
            </a:p>
          </p:txBody>
        </p:sp>
        <p:sp>
          <p:nvSpPr>
            <p:cNvPr id="33" name="TextBox 33"/>
            <p:cNvSpPr txBox="1"/>
            <p:nvPr/>
          </p:nvSpPr>
          <p:spPr>
            <a:xfrm>
              <a:off x="1935861" y="5123021"/>
              <a:ext cx="135612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Nhận cấu hình</a:t>
              </a:r>
            </a:p>
          </p:txBody>
        </p:sp>
        <p:sp>
          <p:nvSpPr>
            <p:cNvPr id="34" name="Ellipse 34"/>
            <p:cNvSpPr/>
            <p:nvPr/>
          </p:nvSpPr>
          <p:spPr>
            <a:xfrm>
              <a:off x="4229100" y="4991100"/>
              <a:ext cx="457200" cy="457200"/>
            </a:xfrm>
            <a:prstGeom prst="ellipse">
              <a:avLst/>
            </a:prstGeom>
            <a:solidFill>
              <a:schemeClr val="accent1"/>
            </a:solidFill>
            <a:ln>
              <a:noFill/>
            </a:ln>
          </p:spPr>
        </p:sp>
        <p:sp>
          <p:nvSpPr>
            <p:cNvPr id="35" name="TextBox 35"/>
            <p:cNvSpPr txBox="1"/>
            <p:nvPr/>
          </p:nvSpPr>
          <p:spPr>
            <a:xfrm>
              <a:off x="4401467" y="5148739"/>
              <a:ext cx="11246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2</a:t>
              </a:r>
            </a:p>
          </p:txBody>
        </p:sp>
        <p:sp>
          <p:nvSpPr>
            <p:cNvPr id="36" name="TextBox 36"/>
            <p:cNvSpPr txBox="1"/>
            <p:nvPr/>
          </p:nvSpPr>
          <p:spPr>
            <a:xfrm>
              <a:off x="4831461" y="5123021"/>
              <a:ext cx="170687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Giao tiếp thiết bị</a:t>
              </a:r>
            </a:p>
          </p:txBody>
        </p:sp>
        <p:sp>
          <p:nvSpPr>
            <p:cNvPr id="37" name="Ellipse 37"/>
            <p:cNvSpPr/>
            <p:nvPr/>
          </p:nvSpPr>
          <p:spPr>
            <a:xfrm>
              <a:off x="7353300" y="4991100"/>
              <a:ext cx="457200" cy="457200"/>
            </a:xfrm>
            <a:prstGeom prst="ellipse">
              <a:avLst/>
            </a:prstGeom>
            <a:solidFill>
              <a:schemeClr val="accent1"/>
            </a:solidFill>
            <a:ln>
              <a:noFill/>
            </a:ln>
          </p:spPr>
        </p:sp>
        <p:sp>
          <p:nvSpPr>
            <p:cNvPr id="38" name="TextBox 38"/>
            <p:cNvSpPr txBox="1"/>
            <p:nvPr/>
          </p:nvSpPr>
          <p:spPr>
            <a:xfrm>
              <a:off x="7525667" y="5148739"/>
              <a:ext cx="11246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3</a:t>
              </a:r>
            </a:p>
          </p:txBody>
        </p:sp>
        <p:sp>
          <p:nvSpPr>
            <p:cNvPr id="39" name="TextBox 39"/>
            <p:cNvSpPr txBox="1"/>
            <p:nvPr/>
          </p:nvSpPr>
          <p:spPr>
            <a:xfrm>
              <a:off x="7955661" y="5123021"/>
              <a:ext cx="141736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Nạp &amp; xác nhận</a:t>
              </a:r>
            </a:p>
          </p:txBody>
        </p:sp>
        <p:sp>
          <p:nvSpPr>
            <p:cNvPr id="40" name="Ellipse 40"/>
            <p:cNvSpPr/>
            <p:nvPr/>
          </p:nvSpPr>
          <p:spPr>
            <a:xfrm>
              <a:off x="10096500" y="4991100"/>
              <a:ext cx="457200" cy="457200"/>
            </a:xfrm>
            <a:prstGeom prst="ellipse">
              <a:avLst/>
            </a:prstGeom>
            <a:solidFill>
              <a:schemeClr val="accent2"/>
            </a:solidFill>
            <a:ln>
              <a:noFill/>
            </a:ln>
          </p:spPr>
        </p:sp>
        <p:sp>
          <p:nvSpPr>
            <p:cNvPr id="41" name="TextBox 41"/>
            <p:cNvSpPr txBox="1"/>
            <p:nvPr/>
          </p:nvSpPr>
          <p:spPr>
            <a:xfrm>
              <a:off x="10268867" y="5148739"/>
              <a:ext cx="11246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4</a:t>
              </a:r>
            </a:p>
          </p:txBody>
        </p:sp>
        <p:sp>
          <p:nvSpPr>
            <p:cNvPr id="42" name="TextBox 42"/>
            <p:cNvSpPr txBox="1"/>
            <p:nvPr/>
          </p:nvSpPr>
          <p:spPr>
            <a:xfrm>
              <a:off x="10698861" y="5123021"/>
              <a:ext cx="3519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Log</a:t>
              </a:r>
            </a:p>
          </p:txBody>
        </p:sp>
      </p:grpSp>
      <p:grpSp>
        <p:nvGrpSpPr>
          <p:cNvPr id="46" name="Group 46"/>
          <p:cNvGrpSpPr/>
          <p:nvPr/>
        </p:nvGrpSpPr>
        <p:grpSpPr>
          <a:xfrm>
            <a:off x="526923" y="6044089"/>
            <a:ext cx="7669458" cy="249364"/>
            <a:chOff x="526923" y="6044089"/>
            <a:chExt cx="7669458" cy="249364"/>
          </a:xfrm>
        </p:grpSpPr>
        <p:sp>
          <p:nvSpPr>
            <p:cNvPr id="44" name="TextBox 44"/>
            <p:cNvSpPr txBox="1"/>
            <p:nvPr/>
          </p:nvSpPr>
          <p:spPr>
            <a:xfrm>
              <a:off x="526923" y="6044089"/>
              <a:ext cx="65337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BÀI HỌC</a:t>
              </a:r>
            </a:p>
          </p:txBody>
        </p:sp>
        <p:sp>
          <p:nvSpPr>
            <p:cNvPr id="45" name="TextBox 45"/>
            <p:cNvSpPr txBox="1"/>
            <p:nvPr/>
          </p:nvSpPr>
          <p:spPr>
            <a:xfrm>
              <a:off x="1517523" y="6044089"/>
              <a:ext cx="667885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Interface, acceptance và logging phải được chốt sớm để tool có thể tái sử dụng.</a:t>
              </a:r>
            </a:p>
          </p:txBody>
        </p:sp>
      </p:grpSp>
      <p:sp>
        <p:nvSpPr>
          <p:cNvPr id="47" name="TextBox 47"/>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15 / 23</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grpSp>
        <p:nvGrpSpPr>
          <p:cNvPr id="6" name="Group 6"/>
          <p:cNvGrpSpPr/>
          <p:nvPr/>
        </p:nvGrpSpPr>
        <p:grpSpPr>
          <a:xfrm>
            <a:off x="2462784" y="266700"/>
            <a:ext cx="9157716" cy="617601"/>
            <a:chOff x="2462784" y="266700"/>
            <a:chExt cx="9157716" cy="617601"/>
          </a:xfrm>
        </p:grpSpPr>
        <p:sp>
          <p:nvSpPr>
            <p:cNvPr id="3" name="TextBox 3"/>
            <p:cNvSpPr txBox="1"/>
            <p:nvPr/>
          </p:nvSpPr>
          <p:spPr>
            <a:xfrm>
              <a:off x="2462784" y="356235"/>
              <a:ext cx="7195357"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Tool Design — Tool test nguồn Lumes V2</a:t>
              </a:r>
            </a:p>
          </p:txBody>
        </p:sp>
        <p:sp>
          <p:nvSpPr>
            <p:cNvPr id="4" name="Rectangle 4"/>
            <p:cNvSpPr/>
            <p:nvPr/>
          </p:nvSpPr>
          <p:spPr>
            <a:xfrm>
              <a:off x="9620250" y="266700"/>
              <a:ext cx="2000250" cy="400050"/>
            </a:xfrm>
            <a:prstGeom prst="roundRect">
              <a:avLst>
                <a:gd name="adj" fmla="val 9524"/>
              </a:avLst>
            </a:prstGeom>
            <a:solidFill>
              <a:srgbClr val="EAF6F0"/>
            </a:solidFill>
            <a:ln>
              <a:noFill/>
            </a:ln>
          </p:spPr>
        </p:sp>
        <p:sp>
          <p:nvSpPr>
            <p:cNvPr id="5" name="TextBox 5"/>
            <p:cNvSpPr txBox="1"/>
            <p:nvPr/>
          </p:nvSpPr>
          <p:spPr>
            <a:xfrm>
              <a:off x="9748851" y="386239"/>
              <a:ext cx="1743048"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18/05/2026 · DONE</a:t>
              </a:r>
            </a:p>
          </p:txBody>
        </p:sp>
      </p:grpSp>
      <p:grpSp>
        <p:nvGrpSpPr>
          <p:cNvPr id="11" name="Group 11"/>
          <p:cNvGrpSpPr/>
          <p:nvPr/>
        </p:nvGrpSpPr>
        <p:grpSpPr>
          <a:xfrm>
            <a:off x="533400" y="1104900"/>
            <a:ext cx="6819900" cy="1001839"/>
            <a:chOff x="533400" y="1104900"/>
            <a:chExt cx="6819900" cy="1001839"/>
          </a:xfrm>
        </p:grpSpPr>
        <p:sp>
          <p:nvSpPr>
            <p:cNvPr id="7" name="Rectangle 7"/>
            <p:cNvSpPr/>
            <p:nvPr/>
          </p:nvSpPr>
          <p:spPr>
            <a:xfrm>
              <a:off x="533400" y="1104900"/>
              <a:ext cx="6819900" cy="990600"/>
            </a:xfrm>
            <a:prstGeom prst="roundRect">
              <a:avLst>
                <a:gd name="adj" fmla="val 3846"/>
              </a:avLst>
            </a:prstGeom>
            <a:solidFill>
              <a:schemeClr val="accent1"/>
            </a:solidFill>
            <a:ln>
              <a:noFill/>
            </a:ln>
          </p:spPr>
        </p:sp>
        <p:sp>
          <p:nvSpPr>
            <p:cNvPr id="8" name="TextBox 8"/>
            <p:cNvSpPr txBox="1"/>
            <p:nvPr/>
          </p:nvSpPr>
          <p:spPr>
            <a:xfrm>
              <a:off x="775335" y="1307306"/>
              <a:ext cx="1567080"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MỤC TIÊU CÔNG ĐOẠN</a:t>
              </a:r>
            </a:p>
          </p:txBody>
        </p:sp>
        <p:sp>
          <p:nvSpPr>
            <p:cNvPr id="9" name="TextBox 9"/>
            <p:cNvSpPr txBox="1"/>
            <p:nvPr/>
          </p:nvSpPr>
          <p:spPr>
            <a:xfrm>
              <a:off x="772668" y="1517332"/>
              <a:ext cx="5132513"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Kiểm tra nguồn ổn định trước khi chuyển sang</a:t>
              </a:r>
            </a:p>
          </p:txBody>
        </p:sp>
        <p:sp>
          <p:nvSpPr>
            <p:cNvPr id="10" name="TextBox 10"/>
            <p:cNvSpPr txBox="1"/>
            <p:nvPr/>
          </p:nvSpPr>
          <p:spPr>
            <a:xfrm>
              <a:off x="772668" y="1784032"/>
              <a:ext cx="1696014"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bước nạp code.</a:t>
              </a:r>
            </a:p>
          </p:txBody>
        </p:sp>
      </p:grpSp>
      <p:grpSp>
        <p:nvGrpSpPr>
          <p:cNvPr id="18" name="Group 18"/>
          <p:cNvGrpSpPr/>
          <p:nvPr/>
        </p:nvGrpSpPr>
        <p:grpSpPr>
          <a:xfrm>
            <a:off x="7658100" y="1104900"/>
            <a:ext cx="4000500" cy="4648200"/>
            <a:chOff x="7658100" y="1104900"/>
            <a:chExt cx="4000500" cy="4648200"/>
          </a:xfrm>
        </p:grpSpPr>
        <p:sp>
          <p:nvSpPr>
            <p:cNvPr id="12" name="Rectangle 12"/>
            <p:cNvSpPr/>
            <p:nvPr/>
          </p:nvSpPr>
          <p:spPr>
            <a:xfrm>
              <a:off x="7658100" y="1104900"/>
              <a:ext cx="4000500" cy="4648200"/>
            </a:xfrm>
            <a:prstGeom prst="roundRect">
              <a:avLst>
                <a:gd name="adj" fmla="val 952"/>
              </a:avLst>
            </a:prstGeom>
            <a:solidFill>
              <a:schemeClr val="lt2"/>
            </a:solidFill>
            <a:ln>
              <a:noFill/>
            </a:ln>
          </p:spPr>
        </p:sp>
        <p:pic>
          <p:nvPicPr>
            <p:cNvPr id="13" name="Image 13"/>
            <p:cNvPicPr>
              <a:picLocks noChangeAspect="1"/>
            </p:cNvPicPr>
            <p:nvPr/>
          </p:nvPicPr>
          <p:blipFill>
            <a:blip r:embed="rId3"/>
            <a:stretch>
              <a:fillRect/>
            </a:stretch>
          </p:blipFill>
          <p:spPr>
            <a:xfrm>
              <a:off x="7848600" y="1351545"/>
              <a:ext cx="3619500" cy="3202409"/>
            </a:xfrm>
            <a:prstGeom prst="rect">
              <a:avLst/>
            </a:prstGeom>
          </p:spPr>
        </p:pic>
        <p:sp>
          <p:nvSpPr>
            <p:cNvPr id="14" name="Line 14"/>
            <p:cNvSpPr/>
            <p:nvPr/>
          </p:nvSpPr>
          <p:spPr>
            <a:xfrm>
              <a:off x="7848600" y="4762500"/>
              <a:ext cx="3619500" cy="9525"/>
            </a:xfrm>
            <a:custGeom>
              <a:avLst/>
              <a:gdLst/>
              <a:ahLst/>
              <a:cxnLst/>
              <a:rect l="l" t="t" r="r" b="b"/>
              <a:pathLst>
                <a:path w="3619500" h="9525">
                  <a:moveTo>
                    <a:pt x="0" y="0"/>
                  </a:moveTo>
                  <a:lnTo>
                    <a:pt x="3619500" y="0"/>
                  </a:lnTo>
                </a:path>
              </a:pathLst>
            </a:custGeom>
            <a:noFill/>
            <a:ln w="19050">
              <a:solidFill>
                <a:srgbClr val="B8D8C7"/>
              </a:solidFill>
            </a:ln>
          </p:spPr>
        </p:sp>
        <p:sp>
          <p:nvSpPr>
            <p:cNvPr id="15" name="TextBox 15"/>
            <p:cNvSpPr txBox="1"/>
            <p:nvPr/>
          </p:nvSpPr>
          <p:spPr>
            <a:xfrm>
              <a:off x="7842885" y="4945856"/>
              <a:ext cx="1483443"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NGỮ CẢNH SẢN PHẨM</a:t>
              </a:r>
            </a:p>
          </p:txBody>
        </p:sp>
        <p:sp>
          <p:nvSpPr>
            <p:cNvPr id="16" name="TextBox 16"/>
            <p:cNvSpPr txBox="1"/>
            <p:nvPr/>
          </p:nvSpPr>
          <p:spPr>
            <a:xfrm>
              <a:off x="7841361" y="5227796"/>
              <a:ext cx="283714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Mạch main công tắc Lumes V2</a:t>
              </a:r>
            </a:p>
          </p:txBody>
        </p:sp>
        <p:sp>
          <p:nvSpPr>
            <p:cNvPr id="17" name="TextBox 17"/>
            <p:cNvSpPr txBox="1"/>
            <p:nvPr/>
          </p:nvSpPr>
          <p:spPr>
            <a:xfrm>
              <a:off x="7842123" y="5472589"/>
              <a:ext cx="2339004" cy="249364"/>
            </a:xfrm>
            <a:prstGeom prst="rect">
              <a:avLst/>
            </a:prstGeom>
            <a:noFill/>
            <a:ln>
              <a:noFill/>
            </a:ln>
          </p:spPr>
          <p:txBody>
            <a:bodyPr wrap="none" lIns="0" tIns="0" rIns="0" bIns="0" anchor="t" anchorCtr="0">
              <a:spAutoFit/>
            </a:bodyPr>
            <a:lstStyle/>
            <a:p>
              <a:pPr algn="l"/>
              <a:r>
                <a:rPr lang="en-US" sz="1280" dirty="0">
                  <a:solidFill>
                    <a:srgbClr val="66706A"/>
                  </a:solidFill>
                  <a:latin typeface="+mn-lt"/>
                  <a:ea typeface="+mn-ea"/>
                  <a:cs typeface="+mn-cs"/>
                </a:rPr>
                <a:t>Tool thuộc dự án Tool Design</a:t>
              </a:r>
            </a:p>
          </p:txBody>
        </p:sp>
      </p:grpSp>
      <p:grpSp>
        <p:nvGrpSpPr>
          <p:cNvPr id="23" name="Group 23"/>
          <p:cNvGrpSpPr/>
          <p:nvPr/>
        </p:nvGrpSpPr>
        <p:grpSpPr>
          <a:xfrm>
            <a:off x="526161" y="2491264"/>
            <a:ext cx="2936833" cy="1272159"/>
            <a:chOff x="526161" y="2491264"/>
            <a:chExt cx="2936833" cy="1272159"/>
          </a:xfrm>
        </p:grpSpPr>
        <p:sp>
          <p:nvSpPr>
            <p:cNvPr id="19" name="TextBox 19"/>
            <p:cNvSpPr txBox="1"/>
            <p:nvPr/>
          </p:nvSpPr>
          <p:spPr>
            <a:xfrm>
              <a:off x="526923" y="2491264"/>
              <a:ext cx="180995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CÔNG VIỆC &amp; KẾT QUẢ</a:t>
              </a:r>
            </a:p>
          </p:txBody>
        </p:sp>
        <p:sp>
          <p:nvSpPr>
            <p:cNvPr id="20" name="TextBox 20"/>
            <p:cNvSpPr txBox="1"/>
            <p:nvPr/>
          </p:nvSpPr>
          <p:spPr>
            <a:xfrm>
              <a:off x="526161" y="2837021"/>
              <a:ext cx="198062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Dev tool test nguồn</a:t>
              </a:r>
            </a:p>
          </p:txBody>
        </p:sp>
        <p:sp>
          <p:nvSpPr>
            <p:cNvPr id="21" name="TextBox 21"/>
            <p:cNvSpPr txBox="1"/>
            <p:nvPr/>
          </p:nvSpPr>
          <p:spPr>
            <a:xfrm>
              <a:off x="526161" y="3160871"/>
              <a:ext cx="2688302"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Kiểm tra theo flow nhà máy</a:t>
              </a:r>
            </a:p>
          </p:txBody>
        </p:sp>
        <p:sp>
          <p:nvSpPr>
            <p:cNvPr id="22" name="TextBox 22"/>
            <p:cNvSpPr txBox="1"/>
            <p:nvPr/>
          </p:nvSpPr>
          <p:spPr>
            <a:xfrm>
              <a:off x="526161" y="3484721"/>
              <a:ext cx="2936833"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Hoàn thành và xác nhận đầu ra</a:t>
              </a:r>
            </a:p>
          </p:txBody>
        </p:sp>
      </p:grpSp>
      <p:grpSp>
        <p:nvGrpSpPr>
          <p:cNvPr id="28" name="Group 28"/>
          <p:cNvGrpSpPr/>
          <p:nvPr/>
        </p:nvGrpSpPr>
        <p:grpSpPr>
          <a:xfrm>
            <a:off x="4031361" y="2491264"/>
            <a:ext cx="2821854" cy="1272159"/>
            <a:chOff x="4031361" y="2491264"/>
            <a:chExt cx="2821854" cy="1272159"/>
          </a:xfrm>
        </p:grpSpPr>
        <p:sp>
          <p:nvSpPr>
            <p:cNvPr id="24" name="TextBox 24"/>
            <p:cNvSpPr txBox="1"/>
            <p:nvPr/>
          </p:nvSpPr>
          <p:spPr>
            <a:xfrm>
              <a:off x="4032123" y="2491264"/>
              <a:ext cx="701168"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KỸ NĂNG</a:t>
              </a:r>
            </a:p>
          </p:txBody>
        </p:sp>
        <p:sp>
          <p:nvSpPr>
            <p:cNvPr id="25" name="TextBox 25"/>
            <p:cNvSpPr txBox="1"/>
            <p:nvPr/>
          </p:nvSpPr>
          <p:spPr>
            <a:xfrm>
              <a:off x="4031361" y="2837021"/>
              <a:ext cx="2774237"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Đo nguồn và xác nhận ngưỡng</a:t>
              </a:r>
            </a:p>
          </p:txBody>
        </p:sp>
        <p:sp>
          <p:nvSpPr>
            <p:cNvPr id="26" name="TextBox 26"/>
            <p:cNvSpPr txBox="1"/>
            <p:nvPr/>
          </p:nvSpPr>
          <p:spPr>
            <a:xfrm>
              <a:off x="4031361" y="3160871"/>
              <a:ext cx="227714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Tích hợp với mạch main</a:t>
              </a:r>
            </a:p>
          </p:txBody>
        </p:sp>
        <p:sp>
          <p:nvSpPr>
            <p:cNvPr id="27" name="TextBox 27"/>
            <p:cNvSpPr txBox="1"/>
            <p:nvPr/>
          </p:nvSpPr>
          <p:spPr>
            <a:xfrm>
              <a:off x="4031361" y="3484721"/>
              <a:ext cx="282185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Chuẩn hóa thao tác operator</a:t>
              </a:r>
            </a:p>
          </p:txBody>
        </p:sp>
      </p:grpSp>
      <p:grpSp>
        <p:nvGrpSpPr>
          <p:cNvPr id="33" name="Group 33"/>
          <p:cNvGrpSpPr/>
          <p:nvPr/>
        </p:nvGrpSpPr>
        <p:grpSpPr>
          <a:xfrm>
            <a:off x="526161" y="4224814"/>
            <a:ext cx="2353488" cy="1272159"/>
            <a:chOff x="526161" y="4224814"/>
            <a:chExt cx="2353488" cy="1272159"/>
          </a:xfrm>
        </p:grpSpPr>
        <p:sp>
          <p:nvSpPr>
            <p:cNvPr id="29" name="TextBox 29"/>
            <p:cNvSpPr txBox="1"/>
            <p:nvPr/>
          </p:nvSpPr>
          <p:spPr>
            <a:xfrm>
              <a:off x="526923" y="4224814"/>
              <a:ext cx="139894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TƯ DUY THIẾT KẾ</a:t>
              </a:r>
            </a:p>
          </p:txBody>
        </p:sp>
        <p:sp>
          <p:nvSpPr>
            <p:cNvPr id="30" name="TextBox 30"/>
            <p:cNvSpPr txBox="1"/>
            <p:nvPr/>
          </p:nvSpPr>
          <p:spPr>
            <a:xfrm>
              <a:off x="526161" y="4570571"/>
              <a:ext cx="219122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Tách test và nạp code</a:t>
              </a:r>
            </a:p>
          </p:txBody>
        </p:sp>
        <p:sp>
          <p:nvSpPr>
            <p:cNvPr id="31" name="TextBox 31"/>
            <p:cNvSpPr txBox="1"/>
            <p:nvPr/>
          </p:nvSpPr>
          <p:spPr>
            <a:xfrm>
              <a:off x="526161" y="4894421"/>
              <a:ext cx="2353488"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Thiết kế theo công đoạn</a:t>
              </a:r>
            </a:p>
          </p:txBody>
        </p:sp>
        <p:sp>
          <p:nvSpPr>
            <p:cNvPr id="32" name="TextBox 32"/>
            <p:cNvSpPr txBox="1"/>
            <p:nvPr/>
          </p:nvSpPr>
          <p:spPr>
            <a:xfrm>
              <a:off x="526161" y="5218271"/>
              <a:ext cx="1913891"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Giảm thao tác thừa</a:t>
              </a:r>
            </a:p>
          </p:txBody>
        </p:sp>
      </p:grpSp>
      <p:grpSp>
        <p:nvGrpSpPr>
          <p:cNvPr id="38" name="Group 38"/>
          <p:cNvGrpSpPr/>
          <p:nvPr/>
        </p:nvGrpSpPr>
        <p:grpSpPr>
          <a:xfrm>
            <a:off x="4031361" y="4224814"/>
            <a:ext cx="3061097" cy="1272159"/>
            <a:chOff x="4031361" y="4224814"/>
            <a:chExt cx="3061097" cy="1272159"/>
          </a:xfrm>
        </p:grpSpPr>
        <p:sp>
          <p:nvSpPr>
            <p:cNvPr id="34" name="TextBox 34"/>
            <p:cNvSpPr txBox="1"/>
            <p:nvPr/>
          </p:nvSpPr>
          <p:spPr>
            <a:xfrm>
              <a:off x="4032123" y="4224814"/>
              <a:ext cx="1666579" cy="249364"/>
            </a:xfrm>
            <a:prstGeom prst="rect">
              <a:avLst/>
            </a:prstGeom>
            <a:noFill/>
            <a:ln>
              <a:noFill/>
            </a:ln>
          </p:spPr>
          <p:txBody>
            <a:bodyPr wrap="none" lIns="0" tIns="0" rIns="0" bIns="0" anchor="t" anchorCtr="0">
              <a:spAutoFit/>
            </a:bodyPr>
            <a:lstStyle/>
            <a:p>
              <a:pPr algn="l"/>
              <a:r>
                <a:rPr lang="en-US" sz="1280" b="1" dirty="0">
                  <a:solidFill>
                    <a:srgbClr val="B56A00"/>
                  </a:solidFill>
                  <a:latin typeface="+mn-lt"/>
                  <a:ea typeface="+mn-ea"/>
                  <a:cs typeface="+mn-cs"/>
                </a:rPr>
                <a:t>BÀI HỌC &amp; KHÓ KHĂN</a:t>
              </a:r>
            </a:p>
          </p:txBody>
        </p:sp>
        <p:sp>
          <p:nvSpPr>
            <p:cNvPr id="35" name="TextBox 35"/>
            <p:cNvSpPr txBox="1"/>
            <p:nvPr/>
          </p:nvSpPr>
          <p:spPr>
            <a:xfrm>
              <a:off x="4031361" y="4570571"/>
              <a:ext cx="3061097"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Xác nhận tương thích mạch sớm</a:t>
              </a:r>
            </a:p>
          </p:txBody>
        </p:sp>
        <p:sp>
          <p:nvSpPr>
            <p:cNvPr id="36" name="TextBox 36"/>
            <p:cNvSpPr txBox="1"/>
            <p:nvPr/>
          </p:nvSpPr>
          <p:spPr>
            <a:xfrm>
              <a:off x="4031361" y="4894421"/>
              <a:ext cx="2764365"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Fixture cần được kiểm chứng</a:t>
              </a:r>
            </a:p>
          </p:txBody>
        </p:sp>
        <p:sp>
          <p:nvSpPr>
            <p:cNvPr id="37" name="TextBox 37"/>
            <p:cNvSpPr txBox="1"/>
            <p:nvPr/>
          </p:nvSpPr>
          <p:spPr>
            <a:xfrm>
              <a:off x="4031361" y="5218271"/>
              <a:ext cx="2401089"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Acceptance phải rõ ràng</a:t>
              </a:r>
            </a:p>
          </p:txBody>
        </p:sp>
      </p:grpSp>
      <p:grpSp>
        <p:nvGrpSpPr>
          <p:cNvPr id="41" name="Group 41"/>
          <p:cNvGrpSpPr/>
          <p:nvPr/>
        </p:nvGrpSpPr>
        <p:grpSpPr>
          <a:xfrm>
            <a:off x="526923" y="6044089"/>
            <a:ext cx="8103217" cy="249364"/>
            <a:chOff x="526923" y="6044089"/>
            <a:chExt cx="8103217" cy="249364"/>
          </a:xfrm>
        </p:grpSpPr>
        <p:sp>
          <p:nvSpPr>
            <p:cNvPr id="39" name="TextBox 39"/>
            <p:cNvSpPr txBox="1"/>
            <p:nvPr/>
          </p:nvSpPr>
          <p:spPr>
            <a:xfrm>
              <a:off x="526923" y="6044089"/>
              <a:ext cx="1016599"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THÀNH TÍCH</a:t>
              </a:r>
            </a:p>
          </p:txBody>
        </p:sp>
        <p:sp>
          <p:nvSpPr>
            <p:cNvPr id="40" name="TextBox 40"/>
            <p:cNvSpPr txBox="1"/>
            <p:nvPr/>
          </p:nvSpPr>
          <p:spPr>
            <a:xfrm>
              <a:off x="1727073" y="6044089"/>
              <a:ext cx="690306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Tool test nguồn hoàn thành; flow test và flow loader được tách rõ để dễ vận hành.</a:t>
              </a:r>
            </a:p>
          </p:txBody>
        </p:sp>
      </p:grpSp>
      <p:sp>
        <p:nvSpPr>
          <p:cNvPr id="42" name="TextBox 4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16 / 23</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3771014"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4. Dự án MSB Office</a:t>
            </a:r>
          </a:p>
        </p:txBody>
      </p:sp>
      <p:sp>
        <p:nvSpPr>
          <p:cNvPr id="4" name="Rectangle 4"/>
          <p:cNvSpPr/>
          <p:nvPr/>
        </p:nvSpPr>
        <p:spPr>
          <a:xfrm>
            <a:off x="9239250" y="285750"/>
            <a:ext cx="2381250" cy="400050"/>
          </a:xfrm>
          <a:prstGeom prst="roundRect">
            <a:avLst>
              <a:gd name="adj" fmla="val 50000"/>
            </a:avLst>
          </a:prstGeom>
          <a:solidFill>
            <a:srgbClr val="EAF6F0"/>
          </a:solidFill>
          <a:ln>
            <a:noFill/>
          </a:ln>
        </p:spPr>
      </p:sp>
      <p:sp>
        <p:nvSpPr>
          <p:cNvPr id="5" name="TextBox 5"/>
          <p:cNvSpPr txBox="1"/>
          <p:nvPr/>
        </p:nvSpPr>
        <p:spPr>
          <a:xfrm>
            <a:off x="9627309" y="405289"/>
            <a:ext cx="1605132"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07/04–10/04/2026</a:t>
            </a:r>
          </a:p>
        </p:txBody>
      </p:sp>
      <p:grpSp>
        <p:nvGrpSpPr>
          <p:cNvPr id="42" name="Group 42"/>
          <p:cNvGrpSpPr/>
          <p:nvPr/>
        </p:nvGrpSpPr>
        <p:grpSpPr>
          <a:xfrm>
            <a:off x="533400" y="1066800"/>
            <a:ext cx="11125200" cy="4533900"/>
            <a:chOff x="533400" y="1066800"/>
            <a:chExt cx="11125200" cy="4533900"/>
          </a:xfrm>
        </p:grpSpPr>
        <p:grpSp>
          <p:nvGrpSpPr>
            <p:cNvPr id="11" name="Group 11"/>
            <p:cNvGrpSpPr/>
            <p:nvPr/>
          </p:nvGrpSpPr>
          <p:grpSpPr>
            <a:xfrm>
              <a:off x="533400" y="1066800"/>
              <a:ext cx="3429000" cy="2143125"/>
              <a:chOff x="533400" y="1066800"/>
              <a:chExt cx="3429000" cy="2143125"/>
            </a:xfrm>
          </p:grpSpPr>
          <p:sp>
            <p:nvSpPr>
              <p:cNvPr id="6" name="Rectangle 6"/>
              <p:cNvSpPr/>
              <p:nvPr/>
            </p:nvSpPr>
            <p:spPr>
              <a:xfrm>
                <a:off x="533400" y="1066800"/>
                <a:ext cx="3429000" cy="2143125"/>
              </a:xfrm>
              <a:prstGeom prst="roundRect">
                <a:avLst>
                  <a:gd name="adj" fmla="val 7111"/>
                </a:avLst>
              </a:prstGeom>
              <a:solidFill>
                <a:schemeClr val="lt2"/>
              </a:solidFill>
              <a:ln>
                <a:noFill/>
              </a:ln>
            </p:spPr>
          </p:sp>
          <p:sp>
            <p:nvSpPr>
              <p:cNvPr id="7" name="TextBox 7"/>
              <p:cNvSpPr txBox="1"/>
              <p:nvPr/>
            </p:nvSpPr>
            <p:spPr>
              <a:xfrm>
                <a:off x="773811" y="1284446"/>
                <a:ext cx="1605077"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CÔNG VIỆC CHÍNH</a:t>
                </a:r>
              </a:p>
            </p:txBody>
          </p:sp>
          <p:sp>
            <p:nvSpPr>
              <p:cNvPr id="8" name="TextBox 8"/>
              <p:cNvSpPr txBox="1"/>
              <p:nvPr/>
            </p:nvSpPr>
            <p:spPr>
              <a:xfrm>
                <a:off x="774192" y="1664018"/>
                <a:ext cx="206404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Fix lỗi đo sai năng lượng</a:t>
                </a:r>
              </a:p>
            </p:txBody>
          </p:sp>
          <p:sp>
            <p:nvSpPr>
              <p:cNvPr id="9" name="TextBox 9"/>
              <p:cNvSpPr txBox="1"/>
              <p:nvPr/>
            </p:nvSpPr>
            <p:spPr>
              <a:xfrm>
                <a:off x="774192" y="1959292"/>
                <a:ext cx="213442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Kiểm tra Jig tại nhà máy</a:t>
                </a:r>
              </a:p>
            </p:txBody>
          </p:sp>
          <p:sp>
            <p:nvSpPr>
              <p:cNvPr id="10" name="TextBox 10"/>
              <p:cNvSpPr txBox="1"/>
              <p:nvPr/>
            </p:nvSpPr>
            <p:spPr>
              <a:xfrm>
                <a:off x="774192" y="2254568"/>
                <a:ext cx="236415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Đối chiếu dữ liệu đo thực tế</a:t>
                </a:r>
              </a:p>
            </p:txBody>
          </p:sp>
        </p:grpSp>
        <p:grpSp>
          <p:nvGrpSpPr>
            <p:cNvPr id="17" name="Group 17"/>
            <p:cNvGrpSpPr/>
            <p:nvPr/>
          </p:nvGrpSpPr>
          <p:grpSpPr>
            <a:xfrm>
              <a:off x="4210050" y="1066800"/>
              <a:ext cx="3429000" cy="2143125"/>
              <a:chOff x="4210050" y="1066800"/>
              <a:chExt cx="3429000" cy="2143125"/>
            </a:xfrm>
          </p:grpSpPr>
          <p:sp>
            <p:nvSpPr>
              <p:cNvPr id="12" name="Rectangle 12"/>
              <p:cNvSpPr/>
              <p:nvPr/>
            </p:nvSpPr>
            <p:spPr>
              <a:xfrm>
                <a:off x="4210050" y="1066800"/>
                <a:ext cx="3429000" cy="2143125"/>
              </a:xfrm>
              <a:prstGeom prst="roundRect">
                <a:avLst>
                  <a:gd name="adj" fmla="val 7111"/>
                </a:avLst>
              </a:prstGeom>
              <a:solidFill>
                <a:srgbClr val="EAF6F0"/>
              </a:solidFill>
              <a:ln>
                <a:noFill/>
              </a:ln>
            </p:spPr>
          </p:sp>
          <p:sp>
            <p:nvSpPr>
              <p:cNvPr id="13" name="TextBox 13"/>
              <p:cNvSpPr txBox="1"/>
              <p:nvPr/>
            </p:nvSpPr>
            <p:spPr>
              <a:xfrm>
                <a:off x="4450461" y="1284446"/>
                <a:ext cx="82038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KẾT QUẢ</a:t>
                </a:r>
              </a:p>
            </p:txBody>
          </p:sp>
          <p:sp>
            <p:nvSpPr>
              <p:cNvPr id="14" name="TextBox 14"/>
              <p:cNvSpPr txBox="1"/>
              <p:nvPr/>
            </p:nvSpPr>
            <p:spPr>
              <a:xfrm>
                <a:off x="4450842" y="1664018"/>
                <a:ext cx="200999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Lỗi đo sai đã được xử lý</a:t>
                </a:r>
              </a:p>
            </p:txBody>
          </p:sp>
          <p:sp>
            <p:nvSpPr>
              <p:cNvPr id="15" name="TextBox 15"/>
              <p:cNvSpPr txBox="1"/>
              <p:nvPr/>
            </p:nvSpPr>
            <p:spPr>
              <a:xfrm>
                <a:off x="4450842" y="1959292"/>
                <a:ext cx="102949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1 task Done</a:t>
                </a:r>
              </a:p>
            </p:txBody>
          </p:sp>
          <p:sp>
            <p:nvSpPr>
              <p:cNvPr id="16" name="TextBox 16"/>
              <p:cNvSpPr txBox="1"/>
              <p:nvPr/>
            </p:nvSpPr>
            <p:spPr>
              <a:xfrm>
                <a:off x="4450842" y="2254568"/>
                <a:ext cx="30915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1 task Ongoing cần đóng trạng thái</a:t>
                </a:r>
              </a:p>
            </p:txBody>
          </p:sp>
        </p:grpSp>
        <p:grpSp>
          <p:nvGrpSpPr>
            <p:cNvPr id="23" name="Group 23"/>
            <p:cNvGrpSpPr/>
            <p:nvPr/>
          </p:nvGrpSpPr>
          <p:grpSpPr>
            <a:xfrm>
              <a:off x="7886700" y="1066800"/>
              <a:ext cx="3771900" cy="2143125"/>
              <a:chOff x="7886700" y="1066800"/>
              <a:chExt cx="3771900" cy="2143125"/>
            </a:xfrm>
          </p:grpSpPr>
          <p:sp>
            <p:nvSpPr>
              <p:cNvPr id="18" name="Rectangle 18"/>
              <p:cNvSpPr/>
              <p:nvPr/>
            </p:nvSpPr>
            <p:spPr>
              <a:xfrm>
                <a:off x="7886700" y="1066800"/>
                <a:ext cx="3771900" cy="2143125"/>
              </a:xfrm>
              <a:prstGeom prst="roundRect">
                <a:avLst>
                  <a:gd name="adj" fmla="val 7111"/>
                </a:avLst>
              </a:prstGeom>
              <a:solidFill>
                <a:schemeClr val="lt2"/>
              </a:solidFill>
              <a:ln>
                <a:noFill/>
              </a:ln>
            </p:spPr>
          </p:sp>
          <p:sp>
            <p:nvSpPr>
              <p:cNvPr id="19" name="TextBox 19"/>
              <p:cNvSpPr txBox="1"/>
              <p:nvPr/>
            </p:nvSpPr>
            <p:spPr>
              <a:xfrm>
                <a:off x="8127111" y="1284446"/>
                <a:ext cx="77796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KỸ NĂNG</a:t>
                </a:r>
              </a:p>
            </p:txBody>
          </p:sp>
          <p:sp>
            <p:nvSpPr>
              <p:cNvPr id="20" name="TextBox 20"/>
              <p:cNvSpPr txBox="1"/>
              <p:nvPr/>
            </p:nvSpPr>
            <p:spPr>
              <a:xfrm>
                <a:off x="8127492" y="1664018"/>
                <a:ext cx="19461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Đo lường và hiệu chuẩn</a:t>
                </a:r>
              </a:p>
            </p:txBody>
          </p:sp>
          <p:sp>
            <p:nvSpPr>
              <p:cNvPr id="21" name="TextBox 21"/>
              <p:cNvSpPr txBox="1"/>
              <p:nvPr/>
            </p:nvSpPr>
            <p:spPr>
              <a:xfrm>
                <a:off x="8127492" y="1959292"/>
                <a:ext cx="195224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Debug Jig tại thực địa</a:t>
                </a:r>
              </a:p>
            </p:txBody>
          </p:sp>
          <p:sp>
            <p:nvSpPr>
              <p:cNvPr id="22" name="TextBox 22"/>
              <p:cNvSpPr txBox="1"/>
              <p:nvPr/>
            </p:nvSpPr>
            <p:spPr>
              <a:xfrm>
                <a:off x="8127492" y="2254568"/>
                <a:ext cx="220955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Phân tích sai lệch dữ liệu</a:t>
                </a:r>
              </a:p>
            </p:txBody>
          </p:sp>
        </p:grpSp>
        <p:grpSp>
          <p:nvGrpSpPr>
            <p:cNvPr id="29" name="Group 29"/>
            <p:cNvGrpSpPr/>
            <p:nvPr/>
          </p:nvGrpSpPr>
          <p:grpSpPr>
            <a:xfrm>
              <a:off x="533400" y="3457575"/>
              <a:ext cx="3429000" cy="2143125"/>
              <a:chOff x="533400" y="3457575"/>
              <a:chExt cx="3429000" cy="2143125"/>
            </a:xfrm>
          </p:grpSpPr>
          <p:sp>
            <p:nvSpPr>
              <p:cNvPr id="24" name="Rectangle 24"/>
              <p:cNvSpPr/>
              <p:nvPr/>
            </p:nvSpPr>
            <p:spPr>
              <a:xfrm>
                <a:off x="533400" y="3457575"/>
                <a:ext cx="3429000" cy="2143125"/>
              </a:xfrm>
              <a:prstGeom prst="roundRect">
                <a:avLst>
                  <a:gd name="adj" fmla="val 7111"/>
                </a:avLst>
              </a:prstGeom>
              <a:solidFill>
                <a:srgbClr val="EEF3FF"/>
              </a:solidFill>
              <a:ln>
                <a:noFill/>
              </a:ln>
            </p:spPr>
          </p:sp>
          <p:sp>
            <p:nvSpPr>
              <p:cNvPr id="25" name="TextBox 25"/>
              <p:cNvSpPr txBox="1"/>
              <p:nvPr/>
            </p:nvSpPr>
            <p:spPr>
              <a:xfrm>
                <a:off x="773811" y="3675221"/>
                <a:ext cx="661322"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TƯ DUY</a:t>
                </a:r>
              </a:p>
            </p:txBody>
          </p:sp>
          <p:sp>
            <p:nvSpPr>
              <p:cNvPr id="26" name="TextBox 26"/>
              <p:cNvSpPr txBox="1"/>
              <p:nvPr/>
            </p:nvSpPr>
            <p:spPr>
              <a:xfrm>
                <a:off x="774192" y="4054792"/>
                <a:ext cx="31094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Dựa trên dữ liệu thay vì phỏng đoán</a:t>
                </a:r>
              </a:p>
            </p:txBody>
          </p:sp>
          <p:sp>
            <p:nvSpPr>
              <p:cNvPr id="27" name="TextBox 27"/>
              <p:cNvSpPr txBox="1"/>
              <p:nvPr/>
            </p:nvSpPr>
            <p:spPr>
              <a:xfrm>
                <a:off x="774192" y="4350068"/>
                <a:ext cx="229185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So sánh chuẩn–đo–sai lệch</a:t>
                </a:r>
              </a:p>
            </p:txBody>
          </p:sp>
          <p:sp>
            <p:nvSpPr>
              <p:cNvPr id="28" name="TextBox 28"/>
              <p:cNvSpPr txBox="1"/>
              <p:nvPr/>
            </p:nvSpPr>
            <p:spPr>
              <a:xfrm>
                <a:off x="774192" y="4645342"/>
                <a:ext cx="253696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Xác nhận tại môi trường thật</a:t>
                </a:r>
              </a:p>
            </p:txBody>
          </p:sp>
        </p:grpSp>
        <p:grpSp>
          <p:nvGrpSpPr>
            <p:cNvPr id="35" name="Group 35"/>
            <p:cNvGrpSpPr/>
            <p:nvPr/>
          </p:nvGrpSpPr>
          <p:grpSpPr>
            <a:xfrm>
              <a:off x="4210050" y="3457575"/>
              <a:ext cx="3429000" cy="2143125"/>
              <a:chOff x="4210050" y="3457575"/>
              <a:chExt cx="3429000" cy="2143125"/>
            </a:xfrm>
          </p:grpSpPr>
          <p:sp>
            <p:nvSpPr>
              <p:cNvPr id="30" name="Rectangle 30"/>
              <p:cNvSpPr/>
              <p:nvPr/>
            </p:nvSpPr>
            <p:spPr>
              <a:xfrm>
                <a:off x="4210050" y="3457575"/>
                <a:ext cx="3429000" cy="2143125"/>
              </a:xfrm>
              <a:prstGeom prst="roundRect">
                <a:avLst>
                  <a:gd name="adj" fmla="val 7111"/>
                </a:avLst>
              </a:prstGeom>
              <a:solidFill>
                <a:srgbClr val="FFF7E8"/>
              </a:solidFill>
              <a:ln>
                <a:noFill/>
              </a:ln>
            </p:spPr>
          </p:sp>
          <p:sp>
            <p:nvSpPr>
              <p:cNvPr id="31" name="TextBox 31"/>
              <p:cNvSpPr txBox="1"/>
              <p:nvPr/>
            </p:nvSpPr>
            <p:spPr>
              <a:xfrm>
                <a:off x="4450461" y="3675221"/>
                <a:ext cx="1848969" cy="278702"/>
              </a:xfrm>
              <a:prstGeom prst="rect">
                <a:avLst/>
              </a:prstGeom>
              <a:noFill/>
              <a:ln>
                <a:noFill/>
              </a:ln>
            </p:spPr>
            <p:txBody>
              <a:bodyPr wrap="none" lIns="0" tIns="0" rIns="0" bIns="0" anchor="t" anchorCtr="0">
                <a:spAutoFit/>
              </a:bodyPr>
              <a:lstStyle/>
              <a:p>
                <a:pPr algn="l"/>
                <a:r>
                  <a:rPr lang="en-US" sz="1420" b="1" dirty="0">
                    <a:solidFill>
                      <a:srgbClr val="B56A00"/>
                    </a:solidFill>
                    <a:latin typeface="+mn-lt"/>
                    <a:ea typeface="+mn-ea"/>
                    <a:cs typeface="+mn-cs"/>
                  </a:rPr>
                  <a:t>BÀI HỌC &amp; KHÓ KHĂN</a:t>
                </a:r>
              </a:p>
            </p:txBody>
          </p:sp>
          <p:sp>
            <p:nvSpPr>
              <p:cNvPr id="32" name="TextBox 32"/>
              <p:cNvSpPr txBox="1"/>
              <p:nvPr/>
            </p:nvSpPr>
            <p:spPr>
              <a:xfrm>
                <a:off x="4450842" y="4054792"/>
                <a:ext cx="301843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Lỗi thực địa khó tái hiện trong lab</a:t>
                </a:r>
              </a:p>
            </p:txBody>
          </p:sp>
          <p:sp>
            <p:nvSpPr>
              <p:cNvPr id="33" name="TextBox 33"/>
              <p:cNvSpPr txBox="1"/>
              <p:nvPr/>
            </p:nvSpPr>
            <p:spPr>
              <a:xfrm>
                <a:off x="4450842" y="4350068"/>
                <a:ext cx="314569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Hiệu chuẩn phải có chuẩn tham chiếu</a:t>
                </a:r>
              </a:p>
            </p:txBody>
          </p:sp>
          <p:sp>
            <p:nvSpPr>
              <p:cNvPr id="34" name="TextBox 34"/>
              <p:cNvSpPr txBox="1"/>
              <p:nvPr/>
            </p:nvSpPr>
            <p:spPr>
              <a:xfrm>
                <a:off x="4450842" y="4645342"/>
                <a:ext cx="270065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Cần đóng trạng thái sau hỗ trợ</a:t>
                </a:r>
              </a:p>
            </p:txBody>
          </p:sp>
        </p:grpSp>
        <p:grpSp>
          <p:nvGrpSpPr>
            <p:cNvPr id="41" name="Group 41"/>
            <p:cNvGrpSpPr/>
            <p:nvPr/>
          </p:nvGrpSpPr>
          <p:grpSpPr>
            <a:xfrm>
              <a:off x="7886700" y="3457575"/>
              <a:ext cx="3771900" cy="2143125"/>
              <a:chOff x="7886700" y="3457575"/>
              <a:chExt cx="3771900" cy="2143125"/>
            </a:xfrm>
          </p:grpSpPr>
          <p:sp>
            <p:nvSpPr>
              <p:cNvPr id="36" name="Rectangle 36"/>
              <p:cNvSpPr/>
              <p:nvPr/>
            </p:nvSpPr>
            <p:spPr>
              <a:xfrm>
                <a:off x="7886700" y="3457575"/>
                <a:ext cx="3771900" cy="2143125"/>
              </a:xfrm>
              <a:prstGeom prst="roundRect">
                <a:avLst>
                  <a:gd name="adj" fmla="val 7111"/>
                </a:avLst>
              </a:prstGeom>
              <a:solidFill>
                <a:schemeClr val="accent1"/>
              </a:solidFill>
              <a:ln>
                <a:noFill/>
              </a:ln>
            </p:spPr>
          </p:sp>
          <p:sp>
            <p:nvSpPr>
              <p:cNvPr id="37" name="TextBox 37"/>
              <p:cNvSpPr txBox="1"/>
              <p:nvPr/>
            </p:nvSpPr>
            <p:spPr>
              <a:xfrm>
                <a:off x="8127111" y="3675221"/>
                <a:ext cx="1901989"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THÀNH TÍCH NỔI BẬT</a:t>
                </a:r>
              </a:p>
            </p:txBody>
          </p:sp>
          <p:sp>
            <p:nvSpPr>
              <p:cNvPr id="38" name="TextBox 38"/>
              <p:cNvSpPr txBox="1"/>
              <p:nvPr/>
            </p:nvSpPr>
            <p:spPr>
              <a:xfrm>
                <a:off x="8125206" y="4168140"/>
                <a:ext cx="1738823"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FIX LỖI ĐO SAI</a:t>
                </a:r>
              </a:p>
            </p:txBody>
          </p:sp>
          <p:sp>
            <p:nvSpPr>
              <p:cNvPr id="39" name="TextBox 39"/>
              <p:cNvSpPr txBox="1"/>
              <p:nvPr/>
            </p:nvSpPr>
            <p:spPr>
              <a:xfrm>
                <a:off x="8127492" y="4559618"/>
                <a:ext cx="2107157"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Năng lượng trên Jig MSB</a:t>
                </a:r>
              </a:p>
            </p:txBody>
          </p:sp>
          <p:pic>
            <p:nvPicPr>
              <p:cNvPr id="40" name="Image 40"/>
              <p:cNvPicPr>
                <a:picLocks noChangeAspect="1"/>
              </p:cNvPicPr>
              <p:nvPr/>
            </p:nvPicPr>
            <p:blipFill>
              <a:blip r:embed="rId3"/>
              <a:srcRect l="23047" t="0" r="23047" b="0"/>
              <a:stretch>
                <a:fillRect/>
              </a:stretch>
            </p:blipFill>
            <p:spPr>
              <a:xfrm>
                <a:off x="10287000" y="4171950"/>
                <a:ext cx="1095375" cy="1143000"/>
              </a:xfrm>
              <a:prstGeom prst="rect">
                <a:avLst/>
              </a:prstGeom>
            </p:spPr>
          </p:pic>
        </p:grpSp>
      </p:grpSp>
      <p:sp>
        <p:nvSpPr>
          <p:cNvPr id="43" name="TextBox 43"/>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17 / 23</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grpSp>
        <p:nvGrpSpPr>
          <p:cNvPr id="6" name="Group 6"/>
          <p:cNvGrpSpPr/>
          <p:nvPr/>
        </p:nvGrpSpPr>
        <p:grpSpPr>
          <a:xfrm>
            <a:off x="2462784" y="266700"/>
            <a:ext cx="9157716" cy="617601"/>
            <a:chOff x="2462784" y="266700"/>
            <a:chExt cx="9157716" cy="617601"/>
          </a:xfrm>
        </p:grpSpPr>
        <p:sp>
          <p:nvSpPr>
            <p:cNvPr id="3" name="TextBox 3"/>
            <p:cNvSpPr txBox="1"/>
            <p:nvPr/>
          </p:nvSpPr>
          <p:spPr>
            <a:xfrm>
              <a:off x="2462784" y="356235"/>
              <a:ext cx="7094604"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Tool Design — Tool test Smart Lighting</a:t>
              </a:r>
            </a:p>
          </p:txBody>
        </p:sp>
        <p:sp>
          <p:nvSpPr>
            <p:cNvPr id="4" name="Rectangle 4"/>
            <p:cNvSpPr/>
            <p:nvPr/>
          </p:nvSpPr>
          <p:spPr>
            <a:xfrm>
              <a:off x="9372600" y="266700"/>
              <a:ext cx="2247900" cy="400050"/>
            </a:xfrm>
            <a:prstGeom prst="roundRect">
              <a:avLst>
                <a:gd name="adj" fmla="val 9524"/>
              </a:avLst>
            </a:prstGeom>
            <a:solidFill>
              <a:srgbClr val="FFF7E8"/>
            </a:solidFill>
            <a:ln>
              <a:noFill/>
            </a:ln>
          </p:spPr>
        </p:sp>
        <p:sp>
          <p:nvSpPr>
            <p:cNvPr id="5" name="TextBox 5"/>
            <p:cNvSpPr txBox="1"/>
            <p:nvPr/>
          </p:nvSpPr>
          <p:spPr>
            <a:xfrm>
              <a:off x="9601130" y="386239"/>
              <a:ext cx="1790840" cy="249364"/>
            </a:xfrm>
            <a:prstGeom prst="rect">
              <a:avLst/>
            </a:prstGeom>
            <a:noFill/>
            <a:ln>
              <a:noFill/>
            </a:ln>
          </p:spPr>
          <p:txBody>
            <a:bodyPr wrap="none" lIns="0" tIns="0" rIns="0" bIns="0" anchor="t" anchorCtr="0">
              <a:spAutoFit/>
            </a:bodyPr>
            <a:lstStyle/>
            <a:p>
              <a:pPr algn="ctr"/>
              <a:r>
                <a:rPr lang="en-US" sz="1280" b="1" dirty="0">
                  <a:solidFill>
                    <a:srgbClr val="B56A00"/>
                  </a:solidFill>
                  <a:latin typeface="+mn-lt"/>
                  <a:ea typeface="+mn-ea"/>
                  <a:cs typeface="+mn-cs"/>
                </a:rPr>
                <a:t>TỪ 20/07 · ONGOING</a:t>
              </a:r>
            </a:p>
          </p:txBody>
        </p:sp>
      </p:grpSp>
      <p:grpSp>
        <p:nvGrpSpPr>
          <p:cNvPr id="11" name="Group 11"/>
          <p:cNvGrpSpPr/>
          <p:nvPr/>
        </p:nvGrpSpPr>
        <p:grpSpPr>
          <a:xfrm>
            <a:off x="533400" y="1066800"/>
            <a:ext cx="11125200" cy="1066800"/>
            <a:chOff x="533400" y="1066800"/>
            <a:chExt cx="11125200" cy="1066800"/>
          </a:xfrm>
        </p:grpSpPr>
        <p:sp>
          <p:nvSpPr>
            <p:cNvPr id="7" name="Rectangle 7"/>
            <p:cNvSpPr/>
            <p:nvPr/>
          </p:nvSpPr>
          <p:spPr>
            <a:xfrm>
              <a:off x="533400" y="1066800"/>
              <a:ext cx="11125200" cy="1066800"/>
            </a:xfrm>
            <a:prstGeom prst="roundRect">
              <a:avLst>
                <a:gd name="adj" fmla="val 3571"/>
              </a:avLst>
            </a:prstGeom>
            <a:solidFill>
              <a:schemeClr val="accent2"/>
            </a:solidFill>
            <a:ln>
              <a:noFill/>
            </a:ln>
          </p:spPr>
        </p:sp>
        <p:sp>
          <p:nvSpPr>
            <p:cNvPr id="8" name="TextBox 8"/>
            <p:cNvSpPr txBox="1"/>
            <p:nvPr/>
          </p:nvSpPr>
          <p:spPr>
            <a:xfrm>
              <a:off x="775335" y="1288256"/>
              <a:ext cx="2294723"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HẠNG MỤC THUỘC TOOL DESIGN</a:t>
              </a:r>
            </a:p>
          </p:txBody>
        </p:sp>
        <p:sp>
          <p:nvSpPr>
            <p:cNvPr id="9" name="TextBox 9"/>
            <p:cNvSpPr txBox="1"/>
            <p:nvPr/>
          </p:nvSpPr>
          <p:spPr>
            <a:xfrm>
              <a:off x="770382" y="1564005"/>
              <a:ext cx="4930785"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n-lt"/>
                  <a:ea typeface="+mn-ea"/>
                  <a:cs typeface="+mn-cs"/>
                </a:rPr>
                <a:t>Driver Deep Dimming &amp; CCT Tunable</a:t>
              </a:r>
            </a:p>
          </p:txBody>
        </p:sp>
        <p:sp>
          <p:nvSpPr>
            <p:cNvPr id="10" name="TextBox 10"/>
            <p:cNvSpPr txBox="1"/>
            <p:nvPr/>
          </p:nvSpPr>
          <p:spPr>
            <a:xfrm>
              <a:off x="8807682" y="1636871"/>
              <a:ext cx="2420007" cy="278702"/>
            </a:xfrm>
            <a:prstGeom prst="rect">
              <a:avLst/>
            </a:prstGeom>
            <a:noFill/>
            <a:ln>
              <a:noFill/>
            </a:ln>
          </p:spPr>
          <p:txBody>
            <a:bodyPr wrap="none" lIns="0" tIns="0" rIns="0" bIns="0" anchor="t" anchorCtr="0">
              <a:spAutoFit/>
            </a:bodyPr>
            <a:lstStyle/>
            <a:p>
              <a:pPr algn="r"/>
              <a:r>
                <a:rPr lang="en-US" sz="1420" dirty="0">
                  <a:solidFill>
                    <a:srgbClr val="FFFFFF"/>
                  </a:solidFill>
                  <a:latin typeface="+mn-lt"/>
                  <a:ea typeface="+mn-ea"/>
                  <a:cs typeface="+mn-cs"/>
                </a:rPr>
                <a:t>Xây nền tool test theo dải</a:t>
              </a:r>
            </a:p>
          </p:txBody>
        </p:sp>
      </p:grpSp>
      <p:grpSp>
        <p:nvGrpSpPr>
          <p:cNvPr id="17" name="Group 17"/>
          <p:cNvGrpSpPr/>
          <p:nvPr/>
        </p:nvGrpSpPr>
        <p:grpSpPr>
          <a:xfrm>
            <a:off x="526161" y="2586514"/>
            <a:ext cx="5226939" cy="1385411"/>
            <a:chOff x="526161" y="2586514"/>
            <a:chExt cx="5226939" cy="1385411"/>
          </a:xfrm>
        </p:grpSpPr>
        <p:sp>
          <p:nvSpPr>
            <p:cNvPr id="12" name="TextBox 12"/>
            <p:cNvSpPr txBox="1"/>
            <p:nvPr/>
          </p:nvSpPr>
          <p:spPr>
            <a:xfrm>
              <a:off x="526923" y="2586514"/>
              <a:ext cx="256508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CÔNG VIỆC &amp; KẾT QUẢ HIỆN TẠI</a:t>
              </a:r>
            </a:p>
          </p:txBody>
        </p:sp>
        <p:sp>
          <p:nvSpPr>
            <p:cNvPr id="13" name="TextBox 13"/>
            <p:cNvSpPr txBox="1"/>
            <p:nvPr/>
          </p:nvSpPr>
          <p:spPr>
            <a:xfrm>
              <a:off x="526161" y="2951321"/>
              <a:ext cx="218163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Xác định phạm vi test</a:t>
              </a:r>
            </a:p>
          </p:txBody>
        </p:sp>
        <p:sp>
          <p:nvSpPr>
            <p:cNvPr id="14" name="TextBox 14"/>
            <p:cNvSpPr txBox="1"/>
            <p:nvPr/>
          </p:nvSpPr>
          <p:spPr>
            <a:xfrm>
              <a:off x="526161" y="3294221"/>
              <a:ext cx="3538757"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Xây dựng nền tool và cấu trúc dữ liệu</a:t>
              </a:r>
            </a:p>
          </p:txBody>
        </p:sp>
        <p:sp>
          <p:nvSpPr>
            <p:cNvPr id="15" name="TextBox 15"/>
            <p:cNvSpPr txBox="1"/>
            <p:nvPr/>
          </p:nvSpPr>
          <p:spPr>
            <a:xfrm>
              <a:off x="526161" y="3637121"/>
              <a:ext cx="3185360"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Chưa có mốc kết thúc chính thức</a:t>
              </a:r>
            </a:p>
          </p:txBody>
        </p:sp>
        <p:sp>
          <p:nvSpPr>
            <p:cNvPr id="16" name="Line 16"/>
            <p:cNvSpPr/>
            <p:nvPr/>
          </p:nvSpPr>
          <p:spPr>
            <a:xfrm>
              <a:off x="533400" y="3962400"/>
              <a:ext cx="5219700" cy="9525"/>
            </a:xfrm>
            <a:custGeom>
              <a:avLst/>
              <a:gdLst/>
              <a:ahLst/>
              <a:cxnLst/>
              <a:rect l="l" t="t" r="r" b="b"/>
              <a:pathLst>
                <a:path w="5219700" h="9525">
                  <a:moveTo>
                    <a:pt x="0" y="0"/>
                  </a:moveTo>
                  <a:lnTo>
                    <a:pt x="5219700" y="0"/>
                  </a:lnTo>
                </a:path>
              </a:pathLst>
            </a:custGeom>
            <a:noFill/>
            <a:ln w="19050">
              <a:solidFill>
                <a:srgbClr val="D7E4DD"/>
              </a:solidFill>
            </a:ln>
          </p:spPr>
        </p:sp>
      </p:grpSp>
      <p:grpSp>
        <p:nvGrpSpPr>
          <p:cNvPr id="23" name="Group 23"/>
          <p:cNvGrpSpPr/>
          <p:nvPr/>
        </p:nvGrpSpPr>
        <p:grpSpPr>
          <a:xfrm>
            <a:off x="6145911" y="2586514"/>
            <a:ext cx="5512689" cy="1385411"/>
            <a:chOff x="6145911" y="2586514"/>
            <a:chExt cx="5512689" cy="1385411"/>
          </a:xfrm>
        </p:grpSpPr>
        <p:sp>
          <p:nvSpPr>
            <p:cNvPr id="18" name="TextBox 18"/>
            <p:cNvSpPr txBox="1"/>
            <p:nvPr/>
          </p:nvSpPr>
          <p:spPr>
            <a:xfrm>
              <a:off x="6146673" y="2586514"/>
              <a:ext cx="1504084"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KỸ NĂNG &amp; TƯ DUY</a:t>
              </a:r>
            </a:p>
          </p:txBody>
        </p:sp>
        <p:sp>
          <p:nvSpPr>
            <p:cNvPr id="19" name="TextBox 19"/>
            <p:cNvSpPr txBox="1"/>
            <p:nvPr/>
          </p:nvSpPr>
          <p:spPr>
            <a:xfrm>
              <a:off x="6145911" y="2951321"/>
              <a:ext cx="2621679"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Đo dimming và CCT theo dải</a:t>
              </a:r>
            </a:p>
          </p:txBody>
        </p:sp>
        <p:sp>
          <p:nvSpPr>
            <p:cNvPr id="20" name="TextBox 20"/>
            <p:cNvSpPr txBox="1"/>
            <p:nvPr/>
          </p:nvSpPr>
          <p:spPr>
            <a:xfrm>
              <a:off x="6145911" y="3294221"/>
              <a:ext cx="3376177"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Thiết kế tiêu chí pass/fail rõ ràng</a:t>
              </a:r>
            </a:p>
          </p:txBody>
        </p:sp>
        <p:sp>
          <p:nvSpPr>
            <p:cNvPr id="21" name="TextBox 21"/>
            <p:cNvSpPr txBox="1"/>
            <p:nvPr/>
          </p:nvSpPr>
          <p:spPr>
            <a:xfrm>
              <a:off x="6145911" y="3637121"/>
              <a:ext cx="3385754" cy="278702"/>
            </a:xfrm>
            <a:prstGeom prst="rect">
              <a:avLst/>
            </a:prstGeom>
            <a:noFill/>
            <a:ln>
              <a:noFill/>
            </a:ln>
          </p:spPr>
          <p:txBody>
            <a:bodyPr wrap="none" lIns="0" tIns="0" rIns="0" bIns="0" anchor="t" anchorCtr="0">
              <a:spAutoFit/>
            </a:bodyPr>
            <a:lstStyle/>
            <a:p>
              <a:pPr algn="l" marL="153289" indent="-153289">
                <a:buClr>
                  <a:schemeClr val="dk1"/>
                </a:buClr>
                <a:buSzTx/>
                <a:buFontTx/>
                <a:buChar char="•"/>
              </a:pPr>
              <a:r>
                <a:rPr lang="en-US" sz="1420" dirty="0">
                  <a:solidFill>
                    <a:schemeClr val="dk1"/>
                  </a:solidFill>
                  <a:latin typeface="+mn-lt"/>
                  <a:ea typeface="+mn-ea"/>
                  <a:cs typeface="+mn-cs"/>
                </a:rPr>
                <a:t>Ưu tiên khả năng lặp lại của phép đo</a:t>
              </a:r>
            </a:p>
          </p:txBody>
        </p:sp>
        <p:sp>
          <p:nvSpPr>
            <p:cNvPr id="22" name="Line 22"/>
            <p:cNvSpPr/>
            <p:nvPr/>
          </p:nvSpPr>
          <p:spPr>
            <a:xfrm>
              <a:off x="6153150" y="3962400"/>
              <a:ext cx="5505450" cy="9525"/>
            </a:xfrm>
            <a:custGeom>
              <a:avLst/>
              <a:gdLst/>
              <a:ahLst/>
              <a:cxnLst/>
              <a:rect l="l" t="t" r="r" b="b"/>
              <a:pathLst>
                <a:path w="5505450" h="9525">
                  <a:moveTo>
                    <a:pt x="0" y="0"/>
                  </a:moveTo>
                  <a:lnTo>
                    <a:pt x="5505450" y="0"/>
                  </a:lnTo>
                </a:path>
              </a:pathLst>
            </a:custGeom>
            <a:noFill/>
            <a:ln w="19050">
              <a:solidFill>
                <a:srgbClr val="D7E4DD"/>
              </a:solidFill>
            </a:ln>
          </p:spPr>
        </p:sp>
      </p:grpSp>
      <p:grpSp>
        <p:nvGrpSpPr>
          <p:cNvPr id="33" name="Group 33"/>
          <p:cNvGrpSpPr/>
          <p:nvPr/>
        </p:nvGrpSpPr>
        <p:grpSpPr>
          <a:xfrm>
            <a:off x="533400" y="4324350"/>
            <a:ext cx="11125200" cy="1143000"/>
            <a:chOff x="533400" y="4324350"/>
            <a:chExt cx="11125200" cy="1143000"/>
          </a:xfrm>
        </p:grpSpPr>
        <p:sp>
          <p:nvSpPr>
            <p:cNvPr id="24" name="Rectangle 24"/>
            <p:cNvSpPr/>
            <p:nvPr/>
          </p:nvSpPr>
          <p:spPr>
            <a:xfrm>
              <a:off x="533400" y="4324350"/>
              <a:ext cx="11125200" cy="1143000"/>
            </a:xfrm>
            <a:prstGeom prst="roundRect">
              <a:avLst>
                <a:gd name="adj" fmla="val 3333"/>
              </a:avLst>
            </a:prstGeom>
            <a:solidFill>
              <a:schemeClr val="lt2"/>
            </a:solidFill>
            <a:ln>
              <a:noFill/>
            </a:ln>
          </p:spPr>
        </p:sp>
        <p:sp>
          <p:nvSpPr>
            <p:cNvPr id="25" name="TextBox 25"/>
            <p:cNvSpPr txBox="1"/>
            <p:nvPr/>
          </p:nvSpPr>
          <p:spPr>
            <a:xfrm>
              <a:off x="775335" y="4488656"/>
              <a:ext cx="1675809" cy="220028"/>
            </a:xfrm>
            <a:prstGeom prst="rect">
              <a:avLst/>
            </a:prstGeom>
            <a:noFill/>
            <a:ln>
              <a:noFill/>
            </a:ln>
          </p:spPr>
          <p:txBody>
            <a:bodyPr wrap="none" lIns="0" tIns="0" rIns="0" bIns="0" anchor="t" anchorCtr="0">
              <a:spAutoFit/>
            </a:bodyPr>
            <a:lstStyle/>
            <a:p>
              <a:pPr algn="l"/>
              <a:r>
                <a:rPr lang="en-US" sz="1120" b="1" dirty="0">
                  <a:solidFill>
                    <a:srgbClr val="66706A"/>
                  </a:solidFill>
                  <a:latin typeface="+mn-lt"/>
                  <a:ea typeface="+mn-ea"/>
                  <a:cs typeface="+mn-cs"/>
                </a:rPr>
                <a:t>MÔ HÌNH TEST DỰ KIẾN</a:t>
              </a:r>
            </a:p>
          </p:txBody>
        </p:sp>
        <p:sp>
          <p:nvSpPr>
            <p:cNvPr id="26" name="TextBox 26"/>
            <p:cNvSpPr txBox="1"/>
            <p:nvPr/>
          </p:nvSpPr>
          <p:spPr>
            <a:xfrm>
              <a:off x="772668" y="4889182"/>
              <a:ext cx="172675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Thiết lập dải đo</a:t>
              </a:r>
            </a:p>
          </p:txBody>
        </p:sp>
        <p:sp>
          <p:nvSpPr>
            <p:cNvPr id="27" name="Line 27"/>
            <p:cNvSpPr/>
            <p:nvPr/>
          </p:nvSpPr>
          <p:spPr>
            <a:xfrm>
              <a:off x="2781300" y="4953000"/>
              <a:ext cx="990600" cy="9525"/>
            </a:xfrm>
            <a:custGeom>
              <a:avLst/>
              <a:gdLst/>
              <a:ahLst/>
              <a:cxnLst/>
              <a:rect l="l" t="t" r="r" b="b"/>
              <a:pathLst>
                <a:path w="990600" h="9525">
                  <a:moveTo>
                    <a:pt x="0" y="0"/>
                  </a:moveTo>
                  <a:lnTo>
                    <a:pt x="990600" y="0"/>
                  </a:lnTo>
                </a:path>
              </a:pathLst>
            </a:custGeom>
            <a:noFill/>
            <a:ln w="38100">
              <a:solidFill>
                <a:schemeClr val="accent3"/>
              </a:solidFill>
            </a:ln>
          </p:spPr>
        </p:sp>
        <p:sp>
          <p:nvSpPr>
            <p:cNvPr id="28" name="TextBox 28"/>
            <p:cNvSpPr txBox="1"/>
            <p:nvPr/>
          </p:nvSpPr>
          <p:spPr>
            <a:xfrm>
              <a:off x="4087368" y="4889182"/>
              <a:ext cx="178531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Thu thập dữ liệu</a:t>
              </a:r>
            </a:p>
          </p:txBody>
        </p:sp>
        <p:sp>
          <p:nvSpPr>
            <p:cNvPr id="29" name="Line 29"/>
            <p:cNvSpPr/>
            <p:nvPr/>
          </p:nvSpPr>
          <p:spPr>
            <a:xfrm>
              <a:off x="6172200" y="4953000"/>
              <a:ext cx="990600" cy="9525"/>
            </a:xfrm>
            <a:custGeom>
              <a:avLst/>
              <a:gdLst/>
              <a:ahLst/>
              <a:cxnLst/>
              <a:rect l="l" t="t" r="r" b="b"/>
              <a:pathLst>
                <a:path w="990600" h="9525">
                  <a:moveTo>
                    <a:pt x="0" y="0"/>
                  </a:moveTo>
                  <a:lnTo>
                    <a:pt x="990600" y="0"/>
                  </a:lnTo>
                </a:path>
              </a:pathLst>
            </a:custGeom>
            <a:noFill/>
            <a:ln w="38100">
              <a:solidFill>
                <a:schemeClr val="accent3"/>
              </a:solidFill>
            </a:ln>
          </p:spPr>
        </p:sp>
        <p:sp>
          <p:nvSpPr>
            <p:cNvPr id="30" name="TextBox 30"/>
            <p:cNvSpPr txBox="1"/>
            <p:nvPr/>
          </p:nvSpPr>
          <p:spPr>
            <a:xfrm>
              <a:off x="7478268" y="4889182"/>
              <a:ext cx="204180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Đánh giá pass/fail</a:t>
              </a:r>
            </a:p>
          </p:txBody>
        </p:sp>
        <p:sp>
          <p:nvSpPr>
            <p:cNvPr id="31" name="Rectangle 31"/>
            <p:cNvSpPr/>
            <p:nvPr/>
          </p:nvSpPr>
          <p:spPr>
            <a:xfrm>
              <a:off x="10191750" y="4705350"/>
              <a:ext cx="1200150" cy="457200"/>
            </a:xfrm>
            <a:prstGeom prst="roundRect">
              <a:avLst>
                <a:gd name="adj" fmla="val 8333"/>
              </a:avLst>
            </a:prstGeom>
            <a:solidFill>
              <a:schemeClr val="accent1"/>
            </a:solidFill>
            <a:ln>
              <a:noFill/>
            </a:ln>
          </p:spPr>
        </p:sp>
        <p:sp>
          <p:nvSpPr>
            <p:cNvPr id="32" name="TextBox 32"/>
            <p:cNvSpPr txBox="1"/>
            <p:nvPr/>
          </p:nvSpPr>
          <p:spPr>
            <a:xfrm>
              <a:off x="10465137" y="4853464"/>
              <a:ext cx="65337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LẶP LẠI</a:t>
              </a:r>
            </a:p>
          </p:txBody>
        </p:sp>
      </p:grpSp>
      <p:grpSp>
        <p:nvGrpSpPr>
          <p:cNvPr id="37" name="Group 37"/>
          <p:cNvGrpSpPr/>
          <p:nvPr/>
        </p:nvGrpSpPr>
        <p:grpSpPr>
          <a:xfrm>
            <a:off x="526923" y="5901214"/>
            <a:ext cx="10698945" cy="483870"/>
            <a:chOff x="526923" y="5901214"/>
            <a:chExt cx="10698945" cy="483870"/>
          </a:xfrm>
        </p:grpSpPr>
        <p:sp>
          <p:nvSpPr>
            <p:cNvPr id="34" name="TextBox 34"/>
            <p:cNvSpPr txBox="1"/>
            <p:nvPr/>
          </p:nvSpPr>
          <p:spPr>
            <a:xfrm>
              <a:off x="526923" y="5901214"/>
              <a:ext cx="1666579" cy="249364"/>
            </a:xfrm>
            <a:prstGeom prst="rect">
              <a:avLst/>
            </a:prstGeom>
            <a:noFill/>
            <a:ln>
              <a:noFill/>
            </a:ln>
          </p:spPr>
          <p:txBody>
            <a:bodyPr wrap="none" lIns="0" tIns="0" rIns="0" bIns="0" anchor="t" anchorCtr="0">
              <a:spAutoFit/>
            </a:bodyPr>
            <a:lstStyle/>
            <a:p>
              <a:pPr algn="l"/>
              <a:r>
                <a:rPr lang="en-US" sz="1280" b="1" dirty="0">
                  <a:solidFill>
                    <a:srgbClr val="B56A00"/>
                  </a:solidFill>
                  <a:latin typeface="+mn-lt"/>
                  <a:ea typeface="+mn-ea"/>
                  <a:cs typeface="+mn-cs"/>
                </a:rPr>
                <a:t>BÀI HỌC &amp; KHÓ KHĂN</a:t>
              </a:r>
            </a:p>
          </p:txBody>
        </p:sp>
        <p:sp>
          <p:nvSpPr>
            <p:cNvPr id="35" name="TextBox 35"/>
            <p:cNvSpPr txBox="1"/>
            <p:nvPr/>
          </p:nvSpPr>
          <p:spPr>
            <a:xfrm>
              <a:off x="2565273" y="5901214"/>
              <a:ext cx="866059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Dữ liệu đầu vào còn hạn chế; cần thống nhất chuẩn đo, dải test và acceptance trước khi hoàn thiện tool.</a:t>
              </a:r>
            </a:p>
          </p:txBody>
        </p:sp>
        <p:sp>
          <p:nvSpPr>
            <p:cNvPr id="36" name="TextBox 36"/>
            <p:cNvSpPr txBox="1"/>
            <p:nvPr/>
          </p:nvSpPr>
          <p:spPr>
            <a:xfrm>
              <a:off x="527685" y="6165056"/>
              <a:ext cx="7297559" cy="220028"/>
            </a:xfrm>
            <a:prstGeom prst="rect">
              <a:avLst/>
            </a:prstGeom>
            <a:noFill/>
            <a:ln>
              <a:noFill/>
            </a:ln>
          </p:spPr>
          <p:txBody>
            <a:bodyPr wrap="none" lIns="0" tIns="0" rIns="0" bIns="0" anchor="t" anchorCtr="0">
              <a:spAutoFit/>
            </a:bodyPr>
            <a:lstStyle/>
            <a:p>
              <a:pPr algn="l"/>
              <a:r>
                <a:rPr lang="en-US" sz="1120" dirty="0">
                  <a:solidFill>
                    <a:srgbClr val="66706A"/>
                  </a:solidFill>
                  <a:latin typeface="+mn-lt"/>
                  <a:ea typeface="+mn-ea"/>
                  <a:cs typeface="+mn-cs"/>
                </a:rPr>
                <a:t>Trạng thái: đang triển khai trong dự án Tool Design, không tách thành dự án Smart Lighting độc lập.</a:t>
              </a:r>
            </a:p>
          </p:txBody>
        </p:sp>
      </p:grpSp>
      <p:sp>
        <p:nvSpPr>
          <p:cNvPr id="38" name="TextBox 38"/>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18 / 23</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4855841"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Sử dụng AI trong công việc</a:t>
            </a:r>
          </a:p>
        </p:txBody>
      </p:sp>
      <p:grpSp>
        <p:nvGrpSpPr>
          <p:cNvPr id="31" name="Group 31"/>
          <p:cNvGrpSpPr/>
          <p:nvPr/>
        </p:nvGrpSpPr>
        <p:grpSpPr>
          <a:xfrm>
            <a:off x="533400" y="1285875"/>
            <a:ext cx="11125200" cy="3143250"/>
            <a:chOff x="533400" y="1285875"/>
            <a:chExt cx="11125200" cy="3143250"/>
          </a:xfrm>
        </p:grpSpPr>
        <p:grpSp>
          <p:nvGrpSpPr>
            <p:cNvPr id="12" name="Group 12"/>
            <p:cNvGrpSpPr/>
            <p:nvPr/>
          </p:nvGrpSpPr>
          <p:grpSpPr>
            <a:xfrm>
              <a:off x="533400" y="1285875"/>
              <a:ext cx="3429000" cy="3143250"/>
              <a:chOff x="533400" y="1285875"/>
              <a:chExt cx="3429000" cy="3143250"/>
            </a:xfrm>
          </p:grpSpPr>
          <p:sp>
            <p:nvSpPr>
              <p:cNvPr id="4" name="Rectangle 4"/>
              <p:cNvSpPr/>
              <p:nvPr/>
            </p:nvSpPr>
            <p:spPr>
              <a:xfrm>
                <a:off x="533400" y="1285875"/>
                <a:ext cx="3429000" cy="3143250"/>
              </a:xfrm>
              <a:prstGeom prst="roundRect">
                <a:avLst>
                  <a:gd name="adj" fmla="val 6061"/>
                </a:avLst>
              </a:prstGeom>
              <a:solidFill>
                <a:schemeClr val="lt2"/>
              </a:solidFill>
              <a:ln>
                <a:noFill/>
              </a:ln>
            </p:spPr>
          </p:sp>
          <p:sp>
            <p:nvSpPr>
              <p:cNvPr id="5" name="Ellipse 5"/>
              <p:cNvSpPr/>
              <p:nvPr/>
            </p:nvSpPr>
            <p:spPr>
              <a:xfrm>
                <a:off x="742950" y="1495425"/>
                <a:ext cx="533400" cy="533400"/>
              </a:xfrm>
              <a:prstGeom prst="ellipse">
                <a:avLst/>
              </a:prstGeom>
              <a:solidFill>
                <a:schemeClr val="accent1"/>
              </a:solidFill>
              <a:ln>
                <a:noFill/>
              </a:ln>
            </p:spPr>
          </p:sp>
          <p:sp>
            <p:nvSpPr>
              <p:cNvPr id="6" name="TextBox 6"/>
              <p:cNvSpPr txBox="1"/>
              <p:nvPr/>
            </p:nvSpPr>
            <p:spPr>
              <a:xfrm>
                <a:off x="860569" y="1653540"/>
                <a:ext cx="298163"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01</a:t>
                </a:r>
              </a:p>
            </p:txBody>
          </p:sp>
          <p:sp>
            <p:nvSpPr>
              <p:cNvPr id="7" name="TextBox 7"/>
              <p:cNvSpPr txBox="1"/>
              <p:nvPr/>
            </p:nvSpPr>
            <p:spPr>
              <a:xfrm>
                <a:off x="810387" y="2137886"/>
                <a:ext cx="1635904"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CODE &amp; DEBUG</a:t>
                </a:r>
              </a:p>
            </p:txBody>
          </p:sp>
          <p:sp>
            <p:nvSpPr>
              <p:cNvPr id="8" name="TextBox 8"/>
              <p:cNvSpPr txBox="1"/>
              <p:nvPr/>
            </p:nvSpPr>
            <p:spPr>
              <a:xfrm>
                <a:off x="811911" y="2608421"/>
                <a:ext cx="179855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Gợi ý hướng xử lý lỗi</a:t>
                </a:r>
              </a:p>
            </p:txBody>
          </p:sp>
          <p:sp>
            <p:nvSpPr>
              <p:cNvPr id="9" name="TextBox 9"/>
              <p:cNvSpPr txBox="1"/>
              <p:nvPr/>
            </p:nvSpPr>
            <p:spPr>
              <a:xfrm>
                <a:off x="811911" y="2932271"/>
                <a:ext cx="209509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Sinh test case ban đầu</a:t>
                </a:r>
              </a:p>
            </p:txBody>
          </p:sp>
          <p:sp>
            <p:nvSpPr>
              <p:cNvPr id="10" name="TextBox 10"/>
              <p:cNvSpPr txBox="1"/>
              <p:nvPr/>
            </p:nvSpPr>
            <p:spPr>
              <a:xfrm>
                <a:off x="811911" y="3256121"/>
                <a:ext cx="190311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Đối chiếu API và flow</a:t>
                </a:r>
              </a:p>
            </p:txBody>
          </p:sp>
          <p:sp>
            <p:nvSpPr>
              <p:cNvPr id="11" name="TextBox 11"/>
              <p:cNvSpPr txBox="1"/>
              <p:nvPr/>
            </p:nvSpPr>
            <p:spPr>
              <a:xfrm>
                <a:off x="813054" y="3870960"/>
                <a:ext cx="2166255" cy="234696"/>
              </a:xfrm>
              <a:prstGeom prst="rect">
                <a:avLst/>
              </a:prstGeom>
              <a:noFill/>
              <a:ln>
                <a:noFill/>
              </a:ln>
            </p:spPr>
            <p:txBody>
              <a:bodyPr wrap="none" lIns="0" tIns="0" rIns="0" bIns="0" anchor="t" anchorCtr="0">
                <a:spAutoFit/>
              </a:bodyPr>
              <a:lstStyle/>
              <a:p>
                <a:pPr algn="l"/>
                <a:r>
                  <a:rPr lang="en-US" sz="1200" dirty="0">
                    <a:solidFill>
                      <a:srgbClr val="66706A"/>
                    </a:solidFill>
                    <a:latin typeface="+mn-lt"/>
                    <a:ea typeface="+mn-ea"/>
                    <a:cs typeface="+mn-cs"/>
                  </a:rPr>
                  <a:t>Rút ngắn thời gian khám phá</a:t>
                </a:r>
              </a:p>
            </p:txBody>
          </p:sp>
        </p:grpSp>
        <p:grpSp>
          <p:nvGrpSpPr>
            <p:cNvPr id="21" name="Group 21"/>
            <p:cNvGrpSpPr/>
            <p:nvPr/>
          </p:nvGrpSpPr>
          <p:grpSpPr>
            <a:xfrm>
              <a:off x="4381500" y="1285875"/>
              <a:ext cx="3429000" cy="3143250"/>
              <a:chOff x="4381500" y="1285875"/>
              <a:chExt cx="3429000" cy="3143250"/>
            </a:xfrm>
          </p:grpSpPr>
          <p:sp>
            <p:nvSpPr>
              <p:cNvPr id="13" name="Rectangle 13"/>
              <p:cNvSpPr/>
              <p:nvPr/>
            </p:nvSpPr>
            <p:spPr>
              <a:xfrm>
                <a:off x="4381500" y="1285875"/>
                <a:ext cx="3429000" cy="3143250"/>
              </a:xfrm>
              <a:prstGeom prst="roundRect">
                <a:avLst>
                  <a:gd name="adj" fmla="val 6061"/>
                </a:avLst>
              </a:prstGeom>
              <a:solidFill>
                <a:srgbClr val="EAF6F0"/>
              </a:solidFill>
              <a:ln>
                <a:noFill/>
              </a:ln>
            </p:spPr>
          </p:sp>
          <p:sp>
            <p:nvSpPr>
              <p:cNvPr id="14" name="Ellipse 14"/>
              <p:cNvSpPr/>
              <p:nvPr/>
            </p:nvSpPr>
            <p:spPr>
              <a:xfrm>
                <a:off x="4591050" y="1495425"/>
                <a:ext cx="533400" cy="533400"/>
              </a:xfrm>
              <a:prstGeom prst="ellipse">
                <a:avLst/>
              </a:prstGeom>
              <a:solidFill>
                <a:schemeClr val="accent1"/>
              </a:solidFill>
              <a:ln>
                <a:noFill/>
              </a:ln>
            </p:spPr>
          </p:sp>
          <p:sp>
            <p:nvSpPr>
              <p:cNvPr id="15" name="TextBox 15"/>
              <p:cNvSpPr txBox="1"/>
              <p:nvPr/>
            </p:nvSpPr>
            <p:spPr>
              <a:xfrm>
                <a:off x="4708669" y="1653540"/>
                <a:ext cx="298163"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02</a:t>
                </a:r>
              </a:p>
            </p:txBody>
          </p:sp>
          <p:sp>
            <p:nvSpPr>
              <p:cNvPr id="16" name="TextBox 16"/>
              <p:cNvSpPr txBox="1"/>
              <p:nvPr/>
            </p:nvSpPr>
            <p:spPr>
              <a:xfrm>
                <a:off x="4658487" y="2137886"/>
                <a:ext cx="955158"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TÀI LIỆU</a:t>
                </a:r>
              </a:p>
            </p:txBody>
          </p:sp>
          <p:sp>
            <p:nvSpPr>
              <p:cNvPr id="17" name="TextBox 17"/>
              <p:cNvSpPr txBox="1"/>
              <p:nvPr/>
            </p:nvSpPr>
            <p:spPr>
              <a:xfrm>
                <a:off x="4660011" y="2608421"/>
                <a:ext cx="228793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Tóm tắt tài liệu KNX/ETS</a:t>
                </a:r>
              </a:p>
            </p:txBody>
          </p:sp>
          <p:sp>
            <p:nvSpPr>
              <p:cNvPr id="18" name="TextBox 18"/>
              <p:cNvSpPr txBox="1"/>
              <p:nvPr/>
            </p:nvSpPr>
            <p:spPr>
              <a:xfrm>
                <a:off x="4660011" y="2932271"/>
                <a:ext cx="262564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Chuẩn hóa Q&amp;A và giáo trình</a:t>
                </a:r>
              </a:p>
            </p:txBody>
          </p:sp>
          <p:sp>
            <p:nvSpPr>
              <p:cNvPr id="19" name="TextBox 19"/>
              <p:cNvSpPr txBox="1"/>
              <p:nvPr/>
            </p:nvSpPr>
            <p:spPr>
              <a:xfrm>
                <a:off x="4660011" y="3256121"/>
                <a:ext cx="237303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Soạn API/flow dễ bàn giao</a:t>
                </a:r>
              </a:p>
            </p:txBody>
          </p:sp>
          <p:sp>
            <p:nvSpPr>
              <p:cNvPr id="20" name="TextBox 20"/>
              <p:cNvSpPr txBox="1"/>
              <p:nvPr/>
            </p:nvSpPr>
            <p:spPr>
              <a:xfrm>
                <a:off x="4661154" y="3870960"/>
                <a:ext cx="2174353" cy="234696"/>
              </a:xfrm>
              <a:prstGeom prst="rect">
                <a:avLst/>
              </a:prstGeom>
              <a:noFill/>
              <a:ln>
                <a:noFill/>
              </a:ln>
            </p:spPr>
            <p:txBody>
              <a:bodyPr wrap="none" lIns="0" tIns="0" rIns="0" bIns="0" anchor="t" anchorCtr="0">
                <a:spAutoFit/>
              </a:bodyPr>
              <a:lstStyle/>
              <a:p>
                <a:pPr algn="l"/>
                <a:r>
                  <a:rPr lang="en-US" sz="1200" dirty="0">
                    <a:solidFill>
                      <a:srgbClr val="66706A"/>
                    </a:solidFill>
                    <a:latin typeface="+mn-lt"/>
                    <a:ea typeface="+mn-ea"/>
                    <a:cs typeface="+mn-cs"/>
                  </a:rPr>
                  <a:t>Tăng tốc chuẩn hóa tri thức</a:t>
                </a:r>
              </a:p>
            </p:txBody>
          </p:sp>
        </p:grpSp>
        <p:grpSp>
          <p:nvGrpSpPr>
            <p:cNvPr id="30" name="Group 30"/>
            <p:cNvGrpSpPr/>
            <p:nvPr/>
          </p:nvGrpSpPr>
          <p:grpSpPr>
            <a:xfrm>
              <a:off x="8229600" y="1285875"/>
              <a:ext cx="3429000" cy="3143250"/>
              <a:chOff x="8229600" y="1285875"/>
              <a:chExt cx="3429000" cy="3143250"/>
            </a:xfrm>
          </p:grpSpPr>
          <p:sp>
            <p:nvSpPr>
              <p:cNvPr id="22" name="Rectangle 22"/>
              <p:cNvSpPr/>
              <p:nvPr/>
            </p:nvSpPr>
            <p:spPr>
              <a:xfrm>
                <a:off x="8229600" y="1285875"/>
                <a:ext cx="3429000" cy="3143250"/>
              </a:xfrm>
              <a:prstGeom prst="roundRect">
                <a:avLst>
                  <a:gd name="adj" fmla="val 6061"/>
                </a:avLst>
              </a:prstGeom>
              <a:solidFill>
                <a:srgbClr val="EEF3FF"/>
              </a:solidFill>
              <a:ln>
                <a:noFill/>
              </a:ln>
            </p:spPr>
          </p:sp>
          <p:sp>
            <p:nvSpPr>
              <p:cNvPr id="23" name="Ellipse 23"/>
              <p:cNvSpPr/>
              <p:nvPr/>
            </p:nvSpPr>
            <p:spPr>
              <a:xfrm>
                <a:off x="8439150" y="1495425"/>
                <a:ext cx="533400" cy="533400"/>
              </a:xfrm>
              <a:prstGeom prst="ellipse">
                <a:avLst/>
              </a:prstGeom>
              <a:solidFill>
                <a:schemeClr val="accent2"/>
              </a:solidFill>
              <a:ln>
                <a:noFill/>
              </a:ln>
            </p:spPr>
          </p:sp>
          <p:sp>
            <p:nvSpPr>
              <p:cNvPr id="24" name="TextBox 24"/>
              <p:cNvSpPr txBox="1"/>
              <p:nvPr/>
            </p:nvSpPr>
            <p:spPr>
              <a:xfrm>
                <a:off x="8556769" y="1653540"/>
                <a:ext cx="298163"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03</a:t>
                </a:r>
              </a:p>
            </p:txBody>
          </p:sp>
          <p:sp>
            <p:nvSpPr>
              <p:cNvPr id="25" name="TextBox 25"/>
              <p:cNvSpPr txBox="1"/>
              <p:nvPr/>
            </p:nvSpPr>
            <p:spPr>
              <a:xfrm>
                <a:off x="8506587" y="2137886"/>
                <a:ext cx="1224888"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HỌC NHANH</a:t>
                </a:r>
              </a:p>
            </p:txBody>
          </p:sp>
          <p:sp>
            <p:nvSpPr>
              <p:cNvPr id="26" name="TextBox 26"/>
              <p:cNvSpPr txBox="1"/>
              <p:nvPr/>
            </p:nvSpPr>
            <p:spPr>
              <a:xfrm>
                <a:off x="8508111" y="2608421"/>
                <a:ext cx="213344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Khảo sát công nghệ mới</a:t>
                </a:r>
              </a:p>
            </p:txBody>
          </p:sp>
          <p:sp>
            <p:nvSpPr>
              <p:cNvPr id="27" name="TextBox 27"/>
              <p:cNvSpPr txBox="1"/>
              <p:nvPr/>
            </p:nvSpPr>
            <p:spPr>
              <a:xfrm>
                <a:off x="8508111" y="2932271"/>
                <a:ext cx="263023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So sánh phương án triển khai</a:t>
                </a:r>
              </a:p>
            </p:txBody>
          </p:sp>
          <p:sp>
            <p:nvSpPr>
              <p:cNvPr id="28" name="TextBox 28"/>
              <p:cNvSpPr txBox="1"/>
              <p:nvPr/>
            </p:nvSpPr>
            <p:spPr>
              <a:xfrm>
                <a:off x="8508111" y="3256121"/>
                <a:ext cx="23628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Chuẩn bị câu hỏi kỹ thuật</a:t>
                </a:r>
              </a:p>
            </p:txBody>
          </p:sp>
          <p:sp>
            <p:nvSpPr>
              <p:cNvPr id="29" name="TextBox 29"/>
              <p:cNvSpPr txBox="1"/>
              <p:nvPr/>
            </p:nvSpPr>
            <p:spPr>
              <a:xfrm>
                <a:off x="8509254" y="3870960"/>
                <a:ext cx="2755707" cy="234696"/>
              </a:xfrm>
              <a:prstGeom prst="rect">
                <a:avLst/>
              </a:prstGeom>
              <a:noFill/>
              <a:ln>
                <a:noFill/>
              </a:ln>
            </p:spPr>
            <p:txBody>
              <a:bodyPr wrap="none" lIns="0" tIns="0" rIns="0" bIns="0" anchor="t" anchorCtr="0">
                <a:spAutoFit/>
              </a:bodyPr>
              <a:lstStyle/>
              <a:p>
                <a:pPr algn="l"/>
                <a:r>
                  <a:rPr lang="en-US" sz="1200" dirty="0">
                    <a:solidFill>
                      <a:srgbClr val="66706A"/>
                    </a:solidFill>
                    <a:latin typeface="+mn-lt"/>
                    <a:ea typeface="+mn-ea"/>
                    <a:cs typeface="+mn-cs"/>
                  </a:rPr>
                  <a:t>Giảm thời gian tiếp cận lĩnh vực mới</a:t>
                </a:r>
              </a:p>
            </p:txBody>
          </p:sp>
        </p:grpSp>
      </p:grpSp>
      <p:grpSp>
        <p:nvGrpSpPr>
          <p:cNvPr id="35" name="Group 35"/>
          <p:cNvGrpSpPr/>
          <p:nvPr/>
        </p:nvGrpSpPr>
        <p:grpSpPr>
          <a:xfrm>
            <a:off x="533400" y="4857750"/>
            <a:ext cx="11519878" cy="1143000"/>
            <a:chOff x="533400" y="4857750"/>
            <a:chExt cx="11519878" cy="1143000"/>
          </a:xfrm>
        </p:grpSpPr>
        <p:sp>
          <p:nvSpPr>
            <p:cNvPr id="32" name="Rectangle 32"/>
            <p:cNvSpPr/>
            <p:nvPr/>
          </p:nvSpPr>
          <p:spPr>
            <a:xfrm>
              <a:off x="533400" y="4857750"/>
              <a:ext cx="11125200" cy="1143000"/>
            </a:xfrm>
            <a:prstGeom prst="roundRect">
              <a:avLst>
                <a:gd name="adj" fmla="val 15000"/>
              </a:avLst>
            </a:prstGeom>
            <a:solidFill>
              <a:schemeClr val="accent1"/>
            </a:solidFill>
            <a:ln>
              <a:noFill/>
            </a:ln>
          </p:spPr>
        </p:sp>
        <p:sp>
          <p:nvSpPr>
            <p:cNvPr id="33" name="TextBox 33"/>
            <p:cNvSpPr txBox="1"/>
            <p:nvPr/>
          </p:nvSpPr>
          <p:spPr>
            <a:xfrm>
              <a:off x="812673" y="5110639"/>
              <a:ext cx="2068038"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NGUYÊN TẮC KIỂM CHỨNG</a:t>
              </a:r>
            </a:p>
          </p:txBody>
        </p:sp>
        <p:sp>
          <p:nvSpPr>
            <p:cNvPr id="34" name="TextBox 34"/>
            <p:cNvSpPr txBox="1"/>
            <p:nvPr/>
          </p:nvSpPr>
          <p:spPr>
            <a:xfrm>
              <a:off x="810006" y="5463540"/>
              <a:ext cx="1124327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AI hỗ trợ tăng tốc; kết luận kỹ thuật vẫn phải được đo, test và xác nhận trên hệ thống thực tế.</a:t>
              </a:r>
            </a:p>
          </p:txBody>
        </p:sp>
      </p:grpSp>
      <p:sp>
        <p:nvSpPr>
          <p:cNvPr id="36" name="TextBox 36"/>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19 / 23</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4907212"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Tự đánh giá ưu, nhược điểm</a:t>
            </a:r>
          </a:p>
        </p:txBody>
      </p:sp>
      <p:grpSp>
        <p:nvGrpSpPr>
          <p:cNvPr id="26" name="Group 26"/>
          <p:cNvGrpSpPr/>
          <p:nvPr/>
        </p:nvGrpSpPr>
        <p:grpSpPr>
          <a:xfrm>
            <a:off x="533400" y="1190625"/>
            <a:ext cx="11125200" cy="4095750"/>
            <a:chOff x="533400" y="1190625"/>
            <a:chExt cx="11125200" cy="4095750"/>
          </a:xfrm>
        </p:grpSpPr>
        <p:grpSp>
          <p:nvGrpSpPr>
            <p:cNvPr id="14" name="Group 14"/>
            <p:cNvGrpSpPr/>
            <p:nvPr/>
          </p:nvGrpSpPr>
          <p:grpSpPr>
            <a:xfrm>
              <a:off x="533400" y="1190625"/>
              <a:ext cx="5286375" cy="4095750"/>
              <a:chOff x="533400" y="1190625"/>
              <a:chExt cx="5286375" cy="4095750"/>
            </a:xfrm>
          </p:grpSpPr>
          <p:sp>
            <p:nvSpPr>
              <p:cNvPr id="4" name="Rectangle 4"/>
              <p:cNvSpPr/>
              <p:nvPr/>
            </p:nvSpPr>
            <p:spPr>
              <a:xfrm>
                <a:off x="533400" y="1190625"/>
                <a:ext cx="5286375" cy="4095750"/>
              </a:xfrm>
              <a:prstGeom prst="roundRect">
                <a:avLst>
                  <a:gd name="adj" fmla="val 4651"/>
                </a:avLst>
              </a:prstGeom>
              <a:solidFill>
                <a:srgbClr val="EAF6F0"/>
              </a:solidFill>
              <a:ln>
                <a:noFill/>
              </a:ln>
            </p:spPr>
          </p:sp>
          <p:sp>
            <p:nvSpPr>
              <p:cNvPr id="5" name="Ellipse 5"/>
              <p:cNvSpPr/>
              <p:nvPr/>
            </p:nvSpPr>
            <p:spPr>
              <a:xfrm>
                <a:off x="771525" y="1438275"/>
                <a:ext cx="476250" cy="476250"/>
              </a:xfrm>
              <a:prstGeom prst="ellipse">
                <a:avLst/>
              </a:prstGeom>
              <a:solidFill>
                <a:schemeClr val="accent1"/>
              </a:solidFill>
              <a:ln>
                <a:noFill/>
              </a:ln>
            </p:spPr>
          </p:sp>
          <p:sp>
            <p:nvSpPr>
              <p:cNvPr id="6" name="Freeform 6"/>
              <p:cNvSpPr/>
              <p:nvPr/>
            </p:nvSpPr>
            <p:spPr>
              <a:xfrm>
                <a:off x="904875" y="1581150"/>
                <a:ext cx="219075" cy="171450"/>
              </a:xfrm>
              <a:custGeom>
                <a:avLst/>
                <a:gdLst/>
                <a:ahLst/>
                <a:cxnLst/>
                <a:rect l="l" t="t" r="r" b="b"/>
                <a:pathLst>
                  <a:path w="219075" h="171450">
                    <a:moveTo>
                      <a:pt x="0" y="95250"/>
                    </a:moveTo>
                    <a:lnTo>
                      <a:pt x="76200" y="171450"/>
                    </a:lnTo>
                    <a:lnTo>
                      <a:pt x="219075" y="0"/>
                    </a:lnTo>
                  </a:path>
                </a:pathLst>
              </a:custGeom>
              <a:noFill/>
              <a:ln w="38100">
                <a:solidFill>
                  <a:srgbClr val="FFFFFF"/>
                </a:solidFill>
              </a:ln>
            </p:spPr>
          </p:sp>
          <p:sp>
            <p:nvSpPr>
              <p:cNvPr id="7" name="TextBox 7"/>
              <p:cNvSpPr txBox="1"/>
              <p:nvPr/>
            </p:nvSpPr>
            <p:spPr>
              <a:xfrm>
                <a:off x="1418844" y="1542098"/>
                <a:ext cx="1053701"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ƯU ĐIỂM</a:t>
                </a:r>
              </a:p>
            </p:txBody>
          </p:sp>
          <p:sp>
            <p:nvSpPr>
              <p:cNvPr id="8" name="TextBox 8"/>
              <p:cNvSpPr txBox="1"/>
              <p:nvPr/>
            </p:nvSpPr>
            <p:spPr>
              <a:xfrm>
                <a:off x="811530" y="2171700"/>
                <a:ext cx="4536702"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Năng lực end-to-end: firmware → tool → test</a:t>
                </a:r>
              </a:p>
            </p:txBody>
          </p:sp>
          <p:sp>
            <p:nvSpPr>
              <p:cNvPr id="9" name="TextBox 9"/>
              <p:cNvSpPr txBox="1"/>
              <p:nvPr/>
            </p:nvSpPr>
            <p:spPr>
              <a:xfrm>
                <a:off x="811530" y="2571750"/>
                <a:ext cx="3889813"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Chủ động học nhanh và xử lý vấn đề mới</a:t>
                </a:r>
              </a:p>
            </p:txBody>
          </p:sp>
          <p:sp>
            <p:nvSpPr>
              <p:cNvPr id="10" name="TextBox 10"/>
              <p:cNvSpPr txBox="1"/>
              <p:nvPr/>
            </p:nvSpPr>
            <p:spPr>
              <a:xfrm>
                <a:off x="811530" y="2971800"/>
                <a:ext cx="3950510"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Có tư duy hệ thống, ưu tiên bằng chứng</a:t>
                </a:r>
              </a:p>
            </p:txBody>
          </p:sp>
          <p:sp>
            <p:nvSpPr>
              <p:cNvPr id="11" name="TextBox 11"/>
              <p:cNvSpPr txBox="1"/>
              <p:nvPr/>
            </p:nvSpPr>
            <p:spPr>
              <a:xfrm>
                <a:off x="811530" y="3371850"/>
                <a:ext cx="4303395"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Viết tài liệu, đào tạo và phối hợp liên team</a:t>
                </a:r>
              </a:p>
            </p:txBody>
          </p:sp>
          <p:sp>
            <p:nvSpPr>
              <p:cNvPr id="12" name="Rectangle 12"/>
              <p:cNvSpPr/>
              <p:nvPr/>
            </p:nvSpPr>
            <p:spPr>
              <a:xfrm>
                <a:off x="819150" y="4333875"/>
                <a:ext cx="4524375" cy="590550"/>
              </a:xfrm>
              <a:prstGeom prst="roundRect">
                <a:avLst>
                  <a:gd name="adj" fmla="val 19355"/>
                </a:avLst>
              </a:prstGeom>
              <a:solidFill>
                <a:schemeClr val="lt1"/>
              </a:solidFill>
              <a:ln>
                <a:noFill/>
              </a:ln>
            </p:spPr>
          </p:sp>
          <p:sp>
            <p:nvSpPr>
              <p:cNvPr id="13" name="TextBox 13"/>
              <p:cNvSpPr txBox="1"/>
              <p:nvPr/>
            </p:nvSpPr>
            <p:spPr>
              <a:xfrm>
                <a:off x="1003173" y="4558189"/>
                <a:ext cx="419003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Bằng chứng: 102 task Done / 4 nhóm dự án chính</a:t>
                </a:r>
              </a:p>
            </p:txBody>
          </p:sp>
        </p:grpSp>
        <p:grpSp>
          <p:nvGrpSpPr>
            <p:cNvPr id="25" name="Group 25"/>
            <p:cNvGrpSpPr/>
            <p:nvPr/>
          </p:nvGrpSpPr>
          <p:grpSpPr>
            <a:xfrm>
              <a:off x="6372225" y="1190625"/>
              <a:ext cx="5286375" cy="4095750"/>
              <a:chOff x="6372225" y="1190625"/>
              <a:chExt cx="5286375" cy="4095750"/>
            </a:xfrm>
          </p:grpSpPr>
          <p:sp>
            <p:nvSpPr>
              <p:cNvPr id="15" name="Rectangle 15"/>
              <p:cNvSpPr/>
              <p:nvPr/>
            </p:nvSpPr>
            <p:spPr>
              <a:xfrm>
                <a:off x="6372225" y="1190625"/>
                <a:ext cx="5286375" cy="4095750"/>
              </a:xfrm>
              <a:prstGeom prst="roundRect">
                <a:avLst>
                  <a:gd name="adj" fmla="val 4651"/>
                </a:avLst>
              </a:prstGeom>
              <a:solidFill>
                <a:srgbClr val="FFF7E8"/>
              </a:solidFill>
              <a:ln>
                <a:noFill/>
              </a:ln>
            </p:spPr>
          </p:sp>
          <p:sp>
            <p:nvSpPr>
              <p:cNvPr id="16" name="Ellipse 16"/>
              <p:cNvSpPr/>
              <p:nvPr/>
            </p:nvSpPr>
            <p:spPr>
              <a:xfrm>
                <a:off x="6610350" y="1438275"/>
                <a:ext cx="476250" cy="476250"/>
              </a:xfrm>
              <a:prstGeom prst="ellipse">
                <a:avLst/>
              </a:prstGeom>
              <a:solidFill>
                <a:srgbClr val="F5A623"/>
              </a:solidFill>
              <a:ln>
                <a:noFill/>
              </a:ln>
            </p:spPr>
          </p:sp>
          <p:sp>
            <p:nvSpPr>
              <p:cNvPr id="17" name="TextBox 17"/>
              <p:cNvSpPr txBox="1"/>
              <p:nvPr/>
            </p:nvSpPr>
            <p:spPr>
              <a:xfrm>
                <a:off x="6801166" y="1558290"/>
                <a:ext cx="94618"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a:t>
                </a:r>
              </a:p>
            </p:txBody>
          </p:sp>
          <p:sp>
            <p:nvSpPr>
              <p:cNvPr id="18" name="TextBox 18"/>
              <p:cNvSpPr txBox="1"/>
              <p:nvPr/>
            </p:nvSpPr>
            <p:spPr>
              <a:xfrm>
                <a:off x="7257669" y="1542098"/>
                <a:ext cx="1810916" cy="381381"/>
              </a:xfrm>
              <a:prstGeom prst="rect">
                <a:avLst/>
              </a:prstGeom>
              <a:noFill/>
              <a:ln>
                <a:noFill/>
              </a:ln>
            </p:spPr>
            <p:txBody>
              <a:bodyPr wrap="none" lIns="0" tIns="0" rIns="0" bIns="0" anchor="t" anchorCtr="0">
                <a:spAutoFit/>
              </a:bodyPr>
              <a:lstStyle/>
              <a:p>
                <a:pPr algn="l"/>
                <a:r>
                  <a:rPr lang="en-US" sz="1950" b="1" dirty="0">
                    <a:solidFill>
                      <a:srgbClr val="B56A00"/>
                    </a:solidFill>
                    <a:latin typeface="+mn-lt"/>
                    <a:ea typeface="+mn-ea"/>
                    <a:cs typeface="+mn-cs"/>
                  </a:rPr>
                  <a:t>CẦN CẢI THIỆN</a:t>
                </a:r>
              </a:p>
            </p:txBody>
          </p:sp>
          <p:sp>
            <p:nvSpPr>
              <p:cNvPr id="19" name="TextBox 19"/>
              <p:cNvSpPr txBox="1"/>
              <p:nvPr/>
            </p:nvSpPr>
            <p:spPr>
              <a:xfrm>
                <a:off x="6650355" y="2171700"/>
                <a:ext cx="4293282"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Dễ phân tán khi nhiều luồng chạy song song</a:t>
                </a:r>
              </a:p>
            </p:txBody>
          </p:sp>
          <p:sp>
            <p:nvSpPr>
              <p:cNvPr id="20" name="TextBox 20"/>
              <p:cNvSpPr txBox="1"/>
              <p:nvPr/>
            </p:nvSpPr>
            <p:spPr>
              <a:xfrm>
                <a:off x="6650355" y="2571750"/>
                <a:ext cx="4071193"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Ước lượng và ưu tiên chưa luôn nhất quán</a:t>
                </a:r>
              </a:p>
            </p:txBody>
          </p:sp>
          <p:sp>
            <p:nvSpPr>
              <p:cNvPr id="21" name="TextBox 21"/>
              <p:cNvSpPr txBox="1"/>
              <p:nvPr/>
            </p:nvSpPr>
            <p:spPr>
              <a:xfrm>
                <a:off x="6650355" y="2971800"/>
                <a:ext cx="4661470"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Một số task Late/Not started chưa được đóng</a:t>
                </a:r>
              </a:p>
            </p:txBody>
          </p:sp>
          <p:sp>
            <p:nvSpPr>
              <p:cNvPr id="22" name="TextBox 22"/>
              <p:cNvSpPr txBox="1"/>
              <p:nvPr/>
            </p:nvSpPr>
            <p:spPr>
              <a:xfrm>
                <a:off x="6650355" y="3371850"/>
                <a:ext cx="4455095"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Cần cập nhật trạng thái sau hỗ trợ thực địa</a:t>
                </a:r>
              </a:p>
            </p:txBody>
          </p:sp>
          <p:sp>
            <p:nvSpPr>
              <p:cNvPr id="23" name="Rectangle 23"/>
              <p:cNvSpPr/>
              <p:nvPr/>
            </p:nvSpPr>
            <p:spPr>
              <a:xfrm>
                <a:off x="6657975" y="4333875"/>
                <a:ext cx="4524375" cy="590550"/>
              </a:xfrm>
              <a:prstGeom prst="roundRect">
                <a:avLst>
                  <a:gd name="adj" fmla="val 19355"/>
                </a:avLst>
              </a:prstGeom>
              <a:solidFill>
                <a:schemeClr val="lt1"/>
              </a:solidFill>
              <a:ln>
                <a:noFill/>
              </a:ln>
            </p:spPr>
          </p:sp>
          <p:sp>
            <p:nvSpPr>
              <p:cNvPr id="24" name="TextBox 24"/>
              <p:cNvSpPr txBox="1"/>
              <p:nvPr/>
            </p:nvSpPr>
            <p:spPr>
              <a:xfrm>
                <a:off x="6841998" y="4558189"/>
                <a:ext cx="4280185" cy="249364"/>
              </a:xfrm>
              <a:prstGeom prst="rect">
                <a:avLst/>
              </a:prstGeom>
              <a:noFill/>
              <a:ln>
                <a:noFill/>
              </a:ln>
            </p:spPr>
            <p:txBody>
              <a:bodyPr wrap="none" lIns="0" tIns="0" rIns="0" bIns="0" anchor="t" anchorCtr="0">
                <a:spAutoFit/>
              </a:bodyPr>
              <a:lstStyle/>
              <a:p>
                <a:pPr algn="l"/>
                <a:r>
                  <a:rPr lang="en-US" sz="1280" b="1" dirty="0">
                    <a:solidFill>
                      <a:srgbClr val="B56A00"/>
                    </a:solidFill>
                    <a:latin typeface="+mn-lt"/>
                    <a:ea typeface="+mn-ea"/>
                    <a:cs typeface="+mn-cs"/>
                  </a:rPr>
                  <a:t>Hành động: weekly planning + acceptance rõ ràng</a:t>
                </a:r>
              </a:p>
            </p:txBody>
          </p:sp>
        </p:grpSp>
      </p:grpSp>
      <p:sp>
        <p:nvSpPr>
          <p:cNvPr id="27" name="Rectangle 27"/>
          <p:cNvSpPr/>
          <p:nvPr/>
        </p:nvSpPr>
        <p:spPr>
          <a:xfrm>
            <a:off x="533400" y="5619750"/>
            <a:ext cx="11125200" cy="476250"/>
          </a:xfrm>
          <a:prstGeom prst="roundRect">
            <a:avLst>
              <a:gd name="adj" fmla="val 24000"/>
            </a:avLst>
          </a:prstGeom>
          <a:solidFill>
            <a:schemeClr val="lt2"/>
          </a:solidFill>
          <a:ln>
            <a:noFill/>
          </a:ln>
        </p:spPr>
      </p:sp>
      <p:sp>
        <p:nvSpPr>
          <p:cNvPr id="28" name="TextBox 28"/>
          <p:cNvSpPr txBox="1"/>
          <p:nvPr/>
        </p:nvSpPr>
        <p:spPr>
          <a:xfrm>
            <a:off x="1554648" y="5770721"/>
            <a:ext cx="9082705" cy="278702"/>
          </a:xfrm>
          <a:prstGeom prst="rect">
            <a:avLst/>
          </a:prstGeom>
          <a:noFill/>
          <a:ln>
            <a:noFill/>
          </a:ln>
        </p:spPr>
        <p:txBody>
          <a:bodyPr wrap="none" lIns="0" tIns="0" rIns="0" bIns="0" anchor="t" anchorCtr="0">
            <a:spAutoFit/>
          </a:bodyPr>
          <a:lstStyle/>
          <a:p>
            <a:pPr algn="ctr"/>
            <a:r>
              <a:rPr lang="en-US" sz="1420" dirty="0">
                <a:solidFill>
                  <a:schemeClr val="dk1"/>
                </a:solidFill>
                <a:latin typeface="+mn-lt"/>
                <a:ea typeface="+mn-ea"/>
                <a:cs typeface="+mn-cs"/>
              </a:rPr>
              <a:t>Tư duy cần duy trì: chủ động, đo được, tài liệu hóa — nhưng tập trung hơn vào ưu tiên và hoàn tất.</a:t>
            </a:r>
          </a:p>
        </p:txBody>
      </p:sp>
      <p:sp>
        <p:nvSpPr>
          <p:cNvPr id="29" name="TextBox 29"/>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20 / 23</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5575562"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Bài học &amp; khó khăn xuyên dự án</a:t>
            </a:r>
          </a:p>
        </p:txBody>
      </p:sp>
      <p:grpSp>
        <p:nvGrpSpPr>
          <p:cNvPr id="40" name="Group 40"/>
          <p:cNvGrpSpPr/>
          <p:nvPr/>
        </p:nvGrpSpPr>
        <p:grpSpPr>
          <a:xfrm>
            <a:off x="533400" y="1143000"/>
            <a:ext cx="11125200" cy="4572000"/>
            <a:chOff x="533400" y="1143000"/>
            <a:chExt cx="11125200" cy="4572000"/>
          </a:xfrm>
        </p:grpSpPr>
        <p:grpSp>
          <p:nvGrpSpPr>
            <p:cNvPr id="12" name="Group 12"/>
            <p:cNvGrpSpPr/>
            <p:nvPr/>
          </p:nvGrpSpPr>
          <p:grpSpPr>
            <a:xfrm>
              <a:off x="533400" y="1143000"/>
              <a:ext cx="11125200" cy="1000125"/>
              <a:chOff x="533400" y="1143000"/>
              <a:chExt cx="11125200" cy="1000125"/>
            </a:xfrm>
          </p:grpSpPr>
          <p:sp>
            <p:nvSpPr>
              <p:cNvPr id="4" name="Rectangle 4"/>
              <p:cNvSpPr/>
              <p:nvPr/>
            </p:nvSpPr>
            <p:spPr>
              <a:xfrm>
                <a:off x="533400" y="1143000"/>
                <a:ext cx="4429125" cy="1000125"/>
              </a:xfrm>
              <a:prstGeom prst="roundRect">
                <a:avLst>
                  <a:gd name="adj" fmla="val 15238"/>
                </a:avLst>
              </a:prstGeom>
              <a:solidFill>
                <a:srgbClr val="FFF7E8"/>
              </a:solidFill>
              <a:ln>
                <a:noFill/>
              </a:ln>
            </p:spPr>
          </p:sp>
          <p:sp>
            <p:nvSpPr>
              <p:cNvPr id="5" name="TextBox 5"/>
              <p:cNvSpPr txBox="1"/>
              <p:nvPr/>
            </p:nvSpPr>
            <p:spPr>
              <a:xfrm>
                <a:off x="774573" y="1367314"/>
                <a:ext cx="1073951" cy="249364"/>
              </a:xfrm>
              <a:prstGeom prst="rect">
                <a:avLst/>
              </a:prstGeom>
              <a:noFill/>
              <a:ln>
                <a:noFill/>
              </a:ln>
            </p:spPr>
            <p:txBody>
              <a:bodyPr wrap="none" lIns="0" tIns="0" rIns="0" bIns="0" anchor="t" anchorCtr="0">
                <a:spAutoFit/>
              </a:bodyPr>
              <a:lstStyle/>
              <a:p>
                <a:pPr algn="l"/>
                <a:r>
                  <a:rPr lang="en-US" sz="1280" b="1" dirty="0">
                    <a:solidFill>
                      <a:srgbClr val="B56A00"/>
                    </a:solidFill>
                    <a:latin typeface="+mn-lt"/>
                    <a:ea typeface="+mn-ea"/>
                    <a:cs typeface="+mn-cs"/>
                  </a:rPr>
                  <a:t>KHÓ KHĂN 01</a:t>
                </a:r>
              </a:p>
            </p:txBody>
          </p:sp>
          <p:sp>
            <p:nvSpPr>
              <p:cNvPr id="6" name="TextBox 6"/>
              <p:cNvSpPr txBox="1"/>
              <p:nvPr/>
            </p:nvSpPr>
            <p:spPr>
              <a:xfrm>
                <a:off x="773430" y="1695450"/>
                <a:ext cx="35154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Hệ thống nhiều thiết bị và phiên bản</a:t>
                </a:r>
              </a:p>
            </p:txBody>
          </p:sp>
          <p:sp>
            <p:nvSpPr>
              <p:cNvPr id="7" name="Freeform 7"/>
              <p:cNvSpPr/>
              <p:nvPr/>
            </p:nvSpPr>
            <p:spPr>
              <a:xfrm>
                <a:off x="5191125" y="1638300"/>
                <a:ext cx="1000125" cy="9525"/>
              </a:xfrm>
              <a:custGeom>
                <a:avLst/>
                <a:gdLst/>
                <a:ahLst/>
                <a:cxnLst/>
                <a:rect l="l" t="t" r="r" b="b"/>
                <a:pathLst>
                  <a:path w="1000125" h="9525">
                    <a:moveTo>
                      <a:pt x="0" y="0"/>
                    </a:moveTo>
                    <a:lnTo>
                      <a:pt x="1000125" y="0"/>
                    </a:lnTo>
                  </a:path>
                </a:pathLst>
              </a:custGeom>
              <a:solidFill>
                <a:srgbClr val="000000"/>
              </a:solidFill>
              <a:ln w="38100">
                <a:solidFill>
                  <a:schemeClr val="accent3"/>
                </a:solidFill>
              </a:ln>
            </p:spPr>
          </p:sp>
          <p:sp>
            <p:nvSpPr>
              <p:cNvPr id="8" name="Freeform 8"/>
              <p:cNvSpPr/>
              <p:nvPr/>
            </p:nvSpPr>
            <p:spPr>
              <a:xfrm>
                <a:off x="6057900" y="1552575"/>
                <a:ext cx="133350" cy="171450"/>
              </a:xfrm>
              <a:custGeom>
                <a:avLst/>
                <a:gdLst/>
                <a:ahLst/>
                <a:cxnLst/>
                <a:rect l="l" t="t" r="r" b="b"/>
                <a:pathLst>
                  <a:path w="133350" h="171450">
                    <a:moveTo>
                      <a:pt x="133350" y="85725"/>
                    </a:moveTo>
                    <a:lnTo>
                      <a:pt x="0" y="0"/>
                    </a:lnTo>
                    <a:lnTo>
                      <a:pt x="0" y="171450"/>
                    </a:lnTo>
                    <a:close/>
                  </a:path>
                </a:pathLst>
              </a:custGeom>
              <a:solidFill>
                <a:schemeClr val="accent3"/>
              </a:solidFill>
              <a:ln>
                <a:noFill/>
              </a:ln>
            </p:spPr>
          </p:sp>
          <p:sp>
            <p:nvSpPr>
              <p:cNvPr id="9" name="Rectangle 9"/>
              <p:cNvSpPr/>
              <p:nvPr/>
            </p:nvSpPr>
            <p:spPr>
              <a:xfrm>
                <a:off x="6429375" y="1143000"/>
                <a:ext cx="5229225" cy="1000125"/>
              </a:xfrm>
              <a:prstGeom prst="roundRect">
                <a:avLst>
                  <a:gd name="adj" fmla="val 15238"/>
                </a:avLst>
              </a:prstGeom>
              <a:solidFill>
                <a:srgbClr val="EAF6F0"/>
              </a:solidFill>
              <a:ln>
                <a:noFill/>
              </a:ln>
            </p:spPr>
          </p:sp>
          <p:sp>
            <p:nvSpPr>
              <p:cNvPr id="10" name="TextBox 10"/>
              <p:cNvSpPr txBox="1"/>
              <p:nvPr/>
            </p:nvSpPr>
            <p:spPr>
              <a:xfrm>
                <a:off x="6670548" y="1367314"/>
                <a:ext cx="65337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BÀI HỌC</a:t>
                </a:r>
              </a:p>
            </p:txBody>
          </p:sp>
          <p:sp>
            <p:nvSpPr>
              <p:cNvPr id="11" name="TextBox 11"/>
              <p:cNvSpPr txBox="1"/>
              <p:nvPr/>
            </p:nvSpPr>
            <p:spPr>
              <a:xfrm>
                <a:off x="6669405" y="1695450"/>
                <a:ext cx="47976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Chuẩn hóa interface, phiên bản và checklist test</a:t>
                </a:r>
              </a:p>
            </p:txBody>
          </p:sp>
        </p:grpSp>
        <p:grpSp>
          <p:nvGrpSpPr>
            <p:cNvPr id="21" name="Group 21"/>
            <p:cNvGrpSpPr/>
            <p:nvPr/>
          </p:nvGrpSpPr>
          <p:grpSpPr>
            <a:xfrm>
              <a:off x="533400" y="2333625"/>
              <a:ext cx="11125200" cy="1000125"/>
              <a:chOff x="533400" y="2333625"/>
              <a:chExt cx="11125200" cy="1000125"/>
            </a:xfrm>
          </p:grpSpPr>
          <p:sp>
            <p:nvSpPr>
              <p:cNvPr id="13" name="Rectangle 13"/>
              <p:cNvSpPr/>
              <p:nvPr/>
            </p:nvSpPr>
            <p:spPr>
              <a:xfrm>
                <a:off x="533400" y="2333625"/>
                <a:ext cx="4429125" cy="1000125"/>
              </a:xfrm>
              <a:prstGeom prst="roundRect">
                <a:avLst>
                  <a:gd name="adj" fmla="val 15238"/>
                </a:avLst>
              </a:prstGeom>
              <a:solidFill>
                <a:srgbClr val="FFF7E8"/>
              </a:solidFill>
              <a:ln>
                <a:noFill/>
              </a:ln>
            </p:spPr>
          </p:sp>
          <p:sp>
            <p:nvSpPr>
              <p:cNvPr id="14" name="TextBox 14"/>
              <p:cNvSpPr txBox="1"/>
              <p:nvPr/>
            </p:nvSpPr>
            <p:spPr>
              <a:xfrm>
                <a:off x="774573" y="2557939"/>
                <a:ext cx="1073951" cy="249364"/>
              </a:xfrm>
              <a:prstGeom prst="rect">
                <a:avLst/>
              </a:prstGeom>
              <a:noFill/>
              <a:ln>
                <a:noFill/>
              </a:ln>
            </p:spPr>
            <p:txBody>
              <a:bodyPr wrap="none" lIns="0" tIns="0" rIns="0" bIns="0" anchor="t" anchorCtr="0">
                <a:spAutoFit/>
              </a:bodyPr>
              <a:lstStyle/>
              <a:p>
                <a:pPr algn="l"/>
                <a:r>
                  <a:rPr lang="en-US" sz="1280" b="1" dirty="0">
                    <a:solidFill>
                      <a:srgbClr val="B56A00"/>
                    </a:solidFill>
                    <a:latin typeface="+mn-lt"/>
                    <a:ea typeface="+mn-ea"/>
                    <a:cs typeface="+mn-cs"/>
                  </a:rPr>
                  <a:t>KHÓ KHĂN 02</a:t>
                </a:r>
              </a:p>
            </p:txBody>
          </p:sp>
          <p:sp>
            <p:nvSpPr>
              <p:cNvPr id="15" name="TextBox 15"/>
              <p:cNvSpPr txBox="1"/>
              <p:nvPr/>
            </p:nvSpPr>
            <p:spPr>
              <a:xfrm>
                <a:off x="773430" y="2886075"/>
                <a:ext cx="218232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Lỗi khó tái hiện tại lab</a:t>
                </a:r>
              </a:p>
            </p:txBody>
          </p:sp>
          <p:sp>
            <p:nvSpPr>
              <p:cNvPr id="16" name="Freeform 16"/>
              <p:cNvSpPr/>
              <p:nvPr/>
            </p:nvSpPr>
            <p:spPr>
              <a:xfrm>
                <a:off x="5191125" y="2828925"/>
                <a:ext cx="1000125" cy="9525"/>
              </a:xfrm>
              <a:custGeom>
                <a:avLst/>
                <a:gdLst/>
                <a:ahLst/>
                <a:cxnLst/>
                <a:rect l="l" t="t" r="r" b="b"/>
                <a:pathLst>
                  <a:path w="1000125" h="9525">
                    <a:moveTo>
                      <a:pt x="0" y="0"/>
                    </a:moveTo>
                    <a:lnTo>
                      <a:pt x="1000125" y="0"/>
                    </a:lnTo>
                  </a:path>
                </a:pathLst>
              </a:custGeom>
              <a:solidFill>
                <a:srgbClr val="000000"/>
              </a:solidFill>
              <a:ln w="38100">
                <a:solidFill>
                  <a:schemeClr val="accent3"/>
                </a:solidFill>
              </a:ln>
            </p:spPr>
          </p:sp>
          <p:sp>
            <p:nvSpPr>
              <p:cNvPr id="17" name="Freeform 17"/>
              <p:cNvSpPr/>
              <p:nvPr/>
            </p:nvSpPr>
            <p:spPr>
              <a:xfrm>
                <a:off x="6057900" y="2743200"/>
                <a:ext cx="133350" cy="171450"/>
              </a:xfrm>
              <a:custGeom>
                <a:avLst/>
                <a:gdLst/>
                <a:ahLst/>
                <a:cxnLst/>
                <a:rect l="l" t="t" r="r" b="b"/>
                <a:pathLst>
                  <a:path w="133350" h="171450">
                    <a:moveTo>
                      <a:pt x="133350" y="85725"/>
                    </a:moveTo>
                    <a:lnTo>
                      <a:pt x="0" y="0"/>
                    </a:lnTo>
                    <a:lnTo>
                      <a:pt x="0" y="171450"/>
                    </a:lnTo>
                    <a:close/>
                  </a:path>
                </a:pathLst>
              </a:custGeom>
              <a:solidFill>
                <a:schemeClr val="accent3"/>
              </a:solidFill>
              <a:ln>
                <a:noFill/>
              </a:ln>
            </p:spPr>
          </p:sp>
          <p:sp>
            <p:nvSpPr>
              <p:cNvPr id="18" name="Rectangle 18"/>
              <p:cNvSpPr/>
              <p:nvPr/>
            </p:nvSpPr>
            <p:spPr>
              <a:xfrm>
                <a:off x="6429375" y="2333625"/>
                <a:ext cx="5229225" cy="1000125"/>
              </a:xfrm>
              <a:prstGeom prst="roundRect">
                <a:avLst>
                  <a:gd name="adj" fmla="val 15238"/>
                </a:avLst>
              </a:prstGeom>
              <a:solidFill>
                <a:srgbClr val="EAF6F0"/>
              </a:solidFill>
              <a:ln>
                <a:noFill/>
              </a:ln>
            </p:spPr>
          </p:sp>
          <p:sp>
            <p:nvSpPr>
              <p:cNvPr id="19" name="TextBox 19"/>
              <p:cNvSpPr txBox="1"/>
              <p:nvPr/>
            </p:nvSpPr>
            <p:spPr>
              <a:xfrm>
                <a:off x="6670548" y="2557939"/>
                <a:ext cx="65337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BÀI HỌC</a:t>
                </a:r>
              </a:p>
            </p:txBody>
          </p:sp>
          <p:sp>
            <p:nvSpPr>
              <p:cNvPr id="20" name="TextBox 20"/>
              <p:cNvSpPr txBox="1"/>
              <p:nvPr/>
            </p:nvSpPr>
            <p:spPr>
              <a:xfrm>
                <a:off x="6669405" y="2886075"/>
                <a:ext cx="46568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Giữ log, benchmark và mẫu đo chuẩn từ thực địa</a:t>
                </a:r>
              </a:p>
            </p:txBody>
          </p:sp>
        </p:grpSp>
        <p:grpSp>
          <p:nvGrpSpPr>
            <p:cNvPr id="30" name="Group 30"/>
            <p:cNvGrpSpPr/>
            <p:nvPr/>
          </p:nvGrpSpPr>
          <p:grpSpPr>
            <a:xfrm>
              <a:off x="533400" y="3524250"/>
              <a:ext cx="11125200" cy="1000125"/>
              <a:chOff x="533400" y="3524250"/>
              <a:chExt cx="11125200" cy="1000125"/>
            </a:xfrm>
          </p:grpSpPr>
          <p:sp>
            <p:nvSpPr>
              <p:cNvPr id="22" name="Rectangle 22"/>
              <p:cNvSpPr/>
              <p:nvPr/>
            </p:nvSpPr>
            <p:spPr>
              <a:xfrm>
                <a:off x="533400" y="3524250"/>
                <a:ext cx="4429125" cy="1000125"/>
              </a:xfrm>
              <a:prstGeom prst="roundRect">
                <a:avLst>
                  <a:gd name="adj" fmla="val 15238"/>
                </a:avLst>
              </a:prstGeom>
              <a:solidFill>
                <a:srgbClr val="FFF7E8"/>
              </a:solidFill>
              <a:ln>
                <a:noFill/>
              </a:ln>
            </p:spPr>
          </p:sp>
          <p:sp>
            <p:nvSpPr>
              <p:cNvPr id="23" name="TextBox 23"/>
              <p:cNvSpPr txBox="1"/>
              <p:nvPr/>
            </p:nvSpPr>
            <p:spPr>
              <a:xfrm>
                <a:off x="774573" y="3748564"/>
                <a:ext cx="1073951" cy="249364"/>
              </a:xfrm>
              <a:prstGeom prst="rect">
                <a:avLst/>
              </a:prstGeom>
              <a:noFill/>
              <a:ln>
                <a:noFill/>
              </a:ln>
            </p:spPr>
            <p:txBody>
              <a:bodyPr wrap="none" lIns="0" tIns="0" rIns="0" bIns="0" anchor="t" anchorCtr="0">
                <a:spAutoFit/>
              </a:bodyPr>
              <a:lstStyle/>
              <a:p>
                <a:pPr algn="l"/>
                <a:r>
                  <a:rPr lang="en-US" sz="1280" b="1" dirty="0">
                    <a:solidFill>
                      <a:srgbClr val="B56A00"/>
                    </a:solidFill>
                    <a:latin typeface="+mn-lt"/>
                    <a:ea typeface="+mn-ea"/>
                    <a:cs typeface="+mn-cs"/>
                  </a:rPr>
                  <a:t>KHÓ KHĂN 03</a:t>
                </a:r>
              </a:p>
            </p:txBody>
          </p:sp>
          <p:sp>
            <p:nvSpPr>
              <p:cNvPr id="24" name="TextBox 24"/>
              <p:cNvSpPr txBox="1"/>
              <p:nvPr/>
            </p:nvSpPr>
            <p:spPr>
              <a:xfrm>
                <a:off x="773430" y="4076700"/>
                <a:ext cx="242536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Yêu cầu nhà máy thay đổi</a:t>
                </a:r>
              </a:p>
            </p:txBody>
          </p:sp>
          <p:sp>
            <p:nvSpPr>
              <p:cNvPr id="25" name="Freeform 25"/>
              <p:cNvSpPr/>
              <p:nvPr/>
            </p:nvSpPr>
            <p:spPr>
              <a:xfrm>
                <a:off x="5191125" y="4019550"/>
                <a:ext cx="1000125" cy="9525"/>
              </a:xfrm>
              <a:custGeom>
                <a:avLst/>
                <a:gdLst/>
                <a:ahLst/>
                <a:cxnLst/>
                <a:rect l="l" t="t" r="r" b="b"/>
                <a:pathLst>
                  <a:path w="1000125" h="9525">
                    <a:moveTo>
                      <a:pt x="0" y="0"/>
                    </a:moveTo>
                    <a:lnTo>
                      <a:pt x="1000125" y="0"/>
                    </a:lnTo>
                  </a:path>
                </a:pathLst>
              </a:custGeom>
              <a:solidFill>
                <a:srgbClr val="000000"/>
              </a:solidFill>
              <a:ln w="38100">
                <a:solidFill>
                  <a:schemeClr val="accent3"/>
                </a:solidFill>
              </a:ln>
            </p:spPr>
          </p:sp>
          <p:sp>
            <p:nvSpPr>
              <p:cNvPr id="26" name="Freeform 26"/>
              <p:cNvSpPr/>
              <p:nvPr/>
            </p:nvSpPr>
            <p:spPr>
              <a:xfrm>
                <a:off x="6057900" y="3933825"/>
                <a:ext cx="133350" cy="171450"/>
              </a:xfrm>
              <a:custGeom>
                <a:avLst/>
                <a:gdLst/>
                <a:ahLst/>
                <a:cxnLst/>
                <a:rect l="l" t="t" r="r" b="b"/>
                <a:pathLst>
                  <a:path w="133350" h="171450">
                    <a:moveTo>
                      <a:pt x="133350" y="85725"/>
                    </a:moveTo>
                    <a:lnTo>
                      <a:pt x="0" y="0"/>
                    </a:lnTo>
                    <a:lnTo>
                      <a:pt x="0" y="171450"/>
                    </a:lnTo>
                    <a:close/>
                  </a:path>
                </a:pathLst>
              </a:custGeom>
              <a:solidFill>
                <a:schemeClr val="accent3"/>
              </a:solidFill>
              <a:ln>
                <a:noFill/>
              </a:ln>
            </p:spPr>
          </p:sp>
          <p:sp>
            <p:nvSpPr>
              <p:cNvPr id="27" name="Rectangle 27"/>
              <p:cNvSpPr/>
              <p:nvPr/>
            </p:nvSpPr>
            <p:spPr>
              <a:xfrm>
                <a:off x="6429375" y="3524250"/>
                <a:ext cx="5229225" cy="1000125"/>
              </a:xfrm>
              <a:prstGeom prst="roundRect">
                <a:avLst>
                  <a:gd name="adj" fmla="val 15238"/>
                </a:avLst>
              </a:prstGeom>
              <a:solidFill>
                <a:srgbClr val="EAF6F0"/>
              </a:solidFill>
              <a:ln>
                <a:noFill/>
              </a:ln>
            </p:spPr>
          </p:sp>
          <p:sp>
            <p:nvSpPr>
              <p:cNvPr id="28" name="TextBox 28"/>
              <p:cNvSpPr txBox="1"/>
              <p:nvPr/>
            </p:nvSpPr>
            <p:spPr>
              <a:xfrm>
                <a:off x="6670548" y="3748564"/>
                <a:ext cx="65337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BÀI HỌC</a:t>
                </a:r>
              </a:p>
            </p:txBody>
          </p:sp>
          <p:sp>
            <p:nvSpPr>
              <p:cNvPr id="29" name="TextBox 29"/>
              <p:cNvSpPr txBox="1"/>
              <p:nvPr/>
            </p:nvSpPr>
            <p:spPr>
              <a:xfrm>
                <a:off x="6669405" y="4076700"/>
                <a:ext cx="494897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Chốt acceptance và kiểm thử fixture trước rollout</a:t>
                </a:r>
              </a:p>
            </p:txBody>
          </p:sp>
        </p:grpSp>
        <p:grpSp>
          <p:nvGrpSpPr>
            <p:cNvPr id="39" name="Group 39"/>
            <p:cNvGrpSpPr/>
            <p:nvPr/>
          </p:nvGrpSpPr>
          <p:grpSpPr>
            <a:xfrm>
              <a:off x="533400" y="4714875"/>
              <a:ext cx="11125200" cy="1000125"/>
              <a:chOff x="533400" y="4714875"/>
              <a:chExt cx="11125200" cy="1000125"/>
            </a:xfrm>
          </p:grpSpPr>
          <p:sp>
            <p:nvSpPr>
              <p:cNvPr id="31" name="Rectangle 31"/>
              <p:cNvSpPr/>
              <p:nvPr/>
            </p:nvSpPr>
            <p:spPr>
              <a:xfrm>
                <a:off x="533400" y="4714875"/>
                <a:ext cx="4429125" cy="1000125"/>
              </a:xfrm>
              <a:prstGeom prst="roundRect">
                <a:avLst>
                  <a:gd name="adj" fmla="val 15238"/>
                </a:avLst>
              </a:prstGeom>
              <a:solidFill>
                <a:srgbClr val="FFF7E8"/>
              </a:solidFill>
              <a:ln>
                <a:noFill/>
              </a:ln>
            </p:spPr>
          </p:sp>
          <p:sp>
            <p:nvSpPr>
              <p:cNvPr id="32" name="TextBox 32"/>
              <p:cNvSpPr txBox="1"/>
              <p:nvPr/>
            </p:nvSpPr>
            <p:spPr>
              <a:xfrm>
                <a:off x="774573" y="4939189"/>
                <a:ext cx="1073951" cy="249364"/>
              </a:xfrm>
              <a:prstGeom prst="rect">
                <a:avLst/>
              </a:prstGeom>
              <a:noFill/>
              <a:ln>
                <a:noFill/>
              </a:ln>
            </p:spPr>
            <p:txBody>
              <a:bodyPr wrap="none" lIns="0" tIns="0" rIns="0" bIns="0" anchor="t" anchorCtr="0">
                <a:spAutoFit/>
              </a:bodyPr>
              <a:lstStyle/>
              <a:p>
                <a:pPr algn="l"/>
                <a:r>
                  <a:rPr lang="en-US" sz="1280" b="1" dirty="0">
                    <a:solidFill>
                      <a:srgbClr val="B56A00"/>
                    </a:solidFill>
                    <a:latin typeface="+mn-lt"/>
                    <a:ea typeface="+mn-ea"/>
                    <a:cs typeface="+mn-cs"/>
                  </a:rPr>
                  <a:t>KHÓ KHĂN 04</a:t>
                </a:r>
              </a:p>
            </p:txBody>
          </p:sp>
          <p:sp>
            <p:nvSpPr>
              <p:cNvPr id="33" name="TextBox 33"/>
              <p:cNvSpPr txBox="1"/>
              <p:nvPr/>
            </p:nvSpPr>
            <p:spPr>
              <a:xfrm>
                <a:off x="773430" y="5267325"/>
                <a:ext cx="294001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Phối hợp nhiều team và ưu tiên</a:t>
                </a:r>
              </a:p>
            </p:txBody>
          </p:sp>
          <p:sp>
            <p:nvSpPr>
              <p:cNvPr id="34" name="Freeform 34"/>
              <p:cNvSpPr/>
              <p:nvPr/>
            </p:nvSpPr>
            <p:spPr>
              <a:xfrm>
                <a:off x="5191125" y="5210175"/>
                <a:ext cx="1000125" cy="9525"/>
              </a:xfrm>
              <a:custGeom>
                <a:avLst/>
                <a:gdLst/>
                <a:ahLst/>
                <a:cxnLst/>
                <a:rect l="l" t="t" r="r" b="b"/>
                <a:pathLst>
                  <a:path w="1000125" h="9525">
                    <a:moveTo>
                      <a:pt x="0" y="0"/>
                    </a:moveTo>
                    <a:lnTo>
                      <a:pt x="1000125" y="0"/>
                    </a:lnTo>
                  </a:path>
                </a:pathLst>
              </a:custGeom>
              <a:solidFill>
                <a:srgbClr val="000000"/>
              </a:solidFill>
              <a:ln w="38100">
                <a:solidFill>
                  <a:schemeClr val="accent3"/>
                </a:solidFill>
              </a:ln>
            </p:spPr>
          </p:sp>
          <p:sp>
            <p:nvSpPr>
              <p:cNvPr id="35" name="Freeform 35"/>
              <p:cNvSpPr/>
              <p:nvPr/>
            </p:nvSpPr>
            <p:spPr>
              <a:xfrm>
                <a:off x="6057900" y="5124450"/>
                <a:ext cx="133350" cy="171450"/>
              </a:xfrm>
              <a:custGeom>
                <a:avLst/>
                <a:gdLst/>
                <a:ahLst/>
                <a:cxnLst/>
                <a:rect l="l" t="t" r="r" b="b"/>
                <a:pathLst>
                  <a:path w="133350" h="171450">
                    <a:moveTo>
                      <a:pt x="133350" y="85725"/>
                    </a:moveTo>
                    <a:lnTo>
                      <a:pt x="0" y="0"/>
                    </a:lnTo>
                    <a:lnTo>
                      <a:pt x="0" y="171450"/>
                    </a:lnTo>
                    <a:close/>
                  </a:path>
                </a:pathLst>
              </a:custGeom>
              <a:solidFill>
                <a:schemeClr val="accent3"/>
              </a:solidFill>
              <a:ln>
                <a:noFill/>
              </a:ln>
            </p:spPr>
          </p:sp>
          <p:sp>
            <p:nvSpPr>
              <p:cNvPr id="36" name="Rectangle 36"/>
              <p:cNvSpPr/>
              <p:nvPr/>
            </p:nvSpPr>
            <p:spPr>
              <a:xfrm>
                <a:off x="6429375" y="4714875"/>
                <a:ext cx="5229225" cy="1000125"/>
              </a:xfrm>
              <a:prstGeom prst="roundRect">
                <a:avLst>
                  <a:gd name="adj" fmla="val 15238"/>
                </a:avLst>
              </a:prstGeom>
              <a:solidFill>
                <a:srgbClr val="EAF6F0"/>
              </a:solidFill>
              <a:ln>
                <a:noFill/>
              </a:ln>
            </p:spPr>
          </p:sp>
          <p:sp>
            <p:nvSpPr>
              <p:cNvPr id="37" name="TextBox 37"/>
              <p:cNvSpPr txBox="1"/>
              <p:nvPr/>
            </p:nvSpPr>
            <p:spPr>
              <a:xfrm>
                <a:off x="6670548" y="4939189"/>
                <a:ext cx="65337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BÀI HỌC</a:t>
                </a:r>
              </a:p>
            </p:txBody>
          </p:sp>
          <p:sp>
            <p:nvSpPr>
              <p:cNvPr id="38" name="TextBox 38"/>
              <p:cNvSpPr txBox="1"/>
              <p:nvPr/>
            </p:nvSpPr>
            <p:spPr>
              <a:xfrm>
                <a:off x="6669405" y="5267325"/>
                <a:ext cx="444446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Decision log, owner rõ và handoff đủ context</a:t>
                </a:r>
              </a:p>
            </p:txBody>
          </p:sp>
        </p:grpSp>
      </p:grpSp>
      <p:sp>
        <p:nvSpPr>
          <p:cNvPr id="41" name="TextBox 41"/>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21 / 23</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86276" y="266700"/>
            <a:ext cx="1313447" cy="381000"/>
          </a:xfrm>
          <a:prstGeom prst="rect">
            <a:avLst/>
          </a:prstGeom>
        </p:spPr>
      </p:pic>
      <p:sp>
        <p:nvSpPr>
          <p:cNvPr id="3" name="TextBox 3"/>
          <p:cNvSpPr txBox="1"/>
          <p:nvPr/>
        </p:nvSpPr>
        <p:spPr>
          <a:xfrm>
            <a:off x="2462784" y="356235"/>
            <a:ext cx="2998080"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Mục tiêu sắp tới</a:t>
            </a:r>
          </a:p>
        </p:txBody>
      </p:sp>
      <p:grpSp>
        <p:nvGrpSpPr>
          <p:cNvPr id="31" name="Group 31"/>
          <p:cNvGrpSpPr/>
          <p:nvPr/>
        </p:nvGrpSpPr>
        <p:grpSpPr>
          <a:xfrm>
            <a:off x="533400" y="1285875"/>
            <a:ext cx="11313372" cy="3429000"/>
            <a:chOff x="533400" y="1285875"/>
            <a:chExt cx="11313372" cy="3429000"/>
          </a:xfrm>
        </p:grpSpPr>
        <p:grpSp>
          <p:nvGrpSpPr>
            <p:cNvPr id="12" name="Group 12"/>
            <p:cNvGrpSpPr/>
            <p:nvPr/>
          </p:nvGrpSpPr>
          <p:grpSpPr>
            <a:xfrm>
              <a:off x="533400" y="1285875"/>
              <a:ext cx="3429000" cy="3429000"/>
              <a:chOff x="533400" y="1285875"/>
              <a:chExt cx="3429000" cy="3429000"/>
            </a:xfrm>
          </p:grpSpPr>
          <p:sp>
            <p:nvSpPr>
              <p:cNvPr id="4" name="Rectangle 4"/>
              <p:cNvSpPr/>
              <p:nvPr/>
            </p:nvSpPr>
            <p:spPr>
              <a:xfrm>
                <a:off x="533400" y="1285875"/>
                <a:ext cx="3429000" cy="3429000"/>
              </a:xfrm>
              <a:prstGeom prst="roundRect">
                <a:avLst>
                  <a:gd name="adj" fmla="val 5556"/>
                </a:avLst>
              </a:prstGeom>
              <a:solidFill>
                <a:schemeClr val="accent1"/>
              </a:solidFill>
              <a:ln>
                <a:noFill/>
              </a:ln>
            </p:spPr>
          </p:sp>
          <p:sp>
            <p:nvSpPr>
              <p:cNvPr id="5" name="TextBox 5"/>
              <p:cNvSpPr txBox="1"/>
              <p:nvPr/>
            </p:nvSpPr>
            <p:spPr>
              <a:xfrm>
                <a:off x="812673" y="1624489"/>
                <a:ext cx="1418058"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NOW · 0–4 TUẦN</a:t>
                </a:r>
              </a:p>
            </p:txBody>
          </p:sp>
          <p:sp>
            <p:nvSpPr>
              <p:cNvPr id="6" name="TextBox 6"/>
              <p:cNvSpPr txBox="1"/>
              <p:nvPr/>
            </p:nvSpPr>
            <p:spPr>
              <a:xfrm>
                <a:off x="808482" y="2078355"/>
                <a:ext cx="2761899"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n-lt"/>
                    <a:ea typeface="+mn-ea"/>
                    <a:cs typeface="+mn-cs"/>
                  </a:rPr>
                  <a:t>Hoàn tất triển khai</a:t>
                </a:r>
              </a:p>
            </p:txBody>
          </p:sp>
          <p:sp>
            <p:nvSpPr>
              <p:cNvPr id="7" name="TextBox 7"/>
              <p:cNvSpPr txBox="1"/>
              <p:nvPr/>
            </p:nvSpPr>
            <p:spPr>
              <a:xfrm>
                <a:off x="811530" y="2676525"/>
                <a:ext cx="2785768"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mn-lt"/>
                    <a:ea typeface="+mn-ea"/>
                    <a:cs typeface="+mn-cs"/>
                  </a:rPr>
                  <a:t>Auto Test: đóng task còn lại</a:t>
                </a:r>
              </a:p>
            </p:txBody>
          </p:sp>
          <p:sp>
            <p:nvSpPr>
              <p:cNvPr id="8" name="TextBox 8"/>
              <p:cNvSpPr txBox="1"/>
              <p:nvPr/>
            </p:nvSpPr>
            <p:spPr>
              <a:xfrm>
                <a:off x="811530" y="3057525"/>
                <a:ext cx="3097940"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mn-lt"/>
                    <a:ea typeface="+mn-ea"/>
                    <a:cs typeface="+mn-cs"/>
                  </a:rPr>
                  <a:t>Smart Lighting: prototype tool</a:t>
                </a:r>
              </a:p>
            </p:txBody>
          </p:sp>
          <p:sp>
            <p:nvSpPr>
              <p:cNvPr id="9" name="TextBox 9"/>
              <p:cNvSpPr txBox="1"/>
              <p:nvPr/>
            </p:nvSpPr>
            <p:spPr>
              <a:xfrm>
                <a:off x="811530" y="3438525"/>
                <a:ext cx="2937344"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mn-lt"/>
                    <a:ea typeface="+mn-ea"/>
                    <a:cs typeface="+mn-cs"/>
                  </a:rPr>
                  <a:t>Xác nhận mốc và tiêu chí Done</a:t>
                </a:r>
              </a:p>
            </p:txBody>
          </p:sp>
          <p:sp>
            <p:nvSpPr>
              <p:cNvPr id="10" name="Rectangle 10"/>
              <p:cNvSpPr/>
              <p:nvPr/>
            </p:nvSpPr>
            <p:spPr>
              <a:xfrm>
                <a:off x="819150" y="4114800"/>
                <a:ext cx="1619250" cy="323850"/>
              </a:xfrm>
              <a:prstGeom prst="roundRect">
                <a:avLst>
                  <a:gd name="adj" fmla="val 50000"/>
                </a:avLst>
              </a:prstGeom>
              <a:solidFill>
                <a:schemeClr val="lt1">
                  <a:alpha val="18000"/>
                </a:schemeClr>
              </a:solidFill>
              <a:ln>
                <a:noFill/>
              </a:ln>
            </p:spPr>
          </p:sp>
          <p:sp>
            <p:nvSpPr>
              <p:cNvPr id="11" name="TextBox 11"/>
              <p:cNvSpPr txBox="1"/>
              <p:nvPr/>
            </p:nvSpPr>
            <p:spPr>
              <a:xfrm>
                <a:off x="1184961" y="4212431"/>
                <a:ext cx="887628" cy="220028"/>
              </a:xfrm>
              <a:prstGeom prst="rect">
                <a:avLst/>
              </a:prstGeom>
              <a:noFill/>
              <a:ln>
                <a:noFill/>
              </a:ln>
            </p:spPr>
            <p:txBody>
              <a:bodyPr wrap="none" lIns="0" tIns="0" rIns="0" bIns="0" anchor="t" anchorCtr="0">
                <a:spAutoFit/>
              </a:bodyPr>
              <a:lstStyle/>
              <a:p>
                <a:pPr algn="ctr"/>
                <a:r>
                  <a:rPr lang="en-US" sz="1120" dirty="0">
                    <a:solidFill>
                      <a:srgbClr val="FFFFFF"/>
                    </a:solidFill>
                    <a:latin typeface="+mn-lt"/>
                    <a:ea typeface="+mn-ea"/>
                    <a:cs typeface="+mn-cs"/>
                  </a:rPr>
                  <a:t>ƯU TIÊN CAO</a:t>
                </a:r>
              </a:p>
            </p:txBody>
          </p:sp>
        </p:grpSp>
        <p:grpSp>
          <p:nvGrpSpPr>
            <p:cNvPr id="21" name="Group 21"/>
            <p:cNvGrpSpPr/>
            <p:nvPr/>
          </p:nvGrpSpPr>
          <p:grpSpPr>
            <a:xfrm>
              <a:off x="4381500" y="1285875"/>
              <a:ext cx="3429000" cy="3429000"/>
              <a:chOff x="4381500" y="1285875"/>
              <a:chExt cx="3429000" cy="3429000"/>
            </a:xfrm>
          </p:grpSpPr>
          <p:sp>
            <p:nvSpPr>
              <p:cNvPr id="13" name="Rectangle 13"/>
              <p:cNvSpPr/>
              <p:nvPr/>
            </p:nvSpPr>
            <p:spPr>
              <a:xfrm>
                <a:off x="4381500" y="1285875"/>
                <a:ext cx="3429000" cy="3429000"/>
              </a:xfrm>
              <a:prstGeom prst="roundRect">
                <a:avLst>
                  <a:gd name="adj" fmla="val 5556"/>
                </a:avLst>
              </a:prstGeom>
              <a:solidFill>
                <a:srgbClr val="EAF6F0"/>
              </a:solidFill>
              <a:ln>
                <a:noFill/>
              </a:ln>
            </p:spPr>
          </p:sp>
          <p:sp>
            <p:nvSpPr>
              <p:cNvPr id="14" name="TextBox 14"/>
              <p:cNvSpPr txBox="1"/>
              <p:nvPr/>
            </p:nvSpPr>
            <p:spPr>
              <a:xfrm>
                <a:off x="4660773" y="1624489"/>
                <a:ext cx="155187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NEXT · 1–2 THÁNG</a:t>
                </a:r>
              </a:p>
            </p:txBody>
          </p:sp>
          <p:sp>
            <p:nvSpPr>
              <p:cNvPr id="15" name="TextBox 15"/>
              <p:cNvSpPr txBox="1"/>
              <p:nvPr/>
            </p:nvSpPr>
            <p:spPr>
              <a:xfrm>
                <a:off x="4656582" y="2078355"/>
                <a:ext cx="283637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Đóng vòng công việc</a:t>
                </a:r>
              </a:p>
            </p:txBody>
          </p:sp>
          <p:sp>
            <p:nvSpPr>
              <p:cNvPr id="16" name="TextBox 16"/>
              <p:cNvSpPr txBox="1"/>
              <p:nvPr/>
            </p:nvSpPr>
            <p:spPr>
              <a:xfrm>
                <a:off x="4659630" y="2676525"/>
                <a:ext cx="227780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Xử lý Late/Not started</a:t>
                </a:r>
              </a:p>
            </p:txBody>
          </p:sp>
          <p:sp>
            <p:nvSpPr>
              <p:cNvPr id="17" name="TextBox 17"/>
              <p:cNvSpPr txBox="1"/>
              <p:nvPr/>
            </p:nvSpPr>
            <p:spPr>
              <a:xfrm>
                <a:off x="4659630" y="3057525"/>
                <a:ext cx="238554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Cập nhật trạng thái MSB</a:t>
                </a:r>
              </a:p>
            </p:txBody>
          </p:sp>
          <p:sp>
            <p:nvSpPr>
              <p:cNvPr id="18" name="TextBox 18"/>
              <p:cNvSpPr txBox="1"/>
              <p:nvPr/>
            </p:nvSpPr>
            <p:spPr>
              <a:xfrm>
                <a:off x="4659630" y="3438525"/>
                <a:ext cx="286890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Weekly planning và review tải</a:t>
                </a:r>
              </a:p>
            </p:txBody>
          </p:sp>
          <p:sp>
            <p:nvSpPr>
              <p:cNvPr id="19" name="Rectangle 19"/>
              <p:cNvSpPr/>
              <p:nvPr/>
            </p:nvSpPr>
            <p:spPr>
              <a:xfrm>
                <a:off x="4667250" y="4114800"/>
                <a:ext cx="1619250" cy="323850"/>
              </a:xfrm>
              <a:prstGeom prst="roundRect">
                <a:avLst>
                  <a:gd name="adj" fmla="val 50000"/>
                </a:avLst>
              </a:prstGeom>
              <a:solidFill>
                <a:schemeClr val="accent1">
                  <a:alpha val="12000"/>
                </a:schemeClr>
              </a:solidFill>
              <a:ln>
                <a:noFill/>
              </a:ln>
            </p:spPr>
          </p:sp>
          <p:sp>
            <p:nvSpPr>
              <p:cNvPr id="20" name="TextBox 20"/>
              <p:cNvSpPr txBox="1"/>
              <p:nvPr/>
            </p:nvSpPr>
            <p:spPr>
              <a:xfrm>
                <a:off x="4849856" y="4212431"/>
                <a:ext cx="1254039" cy="220028"/>
              </a:xfrm>
              <a:prstGeom prst="rect">
                <a:avLst/>
              </a:prstGeom>
              <a:noFill/>
              <a:ln>
                <a:noFill/>
              </a:ln>
            </p:spPr>
            <p:txBody>
              <a:bodyPr wrap="none" lIns="0" tIns="0" rIns="0" bIns="0" anchor="t" anchorCtr="0">
                <a:spAutoFit/>
              </a:bodyPr>
              <a:lstStyle/>
              <a:p>
                <a:pPr algn="ctr"/>
                <a:r>
                  <a:rPr lang="en-US" sz="1120" dirty="0">
                    <a:solidFill>
                      <a:schemeClr val="accent1"/>
                    </a:solidFill>
                    <a:latin typeface="+mn-lt"/>
                    <a:ea typeface="+mn-ea"/>
                    <a:cs typeface="+mn-cs"/>
                  </a:rPr>
                  <a:t>KỶ LUẬT THỰC THI</a:t>
                </a:r>
              </a:p>
            </p:txBody>
          </p:sp>
        </p:grpSp>
        <p:grpSp>
          <p:nvGrpSpPr>
            <p:cNvPr id="30" name="Group 30"/>
            <p:cNvGrpSpPr/>
            <p:nvPr/>
          </p:nvGrpSpPr>
          <p:grpSpPr>
            <a:xfrm>
              <a:off x="8229600" y="1285875"/>
              <a:ext cx="3617172" cy="3429000"/>
              <a:chOff x="8229600" y="1285875"/>
              <a:chExt cx="3617172" cy="3429000"/>
            </a:xfrm>
          </p:grpSpPr>
          <p:sp>
            <p:nvSpPr>
              <p:cNvPr id="22" name="Rectangle 22"/>
              <p:cNvSpPr/>
              <p:nvPr/>
            </p:nvSpPr>
            <p:spPr>
              <a:xfrm>
                <a:off x="8229600" y="1285875"/>
                <a:ext cx="3429000" cy="3429000"/>
              </a:xfrm>
              <a:prstGeom prst="roundRect">
                <a:avLst>
                  <a:gd name="adj" fmla="val 5556"/>
                </a:avLst>
              </a:prstGeom>
              <a:solidFill>
                <a:srgbClr val="EEF3FF"/>
              </a:solidFill>
              <a:ln>
                <a:noFill/>
              </a:ln>
            </p:spPr>
          </p:sp>
          <p:sp>
            <p:nvSpPr>
              <p:cNvPr id="23" name="TextBox 23"/>
              <p:cNvSpPr txBox="1"/>
              <p:nvPr/>
            </p:nvSpPr>
            <p:spPr>
              <a:xfrm>
                <a:off x="8508873" y="1624489"/>
                <a:ext cx="16570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SCALE · 2–3 THÁNG</a:t>
                </a:r>
              </a:p>
            </p:txBody>
          </p:sp>
          <p:sp>
            <p:nvSpPr>
              <p:cNvPr id="24" name="TextBox 24"/>
              <p:cNvSpPr txBox="1"/>
              <p:nvPr/>
            </p:nvSpPr>
            <p:spPr>
              <a:xfrm>
                <a:off x="8504682" y="2078355"/>
                <a:ext cx="3342090"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Chuẩn hóa &amp; tái sử dụng</a:t>
                </a:r>
              </a:p>
            </p:txBody>
          </p:sp>
          <p:sp>
            <p:nvSpPr>
              <p:cNvPr id="25" name="TextBox 25"/>
              <p:cNvSpPr txBox="1"/>
              <p:nvPr/>
            </p:nvSpPr>
            <p:spPr>
              <a:xfrm>
                <a:off x="8507730" y="2676525"/>
                <a:ext cx="255629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Thư viện tool và test case</a:t>
                </a:r>
              </a:p>
            </p:txBody>
          </p:sp>
          <p:sp>
            <p:nvSpPr>
              <p:cNvPr id="26" name="TextBox 26"/>
              <p:cNvSpPr txBox="1"/>
              <p:nvPr/>
            </p:nvSpPr>
            <p:spPr>
              <a:xfrm>
                <a:off x="8507730" y="3057525"/>
                <a:ext cx="253573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Template tài liệu/handoff</a:t>
                </a:r>
              </a:p>
            </p:txBody>
          </p:sp>
          <p:sp>
            <p:nvSpPr>
              <p:cNvPr id="27" name="TextBox 27"/>
              <p:cNvSpPr txBox="1"/>
              <p:nvPr/>
            </p:nvSpPr>
            <p:spPr>
              <a:xfrm>
                <a:off x="8507730" y="3438525"/>
                <a:ext cx="247563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Đào tạo ngắn theo module</a:t>
                </a:r>
              </a:p>
            </p:txBody>
          </p:sp>
          <p:sp>
            <p:nvSpPr>
              <p:cNvPr id="28" name="Rectangle 28"/>
              <p:cNvSpPr/>
              <p:nvPr/>
            </p:nvSpPr>
            <p:spPr>
              <a:xfrm>
                <a:off x="8515350" y="4114800"/>
                <a:ext cx="1619250" cy="323850"/>
              </a:xfrm>
              <a:prstGeom prst="roundRect">
                <a:avLst>
                  <a:gd name="adj" fmla="val 50000"/>
                </a:avLst>
              </a:prstGeom>
              <a:solidFill>
                <a:schemeClr val="accent2">
                  <a:alpha val="12000"/>
                </a:schemeClr>
              </a:solidFill>
              <a:ln>
                <a:noFill/>
              </a:ln>
            </p:spPr>
          </p:sp>
          <p:sp>
            <p:nvSpPr>
              <p:cNvPr id="29" name="TextBox 29"/>
              <p:cNvSpPr txBox="1"/>
              <p:nvPr/>
            </p:nvSpPr>
            <p:spPr>
              <a:xfrm>
                <a:off x="8717869" y="4212431"/>
                <a:ext cx="1214211" cy="220028"/>
              </a:xfrm>
              <a:prstGeom prst="rect">
                <a:avLst/>
              </a:prstGeom>
              <a:noFill/>
              <a:ln>
                <a:noFill/>
              </a:ln>
            </p:spPr>
            <p:txBody>
              <a:bodyPr wrap="none" lIns="0" tIns="0" rIns="0" bIns="0" anchor="t" anchorCtr="0">
                <a:spAutoFit/>
              </a:bodyPr>
              <a:lstStyle/>
              <a:p>
                <a:pPr algn="ctr"/>
                <a:r>
                  <a:rPr lang="en-US" sz="1120" dirty="0">
                    <a:solidFill>
                      <a:schemeClr val="accent2"/>
                    </a:solidFill>
                    <a:latin typeface="+mn-lt"/>
                    <a:ea typeface="+mn-ea"/>
                    <a:cs typeface="+mn-cs"/>
                  </a:rPr>
                  <a:t>TÀI SẢN DÙNG LẠI</a:t>
                </a:r>
              </a:p>
            </p:txBody>
          </p:sp>
        </p:grpSp>
      </p:grpSp>
      <p:grpSp>
        <p:nvGrpSpPr>
          <p:cNvPr id="41" name="Group 41"/>
          <p:cNvGrpSpPr/>
          <p:nvPr/>
        </p:nvGrpSpPr>
        <p:grpSpPr>
          <a:xfrm>
            <a:off x="526923" y="5291614"/>
            <a:ext cx="11131677" cy="766286"/>
            <a:chOff x="526923" y="5291614"/>
            <a:chExt cx="11131677" cy="766286"/>
          </a:xfrm>
        </p:grpSpPr>
        <p:sp>
          <p:nvSpPr>
            <p:cNvPr id="32" name="TextBox 32"/>
            <p:cNvSpPr txBox="1"/>
            <p:nvPr/>
          </p:nvSpPr>
          <p:spPr>
            <a:xfrm>
              <a:off x="526923" y="5291614"/>
              <a:ext cx="143717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CHỈ SỐ THEO DÕI</a:t>
              </a:r>
            </a:p>
          </p:txBody>
        </p:sp>
        <p:sp>
          <p:nvSpPr>
            <p:cNvPr id="33" name="Rectangle 33"/>
            <p:cNvSpPr/>
            <p:nvPr/>
          </p:nvSpPr>
          <p:spPr>
            <a:xfrm>
              <a:off x="533400" y="5600700"/>
              <a:ext cx="2571750" cy="457200"/>
            </a:xfrm>
            <a:prstGeom prst="roundRect">
              <a:avLst>
                <a:gd name="adj" fmla="val 25000"/>
              </a:avLst>
            </a:prstGeom>
            <a:solidFill>
              <a:schemeClr val="lt2"/>
            </a:solidFill>
            <a:ln>
              <a:noFill/>
            </a:ln>
          </p:spPr>
        </p:sp>
        <p:sp>
          <p:nvSpPr>
            <p:cNvPr id="34" name="TextBox 34"/>
            <p:cNvSpPr txBox="1"/>
            <p:nvPr/>
          </p:nvSpPr>
          <p:spPr>
            <a:xfrm>
              <a:off x="977107" y="5748814"/>
              <a:ext cx="1684337" cy="249364"/>
            </a:xfrm>
            <a:prstGeom prst="rect">
              <a:avLst/>
            </a:prstGeom>
            <a:noFill/>
            <a:ln>
              <a:noFill/>
            </a:ln>
          </p:spPr>
          <p:txBody>
            <a:bodyPr wrap="none" lIns="0" tIns="0" rIns="0" bIns="0" anchor="t" anchorCtr="0">
              <a:spAutoFit/>
            </a:bodyPr>
            <a:lstStyle/>
            <a:p>
              <a:pPr algn="ctr"/>
              <a:r>
                <a:rPr lang="en-US" sz="1280" dirty="0">
                  <a:solidFill>
                    <a:schemeClr val="dk1"/>
                  </a:solidFill>
                  <a:latin typeface="+mn-lt"/>
                  <a:ea typeface="+mn-ea"/>
                  <a:cs typeface="+mn-cs"/>
                </a:rPr>
                <a:t>Task đúng hạn ≥ 95%</a:t>
              </a:r>
            </a:p>
          </p:txBody>
        </p:sp>
        <p:sp>
          <p:nvSpPr>
            <p:cNvPr id="35" name="Rectangle 35"/>
            <p:cNvSpPr/>
            <p:nvPr/>
          </p:nvSpPr>
          <p:spPr>
            <a:xfrm>
              <a:off x="3333750" y="5600700"/>
              <a:ext cx="2571750" cy="457200"/>
            </a:xfrm>
            <a:prstGeom prst="roundRect">
              <a:avLst>
                <a:gd name="adj" fmla="val 25000"/>
              </a:avLst>
            </a:prstGeom>
            <a:solidFill>
              <a:schemeClr val="lt2"/>
            </a:solidFill>
            <a:ln>
              <a:noFill/>
            </a:ln>
          </p:spPr>
        </p:sp>
        <p:sp>
          <p:nvSpPr>
            <p:cNvPr id="36" name="TextBox 36"/>
            <p:cNvSpPr txBox="1"/>
            <p:nvPr/>
          </p:nvSpPr>
          <p:spPr>
            <a:xfrm>
              <a:off x="3829121" y="5748814"/>
              <a:ext cx="1581008" cy="249364"/>
            </a:xfrm>
            <a:prstGeom prst="rect">
              <a:avLst/>
            </a:prstGeom>
            <a:noFill/>
            <a:ln>
              <a:noFill/>
            </a:ln>
          </p:spPr>
          <p:txBody>
            <a:bodyPr wrap="none" lIns="0" tIns="0" rIns="0" bIns="0" anchor="t" anchorCtr="0">
              <a:spAutoFit/>
            </a:bodyPr>
            <a:lstStyle/>
            <a:p>
              <a:pPr algn="ctr"/>
              <a:r>
                <a:rPr lang="en-US" sz="1280" dirty="0">
                  <a:solidFill>
                    <a:schemeClr val="dk1"/>
                  </a:solidFill>
                  <a:latin typeface="+mn-lt"/>
                  <a:ea typeface="+mn-ea"/>
                  <a:cs typeface="+mn-cs"/>
                </a:rPr>
                <a:t>0 task thiếu owner</a:t>
              </a:r>
            </a:p>
          </p:txBody>
        </p:sp>
        <p:sp>
          <p:nvSpPr>
            <p:cNvPr id="37" name="Rectangle 37"/>
            <p:cNvSpPr/>
            <p:nvPr/>
          </p:nvSpPr>
          <p:spPr>
            <a:xfrm>
              <a:off x="6134100" y="5600700"/>
              <a:ext cx="2571750" cy="457200"/>
            </a:xfrm>
            <a:prstGeom prst="roundRect">
              <a:avLst>
                <a:gd name="adj" fmla="val 25000"/>
              </a:avLst>
            </a:prstGeom>
            <a:solidFill>
              <a:schemeClr val="lt2"/>
            </a:solidFill>
            <a:ln>
              <a:noFill/>
            </a:ln>
          </p:spPr>
        </p:sp>
        <p:sp>
          <p:nvSpPr>
            <p:cNvPr id="38" name="TextBox 38"/>
            <p:cNvSpPr txBox="1"/>
            <p:nvPr/>
          </p:nvSpPr>
          <p:spPr>
            <a:xfrm>
              <a:off x="6409771" y="5748814"/>
              <a:ext cx="2020407" cy="249364"/>
            </a:xfrm>
            <a:prstGeom prst="rect">
              <a:avLst/>
            </a:prstGeom>
            <a:noFill/>
            <a:ln>
              <a:noFill/>
            </a:ln>
          </p:spPr>
          <p:txBody>
            <a:bodyPr wrap="none" lIns="0" tIns="0" rIns="0" bIns="0" anchor="t" anchorCtr="0">
              <a:spAutoFit/>
            </a:bodyPr>
            <a:lstStyle/>
            <a:p>
              <a:pPr algn="ctr"/>
              <a:r>
                <a:rPr lang="en-US" sz="1280" dirty="0">
                  <a:solidFill>
                    <a:schemeClr val="dk1"/>
                  </a:solidFill>
                  <a:latin typeface="+mn-lt"/>
                  <a:ea typeface="+mn-ea"/>
                  <a:cs typeface="+mn-cs"/>
                </a:rPr>
                <a:t>100% handoff có tài liệu</a:t>
              </a:r>
            </a:p>
          </p:txBody>
        </p:sp>
        <p:sp>
          <p:nvSpPr>
            <p:cNvPr id="39" name="Rectangle 39"/>
            <p:cNvSpPr/>
            <p:nvPr/>
          </p:nvSpPr>
          <p:spPr>
            <a:xfrm>
              <a:off x="8934450" y="5600700"/>
              <a:ext cx="2724150" cy="457200"/>
            </a:xfrm>
            <a:prstGeom prst="roundRect">
              <a:avLst>
                <a:gd name="adj" fmla="val 25000"/>
              </a:avLst>
            </a:prstGeom>
            <a:solidFill>
              <a:schemeClr val="lt2"/>
            </a:solidFill>
            <a:ln>
              <a:noFill/>
            </a:ln>
          </p:spPr>
        </p:sp>
        <p:sp>
          <p:nvSpPr>
            <p:cNvPr id="40" name="TextBox 40"/>
            <p:cNvSpPr txBox="1"/>
            <p:nvPr/>
          </p:nvSpPr>
          <p:spPr>
            <a:xfrm>
              <a:off x="9251859" y="5748814"/>
              <a:ext cx="2089333" cy="249364"/>
            </a:xfrm>
            <a:prstGeom prst="rect">
              <a:avLst/>
            </a:prstGeom>
            <a:noFill/>
            <a:ln>
              <a:noFill/>
            </a:ln>
          </p:spPr>
          <p:txBody>
            <a:bodyPr wrap="none" lIns="0" tIns="0" rIns="0" bIns="0" anchor="t" anchorCtr="0">
              <a:spAutoFit/>
            </a:bodyPr>
            <a:lstStyle/>
            <a:p>
              <a:pPr algn="ctr"/>
              <a:r>
                <a:rPr lang="en-US" sz="1280" dirty="0">
                  <a:solidFill>
                    <a:schemeClr val="dk1"/>
                  </a:solidFill>
                  <a:latin typeface="+mn-lt"/>
                  <a:ea typeface="+mn-ea"/>
                  <a:cs typeface="+mn-cs"/>
                </a:rPr>
                <a:t>1 tài sản dùng lại / tháng</a:t>
              </a:r>
            </a:p>
          </p:txBody>
        </p:sp>
      </p:grpSp>
      <p:sp>
        <p:nvSpPr>
          <p:cNvPr id="42" name="TextBox 42"/>
          <p:cNvSpPr txBox="1"/>
          <p:nvPr/>
        </p:nvSpPr>
        <p:spPr>
          <a:xfrm>
            <a:off x="11141640" y="6630352"/>
            <a:ext cx="484194" cy="205359"/>
          </a:xfrm>
          <a:prstGeom prst="rect">
            <a:avLst/>
          </a:prstGeom>
          <a:noFill/>
          <a:ln>
            <a:noFill/>
          </a:ln>
        </p:spPr>
        <p:txBody>
          <a:bodyPr wrap="none" lIns="0" tIns="0" rIns="0" bIns="0" anchor="t" anchorCtr="0">
            <a:spAutoFit/>
          </a:bodyPr>
          <a:lstStyle/>
          <a:p>
            <a:pPr algn="r"/>
            <a:r>
              <a:rPr lang="en-US" sz="1050" dirty="0">
                <a:solidFill>
                  <a:srgbClr val="66706A"/>
                </a:solidFill>
                <a:latin typeface="+mn-lt"/>
                <a:ea typeface="+mn-ea"/>
                <a:cs typeface="+mn-cs"/>
              </a:rPr>
              <a:t>22 / 23</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400050" y="323850"/>
            <a:ext cx="1562100" cy="457200"/>
          </a:xfrm>
          <a:prstGeom prst="rect">
            <a:avLst/>
          </a:prstGeom>
        </p:spPr>
      </p:pic>
      <p:grpSp>
        <p:nvGrpSpPr>
          <p:cNvPr id="4" name="Group 4"/>
          <p:cNvGrpSpPr/>
          <p:nvPr/>
        </p:nvGrpSpPr>
        <p:grpSpPr>
          <a:xfrm>
            <a:off x="1224534" y="3042285"/>
            <a:ext cx="1390802" cy="528066"/>
            <a:chOff x="1224534" y="3042285"/>
            <a:chExt cx="1390802" cy="528066"/>
          </a:xfrm>
        </p:grpSpPr>
        <p:sp>
          <p:nvSpPr>
            <p:cNvPr id="3" name="TextBox 3"/>
            <p:cNvSpPr txBox="1"/>
            <p:nvPr/>
          </p:nvSpPr>
          <p:spPr>
            <a:xfrm>
              <a:off x="1224534" y="3042285"/>
              <a:ext cx="1390802" cy="528066"/>
            </a:xfrm>
            <a:prstGeom prst="rect">
              <a:avLst/>
            </a:prstGeom>
            <a:noFill/>
            <a:ln>
              <a:noFill/>
            </a:ln>
          </p:spPr>
          <p:txBody>
            <a:bodyPr wrap="none" lIns="0" tIns="0" rIns="0" bIns="0" anchor="t" anchorCtr="0">
              <a:spAutoFit/>
            </a:bodyPr>
            <a:lstStyle/>
            <a:p>
              <a:pPr algn="l"/>
              <a:r>
                <a:rPr lang="en-US" sz="2700" dirty="0">
                  <a:solidFill>
                    <a:srgbClr val="FFFFFF"/>
                  </a:solidFill>
                  <a:latin typeface="+mn-lt"/>
                  <a:ea typeface="+mn-ea"/>
                  <a:cs typeface="+mn-cs"/>
                </a:rPr>
                <a:t>CẢM ƠN!</a:t>
              </a:r>
            </a:p>
          </p:txBody>
        </p:sp>
      </p:grpSp>
      <p:grpSp>
        <p:nvGrpSpPr>
          <p:cNvPr id="6" name="Group 6"/>
          <p:cNvGrpSpPr/>
          <p:nvPr/>
        </p:nvGrpSpPr>
        <p:grpSpPr>
          <a:xfrm>
            <a:off x="5334000" y="476250"/>
            <a:ext cx="5715000" cy="5715000"/>
            <a:chOff x="5334000" y="476250"/>
            <a:chExt cx="5715000" cy="5715000"/>
          </a:xfrm>
        </p:grpSpPr>
        <p:pic>
          <p:nvPicPr>
            <p:cNvPr id="5" name="Image 5"/>
            <p:cNvPicPr>
              <a:picLocks noChangeAspect="1"/>
            </p:cNvPicPr>
            <p:nvPr/>
          </p:nvPicPr>
          <p:blipFill>
            <a:blip r:embed="rId3"/>
            <a:stretch>
              <a:fillRect/>
            </a:stretch>
          </p:blipFill>
          <p:spPr>
            <a:xfrm>
              <a:off x="5334000" y="476250"/>
              <a:ext cx="5715000" cy="5715000"/>
            </a:xfrm>
            <a:prstGeom prst="rect">
              <a:avLst/>
            </a:prstGeom>
          </p:spPr>
        </p:pic>
      </p:grpSp>
      <p:grpSp>
        <p:nvGrpSpPr>
          <p:cNvPr id="10" name="Group 10"/>
          <p:cNvGrpSpPr/>
          <p:nvPr/>
        </p:nvGrpSpPr>
        <p:grpSpPr>
          <a:xfrm>
            <a:off x="6572250" y="1238250"/>
            <a:ext cx="3714750" cy="3597213"/>
            <a:chOff x="6572250" y="1238250"/>
            <a:chExt cx="3714750" cy="3597213"/>
          </a:xfrm>
        </p:grpSpPr>
        <p:pic>
          <p:nvPicPr>
            <p:cNvPr id="7" name="Image 7"/>
            <p:cNvPicPr>
              <a:picLocks noChangeAspect="1"/>
            </p:cNvPicPr>
            <p:nvPr/>
          </p:nvPicPr>
          <p:blipFill>
            <a:blip r:embed="rId4"/>
            <a:stretch>
              <a:fillRect/>
            </a:stretch>
          </p:blipFill>
          <p:spPr>
            <a:xfrm>
              <a:off x="6572250" y="1736787"/>
              <a:ext cx="1619250" cy="3098676"/>
            </a:xfrm>
            <a:prstGeom prst="rect">
              <a:avLst/>
            </a:prstGeom>
          </p:spPr>
        </p:pic>
        <p:pic>
          <p:nvPicPr>
            <p:cNvPr id="8" name="Image 8"/>
            <p:cNvPicPr>
              <a:picLocks noChangeAspect="1"/>
            </p:cNvPicPr>
            <p:nvPr/>
          </p:nvPicPr>
          <p:blipFill>
            <a:blip r:embed="rId5"/>
            <a:stretch>
              <a:fillRect/>
            </a:stretch>
          </p:blipFill>
          <p:spPr>
            <a:xfrm>
              <a:off x="7810500" y="1238250"/>
              <a:ext cx="1619250" cy="3476625"/>
            </a:xfrm>
            <a:prstGeom prst="rect">
              <a:avLst/>
            </a:prstGeom>
          </p:spPr>
        </p:pic>
        <p:pic>
          <p:nvPicPr>
            <p:cNvPr id="9" name="Image 9"/>
            <p:cNvPicPr>
              <a:picLocks noChangeAspect="1"/>
            </p:cNvPicPr>
            <p:nvPr/>
          </p:nvPicPr>
          <p:blipFill>
            <a:blip r:embed="rId6"/>
            <a:stretch>
              <a:fillRect/>
            </a:stretch>
          </p:blipFill>
          <p:spPr>
            <a:xfrm>
              <a:off x="8858250" y="1818409"/>
              <a:ext cx="1428750" cy="2840182"/>
            </a:xfrm>
            <a:prstGeom prst="rect">
              <a:avLst/>
            </a:prstGeom>
          </p:spPr>
        </p:pic>
      </p:grpSp>
      <p:sp>
        <p:nvSpPr>
          <p:cNvPr id="11" name="TextBox 11"/>
          <p:cNvSpPr txBox="1"/>
          <p:nvPr/>
        </p:nvSpPr>
        <p:spPr>
          <a:xfrm>
            <a:off x="393954" y="6290310"/>
            <a:ext cx="103799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www.lumi.vn</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review_nhan_su_t7_redesign">
  <a:themeElements>
    <a:clrScheme name="review_nhan_su_t7_redesign">
      <a:dk1>
        <a:srgbClr val="1F2329"/>
      </a:dk1>
      <a:lt1>
        <a:srgbClr val="FFFFFF"/>
      </a:lt1>
      <a:dk2>
        <a:srgbClr val="1F497D"/>
      </a:dk2>
      <a:lt2>
        <a:srgbClr val="F4F7F5"/>
      </a:lt2>
      <a:accent1>
        <a:srgbClr val="008C4F"/>
      </a:accent1>
      <a:accent2>
        <a:srgbClr val="1456F0"/>
      </a:accent2>
      <a:accent3>
        <a:srgbClr val="79C6A3"/>
      </a:accent3>
      <a:accent4>
        <a:srgbClr val="008C4F"/>
      </a:accent4>
      <a:accent5>
        <a:srgbClr val="008C4F"/>
      </a:accent5>
      <a:accent6>
        <a:srgbClr val="F79646"/>
      </a:accent6>
      <a:hlink>
        <a:srgbClr val="1456F0"/>
      </a:hlink>
      <a:folHlink>
        <a:srgbClr val="79C6A3"/>
      </a:folHlink>
    </a:clrScheme>
    <a:fontScheme name="review_nhan_su_t7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view_nhan_su_t7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review_nhan_su_t7_redesign">
  <a:themeElements>
    <a:clrScheme name="review_nhan_su_t7_redesign">
      <a:dk1>
        <a:srgbClr val="1F2329"/>
      </a:dk1>
      <a:lt1>
        <a:srgbClr val="FFFFFF"/>
      </a:lt1>
      <a:dk2>
        <a:srgbClr val="1F497D"/>
      </a:dk2>
      <a:lt2>
        <a:srgbClr val="F4F7F5"/>
      </a:lt2>
      <a:accent1>
        <a:srgbClr val="008C4F"/>
      </a:accent1>
      <a:accent2>
        <a:srgbClr val="1456F0"/>
      </a:accent2>
      <a:accent3>
        <a:srgbClr val="79C6A3"/>
      </a:accent3>
      <a:accent4>
        <a:srgbClr val="008C4F"/>
      </a:accent4>
      <a:accent5>
        <a:srgbClr val="008C4F"/>
      </a:accent5>
      <a:accent6>
        <a:srgbClr val="F79646"/>
      </a:accent6>
      <a:hlink>
        <a:srgbClr val="1456F0"/>
      </a:hlink>
      <a:folHlink>
        <a:srgbClr val="79C6A3"/>
      </a:folHlink>
    </a:clrScheme>
    <a:fontScheme name="review_nhan_su_t7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view_nhan_su_t7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2026-07-24T14:01:12Z</dcterms:created>
  <dcterms:modified xsi:type="dcterms:W3CDTF">2026-07-24T14:01:12Z</dcterms:modified>
  <cp:category/>
  <cp:contentStatus/>
</cp:coreProperties>
</file>
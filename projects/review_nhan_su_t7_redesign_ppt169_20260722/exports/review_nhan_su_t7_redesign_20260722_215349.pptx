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Xin chào anh chị. Đây là phần review nhân sự tháng 7 của Nguyễn Văn Dương, tổng hợp các công việc từ ngày 20 tháng 3 đến ngày 22 tháng 7 năm 2026. Nội dung tập trung vào kết quả thực tế, các năng lực đã được củng cố và trọng tâm triển khai tiếp theo.</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Phần đầu đi từ tổng quan kết quả đến ba lớp đóng góp chính trong KNX: thiết bị và firmware, tool/Jig, rồi kiểm thử hệ thống. Mục lục được tách thành hai trang để mỗi ý có khoảng thở và giữ đúng phong cách điện thoại, nhãn số của mẫu LUMI.</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Phần sau trình bày hoạt động đào tạo và tài liệu, các dự án hoặc tool ngoài KNX, cuối cùng là năng lực hình thành và kế hoạch tiếp theo. Như vậy deck có bảy nhóm nội dung chính thay vì chỉ bốn mục chung như bản cũ.</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Trong giai đoạn đánh giá có 114 task được ghi nhận, trong đó 102 task đã Done, tương đương 89,5%. Có 98 task thuộc KNX và tổng cộng bảy nhóm dự án. Các trạng thái còn lại gồm 5 Ongoing, 4 Not yet started, 2 Late và 1 Closed.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Nhìn theo thời gian, công việc phát triển theo bốn chặng. Tháng 3 và 4 tập trung firmware và thiết bị. Tháng 5 mở rộng sang Jig, loader và test hệ thống. Tháng 6 bổ sung benchmark và đào tạo. Tháng 7 tiếp tục với LUKA, Topology và Auto Test.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Ở nhóm thiết bị và firmware KNX, công việc bao phủ firmware cho thiết bị 2/4 nút, Rèm, Actuator, phát triển KNOB và xử lý file knxprod. Điều quan trọng là các đầu ra được cập nhật qua nhiều vòng test để sẵn sàng cho tích hợp và bàn giao.</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Song song với thiết bị, mình phát triển Jig và code loader để chuẩn hóa vòng lặp build, load và verify. Tool hóa các thao tác này giúp giảm bước thủ công, hỗ trợ benchmark và tạo cơ sở để người khác có thể tiếp nhận quy trình dễ hơn.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Phạm vi kiểm thử không chỉ dừng ở thiết bị đơn lẻ. Mình thực hiện benchmark Jig/tool, test tương tác hệ thống, xử lý tình huống GA delay hoặc miss, đồng thời kiểm tra Coupler và GA secure. Cách làm là tái hiện, đối chiếu và xác nhận lại sau khi sửa.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Một phần quan trọng khác là hệ thống hóa kiến thức KNX. Các đầu ra gồm giáo trình, slide ETS, Quiz, Topology và LUKA Q&amp;A. Nội dung này phục vụ Dev, Tester, App và nhân sự mới, giúp đội ngũ chủ động hơn khi học và xử lý tình huống.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Tài liệu được xem như một phần của đầu ra kỹ thuật. API và flow hỗ trợ phát triển; hướng dẫn tool và Jig hỗ trợ thao tác; slide và Quiz hỗ trợ đào tạo; Q&amp;A và Topology hỗ trợ xử lý tình huống. Nhờ vậy quá trình bàn giao có một nguồn thông tin nhất quán.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Ở Auto Test, mình đang xây nền với ba lớp: API servo/cảm biến, luồng điều phối và phần cứng điều khiển. Tại ngày 22 tháng 7 có năm task Ongoing, trong đó trọng tâm gần nhất là hoàn thiện module servo/cảm biến và chức năng trên mạch điều khiển.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Ngoài KNX và Auto Test, kinh nghiệm được áp dụng trên nhiều nhóm khác: LumesV2 với test, source và programming; MSB với Jig kiểm tra năng lượng; IoT với Luto loader; Smart Lighting với tool test Deep Dimming và CCT Tunable.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Nhìn từ các đầu ra, năm năng lực được củng cố là firmware và thiết bị, Tool/Jig automation, kiểm thử hệ thống, tài liệu và đào tạo, cùng khả năng phối hợp đa nhóm. Điểm nổi bật là các năng lực này nối thành một chuỗi build, test và share hoàn chỉnh.</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Trọng tâm tiếp theo gồm ba horizon. Now là hoàn thiện Auto Test. Next là xử lý các task Late và Not yet started, đồng thời xác nhận chất lượng. Scale là chuẩn hóa tool, test case và tài liệu để tăng khả năng tái sử dụng. Chỉ số theo dõi nên bám task Done và thời gian vòng lặp test.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Tóm lại, giai đoạn này có 102 task Done trên bảy nhóm dự án, với trọng tâm rõ ràng ở KNX và bước mở rộng sang automation, tool. Giai đoạn tiếp theo sẽ ưu tiên hoàn thiện Auto Test và chuẩn hóa các tài sản dùng lại. Cảm ơn anh chị và mình sẵn sàng trao đổi thêm.</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review_nhan_su_t7_re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review_nhan_su_t7_re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3ef018bf0b10f2b.png"/>
  <Relationship Id="rId3" Type="http://schemas.openxmlformats.org/officeDocument/2006/relationships/image" Target="../media/image_8fa7a601c29ca778.png"/>
  <Relationship Id="rId4"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010fcf8f9f909b91.png"/>
  <Relationship Id="rId4"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010fcf8f9f909b91.png"/>
  <Relationship Id="rId4"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3db7369d2c1e7d49.jpg"/>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ebf0602e5ed4ba86.jpg"/>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6519313ef59a5f53.png"/>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0ee3708cd69e1814.jpg"/>
  <Relationship Id="rId4"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image" Target="../media/image_deea19358d7d9df9.jpg"/>
  <Relationship Id="rId4" Type="http://schemas.openxmlformats.org/officeDocument/2006/relationships/image" Target="../media/image_5a1205fbd766d78e.png"/>
  <Relationship Id="rId5"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7a601c29ca778.pn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3ef018bf0b10f2b.png"/>
  <Relationship Id="rId3" Type="http://schemas.openxmlformats.org/officeDocument/2006/relationships/image" Target="../media/image_8fa7a601c29ca778.png"/>
  <Relationship Id="rId4"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0" y="-1790700"/>
            <a:ext cx="13335000" cy="8648700"/>
            <a:chOff x="0" y="-1790700"/>
            <a:chExt cx="13335000" cy="8648700"/>
          </a:xfrm>
        </p:grpSpPr>
        <p:sp>
          <p:nvSpPr>
            <p:cNvPr id="2" name="Rectangle 2"/>
            <p:cNvSpPr/>
            <p:nvPr/>
          </p:nvSpPr>
          <p:spPr>
            <a:xfrm>
              <a:off x="0" y="0"/>
              <a:ext cx="171450" cy="6858000"/>
            </a:xfrm>
            <a:prstGeom prst="rect">
              <a:avLst/>
            </a:prstGeom>
            <a:solidFill>
              <a:schemeClr val="accent1"/>
            </a:solidFill>
            <a:ln>
              <a:noFill/>
            </a:ln>
          </p:spPr>
        </p:sp>
        <p:sp>
          <p:nvSpPr>
            <p:cNvPr id="3" name="Ellipse 3"/>
            <p:cNvSpPr/>
            <p:nvPr/>
          </p:nvSpPr>
          <p:spPr>
            <a:xfrm>
              <a:off x="7429500" y="-1790700"/>
              <a:ext cx="5905500" cy="5905500"/>
            </a:xfrm>
            <a:prstGeom prst="ellipse">
              <a:avLst/>
            </a:prstGeom>
            <a:solidFill>
              <a:schemeClr val="lt2"/>
            </a:solidFill>
            <a:ln>
              <a:noFill/>
            </a:ln>
          </p:spPr>
        </p:sp>
        <p:pic>
          <p:nvPicPr>
            <p:cNvPr id="4" name="Image 4"/>
            <p:cNvPicPr>
              <a:picLocks noChangeAspect="1"/>
            </p:cNvPicPr>
            <p:nvPr/>
          </p:nvPicPr>
          <p:blipFill>
            <a:blip r:embed="rId2">
              <a:alphaModFix amt="94000"/>
            </a:blip>
            <a:stretch>
              <a:fillRect/>
            </a:stretch>
          </p:blipFill>
          <p:spPr>
            <a:xfrm>
              <a:off x="7429500" y="0"/>
              <a:ext cx="4762500" cy="4762500"/>
            </a:xfrm>
            <a:prstGeom prst="rect">
              <a:avLst/>
            </a:prstGeom>
          </p:spPr>
        </p:pic>
        <p:sp>
          <p:nvSpPr>
            <p:cNvPr id="5" name="Ellipse 5"/>
            <p:cNvSpPr/>
            <p:nvPr/>
          </p:nvSpPr>
          <p:spPr>
            <a:xfrm>
              <a:off x="7581900" y="2933700"/>
              <a:ext cx="2781300" cy="2781300"/>
            </a:xfrm>
            <a:prstGeom prst="ellipse">
              <a:avLst/>
            </a:prstGeom>
            <a:solidFill>
              <a:schemeClr val="accent1"/>
            </a:solidFill>
            <a:ln>
              <a:noFill/>
            </a:ln>
          </p:spPr>
        </p:sp>
        <p:sp>
          <p:nvSpPr>
            <p:cNvPr id="6" name="Ellipse 6"/>
            <p:cNvSpPr/>
            <p:nvPr/>
          </p:nvSpPr>
          <p:spPr>
            <a:xfrm>
              <a:off x="7934325" y="3286125"/>
              <a:ext cx="2076450" cy="2076450"/>
            </a:xfrm>
            <a:prstGeom prst="ellipse">
              <a:avLst/>
            </a:prstGeom>
            <a:solidFill>
              <a:schemeClr val="lt1"/>
            </a:solidFill>
            <a:ln>
              <a:noFill/>
            </a:ln>
          </p:spPr>
        </p:sp>
        <p:sp>
          <p:nvSpPr>
            <p:cNvPr id="7" name="Ellipse 7"/>
            <p:cNvSpPr/>
            <p:nvPr/>
          </p:nvSpPr>
          <p:spPr>
            <a:xfrm>
              <a:off x="8829675" y="4181475"/>
              <a:ext cx="285750" cy="285750"/>
            </a:xfrm>
            <a:prstGeom prst="ellipse">
              <a:avLst/>
            </a:prstGeom>
            <a:solidFill>
              <a:schemeClr val="accent2"/>
            </a:solidFill>
            <a:ln>
              <a:noFill/>
            </a:ln>
          </p:spPr>
        </p:sp>
      </p:grpSp>
      <p:grpSp>
        <p:nvGrpSpPr>
          <p:cNvPr id="10" name="Group 10"/>
          <p:cNvGrpSpPr/>
          <p:nvPr/>
        </p:nvGrpSpPr>
        <p:grpSpPr>
          <a:xfrm>
            <a:off x="552450" y="403904"/>
            <a:ext cx="1352550" cy="392343"/>
            <a:chOff x="552450" y="403904"/>
            <a:chExt cx="1352550" cy="392343"/>
          </a:xfrm>
        </p:grpSpPr>
        <p:pic>
          <p:nvPicPr>
            <p:cNvPr id="9" name="Image 9"/>
            <p:cNvPicPr>
              <a:picLocks noChangeAspect="1"/>
            </p:cNvPicPr>
            <p:nvPr/>
          </p:nvPicPr>
          <p:blipFill>
            <a:blip r:embed="rId3"/>
            <a:stretch>
              <a:fillRect/>
            </a:stretch>
          </p:blipFill>
          <p:spPr>
            <a:xfrm>
              <a:off x="552450" y="403904"/>
              <a:ext cx="1352550" cy="392343"/>
            </a:xfrm>
            <a:prstGeom prst="rect">
              <a:avLst/>
            </a:prstGeom>
          </p:spPr>
        </p:pic>
      </p:grpSp>
      <p:grpSp>
        <p:nvGrpSpPr>
          <p:cNvPr id="16" name="Group 16"/>
          <p:cNvGrpSpPr/>
          <p:nvPr/>
        </p:nvGrpSpPr>
        <p:grpSpPr>
          <a:xfrm>
            <a:off x="723900" y="2311718"/>
            <a:ext cx="4527714" cy="2341150"/>
            <a:chOff x="723900" y="2311718"/>
            <a:chExt cx="4527714" cy="2341150"/>
          </a:xfrm>
        </p:grpSpPr>
        <p:sp>
          <p:nvSpPr>
            <p:cNvPr id="11" name="TextBox 11"/>
            <p:cNvSpPr txBox="1"/>
            <p:nvPr/>
          </p:nvSpPr>
          <p:spPr>
            <a:xfrm>
              <a:off x="736092" y="2311718"/>
              <a:ext cx="2557501" cy="264033"/>
            </a:xfrm>
            <a:prstGeom prst="rect">
              <a:avLst/>
            </a:prstGeom>
            <a:noFill/>
            <a:ln>
              <a:noFill/>
            </a:ln>
          </p:spPr>
          <p:txBody>
            <a:bodyPr wrap="none" lIns="0" tIns="0" rIns="0" bIns="0" anchor="t" anchorCtr="0">
              <a:spAutoFit/>
            </a:bodyPr>
            <a:lstStyle/>
            <a:p>
              <a:pPr algn="l"/>
              <a:r>
                <a:rPr lang="en-US" sz="1350" b="1" spc="150" dirty="0">
                  <a:solidFill>
                    <a:schemeClr val="accent1"/>
                  </a:solidFill>
                  <a:latin typeface="+mn-lt"/>
                  <a:ea typeface="+mn-ea"/>
                  <a:cs typeface="+mn-cs"/>
                </a:rPr>
                <a:t>REVIEW THÁNG 7 / 2026</a:t>
              </a:r>
            </a:p>
          </p:txBody>
        </p:sp>
        <p:sp>
          <p:nvSpPr>
            <p:cNvPr id="12" name="TextBox 12"/>
            <p:cNvSpPr txBox="1"/>
            <p:nvPr/>
          </p:nvSpPr>
          <p:spPr>
            <a:xfrm>
              <a:off x="723900" y="2785110"/>
              <a:ext cx="4523141" cy="819150"/>
            </a:xfrm>
            <a:prstGeom prst="rect">
              <a:avLst/>
            </a:prstGeom>
            <a:noFill/>
            <a:ln>
              <a:noFill/>
            </a:ln>
          </p:spPr>
          <p:txBody>
            <a:bodyPr wrap="none" lIns="0" tIns="0" rIns="0" bIns="0" anchor="t" anchorCtr="0">
              <a:spAutoFit/>
            </a:bodyPr>
            <a:lstStyle/>
            <a:p>
              <a:pPr algn="l"/>
              <a:r>
                <a:rPr lang="en-US" sz="4200" b="1" dirty="0">
                  <a:solidFill>
                    <a:schemeClr val="dk1"/>
                  </a:solidFill>
                  <a:latin typeface="+mn-lt"/>
                  <a:ea typeface="+mn-ea"/>
                  <a:cs typeface="+mn-cs"/>
                </a:rPr>
                <a:t>REVIEW NHÂN SỰ</a:t>
              </a:r>
            </a:p>
          </p:txBody>
        </p:sp>
        <p:sp>
          <p:nvSpPr>
            <p:cNvPr id="13" name="Rectangle 13"/>
            <p:cNvSpPr/>
            <p:nvPr/>
          </p:nvSpPr>
          <p:spPr>
            <a:xfrm>
              <a:off x="742950" y="3543300"/>
              <a:ext cx="819150" cy="47625"/>
            </a:xfrm>
            <a:prstGeom prst="roundRect">
              <a:avLst>
                <a:gd name="adj" fmla="val 50000"/>
              </a:avLst>
            </a:prstGeom>
            <a:solidFill>
              <a:schemeClr val="accent1"/>
            </a:solidFill>
            <a:ln>
              <a:noFill/>
            </a:ln>
          </p:spPr>
        </p:sp>
        <p:sp>
          <p:nvSpPr>
            <p:cNvPr id="14" name="TextBox 14"/>
            <p:cNvSpPr txBox="1"/>
            <p:nvPr/>
          </p:nvSpPr>
          <p:spPr>
            <a:xfrm>
              <a:off x="733044" y="3885248"/>
              <a:ext cx="2335327"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Nguyễn Văn Dương</a:t>
              </a:r>
            </a:p>
          </p:txBody>
        </p:sp>
        <p:sp>
          <p:nvSpPr>
            <p:cNvPr id="15" name="TextBox 15"/>
            <p:cNvSpPr txBox="1"/>
            <p:nvPr/>
          </p:nvSpPr>
          <p:spPr>
            <a:xfrm>
              <a:off x="734949" y="4344829"/>
              <a:ext cx="4516665" cy="308039"/>
            </a:xfrm>
            <a:prstGeom prst="rect">
              <a:avLst/>
            </a:prstGeom>
            <a:noFill/>
            <a:ln>
              <a:noFill/>
            </a:ln>
          </p:spPr>
          <p:txBody>
            <a:bodyPr wrap="none" lIns="0" tIns="0" rIns="0" bIns="0" anchor="t" anchorCtr="0">
              <a:spAutoFit/>
            </a:bodyPr>
            <a:lstStyle/>
            <a:p>
              <a:pPr algn="l"/>
              <a:r>
                <a:rPr lang="en-US" sz="1580" dirty="0">
                  <a:solidFill>
                    <a:srgbClr val="5E6862"/>
                  </a:solidFill>
                  <a:latin typeface="+mn-lt"/>
                  <a:ea typeface="+mn-ea"/>
                  <a:cs typeface="+mn-cs"/>
                </a:rPr>
                <a:t>Tổng kết công việc từ 20/03 đến 22/07/2026</a:t>
              </a:r>
            </a:p>
          </p:txBody>
        </p:sp>
      </p:grpSp>
      <p:grpSp>
        <p:nvGrpSpPr>
          <p:cNvPr id="19" name="Group 19"/>
          <p:cNvGrpSpPr/>
          <p:nvPr/>
        </p:nvGrpSpPr>
        <p:grpSpPr>
          <a:xfrm>
            <a:off x="733806" y="5479256"/>
            <a:ext cx="2409947" cy="641128"/>
            <a:chOff x="733806" y="5479256"/>
            <a:chExt cx="2409947" cy="641128"/>
          </a:xfrm>
        </p:grpSpPr>
        <p:sp>
          <p:nvSpPr>
            <p:cNvPr id="17" name="TextBox 17"/>
            <p:cNvSpPr txBox="1"/>
            <p:nvPr/>
          </p:nvSpPr>
          <p:spPr>
            <a:xfrm>
              <a:off x="737235" y="5479256"/>
              <a:ext cx="1667616" cy="220028"/>
            </a:xfrm>
            <a:prstGeom prst="rect">
              <a:avLst/>
            </a:prstGeom>
            <a:noFill/>
            <a:ln>
              <a:noFill/>
            </a:ln>
          </p:spPr>
          <p:txBody>
            <a:bodyPr wrap="none" lIns="0" tIns="0" rIns="0" bIns="0" anchor="t" anchorCtr="0">
              <a:spAutoFit/>
            </a:bodyPr>
            <a:lstStyle/>
            <a:p>
              <a:pPr algn="l"/>
              <a:r>
                <a:rPr lang="en-US" sz="1120" b="1" spc="90" dirty="0">
                  <a:solidFill>
                    <a:srgbClr val="7A827E"/>
                  </a:solidFill>
                  <a:latin typeface="+mn-lt"/>
                  <a:ea typeface="+mn-ea"/>
                  <a:cs typeface="+mn-cs"/>
                </a:rPr>
                <a:t>GIAI ĐOẠN ĐÁNH GIÁ</a:t>
              </a:r>
            </a:p>
          </p:txBody>
        </p:sp>
        <p:sp>
          <p:nvSpPr>
            <p:cNvPr id="18" name="TextBox 18"/>
            <p:cNvSpPr txBox="1"/>
            <p:nvPr/>
          </p:nvSpPr>
          <p:spPr>
            <a:xfrm>
              <a:off x="733806" y="5768340"/>
              <a:ext cx="240994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20.03 — 22.07.2026</a:t>
              </a:r>
            </a:p>
          </p:txBody>
        </p:sp>
      </p:grpSp>
      <p:sp>
        <p:nvSpPr>
          <p:cNvPr id="20" name="TextBox 20"/>
          <p:cNvSpPr txBox="1"/>
          <p:nvPr/>
        </p:nvSpPr>
        <p:spPr>
          <a:xfrm>
            <a:off x="10543068" y="6346031"/>
            <a:ext cx="968847" cy="220028"/>
          </a:xfrm>
          <a:prstGeom prst="rect">
            <a:avLst/>
          </a:prstGeom>
          <a:noFill/>
          <a:ln>
            <a:noFill/>
          </a:ln>
        </p:spPr>
        <p:txBody>
          <a:bodyPr wrap="none" lIns="0" tIns="0" rIns="0" bIns="0" anchor="t" anchorCtr="0">
            <a:spAutoFit/>
          </a:bodyPr>
          <a:lstStyle/>
          <a:p>
            <a:pPr algn="r"/>
            <a:r>
              <a:rPr lang="en-US" sz="1120" dirty="0">
                <a:solidFill>
                  <a:srgbClr val="89918D"/>
                </a:solidFill>
                <a:latin typeface="+mn-lt"/>
                <a:ea typeface="+mn-ea"/>
                <a:cs typeface="+mn-cs"/>
              </a:rPr>
              <a:t>www.lumi.vn</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552450" y="365804"/>
            <a:ext cx="1352550" cy="392343"/>
            <a:chOff x="552450" y="365804"/>
            <a:chExt cx="1352550" cy="392343"/>
          </a:xfrm>
        </p:grpSpPr>
        <p:pic>
          <p:nvPicPr>
            <p:cNvPr id="2" name="Image 2"/>
            <p:cNvPicPr>
              <a:picLocks noChangeAspect="1"/>
            </p:cNvPicPr>
            <p:nvPr/>
          </p:nvPicPr>
          <p:blipFill>
            <a:blip r:embed="rId2"/>
            <a:stretch>
              <a:fillRect/>
            </a:stretch>
          </p:blipFill>
          <p:spPr>
            <a:xfrm>
              <a:off x="552450" y="365804"/>
              <a:ext cx="1352550" cy="392343"/>
            </a:xfrm>
            <a:prstGeom prst="rect">
              <a:avLst/>
            </a:prstGeom>
          </p:spPr>
        </p:pic>
      </p:grpSp>
      <p:grpSp>
        <p:nvGrpSpPr>
          <p:cNvPr id="7" name="Group 7"/>
          <p:cNvGrpSpPr/>
          <p:nvPr/>
        </p:nvGrpSpPr>
        <p:grpSpPr>
          <a:xfrm>
            <a:off x="704850" y="887361"/>
            <a:ext cx="2571750" cy="5121377"/>
            <a:chOff x="704850" y="887361"/>
            <a:chExt cx="2571750" cy="5121377"/>
          </a:xfrm>
        </p:grpSpPr>
        <p:pic>
          <p:nvPicPr>
            <p:cNvPr id="4" name="Image 4"/>
            <p:cNvPicPr>
              <a:picLocks noChangeAspect="1"/>
            </p:cNvPicPr>
            <p:nvPr/>
          </p:nvPicPr>
          <p:blipFill>
            <a:blip r:embed="rId3"/>
            <a:stretch>
              <a:fillRect/>
            </a:stretch>
          </p:blipFill>
          <p:spPr>
            <a:xfrm>
              <a:off x="704850" y="887361"/>
              <a:ext cx="2571750" cy="5121377"/>
            </a:xfrm>
            <a:prstGeom prst="rect">
              <a:avLst/>
            </a:prstGeom>
          </p:spPr>
        </p:pic>
        <p:sp>
          <p:nvSpPr>
            <p:cNvPr id="5" name="Rectangle 5"/>
            <p:cNvSpPr/>
            <p:nvPr/>
          </p:nvSpPr>
          <p:spPr>
            <a:xfrm>
              <a:off x="1076325" y="1362075"/>
              <a:ext cx="1828800" cy="4114800"/>
            </a:xfrm>
            <a:prstGeom prst="roundRect">
              <a:avLst>
                <a:gd name="adj" fmla="val 6250"/>
              </a:avLst>
            </a:prstGeom>
            <a:solidFill>
              <a:schemeClr val="lt1"/>
            </a:solidFill>
            <a:ln>
              <a:noFill/>
            </a:ln>
          </p:spPr>
        </p:sp>
        <p:sp>
          <p:nvSpPr>
            <p:cNvPr id="6" name="TextBox 6"/>
            <p:cNvSpPr txBox="1"/>
            <p:nvPr/>
          </p:nvSpPr>
          <p:spPr>
            <a:xfrm>
              <a:off x="1672018" y="3030855"/>
              <a:ext cx="637413" cy="696468"/>
            </a:xfrm>
            <a:prstGeom prst="rect">
              <a:avLst/>
            </a:prstGeom>
            <a:noFill/>
            <a:ln>
              <a:noFill/>
            </a:ln>
          </p:spPr>
          <p:txBody>
            <a:bodyPr wrap="square" lIns="0" tIns="0" rIns="0" bIns="0" anchor="t" anchorCtr="0"/>
            <a:lstStyle/>
            <a:p>
              <a:pPr algn="ctr">
                <a:lnSpc>
                  <a:spcPts val="2250"/>
                </a:lnSpc>
              </a:pPr>
              <a:r>
                <a:rPr lang="en-US" sz="2100" b="1" dirty="0">
                  <a:solidFill>
                    <a:schemeClr val="accent1"/>
                  </a:solidFill>
                  <a:latin typeface="+mn-lt"/>
                  <a:ea typeface="+mn-ea"/>
                  <a:cs typeface="+mn-cs"/>
                </a:rPr>
                <a:t>NỘI DUNG</a:t>
              </a:r>
            </a:p>
          </p:txBody>
        </p:sp>
      </p:grpSp>
      <p:grpSp>
        <p:nvGrpSpPr>
          <p:cNvPr id="10" name="Group 10"/>
          <p:cNvGrpSpPr/>
          <p:nvPr/>
        </p:nvGrpSpPr>
        <p:grpSpPr>
          <a:xfrm>
            <a:off x="3917442" y="987742"/>
            <a:ext cx="7245858" cy="264033"/>
            <a:chOff x="3917442" y="987742"/>
            <a:chExt cx="7245858" cy="264033"/>
          </a:xfrm>
        </p:grpSpPr>
        <p:sp>
          <p:nvSpPr>
            <p:cNvPr id="8" name="TextBox 8"/>
            <p:cNvSpPr txBox="1"/>
            <p:nvPr/>
          </p:nvSpPr>
          <p:spPr>
            <a:xfrm>
              <a:off x="3917442" y="987742"/>
              <a:ext cx="2282248" cy="264033"/>
            </a:xfrm>
            <a:prstGeom prst="rect">
              <a:avLst/>
            </a:prstGeom>
            <a:noFill/>
            <a:ln>
              <a:noFill/>
            </a:ln>
          </p:spPr>
          <p:txBody>
            <a:bodyPr wrap="none" lIns="0" tIns="0" rIns="0" bIns="0" anchor="t" anchorCtr="0">
              <a:spAutoFit/>
            </a:bodyPr>
            <a:lstStyle/>
            <a:p>
              <a:pPr algn="l"/>
              <a:r>
                <a:rPr lang="en-US" sz="1350" b="1" spc="112" dirty="0">
                  <a:solidFill>
                    <a:srgbClr val="7A827E"/>
                  </a:solidFill>
                  <a:latin typeface="+mn-lt"/>
                  <a:ea typeface="+mn-ea"/>
                  <a:cs typeface="+mn-cs"/>
                </a:rPr>
                <a:t>NỘI DUNG CHÍNH · 1/2</a:t>
              </a:r>
            </a:p>
          </p:txBody>
        </p:sp>
        <p:sp>
          <p:nvSpPr>
            <p:cNvPr id="9" name="Line 9"/>
            <p:cNvSpPr/>
            <p:nvPr/>
          </p:nvSpPr>
          <p:spPr>
            <a:xfrm>
              <a:off x="6191250" y="1066800"/>
              <a:ext cx="4972050" cy="9525"/>
            </a:xfrm>
            <a:custGeom>
              <a:avLst/>
              <a:gdLst/>
              <a:ahLst/>
              <a:cxnLst/>
              <a:rect l="l" t="t" r="r" b="b"/>
              <a:pathLst>
                <a:path w="4972050" h="9525">
                  <a:moveTo>
                    <a:pt x="0" y="0"/>
                  </a:moveTo>
                  <a:lnTo>
                    <a:pt x="4972050" y="0"/>
                  </a:lnTo>
                </a:path>
              </a:pathLst>
            </a:custGeom>
            <a:noFill/>
            <a:ln w="19050">
              <a:solidFill>
                <a:srgbClr val="DCE4DF"/>
              </a:solidFill>
            </a:ln>
          </p:spPr>
        </p:sp>
      </p:grpSp>
      <p:grpSp>
        <p:nvGrpSpPr>
          <p:cNvPr id="36" name="Group 36"/>
          <p:cNvGrpSpPr/>
          <p:nvPr/>
        </p:nvGrpSpPr>
        <p:grpSpPr>
          <a:xfrm>
            <a:off x="4181475" y="1638776"/>
            <a:ext cx="4990838" cy="3310700"/>
            <a:chOff x="4181475" y="1638776"/>
            <a:chExt cx="4990838" cy="3310700"/>
          </a:xfrm>
        </p:grpSpPr>
        <p:sp>
          <p:nvSpPr>
            <p:cNvPr id="11" name="Line 11"/>
            <p:cNvSpPr/>
            <p:nvPr/>
          </p:nvSpPr>
          <p:spPr>
            <a:xfrm>
              <a:off x="4238625" y="1724025"/>
              <a:ext cx="9525" cy="3219450"/>
            </a:xfrm>
            <a:custGeom>
              <a:avLst/>
              <a:gdLst/>
              <a:ahLst/>
              <a:cxnLst/>
              <a:rect l="l" t="t" r="r" b="b"/>
              <a:pathLst>
                <a:path w="9525" h="3219450">
                  <a:moveTo>
                    <a:pt x="0" y="0"/>
                  </a:moveTo>
                  <a:lnTo>
                    <a:pt x="0" y="3219450"/>
                  </a:lnTo>
                </a:path>
              </a:pathLst>
            </a:custGeom>
            <a:noFill/>
            <a:ln w="19050">
              <a:solidFill>
                <a:srgbClr val="CFE4D8"/>
              </a:solidFill>
            </a:ln>
          </p:spPr>
        </p:sp>
        <p:grpSp>
          <p:nvGrpSpPr>
            <p:cNvPr id="17" name="Group 17"/>
            <p:cNvGrpSpPr/>
            <p:nvPr/>
          </p:nvGrpSpPr>
          <p:grpSpPr>
            <a:xfrm>
              <a:off x="4181475" y="1638776"/>
              <a:ext cx="4158586" cy="396050"/>
              <a:chOff x="4181475" y="1638776"/>
              <a:chExt cx="4158586" cy="396050"/>
            </a:xfrm>
          </p:grpSpPr>
          <p:sp>
            <p:nvSpPr>
              <p:cNvPr id="12" name="Ellipse 12"/>
              <p:cNvSpPr/>
              <p:nvPr/>
            </p:nvSpPr>
            <p:spPr>
              <a:xfrm>
                <a:off x="4181475" y="1733550"/>
                <a:ext cx="114300" cy="114300"/>
              </a:xfrm>
              <a:prstGeom prst="ellipse">
                <a:avLst/>
              </a:prstGeom>
              <a:solidFill>
                <a:schemeClr val="accent1"/>
              </a:solidFill>
              <a:ln>
                <a:noFill/>
              </a:ln>
            </p:spPr>
          </p:sp>
          <p:sp>
            <p:nvSpPr>
              <p:cNvPr id="13" name="Freeform 13"/>
              <p:cNvSpPr/>
              <p:nvPr/>
            </p:nvSpPr>
            <p:spPr>
              <a:xfrm>
                <a:off x="4362450" y="1657350"/>
                <a:ext cx="1257300" cy="266700"/>
              </a:xfrm>
              <a:custGeom>
                <a:avLst/>
                <a:gdLst/>
                <a:ahLst/>
                <a:cxnLst/>
                <a:rect l="l" t="t" r="r" b="b"/>
                <a:pathLst>
                  <a:path w="1257300" h="266700">
                    <a:moveTo>
                      <a:pt x="0" y="133350"/>
                    </a:moveTo>
                    <a:lnTo>
                      <a:pt x="152400" y="133350"/>
                    </a:lnTo>
                    <a:lnTo>
                      <a:pt x="266700" y="0"/>
                    </a:lnTo>
                    <a:lnTo>
                      <a:pt x="1257300" y="0"/>
                    </a:lnTo>
                    <a:lnTo>
                      <a:pt x="1257300" y="266700"/>
                    </a:lnTo>
                    <a:lnTo>
                      <a:pt x="266700" y="266700"/>
                    </a:lnTo>
                    <a:lnTo>
                      <a:pt x="152400" y="133350"/>
                    </a:lnTo>
                  </a:path>
                </a:pathLst>
              </a:custGeom>
              <a:solidFill>
                <a:schemeClr val="lt1"/>
              </a:solidFill>
              <a:ln w="19050">
                <a:solidFill>
                  <a:schemeClr val="accent3"/>
                </a:solidFill>
              </a:ln>
            </p:spPr>
          </p:sp>
          <p:sp>
            <p:nvSpPr>
              <p:cNvPr id="14" name="Freeform 14"/>
              <p:cNvSpPr/>
              <p:nvPr/>
            </p:nvSpPr>
            <p:spPr>
              <a:xfrm>
                <a:off x="4629150" y="1657350"/>
                <a:ext cx="85725" cy="266700"/>
              </a:xfrm>
              <a:custGeom>
                <a:avLst/>
                <a:gdLst/>
                <a:ahLst/>
                <a:cxnLst/>
                <a:rect l="l" t="t" r="r" b="b"/>
                <a:pathLst>
                  <a:path w="85725" h="266700">
                    <a:moveTo>
                      <a:pt x="0" y="0"/>
                    </a:moveTo>
                    <a:lnTo>
                      <a:pt x="85725" y="0"/>
                    </a:lnTo>
                    <a:moveTo>
                      <a:pt x="0" y="266700"/>
                    </a:moveTo>
                    <a:lnTo>
                      <a:pt x="85725" y="266700"/>
                    </a:lnTo>
                  </a:path>
                </a:pathLst>
              </a:custGeom>
              <a:solidFill>
                <a:srgbClr val="000000"/>
              </a:solidFill>
              <a:ln w="19050">
                <a:solidFill>
                  <a:schemeClr val="accent1"/>
                </a:solidFill>
              </a:ln>
            </p:spPr>
          </p:sp>
          <p:sp>
            <p:nvSpPr>
              <p:cNvPr id="15" name="TextBox 15"/>
              <p:cNvSpPr txBox="1"/>
              <p:nvPr/>
            </p:nvSpPr>
            <p:spPr>
              <a:xfrm>
                <a:off x="4848250" y="1653540"/>
                <a:ext cx="438100"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01.</a:t>
                </a:r>
              </a:p>
            </p:txBody>
          </p:sp>
          <p:sp>
            <p:nvSpPr>
              <p:cNvPr id="16" name="TextBox 16"/>
              <p:cNvSpPr txBox="1"/>
              <p:nvPr/>
            </p:nvSpPr>
            <p:spPr>
              <a:xfrm>
                <a:off x="5971413" y="1638776"/>
                <a:ext cx="2368648" cy="396050"/>
              </a:xfrm>
              <a:prstGeom prst="rect">
                <a:avLst/>
              </a:prstGeom>
              <a:noFill/>
              <a:ln>
                <a:noFill/>
              </a:ln>
            </p:spPr>
            <p:txBody>
              <a:bodyPr wrap="none" lIns="0" tIns="0" rIns="0" bIns="0" anchor="t" anchorCtr="0">
                <a:spAutoFit/>
              </a:bodyPr>
              <a:lstStyle/>
              <a:p>
                <a:pPr algn="l"/>
                <a:r>
                  <a:rPr lang="en-US" sz="2020" dirty="0">
                    <a:solidFill>
                      <a:schemeClr val="accent1"/>
                    </a:solidFill>
                    <a:latin typeface="+mn-lt"/>
                    <a:ea typeface="+mn-ea"/>
                    <a:cs typeface="+mn-cs"/>
                  </a:rPr>
                  <a:t>Tổng quan kết quả</a:t>
                </a:r>
              </a:p>
            </p:txBody>
          </p:sp>
        </p:grpSp>
        <p:grpSp>
          <p:nvGrpSpPr>
            <p:cNvPr id="23" name="Group 23"/>
            <p:cNvGrpSpPr/>
            <p:nvPr/>
          </p:nvGrpSpPr>
          <p:grpSpPr>
            <a:xfrm>
              <a:off x="4181475" y="2610326"/>
              <a:ext cx="4990838" cy="396050"/>
              <a:chOff x="4181475" y="2610326"/>
              <a:chExt cx="4990838" cy="396050"/>
            </a:xfrm>
          </p:grpSpPr>
          <p:sp>
            <p:nvSpPr>
              <p:cNvPr id="18" name="Ellipse 18"/>
              <p:cNvSpPr/>
              <p:nvPr/>
            </p:nvSpPr>
            <p:spPr>
              <a:xfrm>
                <a:off x="4181475" y="2705100"/>
                <a:ext cx="114300" cy="114300"/>
              </a:xfrm>
              <a:prstGeom prst="ellipse">
                <a:avLst/>
              </a:prstGeom>
              <a:solidFill>
                <a:schemeClr val="accent1"/>
              </a:solidFill>
              <a:ln>
                <a:noFill/>
              </a:ln>
            </p:spPr>
          </p:sp>
          <p:sp>
            <p:nvSpPr>
              <p:cNvPr id="19" name="Freeform 19"/>
              <p:cNvSpPr/>
              <p:nvPr/>
            </p:nvSpPr>
            <p:spPr>
              <a:xfrm>
                <a:off x="4362450" y="2628900"/>
                <a:ext cx="1257300" cy="266700"/>
              </a:xfrm>
              <a:custGeom>
                <a:avLst/>
                <a:gdLst/>
                <a:ahLst/>
                <a:cxnLst/>
                <a:rect l="l" t="t" r="r" b="b"/>
                <a:pathLst>
                  <a:path w="1257300" h="266700">
                    <a:moveTo>
                      <a:pt x="0" y="133350"/>
                    </a:moveTo>
                    <a:lnTo>
                      <a:pt x="152400" y="133350"/>
                    </a:lnTo>
                    <a:lnTo>
                      <a:pt x="266700" y="0"/>
                    </a:lnTo>
                    <a:lnTo>
                      <a:pt x="1257300" y="0"/>
                    </a:lnTo>
                    <a:lnTo>
                      <a:pt x="1257300" y="266700"/>
                    </a:lnTo>
                    <a:lnTo>
                      <a:pt x="266700" y="266700"/>
                    </a:lnTo>
                    <a:lnTo>
                      <a:pt x="152400" y="133350"/>
                    </a:lnTo>
                  </a:path>
                </a:pathLst>
              </a:custGeom>
              <a:solidFill>
                <a:schemeClr val="lt1"/>
              </a:solidFill>
              <a:ln w="19050">
                <a:solidFill>
                  <a:schemeClr val="accent3"/>
                </a:solidFill>
              </a:ln>
            </p:spPr>
          </p:sp>
          <p:sp>
            <p:nvSpPr>
              <p:cNvPr id="20" name="Freeform 20"/>
              <p:cNvSpPr/>
              <p:nvPr/>
            </p:nvSpPr>
            <p:spPr>
              <a:xfrm>
                <a:off x="4629150" y="2628900"/>
                <a:ext cx="85725" cy="266700"/>
              </a:xfrm>
              <a:custGeom>
                <a:avLst/>
                <a:gdLst/>
                <a:ahLst/>
                <a:cxnLst/>
                <a:rect l="l" t="t" r="r" b="b"/>
                <a:pathLst>
                  <a:path w="85725" h="266700">
                    <a:moveTo>
                      <a:pt x="0" y="0"/>
                    </a:moveTo>
                    <a:lnTo>
                      <a:pt x="85725" y="0"/>
                    </a:lnTo>
                    <a:moveTo>
                      <a:pt x="0" y="266700"/>
                    </a:moveTo>
                    <a:lnTo>
                      <a:pt x="85725" y="266700"/>
                    </a:lnTo>
                  </a:path>
                </a:pathLst>
              </a:custGeom>
              <a:solidFill>
                <a:srgbClr val="000000"/>
              </a:solidFill>
              <a:ln w="19050">
                <a:solidFill>
                  <a:schemeClr val="accent1"/>
                </a:solidFill>
              </a:ln>
            </p:spPr>
          </p:sp>
          <p:sp>
            <p:nvSpPr>
              <p:cNvPr id="21" name="TextBox 21"/>
              <p:cNvSpPr txBox="1"/>
              <p:nvPr/>
            </p:nvSpPr>
            <p:spPr>
              <a:xfrm>
                <a:off x="4848250" y="2625090"/>
                <a:ext cx="438100"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02.</a:t>
                </a:r>
              </a:p>
            </p:txBody>
          </p:sp>
          <p:sp>
            <p:nvSpPr>
              <p:cNvPr id="22" name="TextBox 22"/>
              <p:cNvSpPr txBox="1"/>
              <p:nvPr/>
            </p:nvSpPr>
            <p:spPr>
              <a:xfrm>
                <a:off x="5971413" y="2610326"/>
                <a:ext cx="3200900" cy="396050"/>
              </a:xfrm>
              <a:prstGeom prst="rect">
                <a:avLst/>
              </a:prstGeom>
              <a:noFill/>
              <a:ln>
                <a:noFill/>
              </a:ln>
            </p:spPr>
            <p:txBody>
              <a:bodyPr wrap="none" lIns="0" tIns="0" rIns="0" bIns="0" anchor="t" anchorCtr="0">
                <a:spAutoFit/>
              </a:bodyPr>
              <a:lstStyle/>
              <a:p>
                <a:pPr algn="l"/>
                <a:r>
                  <a:rPr lang="en-US" sz="2020" dirty="0">
                    <a:solidFill>
                      <a:schemeClr val="accent1"/>
                    </a:solidFill>
                    <a:latin typeface="+mn-lt"/>
                    <a:ea typeface="+mn-ea"/>
                    <a:cs typeface="+mn-cs"/>
                  </a:rPr>
                  <a:t>Thiết bị &amp; firmware KNX</a:t>
                </a:r>
              </a:p>
            </p:txBody>
          </p:sp>
        </p:grpSp>
        <p:grpSp>
          <p:nvGrpSpPr>
            <p:cNvPr id="29" name="Group 29"/>
            <p:cNvGrpSpPr/>
            <p:nvPr/>
          </p:nvGrpSpPr>
          <p:grpSpPr>
            <a:xfrm>
              <a:off x="4181475" y="3581876"/>
              <a:ext cx="4603848" cy="396050"/>
              <a:chOff x="4181475" y="3581876"/>
              <a:chExt cx="4603848" cy="396050"/>
            </a:xfrm>
          </p:grpSpPr>
          <p:sp>
            <p:nvSpPr>
              <p:cNvPr id="24" name="Ellipse 24"/>
              <p:cNvSpPr/>
              <p:nvPr/>
            </p:nvSpPr>
            <p:spPr>
              <a:xfrm>
                <a:off x="4181475" y="3676650"/>
                <a:ext cx="114300" cy="114300"/>
              </a:xfrm>
              <a:prstGeom prst="ellipse">
                <a:avLst/>
              </a:prstGeom>
              <a:solidFill>
                <a:schemeClr val="accent1"/>
              </a:solidFill>
              <a:ln>
                <a:noFill/>
              </a:ln>
            </p:spPr>
          </p:sp>
          <p:sp>
            <p:nvSpPr>
              <p:cNvPr id="25" name="Freeform 25"/>
              <p:cNvSpPr/>
              <p:nvPr/>
            </p:nvSpPr>
            <p:spPr>
              <a:xfrm>
                <a:off x="4362450" y="3600450"/>
                <a:ext cx="1257300" cy="266700"/>
              </a:xfrm>
              <a:custGeom>
                <a:avLst/>
                <a:gdLst/>
                <a:ahLst/>
                <a:cxnLst/>
                <a:rect l="l" t="t" r="r" b="b"/>
                <a:pathLst>
                  <a:path w="1257300" h="266700">
                    <a:moveTo>
                      <a:pt x="0" y="133350"/>
                    </a:moveTo>
                    <a:lnTo>
                      <a:pt x="152400" y="133350"/>
                    </a:lnTo>
                    <a:lnTo>
                      <a:pt x="266700" y="0"/>
                    </a:lnTo>
                    <a:lnTo>
                      <a:pt x="1257300" y="0"/>
                    </a:lnTo>
                    <a:lnTo>
                      <a:pt x="1257300" y="266700"/>
                    </a:lnTo>
                    <a:lnTo>
                      <a:pt x="266700" y="266700"/>
                    </a:lnTo>
                    <a:lnTo>
                      <a:pt x="152400" y="133350"/>
                    </a:lnTo>
                  </a:path>
                </a:pathLst>
              </a:custGeom>
              <a:solidFill>
                <a:schemeClr val="lt1"/>
              </a:solidFill>
              <a:ln w="19050">
                <a:solidFill>
                  <a:schemeClr val="accent3"/>
                </a:solidFill>
              </a:ln>
            </p:spPr>
          </p:sp>
          <p:sp>
            <p:nvSpPr>
              <p:cNvPr id="26" name="Freeform 26"/>
              <p:cNvSpPr/>
              <p:nvPr/>
            </p:nvSpPr>
            <p:spPr>
              <a:xfrm>
                <a:off x="4629150" y="3600450"/>
                <a:ext cx="85725" cy="266700"/>
              </a:xfrm>
              <a:custGeom>
                <a:avLst/>
                <a:gdLst/>
                <a:ahLst/>
                <a:cxnLst/>
                <a:rect l="l" t="t" r="r" b="b"/>
                <a:pathLst>
                  <a:path w="85725" h="266700">
                    <a:moveTo>
                      <a:pt x="0" y="0"/>
                    </a:moveTo>
                    <a:lnTo>
                      <a:pt x="85725" y="0"/>
                    </a:lnTo>
                    <a:moveTo>
                      <a:pt x="0" y="266700"/>
                    </a:moveTo>
                    <a:lnTo>
                      <a:pt x="85725" y="266700"/>
                    </a:lnTo>
                  </a:path>
                </a:pathLst>
              </a:custGeom>
              <a:solidFill>
                <a:srgbClr val="000000"/>
              </a:solidFill>
              <a:ln w="19050">
                <a:solidFill>
                  <a:schemeClr val="accent1"/>
                </a:solidFill>
              </a:ln>
            </p:spPr>
          </p:sp>
          <p:sp>
            <p:nvSpPr>
              <p:cNvPr id="27" name="TextBox 27"/>
              <p:cNvSpPr txBox="1"/>
              <p:nvPr/>
            </p:nvSpPr>
            <p:spPr>
              <a:xfrm>
                <a:off x="4848250" y="3596640"/>
                <a:ext cx="438100"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03.</a:t>
                </a:r>
              </a:p>
            </p:txBody>
          </p:sp>
          <p:sp>
            <p:nvSpPr>
              <p:cNvPr id="28" name="TextBox 28"/>
              <p:cNvSpPr txBox="1"/>
              <p:nvPr/>
            </p:nvSpPr>
            <p:spPr>
              <a:xfrm>
                <a:off x="5971413" y="3581876"/>
                <a:ext cx="2813910" cy="396050"/>
              </a:xfrm>
              <a:prstGeom prst="rect">
                <a:avLst/>
              </a:prstGeom>
              <a:noFill/>
              <a:ln>
                <a:noFill/>
              </a:ln>
            </p:spPr>
            <p:txBody>
              <a:bodyPr wrap="none" lIns="0" tIns="0" rIns="0" bIns="0" anchor="t" anchorCtr="0">
                <a:spAutoFit/>
              </a:bodyPr>
              <a:lstStyle/>
              <a:p>
                <a:pPr algn="l"/>
                <a:r>
                  <a:rPr lang="en-US" sz="2020" dirty="0">
                    <a:solidFill>
                      <a:schemeClr val="accent1"/>
                    </a:solidFill>
                    <a:latin typeface="+mn-lt"/>
                    <a:ea typeface="+mn-ea"/>
                    <a:cs typeface="+mn-cs"/>
                  </a:rPr>
                  <a:t>Tool/Jig &amp; benchmark</a:t>
                </a:r>
              </a:p>
            </p:txBody>
          </p:sp>
        </p:grpSp>
        <p:grpSp>
          <p:nvGrpSpPr>
            <p:cNvPr id="35" name="Group 35"/>
            <p:cNvGrpSpPr/>
            <p:nvPr/>
          </p:nvGrpSpPr>
          <p:grpSpPr>
            <a:xfrm>
              <a:off x="4181475" y="4553426"/>
              <a:ext cx="4144934" cy="396050"/>
              <a:chOff x="4181475" y="4553426"/>
              <a:chExt cx="4144934" cy="396050"/>
            </a:xfrm>
          </p:grpSpPr>
          <p:sp>
            <p:nvSpPr>
              <p:cNvPr id="30" name="Ellipse 30"/>
              <p:cNvSpPr/>
              <p:nvPr/>
            </p:nvSpPr>
            <p:spPr>
              <a:xfrm>
                <a:off x="4181475" y="4648200"/>
                <a:ext cx="114300" cy="114300"/>
              </a:xfrm>
              <a:prstGeom prst="ellipse">
                <a:avLst/>
              </a:prstGeom>
              <a:solidFill>
                <a:schemeClr val="accent1"/>
              </a:solidFill>
              <a:ln>
                <a:noFill/>
              </a:ln>
            </p:spPr>
          </p:sp>
          <p:sp>
            <p:nvSpPr>
              <p:cNvPr id="31" name="Freeform 31"/>
              <p:cNvSpPr/>
              <p:nvPr/>
            </p:nvSpPr>
            <p:spPr>
              <a:xfrm>
                <a:off x="4362450" y="4572000"/>
                <a:ext cx="1257300" cy="266700"/>
              </a:xfrm>
              <a:custGeom>
                <a:avLst/>
                <a:gdLst/>
                <a:ahLst/>
                <a:cxnLst/>
                <a:rect l="l" t="t" r="r" b="b"/>
                <a:pathLst>
                  <a:path w="1257300" h="266700">
                    <a:moveTo>
                      <a:pt x="0" y="133350"/>
                    </a:moveTo>
                    <a:lnTo>
                      <a:pt x="152400" y="133350"/>
                    </a:lnTo>
                    <a:lnTo>
                      <a:pt x="266700" y="0"/>
                    </a:lnTo>
                    <a:lnTo>
                      <a:pt x="1257300" y="0"/>
                    </a:lnTo>
                    <a:lnTo>
                      <a:pt x="1257300" y="266700"/>
                    </a:lnTo>
                    <a:lnTo>
                      <a:pt x="266700" y="266700"/>
                    </a:lnTo>
                    <a:lnTo>
                      <a:pt x="152400" y="133350"/>
                    </a:lnTo>
                  </a:path>
                </a:pathLst>
              </a:custGeom>
              <a:solidFill>
                <a:schemeClr val="lt1"/>
              </a:solidFill>
              <a:ln w="19050">
                <a:solidFill>
                  <a:schemeClr val="accent3"/>
                </a:solidFill>
              </a:ln>
            </p:spPr>
          </p:sp>
          <p:sp>
            <p:nvSpPr>
              <p:cNvPr id="32" name="Freeform 32"/>
              <p:cNvSpPr/>
              <p:nvPr/>
            </p:nvSpPr>
            <p:spPr>
              <a:xfrm>
                <a:off x="4629150" y="4572000"/>
                <a:ext cx="85725" cy="266700"/>
              </a:xfrm>
              <a:custGeom>
                <a:avLst/>
                <a:gdLst/>
                <a:ahLst/>
                <a:cxnLst/>
                <a:rect l="l" t="t" r="r" b="b"/>
                <a:pathLst>
                  <a:path w="85725" h="266700">
                    <a:moveTo>
                      <a:pt x="0" y="0"/>
                    </a:moveTo>
                    <a:lnTo>
                      <a:pt x="85725" y="0"/>
                    </a:lnTo>
                    <a:moveTo>
                      <a:pt x="0" y="266700"/>
                    </a:moveTo>
                    <a:lnTo>
                      <a:pt x="85725" y="266700"/>
                    </a:lnTo>
                  </a:path>
                </a:pathLst>
              </a:custGeom>
              <a:solidFill>
                <a:srgbClr val="000000"/>
              </a:solidFill>
              <a:ln w="19050">
                <a:solidFill>
                  <a:schemeClr val="accent1"/>
                </a:solidFill>
              </a:ln>
            </p:spPr>
          </p:sp>
          <p:sp>
            <p:nvSpPr>
              <p:cNvPr id="33" name="TextBox 33"/>
              <p:cNvSpPr txBox="1"/>
              <p:nvPr/>
            </p:nvSpPr>
            <p:spPr>
              <a:xfrm>
                <a:off x="4848250" y="4568190"/>
                <a:ext cx="438100"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04.</a:t>
                </a:r>
              </a:p>
            </p:txBody>
          </p:sp>
          <p:sp>
            <p:nvSpPr>
              <p:cNvPr id="34" name="TextBox 34"/>
              <p:cNvSpPr txBox="1"/>
              <p:nvPr/>
            </p:nvSpPr>
            <p:spPr>
              <a:xfrm>
                <a:off x="5971413" y="4553426"/>
                <a:ext cx="2354996" cy="396050"/>
              </a:xfrm>
              <a:prstGeom prst="rect">
                <a:avLst/>
              </a:prstGeom>
              <a:noFill/>
              <a:ln>
                <a:noFill/>
              </a:ln>
            </p:spPr>
            <p:txBody>
              <a:bodyPr wrap="none" lIns="0" tIns="0" rIns="0" bIns="0" anchor="t" anchorCtr="0">
                <a:spAutoFit/>
              </a:bodyPr>
              <a:lstStyle/>
              <a:p>
                <a:pPr algn="l"/>
                <a:r>
                  <a:rPr lang="en-US" sz="2020" dirty="0">
                    <a:solidFill>
                      <a:schemeClr val="accent1"/>
                    </a:solidFill>
                    <a:latin typeface="+mn-lt"/>
                    <a:ea typeface="+mn-ea"/>
                    <a:cs typeface="+mn-cs"/>
                  </a:rPr>
                  <a:t>Kiểm thử hệ thống</a:t>
                </a:r>
              </a:p>
            </p:txBody>
          </p:sp>
        </p:grpSp>
      </p:grpSp>
      <p:grpSp>
        <p:nvGrpSpPr>
          <p:cNvPr id="39" name="Group 39"/>
          <p:cNvGrpSpPr/>
          <p:nvPr/>
        </p:nvGrpSpPr>
        <p:grpSpPr>
          <a:xfrm>
            <a:off x="533400" y="6362700"/>
            <a:ext cx="11130534" cy="311087"/>
            <a:chOff x="533400" y="6362700"/>
            <a:chExt cx="11130534" cy="311087"/>
          </a:xfrm>
        </p:grpSpPr>
        <p:sp>
          <p:nvSpPr>
            <p:cNvPr id="37" name="Line 37"/>
            <p:cNvSpPr/>
            <p:nvPr/>
          </p:nvSpPr>
          <p:spPr>
            <a:xfrm>
              <a:off x="533400" y="6362700"/>
              <a:ext cx="11125200" cy="9525"/>
            </a:xfrm>
            <a:custGeom>
              <a:avLst/>
              <a:gdLst/>
              <a:ahLst/>
              <a:cxnLst/>
              <a:rect l="l" t="t" r="r" b="b"/>
              <a:pathLst>
                <a:path w="11125200" h="9525">
                  <a:moveTo>
                    <a:pt x="0" y="0"/>
                  </a:moveTo>
                  <a:lnTo>
                    <a:pt x="11125200" y="0"/>
                  </a:lnTo>
                </a:path>
              </a:pathLst>
            </a:custGeom>
            <a:noFill/>
            <a:ln w="9525">
              <a:solidFill>
                <a:srgbClr val="E1E6E3"/>
              </a:solidFill>
            </a:ln>
          </p:spPr>
        </p:sp>
        <p:sp>
          <p:nvSpPr>
            <p:cNvPr id="38" name="TextBox 38"/>
            <p:cNvSpPr txBox="1"/>
            <p:nvPr/>
          </p:nvSpPr>
          <p:spPr>
            <a:xfrm>
              <a:off x="11179740" y="6468428"/>
              <a:ext cx="484194" cy="205359"/>
            </a:xfrm>
            <a:prstGeom prst="rect">
              <a:avLst/>
            </a:prstGeom>
            <a:noFill/>
            <a:ln>
              <a:noFill/>
            </a:ln>
          </p:spPr>
          <p:txBody>
            <a:bodyPr wrap="none" lIns="0" tIns="0" rIns="0" bIns="0" anchor="t" anchorCtr="0">
              <a:spAutoFit/>
            </a:bodyPr>
            <a:lstStyle/>
            <a:p>
              <a:pPr algn="r"/>
              <a:r>
                <a:rPr lang="en-US" sz="1050" dirty="0">
                  <a:solidFill>
                    <a:srgbClr val="89918D"/>
                  </a:solidFill>
                  <a:latin typeface="+mn-lt"/>
                  <a:ea typeface="+mn-ea"/>
                  <a:cs typeface="+mn-cs"/>
                </a:rPr>
                <a:t>02 / 15</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 name="Group 3"/>
          <p:cNvGrpSpPr/>
          <p:nvPr/>
        </p:nvGrpSpPr>
        <p:grpSpPr>
          <a:xfrm>
            <a:off x="552450" y="365804"/>
            <a:ext cx="1352550" cy="392343"/>
            <a:chOff x="552450" y="365804"/>
            <a:chExt cx="1352550" cy="392343"/>
          </a:xfrm>
        </p:grpSpPr>
        <p:pic>
          <p:nvPicPr>
            <p:cNvPr id="2" name="Image 2"/>
            <p:cNvPicPr>
              <a:picLocks noChangeAspect="1"/>
            </p:cNvPicPr>
            <p:nvPr/>
          </p:nvPicPr>
          <p:blipFill>
            <a:blip r:embed="rId2"/>
            <a:stretch>
              <a:fillRect/>
            </a:stretch>
          </p:blipFill>
          <p:spPr>
            <a:xfrm>
              <a:off x="552450" y="365804"/>
              <a:ext cx="1352550" cy="392343"/>
            </a:xfrm>
            <a:prstGeom prst="rect">
              <a:avLst/>
            </a:prstGeom>
          </p:spPr>
        </p:pic>
      </p:grpSp>
      <p:grpSp>
        <p:nvGrpSpPr>
          <p:cNvPr id="7" name="Group 7"/>
          <p:cNvGrpSpPr/>
          <p:nvPr/>
        </p:nvGrpSpPr>
        <p:grpSpPr>
          <a:xfrm>
            <a:off x="704850" y="887361"/>
            <a:ext cx="2571750" cy="5121377"/>
            <a:chOff x="704850" y="887361"/>
            <a:chExt cx="2571750" cy="5121377"/>
          </a:xfrm>
        </p:grpSpPr>
        <p:pic>
          <p:nvPicPr>
            <p:cNvPr id="4" name="Image 4"/>
            <p:cNvPicPr>
              <a:picLocks noChangeAspect="1"/>
            </p:cNvPicPr>
            <p:nvPr/>
          </p:nvPicPr>
          <p:blipFill>
            <a:blip r:embed="rId3"/>
            <a:stretch>
              <a:fillRect/>
            </a:stretch>
          </p:blipFill>
          <p:spPr>
            <a:xfrm>
              <a:off x="704850" y="887361"/>
              <a:ext cx="2571750" cy="5121377"/>
            </a:xfrm>
            <a:prstGeom prst="rect">
              <a:avLst/>
            </a:prstGeom>
          </p:spPr>
        </p:pic>
        <p:sp>
          <p:nvSpPr>
            <p:cNvPr id="5" name="Rectangle 5"/>
            <p:cNvSpPr/>
            <p:nvPr/>
          </p:nvSpPr>
          <p:spPr>
            <a:xfrm>
              <a:off x="1076325" y="1362075"/>
              <a:ext cx="1828800" cy="4114800"/>
            </a:xfrm>
            <a:prstGeom prst="roundRect">
              <a:avLst>
                <a:gd name="adj" fmla="val 6250"/>
              </a:avLst>
            </a:prstGeom>
            <a:solidFill>
              <a:schemeClr val="lt1"/>
            </a:solidFill>
            <a:ln>
              <a:noFill/>
            </a:ln>
          </p:spPr>
        </p:sp>
        <p:sp>
          <p:nvSpPr>
            <p:cNvPr id="6" name="TextBox 6"/>
            <p:cNvSpPr txBox="1"/>
            <p:nvPr/>
          </p:nvSpPr>
          <p:spPr>
            <a:xfrm>
              <a:off x="1672018" y="3030855"/>
              <a:ext cx="637413" cy="696468"/>
            </a:xfrm>
            <a:prstGeom prst="rect">
              <a:avLst/>
            </a:prstGeom>
            <a:noFill/>
            <a:ln>
              <a:noFill/>
            </a:ln>
          </p:spPr>
          <p:txBody>
            <a:bodyPr wrap="square" lIns="0" tIns="0" rIns="0" bIns="0" anchor="t" anchorCtr="0"/>
            <a:lstStyle/>
            <a:p>
              <a:pPr algn="ctr">
                <a:lnSpc>
                  <a:spcPts val="2250"/>
                </a:lnSpc>
              </a:pPr>
              <a:r>
                <a:rPr lang="en-US" sz="2100" b="1" dirty="0">
                  <a:solidFill>
                    <a:schemeClr val="accent1"/>
                  </a:solidFill>
                  <a:latin typeface="+mn-lt"/>
                  <a:ea typeface="+mn-ea"/>
                  <a:cs typeface="+mn-cs"/>
                </a:rPr>
                <a:t>NỘI DUNG</a:t>
              </a:r>
            </a:p>
          </p:txBody>
        </p:sp>
      </p:grpSp>
      <p:grpSp>
        <p:nvGrpSpPr>
          <p:cNvPr id="10" name="Group 10"/>
          <p:cNvGrpSpPr/>
          <p:nvPr/>
        </p:nvGrpSpPr>
        <p:grpSpPr>
          <a:xfrm>
            <a:off x="3917442" y="987742"/>
            <a:ext cx="7245858" cy="264033"/>
            <a:chOff x="3917442" y="987742"/>
            <a:chExt cx="7245858" cy="264033"/>
          </a:xfrm>
        </p:grpSpPr>
        <p:sp>
          <p:nvSpPr>
            <p:cNvPr id="8" name="TextBox 8"/>
            <p:cNvSpPr txBox="1"/>
            <p:nvPr/>
          </p:nvSpPr>
          <p:spPr>
            <a:xfrm>
              <a:off x="3917442" y="987742"/>
              <a:ext cx="2282248" cy="264033"/>
            </a:xfrm>
            <a:prstGeom prst="rect">
              <a:avLst/>
            </a:prstGeom>
            <a:noFill/>
            <a:ln>
              <a:noFill/>
            </a:ln>
          </p:spPr>
          <p:txBody>
            <a:bodyPr wrap="none" lIns="0" tIns="0" rIns="0" bIns="0" anchor="t" anchorCtr="0">
              <a:spAutoFit/>
            </a:bodyPr>
            <a:lstStyle/>
            <a:p>
              <a:pPr algn="l"/>
              <a:r>
                <a:rPr lang="en-US" sz="1350" b="1" spc="112" dirty="0">
                  <a:solidFill>
                    <a:srgbClr val="7A827E"/>
                  </a:solidFill>
                  <a:latin typeface="+mn-lt"/>
                  <a:ea typeface="+mn-ea"/>
                  <a:cs typeface="+mn-cs"/>
                </a:rPr>
                <a:t>NỘI DUNG CHÍNH · 2/2</a:t>
              </a:r>
            </a:p>
          </p:txBody>
        </p:sp>
        <p:sp>
          <p:nvSpPr>
            <p:cNvPr id="9" name="Line 9"/>
            <p:cNvSpPr/>
            <p:nvPr/>
          </p:nvSpPr>
          <p:spPr>
            <a:xfrm>
              <a:off x="6191250" y="1066800"/>
              <a:ext cx="4972050" cy="9525"/>
            </a:xfrm>
            <a:custGeom>
              <a:avLst/>
              <a:gdLst/>
              <a:ahLst/>
              <a:cxnLst/>
              <a:rect l="l" t="t" r="r" b="b"/>
              <a:pathLst>
                <a:path w="4972050" h="9525">
                  <a:moveTo>
                    <a:pt x="0" y="0"/>
                  </a:moveTo>
                  <a:lnTo>
                    <a:pt x="4972050" y="0"/>
                  </a:lnTo>
                </a:path>
              </a:pathLst>
            </a:custGeom>
            <a:noFill/>
            <a:ln w="19050">
              <a:solidFill>
                <a:srgbClr val="DCE4DF"/>
              </a:solidFill>
            </a:ln>
          </p:spPr>
        </p:sp>
      </p:grpSp>
      <p:grpSp>
        <p:nvGrpSpPr>
          <p:cNvPr id="27" name="Group 27"/>
          <p:cNvGrpSpPr/>
          <p:nvPr/>
        </p:nvGrpSpPr>
        <p:grpSpPr>
          <a:xfrm>
            <a:off x="4181475" y="1908334"/>
            <a:ext cx="5343425" cy="3035236"/>
            <a:chOff x="4181475" y="1908334"/>
            <a:chExt cx="5343425" cy="3035236"/>
          </a:xfrm>
        </p:grpSpPr>
        <p:sp>
          <p:nvSpPr>
            <p:cNvPr id="11" name="Line 11"/>
            <p:cNvSpPr/>
            <p:nvPr/>
          </p:nvSpPr>
          <p:spPr>
            <a:xfrm>
              <a:off x="4238625" y="2000250"/>
              <a:ext cx="9525" cy="2667000"/>
            </a:xfrm>
            <a:custGeom>
              <a:avLst/>
              <a:gdLst/>
              <a:ahLst/>
              <a:cxnLst/>
              <a:rect l="l" t="t" r="r" b="b"/>
              <a:pathLst>
                <a:path w="9525" h="2667000">
                  <a:moveTo>
                    <a:pt x="0" y="0"/>
                  </a:moveTo>
                  <a:lnTo>
                    <a:pt x="0" y="2667000"/>
                  </a:lnTo>
                </a:path>
              </a:pathLst>
            </a:custGeom>
            <a:noFill/>
            <a:ln w="19050">
              <a:solidFill>
                <a:srgbClr val="CFE4D8"/>
              </a:solidFill>
            </a:ln>
          </p:spPr>
        </p:sp>
        <p:grpSp>
          <p:nvGrpSpPr>
            <p:cNvPr id="16" name="Group 16"/>
            <p:cNvGrpSpPr/>
            <p:nvPr/>
          </p:nvGrpSpPr>
          <p:grpSpPr>
            <a:xfrm>
              <a:off x="4181475" y="1908334"/>
              <a:ext cx="4213482" cy="425386"/>
              <a:chOff x="4181475" y="1908334"/>
              <a:chExt cx="4213482" cy="425386"/>
            </a:xfrm>
          </p:grpSpPr>
          <p:sp>
            <p:nvSpPr>
              <p:cNvPr id="12" name="Ellipse 12"/>
              <p:cNvSpPr/>
              <p:nvPr/>
            </p:nvSpPr>
            <p:spPr>
              <a:xfrm>
                <a:off x="4181475" y="2019300"/>
                <a:ext cx="114300" cy="114300"/>
              </a:xfrm>
              <a:prstGeom prst="ellipse">
                <a:avLst/>
              </a:prstGeom>
              <a:solidFill>
                <a:schemeClr val="accent1"/>
              </a:solidFill>
              <a:ln>
                <a:noFill/>
              </a:ln>
            </p:spPr>
          </p:sp>
          <p:sp>
            <p:nvSpPr>
              <p:cNvPr id="13" name="Freeform 13"/>
              <p:cNvSpPr/>
              <p:nvPr/>
            </p:nvSpPr>
            <p:spPr>
              <a:xfrm>
                <a:off x="4362450" y="1943100"/>
                <a:ext cx="1257300" cy="266700"/>
              </a:xfrm>
              <a:custGeom>
                <a:avLst/>
                <a:gdLst/>
                <a:ahLst/>
                <a:cxnLst/>
                <a:rect l="l" t="t" r="r" b="b"/>
                <a:pathLst>
                  <a:path w="1257300" h="266700">
                    <a:moveTo>
                      <a:pt x="0" y="133350"/>
                    </a:moveTo>
                    <a:lnTo>
                      <a:pt x="152400" y="133350"/>
                    </a:lnTo>
                    <a:lnTo>
                      <a:pt x="266700" y="0"/>
                    </a:lnTo>
                    <a:lnTo>
                      <a:pt x="1257300" y="0"/>
                    </a:lnTo>
                    <a:lnTo>
                      <a:pt x="1257300" y="266700"/>
                    </a:lnTo>
                    <a:lnTo>
                      <a:pt x="266700" y="266700"/>
                    </a:lnTo>
                    <a:lnTo>
                      <a:pt x="152400" y="133350"/>
                    </a:lnTo>
                  </a:path>
                </a:pathLst>
              </a:custGeom>
              <a:solidFill>
                <a:schemeClr val="lt1"/>
              </a:solidFill>
              <a:ln w="19050">
                <a:solidFill>
                  <a:schemeClr val="accent3"/>
                </a:solidFill>
              </a:ln>
            </p:spPr>
          </p:sp>
          <p:sp>
            <p:nvSpPr>
              <p:cNvPr id="14" name="TextBox 14"/>
              <p:cNvSpPr txBox="1"/>
              <p:nvPr/>
            </p:nvSpPr>
            <p:spPr>
              <a:xfrm>
                <a:off x="4848250" y="1939290"/>
                <a:ext cx="438100"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05.</a:t>
                </a:r>
              </a:p>
            </p:txBody>
          </p:sp>
          <p:sp>
            <p:nvSpPr>
              <p:cNvPr id="15" name="TextBox 15"/>
              <p:cNvSpPr txBox="1"/>
              <p:nvPr/>
            </p:nvSpPr>
            <p:spPr>
              <a:xfrm>
                <a:off x="5970651" y="1908334"/>
                <a:ext cx="2424306" cy="425386"/>
              </a:xfrm>
              <a:prstGeom prst="rect">
                <a:avLst/>
              </a:prstGeom>
              <a:noFill/>
              <a:ln>
                <a:noFill/>
              </a:ln>
            </p:spPr>
            <p:txBody>
              <a:bodyPr wrap="none" lIns="0" tIns="0" rIns="0" bIns="0" anchor="t" anchorCtr="0">
                <a:spAutoFit/>
              </a:bodyPr>
              <a:lstStyle/>
              <a:p>
                <a:pPr algn="l"/>
                <a:r>
                  <a:rPr lang="en-US" sz="2180" dirty="0">
                    <a:solidFill>
                      <a:schemeClr val="accent1"/>
                    </a:solidFill>
                    <a:latin typeface="+mn-lt"/>
                    <a:ea typeface="+mn-ea"/>
                    <a:cs typeface="+mn-cs"/>
                  </a:rPr>
                  <a:t>Đào tạo &amp; tài liệu</a:t>
                </a:r>
              </a:p>
            </p:txBody>
          </p:sp>
        </p:grpSp>
        <p:grpSp>
          <p:nvGrpSpPr>
            <p:cNvPr id="21" name="Group 21"/>
            <p:cNvGrpSpPr/>
            <p:nvPr/>
          </p:nvGrpSpPr>
          <p:grpSpPr>
            <a:xfrm>
              <a:off x="4181475" y="3213259"/>
              <a:ext cx="4022693" cy="425386"/>
              <a:chOff x="4181475" y="3213259"/>
              <a:chExt cx="4022693" cy="425386"/>
            </a:xfrm>
          </p:grpSpPr>
          <p:sp>
            <p:nvSpPr>
              <p:cNvPr id="17" name="Ellipse 17"/>
              <p:cNvSpPr/>
              <p:nvPr/>
            </p:nvSpPr>
            <p:spPr>
              <a:xfrm>
                <a:off x="4181475" y="3324225"/>
                <a:ext cx="114300" cy="114300"/>
              </a:xfrm>
              <a:prstGeom prst="ellipse">
                <a:avLst/>
              </a:prstGeom>
              <a:solidFill>
                <a:schemeClr val="accent1"/>
              </a:solidFill>
              <a:ln>
                <a:noFill/>
              </a:ln>
            </p:spPr>
          </p:sp>
          <p:sp>
            <p:nvSpPr>
              <p:cNvPr id="18" name="Freeform 18"/>
              <p:cNvSpPr/>
              <p:nvPr/>
            </p:nvSpPr>
            <p:spPr>
              <a:xfrm>
                <a:off x="4362450" y="3248025"/>
                <a:ext cx="1257300" cy="266700"/>
              </a:xfrm>
              <a:custGeom>
                <a:avLst/>
                <a:gdLst/>
                <a:ahLst/>
                <a:cxnLst/>
                <a:rect l="l" t="t" r="r" b="b"/>
                <a:pathLst>
                  <a:path w="1257300" h="266700">
                    <a:moveTo>
                      <a:pt x="0" y="133350"/>
                    </a:moveTo>
                    <a:lnTo>
                      <a:pt x="152400" y="133350"/>
                    </a:lnTo>
                    <a:lnTo>
                      <a:pt x="266700" y="0"/>
                    </a:lnTo>
                    <a:lnTo>
                      <a:pt x="1257300" y="0"/>
                    </a:lnTo>
                    <a:lnTo>
                      <a:pt x="1257300" y="266700"/>
                    </a:lnTo>
                    <a:lnTo>
                      <a:pt x="266700" y="266700"/>
                    </a:lnTo>
                    <a:lnTo>
                      <a:pt x="152400" y="133350"/>
                    </a:lnTo>
                  </a:path>
                </a:pathLst>
              </a:custGeom>
              <a:solidFill>
                <a:schemeClr val="lt1"/>
              </a:solidFill>
              <a:ln w="19050">
                <a:solidFill>
                  <a:schemeClr val="accent3"/>
                </a:solidFill>
              </a:ln>
            </p:spPr>
          </p:sp>
          <p:sp>
            <p:nvSpPr>
              <p:cNvPr id="19" name="TextBox 19"/>
              <p:cNvSpPr txBox="1"/>
              <p:nvPr/>
            </p:nvSpPr>
            <p:spPr>
              <a:xfrm>
                <a:off x="4848250" y="3244215"/>
                <a:ext cx="438100"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06.</a:t>
                </a:r>
              </a:p>
            </p:txBody>
          </p:sp>
          <p:sp>
            <p:nvSpPr>
              <p:cNvPr id="20" name="TextBox 20"/>
              <p:cNvSpPr txBox="1"/>
              <p:nvPr/>
            </p:nvSpPr>
            <p:spPr>
              <a:xfrm>
                <a:off x="5970651" y="3213259"/>
                <a:ext cx="2233517" cy="425386"/>
              </a:xfrm>
              <a:prstGeom prst="rect">
                <a:avLst/>
              </a:prstGeom>
              <a:noFill/>
              <a:ln>
                <a:noFill/>
              </a:ln>
            </p:spPr>
            <p:txBody>
              <a:bodyPr wrap="none" lIns="0" tIns="0" rIns="0" bIns="0" anchor="t" anchorCtr="0">
                <a:spAutoFit/>
              </a:bodyPr>
              <a:lstStyle/>
              <a:p>
                <a:pPr algn="l"/>
                <a:r>
                  <a:rPr lang="en-US" sz="2180" dirty="0">
                    <a:solidFill>
                      <a:schemeClr val="accent1"/>
                    </a:solidFill>
                    <a:latin typeface="+mn-lt"/>
                    <a:ea typeface="+mn-ea"/>
                    <a:cs typeface="+mn-cs"/>
                  </a:rPr>
                  <a:t>Dự án/tool khác</a:t>
                </a:r>
              </a:p>
            </p:txBody>
          </p:sp>
        </p:grpSp>
        <p:grpSp>
          <p:nvGrpSpPr>
            <p:cNvPr id="26" name="Group 26"/>
            <p:cNvGrpSpPr/>
            <p:nvPr/>
          </p:nvGrpSpPr>
          <p:grpSpPr>
            <a:xfrm>
              <a:off x="4181475" y="4518184"/>
              <a:ext cx="5343425" cy="425386"/>
              <a:chOff x="4181475" y="4518184"/>
              <a:chExt cx="5343425" cy="425386"/>
            </a:xfrm>
          </p:grpSpPr>
          <p:sp>
            <p:nvSpPr>
              <p:cNvPr id="22" name="Ellipse 22"/>
              <p:cNvSpPr/>
              <p:nvPr/>
            </p:nvSpPr>
            <p:spPr>
              <a:xfrm>
                <a:off x="4181475" y="4629150"/>
                <a:ext cx="114300" cy="114300"/>
              </a:xfrm>
              <a:prstGeom prst="ellipse">
                <a:avLst/>
              </a:prstGeom>
              <a:solidFill>
                <a:schemeClr val="accent1"/>
              </a:solidFill>
              <a:ln>
                <a:noFill/>
              </a:ln>
            </p:spPr>
          </p:sp>
          <p:sp>
            <p:nvSpPr>
              <p:cNvPr id="23" name="Freeform 23"/>
              <p:cNvSpPr/>
              <p:nvPr/>
            </p:nvSpPr>
            <p:spPr>
              <a:xfrm>
                <a:off x="4362450" y="4552950"/>
                <a:ext cx="1257300" cy="266700"/>
              </a:xfrm>
              <a:custGeom>
                <a:avLst/>
                <a:gdLst/>
                <a:ahLst/>
                <a:cxnLst/>
                <a:rect l="l" t="t" r="r" b="b"/>
                <a:pathLst>
                  <a:path w="1257300" h="266700">
                    <a:moveTo>
                      <a:pt x="0" y="133350"/>
                    </a:moveTo>
                    <a:lnTo>
                      <a:pt x="152400" y="133350"/>
                    </a:lnTo>
                    <a:lnTo>
                      <a:pt x="266700" y="0"/>
                    </a:lnTo>
                    <a:lnTo>
                      <a:pt x="1257300" y="0"/>
                    </a:lnTo>
                    <a:lnTo>
                      <a:pt x="1257300" y="266700"/>
                    </a:lnTo>
                    <a:lnTo>
                      <a:pt x="266700" y="266700"/>
                    </a:lnTo>
                    <a:lnTo>
                      <a:pt x="152400" y="133350"/>
                    </a:lnTo>
                  </a:path>
                </a:pathLst>
              </a:custGeom>
              <a:solidFill>
                <a:schemeClr val="lt1"/>
              </a:solidFill>
              <a:ln w="19050">
                <a:solidFill>
                  <a:schemeClr val="accent3"/>
                </a:solidFill>
              </a:ln>
            </p:spPr>
          </p:sp>
          <p:sp>
            <p:nvSpPr>
              <p:cNvPr id="24" name="TextBox 24"/>
              <p:cNvSpPr txBox="1"/>
              <p:nvPr/>
            </p:nvSpPr>
            <p:spPr>
              <a:xfrm>
                <a:off x="4848250" y="4549140"/>
                <a:ext cx="438100"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07.</a:t>
                </a:r>
              </a:p>
            </p:txBody>
          </p:sp>
          <p:sp>
            <p:nvSpPr>
              <p:cNvPr id="25" name="TextBox 25"/>
              <p:cNvSpPr txBox="1"/>
              <p:nvPr/>
            </p:nvSpPr>
            <p:spPr>
              <a:xfrm>
                <a:off x="5970651" y="4518184"/>
                <a:ext cx="3554249" cy="425386"/>
              </a:xfrm>
              <a:prstGeom prst="rect">
                <a:avLst/>
              </a:prstGeom>
              <a:noFill/>
              <a:ln>
                <a:noFill/>
              </a:ln>
            </p:spPr>
            <p:txBody>
              <a:bodyPr wrap="none" lIns="0" tIns="0" rIns="0" bIns="0" anchor="t" anchorCtr="0">
                <a:spAutoFit/>
              </a:bodyPr>
              <a:lstStyle/>
              <a:p>
                <a:pPr algn="l"/>
                <a:r>
                  <a:rPr lang="en-US" sz="2180" dirty="0">
                    <a:solidFill>
                      <a:schemeClr val="accent1"/>
                    </a:solidFill>
                    <a:latin typeface="+mn-lt"/>
                    <a:ea typeface="+mn-ea"/>
                    <a:cs typeface="+mn-cs"/>
                  </a:rPr>
                  <a:t>Năng lực &amp; bước tiếp theo</a:t>
                </a:r>
              </a:p>
            </p:txBody>
          </p:sp>
        </p:grpSp>
      </p:grpSp>
      <p:grpSp>
        <p:nvGrpSpPr>
          <p:cNvPr id="30" name="Group 30"/>
          <p:cNvGrpSpPr/>
          <p:nvPr/>
        </p:nvGrpSpPr>
        <p:grpSpPr>
          <a:xfrm>
            <a:off x="533400" y="6362700"/>
            <a:ext cx="11130534" cy="311087"/>
            <a:chOff x="533400" y="6362700"/>
            <a:chExt cx="11130534" cy="311087"/>
          </a:xfrm>
        </p:grpSpPr>
        <p:sp>
          <p:nvSpPr>
            <p:cNvPr id="28" name="Line 28"/>
            <p:cNvSpPr/>
            <p:nvPr/>
          </p:nvSpPr>
          <p:spPr>
            <a:xfrm>
              <a:off x="533400" y="6362700"/>
              <a:ext cx="11125200" cy="9525"/>
            </a:xfrm>
            <a:custGeom>
              <a:avLst/>
              <a:gdLst/>
              <a:ahLst/>
              <a:cxnLst/>
              <a:rect l="l" t="t" r="r" b="b"/>
              <a:pathLst>
                <a:path w="11125200" h="9525">
                  <a:moveTo>
                    <a:pt x="0" y="0"/>
                  </a:moveTo>
                  <a:lnTo>
                    <a:pt x="11125200" y="0"/>
                  </a:lnTo>
                </a:path>
              </a:pathLst>
            </a:custGeom>
            <a:noFill/>
            <a:ln w="9525">
              <a:solidFill>
                <a:srgbClr val="E1E6E3"/>
              </a:solidFill>
            </a:ln>
          </p:spPr>
        </p:sp>
        <p:sp>
          <p:nvSpPr>
            <p:cNvPr id="29" name="TextBox 29"/>
            <p:cNvSpPr txBox="1"/>
            <p:nvPr/>
          </p:nvSpPr>
          <p:spPr>
            <a:xfrm>
              <a:off x="11179740" y="6468428"/>
              <a:ext cx="484194" cy="205359"/>
            </a:xfrm>
            <a:prstGeom prst="rect">
              <a:avLst/>
            </a:prstGeom>
            <a:noFill/>
            <a:ln>
              <a:noFill/>
            </a:ln>
          </p:spPr>
          <p:txBody>
            <a:bodyPr wrap="none" lIns="0" tIns="0" rIns="0" bIns="0" anchor="t" anchorCtr="0">
              <a:spAutoFit/>
            </a:bodyPr>
            <a:lstStyle/>
            <a:p>
              <a:pPr algn="r"/>
              <a:r>
                <a:rPr lang="en-US" sz="1050" dirty="0">
                  <a:solidFill>
                    <a:srgbClr val="89918D"/>
                  </a:solidFill>
                  <a:latin typeface="+mn-lt"/>
                  <a:ea typeface="+mn-ea"/>
                  <a:cs typeface="+mn-cs"/>
                </a:rPr>
                <a:t>03 / 15</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38162" y="381000"/>
            <a:ext cx="11126153" cy="637985"/>
            <a:chOff x="538162" y="381000"/>
            <a:chExt cx="11126153" cy="637985"/>
          </a:xfrm>
        </p:grpSpPr>
        <p:pic>
          <p:nvPicPr>
            <p:cNvPr id="2" name="Image 2"/>
            <p:cNvPicPr>
              <a:picLocks noChangeAspect="1"/>
            </p:cNvPicPr>
            <p:nvPr/>
          </p:nvPicPr>
          <p:blipFill>
            <a:blip r:embed="rId2"/>
            <a:stretch>
              <a:fillRect/>
            </a:stretch>
          </p:blipFill>
          <p:spPr>
            <a:xfrm>
              <a:off x="538162" y="381000"/>
              <a:ext cx="1247775" cy="361950"/>
            </a:xfrm>
            <a:prstGeom prst="rect">
              <a:avLst/>
            </a:prstGeom>
          </p:spPr>
        </p:pic>
        <p:sp>
          <p:nvSpPr>
            <p:cNvPr id="3" name="TextBox 3"/>
            <p:cNvSpPr txBox="1"/>
            <p:nvPr/>
          </p:nvSpPr>
          <p:spPr>
            <a:xfrm>
              <a:off x="3127248" y="402908"/>
              <a:ext cx="3275334"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Kết quả nổi bật</a:t>
              </a:r>
            </a:p>
          </p:txBody>
        </p:sp>
        <p:sp>
          <p:nvSpPr>
            <p:cNvPr id="4" name="TextBox 4"/>
            <p:cNvSpPr txBox="1"/>
            <p:nvPr/>
          </p:nvSpPr>
          <p:spPr>
            <a:xfrm>
              <a:off x="10747897" y="564356"/>
              <a:ext cx="916418" cy="220028"/>
            </a:xfrm>
            <a:prstGeom prst="rect">
              <a:avLst/>
            </a:prstGeom>
            <a:noFill/>
            <a:ln>
              <a:noFill/>
            </a:ln>
          </p:spPr>
          <p:txBody>
            <a:bodyPr wrap="none" lIns="0" tIns="0" rIns="0" bIns="0" anchor="t" anchorCtr="0">
              <a:spAutoFit/>
            </a:bodyPr>
            <a:lstStyle/>
            <a:p>
              <a:pPr algn="r"/>
              <a:r>
                <a:rPr lang="en-US" sz="1120" b="1" spc="75" dirty="0">
                  <a:solidFill>
                    <a:srgbClr val="7A827E"/>
                  </a:solidFill>
                  <a:latin typeface="+mn-lt"/>
                  <a:ea typeface="+mn-ea"/>
                  <a:cs typeface="+mn-cs"/>
                </a:rPr>
                <a:t>TỔNG QUAN</a:t>
              </a:r>
            </a:p>
          </p:txBody>
        </p:sp>
      </p:grpSp>
      <p:grpSp>
        <p:nvGrpSpPr>
          <p:cNvPr id="7" name="Group 7"/>
          <p:cNvGrpSpPr/>
          <p:nvPr/>
        </p:nvGrpSpPr>
        <p:grpSpPr>
          <a:xfrm>
            <a:off x="523113" y="1314926"/>
            <a:ext cx="10151285" cy="396050"/>
            <a:chOff x="523113" y="1314926"/>
            <a:chExt cx="10151285" cy="396050"/>
          </a:xfrm>
        </p:grpSpPr>
        <p:sp>
          <p:nvSpPr>
            <p:cNvPr id="6" name="TextBox 6"/>
            <p:cNvSpPr txBox="1"/>
            <p:nvPr/>
          </p:nvSpPr>
          <p:spPr>
            <a:xfrm>
              <a:off x="523113" y="1314926"/>
              <a:ext cx="10151285" cy="396050"/>
            </a:xfrm>
            <a:prstGeom prst="rect">
              <a:avLst/>
            </a:prstGeom>
            <a:noFill/>
            <a:ln>
              <a:noFill/>
            </a:ln>
          </p:spPr>
          <p:txBody>
            <a:bodyPr wrap="none" lIns="0" tIns="0" rIns="0" bIns="0" anchor="t" anchorCtr="0">
              <a:spAutoFit/>
            </a:bodyPr>
            <a:lstStyle/>
            <a:p>
              <a:pPr algn="l"/>
              <a:r>
                <a:rPr lang="en-US" sz="2020" b="1" dirty="0">
                  <a:solidFill>
                    <a:schemeClr val="dk1"/>
                  </a:solidFill>
                  <a:latin typeface="+mn-lt"/>
                  <a:ea typeface="+mn-ea"/>
                  <a:cs typeface="+mn-cs"/>
                </a:rPr>
                <a:t>102/114 task đã hoàn thành — trọng tâm KNX, phạm vi ngày càng mở rộng.</a:t>
              </a:r>
            </a:p>
          </p:txBody>
        </p:sp>
      </p:grpSp>
      <p:grpSp>
        <p:nvGrpSpPr>
          <p:cNvPr id="28" name="Group 28"/>
          <p:cNvGrpSpPr/>
          <p:nvPr/>
        </p:nvGrpSpPr>
        <p:grpSpPr>
          <a:xfrm>
            <a:off x="533400" y="1952625"/>
            <a:ext cx="11125200" cy="2486025"/>
            <a:chOff x="533400" y="1952625"/>
            <a:chExt cx="11125200" cy="2486025"/>
          </a:xfrm>
        </p:grpSpPr>
        <p:sp>
          <p:nvSpPr>
            <p:cNvPr id="8" name="Rectangle 8"/>
            <p:cNvSpPr/>
            <p:nvPr/>
          </p:nvSpPr>
          <p:spPr>
            <a:xfrm>
              <a:off x="533400" y="1952625"/>
              <a:ext cx="2590800" cy="1238250"/>
            </a:xfrm>
            <a:prstGeom prst="roundRect">
              <a:avLst>
                <a:gd name="adj" fmla="val 13846"/>
              </a:avLst>
            </a:prstGeom>
            <a:solidFill>
              <a:schemeClr val="accent1"/>
            </a:solidFill>
            <a:ln>
              <a:noFill/>
            </a:ln>
          </p:spPr>
        </p:sp>
        <p:sp>
          <p:nvSpPr>
            <p:cNvPr id="9" name="TextBox 9"/>
            <p:cNvSpPr txBox="1"/>
            <p:nvPr/>
          </p:nvSpPr>
          <p:spPr>
            <a:xfrm>
              <a:off x="762000" y="2115502"/>
              <a:ext cx="982678" cy="790575"/>
            </a:xfrm>
            <a:prstGeom prst="rect">
              <a:avLst/>
            </a:prstGeom>
            <a:noFill/>
            <a:ln>
              <a:noFill/>
            </a:ln>
          </p:spPr>
          <p:txBody>
            <a:bodyPr wrap="none" lIns="0" tIns="0" rIns="0" bIns="0" anchor="t" anchorCtr="0">
              <a:spAutoFit/>
            </a:bodyPr>
            <a:lstStyle/>
            <a:p>
              <a:pPr algn="l"/>
              <a:r>
                <a:rPr lang="en-US" sz="4050" b="1" dirty="0">
                  <a:solidFill>
                    <a:srgbClr val="FFFFFF"/>
                  </a:solidFill>
                  <a:latin typeface="+mn-lt"/>
                  <a:ea typeface="+mn-ea"/>
                  <a:cs typeface="+mn-cs"/>
                </a:rPr>
                <a:t>114</a:t>
              </a:r>
            </a:p>
          </p:txBody>
        </p:sp>
        <p:sp>
          <p:nvSpPr>
            <p:cNvPr id="10" name="TextBox 10"/>
            <p:cNvSpPr txBox="1"/>
            <p:nvPr/>
          </p:nvSpPr>
          <p:spPr>
            <a:xfrm>
              <a:off x="774192" y="2797492"/>
              <a:ext cx="1808180"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TASK ĐƯỢC GHI NHẬN</a:t>
              </a:r>
            </a:p>
          </p:txBody>
        </p:sp>
        <p:sp>
          <p:nvSpPr>
            <p:cNvPr id="11" name="Rectangle 11"/>
            <p:cNvSpPr/>
            <p:nvPr/>
          </p:nvSpPr>
          <p:spPr>
            <a:xfrm>
              <a:off x="3352800" y="1952625"/>
              <a:ext cx="2590800" cy="1238250"/>
            </a:xfrm>
            <a:prstGeom prst="roundRect">
              <a:avLst>
                <a:gd name="adj" fmla="val 13846"/>
              </a:avLst>
            </a:prstGeom>
            <a:solidFill>
              <a:schemeClr val="lt2"/>
            </a:solidFill>
            <a:ln>
              <a:noFill/>
            </a:ln>
          </p:spPr>
        </p:sp>
        <p:sp>
          <p:nvSpPr>
            <p:cNvPr id="12" name="TextBox 12"/>
            <p:cNvSpPr txBox="1"/>
            <p:nvPr/>
          </p:nvSpPr>
          <p:spPr>
            <a:xfrm>
              <a:off x="3581400" y="2115502"/>
              <a:ext cx="982678"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102</a:t>
              </a:r>
            </a:p>
          </p:txBody>
        </p:sp>
        <p:sp>
          <p:nvSpPr>
            <p:cNvPr id="13" name="TextBox 13"/>
            <p:cNvSpPr txBox="1"/>
            <p:nvPr/>
          </p:nvSpPr>
          <p:spPr>
            <a:xfrm>
              <a:off x="3593592" y="2797492"/>
              <a:ext cx="132428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DONE · 89,5%</a:t>
              </a:r>
            </a:p>
          </p:txBody>
        </p:sp>
        <p:sp>
          <p:nvSpPr>
            <p:cNvPr id="14" name="Rectangle 14"/>
            <p:cNvSpPr/>
            <p:nvPr/>
          </p:nvSpPr>
          <p:spPr>
            <a:xfrm>
              <a:off x="6172200" y="1952625"/>
              <a:ext cx="2590800" cy="1238250"/>
            </a:xfrm>
            <a:prstGeom prst="roundRect">
              <a:avLst>
                <a:gd name="adj" fmla="val 13846"/>
              </a:avLst>
            </a:prstGeom>
            <a:solidFill>
              <a:schemeClr val="lt2"/>
            </a:solidFill>
            <a:ln>
              <a:noFill/>
            </a:ln>
          </p:spPr>
        </p:sp>
        <p:sp>
          <p:nvSpPr>
            <p:cNvPr id="15" name="TextBox 15"/>
            <p:cNvSpPr txBox="1"/>
            <p:nvPr/>
          </p:nvSpPr>
          <p:spPr>
            <a:xfrm>
              <a:off x="6400800" y="2115502"/>
              <a:ext cx="667819" cy="790575"/>
            </a:xfrm>
            <a:prstGeom prst="rect">
              <a:avLst/>
            </a:prstGeom>
            <a:noFill/>
            <a:ln>
              <a:noFill/>
            </a:ln>
          </p:spPr>
          <p:txBody>
            <a:bodyPr wrap="none" lIns="0" tIns="0" rIns="0" bIns="0" anchor="t" anchorCtr="0">
              <a:spAutoFit/>
            </a:bodyPr>
            <a:lstStyle/>
            <a:p>
              <a:pPr algn="l"/>
              <a:r>
                <a:rPr lang="en-US" sz="4050" b="1" dirty="0">
                  <a:solidFill>
                    <a:schemeClr val="accent2"/>
                  </a:solidFill>
                  <a:latin typeface="+mn-lt"/>
                  <a:ea typeface="+mn-ea"/>
                  <a:cs typeface="+mn-cs"/>
                </a:rPr>
                <a:t>98</a:t>
              </a:r>
            </a:p>
          </p:txBody>
        </p:sp>
        <p:sp>
          <p:nvSpPr>
            <p:cNvPr id="16" name="TextBox 16"/>
            <p:cNvSpPr txBox="1"/>
            <p:nvPr/>
          </p:nvSpPr>
          <p:spPr>
            <a:xfrm>
              <a:off x="6412992" y="2797492"/>
              <a:ext cx="1465417"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TASK THUỘC KNX</a:t>
              </a:r>
            </a:p>
          </p:txBody>
        </p:sp>
        <p:sp>
          <p:nvSpPr>
            <p:cNvPr id="17" name="Rectangle 17"/>
            <p:cNvSpPr/>
            <p:nvPr/>
          </p:nvSpPr>
          <p:spPr>
            <a:xfrm>
              <a:off x="8991600" y="1952625"/>
              <a:ext cx="2667000" cy="1238250"/>
            </a:xfrm>
            <a:prstGeom prst="roundRect">
              <a:avLst>
                <a:gd name="adj" fmla="val 13846"/>
              </a:avLst>
            </a:prstGeom>
            <a:solidFill>
              <a:schemeClr val="lt2"/>
            </a:solidFill>
            <a:ln>
              <a:noFill/>
            </a:ln>
          </p:spPr>
        </p:sp>
        <p:sp>
          <p:nvSpPr>
            <p:cNvPr id="18" name="TextBox 18"/>
            <p:cNvSpPr txBox="1"/>
            <p:nvPr/>
          </p:nvSpPr>
          <p:spPr>
            <a:xfrm>
              <a:off x="9220200" y="2115502"/>
              <a:ext cx="667819" cy="790575"/>
            </a:xfrm>
            <a:prstGeom prst="rect">
              <a:avLst/>
            </a:prstGeom>
            <a:noFill/>
            <a:ln>
              <a:noFill/>
            </a:ln>
          </p:spPr>
          <p:txBody>
            <a:bodyPr wrap="none" lIns="0" tIns="0" rIns="0" bIns="0" anchor="t" anchorCtr="0">
              <a:spAutoFit/>
            </a:bodyPr>
            <a:lstStyle/>
            <a:p>
              <a:pPr algn="l"/>
              <a:r>
                <a:rPr lang="en-US" sz="4050" b="1" dirty="0">
                  <a:solidFill>
                    <a:schemeClr val="accent1"/>
                  </a:solidFill>
                  <a:latin typeface="+mn-lt"/>
                  <a:ea typeface="+mn-ea"/>
                  <a:cs typeface="+mn-cs"/>
                </a:rPr>
                <a:t>07</a:t>
              </a:r>
            </a:p>
          </p:txBody>
        </p:sp>
        <p:sp>
          <p:nvSpPr>
            <p:cNvPr id="19" name="TextBox 19"/>
            <p:cNvSpPr txBox="1"/>
            <p:nvPr/>
          </p:nvSpPr>
          <p:spPr>
            <a:xfrm>
              <a:off x="9232392" y="2797492"/>
              <a:ext cx="1062167"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NHÓM DỰ ÁN</a:t>
              </a:r>
            </a:p>
          </p:txBody>
        </p:sp>
        <p:sp>
          <p:nvSpPr>
            <p:cNvPr id="20" name="Rectangle 20"/>
            <p:cNvSpPr/>
            <p:nvPr/>
          </p:nvSpPr>
          <p:spPr>
            <a:xfrm>
              <a:off x="533400" y="3524250"/>
              <a:ext cx="11125200" cy="914400"/>
            </a:xfrm>
            <a:prstGeom prst="roundRect">
              <a:avLst>
                <a:gd name="adj" fmla="val 18750"/>
              </a:avLst>
            </a:prstGeom>
            <a:solidFill>
              <a:schemeClr val="lt2"/>
            </a:solidFill>
            <a:ln>
              <a:noFill/>
            </a:ln>
          </p:spPr>
        </p:sp>
        <p:sp>
          <p:nvSpPr>
            <p:cNvPr id="21" name="TextBox 21"/>
            <p:cNvSpPr txBox="1"/>
            <p:nvPr/>
          </p:nvSpPr>
          <p:spPr>
            <a:xfrm>
              <a:off x="774954" y="3718560"/>
              <a:ext cx="1562466" cy="234696"/>
            </a:xfrm>
            <a:prstGeom prst="rect">
              <a:avLst/>
            </a:prstGeom>
            <a:noFill/>
            <a:ln>
              <a:noFill/>
            </a:ln>
          </p:spPr>
          <p:txBody>
            <a:bodyPr wrap="none" lIns="0" tIns="0" rIns="0" bIns="0" anchor="t" anchorCtr="0">
              <a:spAutoFit/>
            </a:bodyPr>
            <a:lstStyle/>
            <a:p>
              <a:pPr algn="l"/>
              <a:r>
                <a:rPr lang="en-US" sz="1200" b="1" dirty="0">
                  <a:solidFill>
                    <a:srgbClr val="7A827E"/>
                  </a:solidFill>
                  <a:latin typeface="+mn-lt"/>
                  <a:ea typeface="+mn-ea"/>
                  <a:cs typeface="+mn-cs"/>
                </a:rPr>
                <a:t>TRẠNG THÁI CÒN LẠI</a:t>
              </a:r>
            </a:p>
          </p:txBody>
        </p:sp>
        <p:sp>
          <p:nvSpPr>
            <p:cNvPr id="22" name="Rectangle 22"/>
            <p:cNvSpPr/>
            <p:nvPr/>
          </p:nvSpPr>
          <p:spPr>
            <a:xfrm>
              <a:off x="781050" y="4048125"/>
              <a:ext cx="7620000" cy="133350"/>
            </a:xfrm>
            <a:prstGeom prst="roundRect">
              <a:avLst>
                <a:gd name="adj" fmla="val 50000"/>
              </a:avLst>
            </a:prstGeom>
            <a:solidFill>
              <a:srgbClr val="DCE4DF"/>
            </a:solidFill>
            <a:ln>
              <a:noFill/>
            </a:ln>
          </p:spPr>
        </p:sp>
        <p:sp>
          <p:nvSpPr>
            <p:cNvPr id="23" name="Rectangle 23"/>
            <p:cNvSpPr/>
            <p:nvPr/>
          </p:nvSpPr>
          <p:spPr>
            <a:xfrm>
              <a:off x="781050" y="4048125"/>
              <a:ext cx="6819900" cy="133350"/>
            </a:xfrm>
            <a:prstGeom prst="roundRect">
              <a:avLst>
                <a:gd name="adj" fmla="val 50000"/>
              </a:avLst>
            </a:prstGeom>
            <a:solidFill>
              <a:schemeClr val="accent1"/>
            </a:solidFill>
            <a:ln>
              <a:noFill/>
            </a:ln>
          </p:spPr>
        </p:sp>
        <p:sp>
          <p:nvSpPr>
            <p:cNvPr id="24" name="Ellipse 24"/>
            <p:cNvSpPr/>
            <p:nvPr/>
          </p:nvSpPr>
          <p:spPr>
            <a:xfrm>
              <a:off x="8724900" y="4029075"/>
              <a:ext cx="171450" cy="171450"/>
            </a:xfrm>
            <a:prstGeom prst="ellipse">
              <a:avLst/>
            </a:prstGeom>
            <a:solidFill>
              <a:schemeClr val="accent2"/>
            </a:solidFill>
            <a:ln>
              <a:noFill/>
            </a:ln>
          </p:spPr>
        </p:sp>
        <p:sp>
          <p:nvSpPr>
            <p:cNvPr id="25" name="TextBox 25"/>
            <p:cNvSpPr txBox="1"/>
            <p:nvPr/>
          </p:nvSpPr>
          <p:spPr>
            <a:xfrm>
              <a:off x="8994267" y="4035742"/>
              <a:ext cx="86562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5 Ongoing</a:t>
              </a:r>
            </a:p>
          </p:txBody>
        </p:sp>
        <p:sp>
          <p:nvSpPr>
            <p:cNvPr id="26" name="Ellipse 26"/>
            <p:cNvSpPr/>
            <p:nvPr/>
          </p:nvSpPr>
          <p:spPr>
            <a:xfrm>
              <a:off x="10058400" y="4029075"/>
              <a:ext cx="171450" cy="171450"/>
            </a:xfrm>
            <a:prstGeom prst="ellipse">
              <a:avLst/>
            </a:prstGeom>
            <a:solidFill>
              <a:schemeClr val="accent3"/>
            </a:solidFill>
            <a:ln>
              <a:noFill/>
            </a:ln>
          </p:spPr>
        </p:sp>
        <p:sp>
          <p:nvSpPr>
            <p:cNvPr id="27" name="TextBox 27"/>
            <p:cNvSpPr txBox="1"/>
            <p:nvPr/>
          </p:nvSpPr>
          <p:spPr>
            <a:xfrm>
              <a:off x="10327767" y="4035742"/>
              <a:ext cx="56801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 khác</a:t>
              </a:r>
            </a:p>
          </p:txBody>
        </p:sp>
      </p:grpSp>
      <p:grpSp>
        <p:nvGrpSpPr>
          <p:cNvPr id="31" name="Group 31"/>
          <p:cNvGrpSpPr/>
          <p:nvPr/>
        </p:nvGrpSpPr>
        <p:grpSpPr>
          <a:xfrm>
            <a:off x="525399" y="5137785"/>
            <a:ext cx="7173282" cy="667608"/>
            <a:chOff x="525399" y="5137785"/>
            <a:chExt cx="7173282" cy="667608"/>
          </a:xfrm>
        </p:grpSpPr>
        <p:sp>
          <p:nvSpPr>
            <p:cNvPr id="29" name="TextBox 29"/>
            <p:cNvSpPr txBox="1"/>
            <p:nvPr/>
          </p:nvSpPr>
          <p:spPr>
            <a:xfrm>
              <a:off x="527304" y="5137785"/>
              <a:ext cx="1150254" cy="234696"/>
            </a:xfrm>
            <a:prstGeom prst="rect">
              <a:avLst/>
            </a:prstGeom>
            <a:noFill/>
            <a:ln>
              <a:noFill/>
            </a:ln>
          </p:spPr>
          <p:txBody>
            <a:bodyPr wrap="none" lIns="0" tIns="0" rIns="0" bIns="0" anchor="t" anchorCtr="0">
              <a:spAutoFit/>
            </a:bodyPr>
            <a:lstStyle/>
            <a:p>
              <a:pPr algn="l"/>
              <a:r>
                <a:rPr lang="en-US" sz="1200" b="1" dirty="0">
                  <a:solidFill>
                    <a:srgbClr val="7A827E"/>
                  </a:solidFill>
                  <a:latin typeface="+mn-lt"/>
                  <a:ea typeface="+mn-ea"/>
                  <a:cs typeface="+mn-cs"/>
                </a:rPr>
                <a:t>PHẠM VI DỰ ÁN</a:t>
              </a:r>
            </a:p>
          </p:txBody>
        </p:sp>
        <p:sp>
          <p:nvSpPr>
            <p:cNvPr id="30" name="TextBox 30"/>
            <p:cNvSpPr txBox="1"/>
            <p:nvPr/>
          </p:nvSpPr>
          <p:spPr>
            <a:xfrm>
              <a:off x="525399" y="5497354"/>
              <a:ext cx="7173282" cy="308039"/>
            </a:xfrm>
            <a:prstGeom prst="rect">
              <a:avLst/>
            </a:prstGeom>
            <a:noFill/>
            <a:ln>
              <a:noFill/>
            </a:ln>
          </p:spPr>
          <p:txBody>
            <a:bodyPr wrap="none" lIns="0" tIns="0" rIns="0" bIns="0" anchor="t" anchorCtr="0">
              <a:spAutoFit/>
            </a:bodyPr>
            <a:lstStyle/>
            <a:p>
              <a:pPr algn="l"/>
              <a:r>
                <a:rPr lang="en-US" sz="1580" dirty="0">
                  <a:solidFill>
                    <a:schemeClr val="dk1"/>
                  </a:solidFill>
                  <a:latin typeface="+mn-lt"/>
                  <a:ea typeface="+mn-ea"/>
                  <a:cs typeface="+mn-cs"/>
                </a:rPr>
                <a:t>KNX · Auto Test · Tool Design · IoT · LumesV2 · MSB · Smart Lighting</a:t>
              </a:r>
            </a:p>
          </p:txBody>
        </p:sp>
      </p:grpSp>
      <p:grpSp>
        <p:nvGrpSpPr>
          <p:cNvPr id="34" name="Group 34"/>
          <p:cNvGrpSpPr/>
          <p:nvPr/>
        </p:nvGrpSpPr>
        <p:grpSpPr>
          <a:xfrm>
            <a:off x="533400" y="6362700"/>
            <a:ext cx="11130534" cy="311087"/>
            <a:chOff x="533400" y="6362700"/>
            <a:chExt cx="11130534" cy="311087"/>
          </a:xfrm>
        </p:grpSpPr>
        <p:sp>
          <p:nvSpPr>
            <p:cNvPr id="32" name="Line 32"/>
            <p:cNvSpPr/>
            <p:nvPr/>
          </p:nvSpPr>
          <p:spPr>
            <a:xfrm>
              <a:off x="533400" y="6362700"/>
              <a:ext cx="11125200" cy="9525"/>
            </a:xfrm>
            <a:custGeom>
              <a:avLst/>
              <a:gdLst/>
              <a:ahLst/>
              <a:cxnLst/>
              <a:rect l="l" t="t" r="r" b="b"/>
              <a:pathLst>
                <a:path w="11125200" h="9525">
                  <a:moveTo>
                    <a:pt x="0" y="0"/>
                  </a:moveTo>
                  <a:lnTo>
                    <a:pt x="11125200" y="0"/>
                  </a:lnTo>
                </a:path>
              </a:pathLst>
            </a:custGeom>
            <a:noFill/>
            <a:ln w="9525">
              <a:solidFill>
                <a:srgbClr val="E1E6E3"/>
              </a:solidFill>
            </a:ln>
          </p:spPr>
        </p:sp>
        <p:sp>
          <p:nvSpPr>
            <p:cNvPr id="33" name="TextBox 33"/>
            <p:cNvSpPr txBox="1"/>
            <p:nvPr/>
          </p:nvSpPr>
          <p:spPr>
            <a:xfrm>
              <a:off x="11179740" y="6468428"/>
              <a:ext cx="484194" cy="205359"/>
            </a:xfrm>
            <a:prstGeom prst="rect">
              <a:avLst/>
            </a:prstGeom>
            <a:noFill/>
            <a:ln>
              <a:noFill/>
            </a:ln>
          </p:spPr>
          <p:txBody>
            <a:bodyPr wrap="none" lIns="0" tIns="0" rIns="0" bIns="0" anchor="t" anchorCtr="0">
              <a:spAutoFit/>
            </a:bodyPr>
            <a:lstStyle/>
            <a:p>
              <a:pPr algn="r"/>
              <a:r>
                <a:rPr lang="en-US" sz="1050" dirty="0">
                  <a:solidFill>
                    <a:srgbClr val="89918D"/>
                  </a:solidFill>
                  <a:latin typeface="+mn-lt"/>
                  <a:ea typeface="+mn-ea"/>
                  <a:cs typeface="+mn-cs"/>
                </a:rPr>
                <a:t>04 / 15</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38162" y="381000"/>
            <a:ext cx="11126153" cy="637985"/>
            <a:chOff x="538162" y="381000"/>
            <a:chExt cx="11126153" cy="637985"/>
          </a:xfrm>
        </p:grpSpPr>
        <p:pic>
          <p:nvPicPr>
            <p:cNvPr id="2" name="Image 2"/>
            <p:cNvPicPr>
              <a:picLocks noChangeAspect="1"/>
            </p:cNvPicPr>
            <p:nvPr/>
          </p:nvPicPr>
          <p:blipFill>
            <a:blip r:embed="rId2"/>
            <a:stretch>
              <a:fillRect/>
            </a:stretch>
          </p:blipFill>
          <p:spPr>
            <a:xfrm>
              <a:off x="538162" y="381000"/>
              <a:ext cx="1247775" cy="361950"/>
            </a:xfrm>
            <a:prstGeom prst="rect">
              <a:avLst/>
            </a:prstGeom>
          </p:spPr>
        </p:pic>
        <p:sp>
          <p:nvSpPr>
            <p:cNvPr id="3" name="TextBox 3"/>
            <p:cNvSpPr txBox="1"/>
            <p:nvPr/>
          </p:nvSpPr>
          <p:spPr>
            <a:xfrm>
              <a:off x="3127248" y="402908"/>
              <a:ext cx="5229454"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Hành trình 20/03–22/07</a:t>
              </a:r>
            </a:p>
          </p:txBody>
        </p:sp>
        <p:sp>
          <p:nvSpPr>
            <p:cNvPr id="4" name="TextBox 4"/>
            <p:cNvSpPr txBox="1"/>
            <p:nvPr/>
          </p:nvSpPr>
          <p:spPr>
            <a:xfrm>
              <a:off x="10958697" y="564356"/>
              <a:ext cx="705618" cy="220028"/>
            </a:xfrm>
            <a:prstGeom prst="rect">
              <a:avLst/>
            </a:prstGeom>
            <a:noFill/>
            <a:ln>
              <a:noFill/>
            </a:ln>
          </p:spPr>
          <p:txBody>
            <a:bodyPr wrap="none" lIns="0" tIns="0" rIns="0" bIns="0" anchor="t" anchorCtr="0">
              <a:spAutoFit/>
            </a:bodyPr>
            <a:lstStyle/>
            <a:p>
              <a:pPr algn="r"/>
              <a:r>
                <a:rPr lang="en-US" sz="1120" b="1" dirty="0">
                  <a:solidFill>
                    <a:srgbClr val="7A827E"/>
                  </a:solidFill>
                  <a:latin typeface="+mn-lt"/>
                  <a:ea typeface="+mn-ea"/>
                  <a:cs typeface="+mn-cs"/>
                </a:rPr>
                <a:t>04 THÁNG</a:t>
              </a:r>
            </a:p>
          </p:txBody>
        </p:sp>
      </p:grpSp>
      <p:grpSp>
        <p:nvGrpSpPr>
          <p:cNvPr id="7" name="Group 7"/>
          <p:cNvGrpSpPr/>
          <p:nvPr/>
        </p:nvGrpSpPr>
        <p:grpSpPr>
          <a:xfrm>
            <a:off x="523494" y="1332548"/>
            <a:ext cx="9883529" cy="381381"/>
            <a:chOff x="523494" y="1332548"/>
            <a:chExt cx="9883529" cy="381381"/>
          </a:xfrm>
        </p:grpSpPr>
        <p:sp>
          <p:nvSpPr>
            <p:cNvPr id="6" name="TextBox 6"/>
            <p:cNvSpPr txBox="1"/>
            <p:nvPr/>
          </p:nvSpPr>
          <p:spPr>
            <a:xfrm>
              <a:off x="523494" y="1332548"/>
              <a:ext cx="9883529"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Từ firmware thiết bị đến tool, kiểm thử hệ thống và chuyển giao tri thức.</a:t>
              </a:r>
            </a:p>
          </p:txBody>
        </p:sp>
      </p:grpSp>
      <p:grpSp>
        <p:nvGrpSpPr>
          <p:cNvPr id="33" name="Group 33"/>
          <p:cNvGrpSpPr/>
          <p:nvPr/>
        </p:nvGrpSpPr>
        <p:grpSpPr>
          <a:xfrm>
            <a:off x="533400" y="2095500"/>
            <a:ext cx="10570100" cy="2566225"/>
            <a:chOff x="533400" y="2095500"/>
            <a:chExt cx="10570100" cy="2566225"/>
          </a:xfrm>
        </p:grpSpPr>
        <p:sp>
          <p:nvSpPr>
            <p:cNvPr id="8" name="Line 8"/>
            <p:cNvSpPr/>
            <p:nvPr/>
          </p:nvSpPr>
          <p:spPr>
            <a:xfrm>
              <a:off x="1143000" y="3190875"/>
              <a:ext cx="9906000" cy="9525"/>
            </a:xfrm>
            <a:custGeom>
              <a:avLst/>
              <a:gdLst/>
              <a:ahLst/>
              <a:cxnLst/>
              <a:rect l="l" t="t" r="r" b="b"/>
              <a:pathLst>
                <a:path w="9906000" h="9525">
                  <a:moveTo>
                    <a:pt x="0" y="0"/>
                  </a:moveTo>
                  <a:lnTo>
                    <a:pt x="9906000" y="0"/>
                  </a:lnTo>
                </a:path>
              </a:pathLst>
            </a:custGeom>
            <a:noFill/>
            <a:ln w="76200" cap="rnd">
              <a:solidFill>
                <a:srgbClr val="CFE4D8"/>
              </a:solidFill>
            </a:ln>
          </p:spPr>
        </p:sp>
        <p:grpSp>
          <p:nvGrpSpPr>
            <p:cNvPr id="14" name="Group 14"/>
            <p:cNvGrpSpPr/>
            <p:nvPr/>
          </p:nvGrpSpPr>
          <p:grpSpPr>
            <a:xfrm>
              <a:off x="533400" y="2095500"/>
              <a:ext cx="2446331" cy="1918526"/>
              <a:chOff x="533400" y="2095500"/>
              <a:chExt cx="2446331" cy="1918526"/>
            </a:xfrm>
          </p:grpSpPr>
          <p:sp>
            <p:nvSpPr>
              <p:cNvPr id="9" name="Ellipse 9"/>
              <p:cNvSpPr/>
              <p:nvPr/>
            </p:nvSpPr>
            <p:spPr>
              <a:xfrm>
                <a:off x="1428750" y="3000375"/>
                <a:ext cx="381000" cy="381000"/>
              </a:xfrm>
              <a:prstGeom prst="ellipse">
                <a:avLst/>
              </a:prstGeom>
              <a:solidFill>
                <a:schemeClr val="accent1"/>
              </a:solidFill>
              <a:ln w="57150">
                <a:solidFill>
                  <a:srgbClr val="FFFFFF"/>
                </a:solidFill>
              </a:ln>
            </p:spPr>
          </p:sp>
          <p:sp>
            <p:nvSpPr>
              <p:cNvPr id="10" name="Rectangle 10"/>
              <p:cNvSpPr/>
              <p:nvPr/>
            </p:nvSpPr>
            <p:spPr>
              <a:xfrm>
                <a:off x="533400" y="2095500"/>
                <a:ext cx="2171700" cy="876300"/>
              </a:xfrm>
              <a:prstGeom prst="roundRect">
                <a:avLst>
                  <a:gd name="adj" fmla="val 15217"/>
                </a:avLst>
              </a:prstGeom>
              <a:solidFill>
                <a:schemeClr val="lt2"/>
              </a:solidFill>
              <a:ln>
                <a:noFill/>
              </a:ln>
            </p:spPr>
          </p:sp>
          <p:sp>
            <p:nvSpPr>
              <p:cNvPr id="11" name="TextBox 11"/>
              <p:cNvSpPr txBox="1"/>
              <p:nvPr/>
            </p:nvSpPr>
            <p:spPr>
              <a:xfrm>
                <a:off x="717804" y="2242185"/>
                <a:ext cx="1140173"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20/03 — 30/04</a:t>
                </a:r>
              </a:p>
            </p:txBody>
          </p:sp>
          <p:sp>
            <p:nvSpPr>
              <p:cNvPr id="12" name="TextBox 12"/>
              <p:cNvSpPr txBox="1"/>
              <p:nvPr/>
            </p:nvSpPr>
            <p:spPr>
              <a:xfrm>
                <a:off x="715518" y="2507932"/>
                <a:ext cx="2264213"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Firmware &amp; thiết bị</a:t>
                </a:r>
              </a:p>
            </p:txBody>
          </p:sp>
          <p:sp>
            <p:nvSpPr>
              <p:cNvPr id="13" name="TextBox 13"/>
              <p:cNvSpPr txBox="1"/>
              <p:nvPr/>
            </p:nvSpPr>
            <p:spPr>
              <a:xfrm>
                <a:off x="717042" y="3492818"/>
                <a:ext cx="1522476" cy="521208"/>
              </a:xfrm>
              <a:prstGeom prst="rect">
                <a:avLst/>
              </a:prstGeom>
              <a:noFill/>
              <a:ln>
                <a:noFill/>
              </a:ln>
            </p:spPr>
            <p:txBody>
              <a:bodyPr wrap="square" lIns="0" tIns="0" rIns="0" bIns="0" anchor="t" anchorCtr="0"/>
              <a:lstStyle/>
              <a:p>
                <a:pPr algn="l">
                  <a:lnSpc>
                    <a:spcPts val="2025"/>
                  </a:lnSpc>
                </a:pPr>
                <a:r>
                  <a:rPr lang="en-US" sz="1350" dirty="0">
                    <a:solidFill>
                      <a:srgbClr val="5E6862"/>
                    </a:solidFill>
                    <a:latin typeface="+mn-lt"/>
                    <a:ea typeface="+mn-ea"/>
                    <a:cs typeface="+mn-cs"/>
                  </a:rPr>
                  <a:t>KNX 2/4 nút, Rèm, Actuator, KNOB</a:t>
                </a:r>
              </a:p>
            </p:txBody>
          </p:sp>
        </p:grpSp>
        <p:grpSp>
          <p:nvGrpSpPr>
            <p:cNvPr id="20" name="Group 20"/>
            <p:cNvGrpSpPr/>
            <p:nvPr/>
          </p:nvGrpSpPr>
          <p:grpSpPr>
            <a:xfrm>
              <a:off x="3219450" y="3000375"/>
              <a:ext cx="2171700" cy="1661350"/>
              <a:chOff x="3219450" y="3000375"/>
              <a:chExt cx="2171700" cy="1661350"/>
            </a:xfrm>
          </p:grpSpPr>
          <p:sp>
            <p:nvSpPr>
              <p:cNvPr id="15" name="Ellipse 15"/>
              <p:cNvSpPr/>
              <p:nvPr/>
            </p:nvSpPr>
            <p:spPr>
              <a:xfrm>
                <a:off x="4114800" y="3000375"/>
                <a:ext cx="381000" cy="381000"/>
              </a:xfrm>
              <a:prstGeom prst="ellipse">
                <a:avLst/>
              </a:prstGeom>
              <a:solidFill>
                <a:schemeClr val="accent1"/>
              </a:solidFill>
              <a:ln w="57150">
                <a:solidFill>
                  <a:srgbClr val="FFFFFF"/>
                </a:solidFill>
              </a:ln>
            </p:spPr>
          </p:sp>
          <p:sp>
            <p:nvSpPr>
              <p:cNvPr id="16" name="Rectangle 16"/>
              <p:cNvSpPr/>
              <p:nvPr/>
            </p:nvSpPr>
            <p:spPr>
              <a:xfrm>
                <a:off x="3219450" y="3648075"/>
                <a:ext cx="2171700" cy="990600"/>
              </a:xfrm>
              <a:prstGeom prst="roundRect">
                <a:avLst>
                  <a:gd name="adj" fmla="val 13462"/>
                </a:avLst>
              </a:prstGeom>
              <a:solidFill>
                <a:schemeClr val="lt2"/>
              </a:solidFill>
              <a:ln>
                <a:noFill/>
              </a:ln>
            </p:spPr>
          </p:sp>
          <p:sp>
            <p:nvSpPr>
              <p:cNvPr id="17" name="TextBox 17"/>
              <p:cNvSpPr txBox="1"/>
              <p:nvPr/>
            </p:nvSpPr>
            <p:spPr>
              <a:xfrm>
                <a:off x="3403854" y="3804285"/>
                <a:ext cx="665234"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05/2026</a:t>
                </a:r>
              </a:p>
            </p:txBody>
          </p:sp>
          <p:sp>
            <p:nvSpPr>
              <p:cNvPr id="18" name="TextBox 18"/>
              <p:cNvSpPr txBox="1"/>
              <p:nvPr/>
            </p:nvSpPr>
            <p:spPr>
              <a:xfrm>
                <a:off x="3401568" y="4079558"/>
                <a:ext cx="191414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Jig &amp; code loader</a:t>
                </a:r>
              </a:p>
            </p:txBody>
          </p:sp>
          <p:sp>
            <p:nvSpPr>
              <p:cNvPr id="19" name="TextBox 19"/>
              <p:cNvSpPr txBox="1"/>
              <p:nvPr/>
            </p:nvSpPr>
            <p:spPr>
              <a:xfrm>
                <a:off x="3403092" y="4397692"/>
                <a:ext cx="1891840" cy="264033"/>
              </a:xfrm>
              <a:prstGeom prst="rect">
                <a:avLst/>
              </a:prstGeom>
              <a:noFill/>
              <a:ln>
                <a:noFill/>
              </a:ln>
            </p:spPr>
            <p:txBody>
              <a:bodyPr wrap="none" lIns="0" tIns="0" rIns="0" bIns="0" anchor="t" anchorCtr="0">
                <a:spAutoFit/>
              </a:bodyPr>
              <a:lstStyle/>
              <a:p>
                <a:pPr algn="l"/>
                <a:r>
                  <a:rPr lang="en-US" sz="1350" dirty="0">
                    <a:solidFill>
                      <a:srgbClr val="5E6862"/>
                    </a:solidFill>
                    <a:latin typeface="+mn-lt"/>
                    <a:ea typeface="+mn-ea"/>
                    <a:cs typeface="+mn-cs"/>
                  </a:rPr>
                  <a:t>Tool và test hệ thống</a:t>
                </a:r>
              </a:p>
            </p:txBody>
          </p:sp>
        </p:grpSp>
        <p:grpSp>
          <p:nvGrpSpPr>
            <p:cNvPr id="26" name="Group 26"/>
            <p:cNvGrpSpPr/>
            <p:nvPr/>
          </p:nvGrpSpPr>
          <p:grpSpPr>
            <a:xfrm>
              <a:off x="5905500" y="2095500"/>
              <a:ext cx="2516564" cy="1918526"/>
              <a:chOff x="5905500" y="2095500"/>
              <a:chExt cx="2516564" cy="1918526"/>
            </a:xfrm>
          </p:grpSpPr>
          <p:sp>
            <p:nvSpPr>
              <p:cNvPr id="21" name="Ellipse 21"/>
              <p:cNvSpPr/>
              <p:nvPr/>
            </p:nvSpPr>
            <p:spPr>
              <a:xfrm>
                <a:off x="6800850" y="3000375"/>
                <a:ext cx="381000" cy="381000"/>
              </a:xfrm>
              <a:prstGeom prst="ellipse">
                <a:avLst/>
              </a:prstGeom>
              <a:solidFill>
                <a:schemeClr val="accent2"/>
              </a:solidFill>
              <a:ln w="57150">
                <a:solidFill>
                  <a:srgbClr val="FFFFFF"/>
                </a:solidFill>
              </a:ln>
            </p:spPr>
          </p:sp>
          <p:sp>
            <p:nvSpPr>
              <p:cNvPr id="22" name="Rectangle 22"/>
              <p:cNvSpPr/>
              <p:nvPr/>
            </p:nvSpPr>
            <p:spPr>
              <a:xfrm>
                <a:off x="5905500" y="2095500"/>
                <a:ext cx="2171700" cy="876300"/>
              </a:xfrm>
              <a:prstGeom prst="roundRect">
                <a:avLst>
                  <a:gd name="adj" fmla="val 15217"/>
                </a:avLst>
              </a:prstGeom>
              <a:solidFill>
                <a:schemeClr val="lt2"/>
              </a:solidFill>
              <a:ln>
                <a:noFill/>
              </a:ln>
            </p:spPr>
          </p:sp>
          <p:sp>
            <p:nvSpPr>
              <p:cNvPr id="23" name="TextBox 23"/>
              <p:cNvSpPr txBox="1"/>
              <p:nvPr/>
            </p:nvSpPr>
            <p:spPr>
              <a:xfrm>
                <a:off x="6089904" y="2242185"/>
                <a:ext cx="665234"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06/2026</a:t>
                </a:r>
              </a:p>
            </p:txBody>
          </p:sp>
          <p:sp>
            <p:nvSpPr>
              <p:cNvPr id="24" name="TextBox 24"/>
              <p:cNvSpPr txBox="1"/>
              <p:nvPr/>
            </p:nvSpPr>
            <p:spPr>
              <a:xfrm>
                <a:off x="6087618" y="2507932"/>
                <a:ext cx="233444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Benchmark &amp; đào tạo</a:t>
                </a:r>
              </a:p>
            </p:txBody>
          </p:sp>
          <p:sp>
            <p:nvSpPr>
              <p:cNvPr id="25" name="TextBox 25"/>
              <p:cNvSpPr txBox="1"/>
              <p:nvPr/>
            </p:nvSpPr>
            <p:spPr>
              <a:xfrm>
                <a:off x="6089142" y="3492818"/>
                <a:ext cx="1813941" cy="521208"/>
              </a:xfrm>
              <a:prstGeom prst="rect">
                <a:avLst/>
              </a:prstGeom>
              <a:noFill/>
              <a:ln>
                <a:noFill/>
              </a:ln>
            </p:spPr>
            <p:txBody>
              <a:bodyPr wrap="square" lIns="0" tIns="0" rIns="0" bIns="0" anchor="t" anchorCtr="0"/>
              <a:lstStyle/>
              <a:p>
                <a:pPr algn="l">
                  <a:lnSpc>
                    <a:spcPts val="2025"/>
                  </a:lnSpc>
                </a:pPr>
                <a:r>
                  <a:rPr lang="en-US" sz="1350" dirty="0">
                    <a:solidFill>
                      <a:srgbClr val="5E6862"/>
                    </a:solidFill>
                    <a:latin typeface="+mn-lt"/>
                    <a:ea typeface="+mn-ea"/>
                    <a:cs typeface="+mn-cs"/>
                  </a:rPr>
                  <a:t>Giáo trình, ETS, Quiz và tài liệu sử dụng</a:t>
                </a:r>
              </a:p>
            </p:txBody>
          </p:sp>
        </p:grpSp>
        <p:grpSp>
          <p:nvGrpSpPr>
            <p:cNvPr id="32" name="Group 32"/>
            <p:cNvGrpSpPr/>
            <p:nvPr/>
          </p:nvGrpSpPr>
          <p:grpSpPr>
            <a:xfrm>
              <a:off x="8591550" y="3000375"/>
              <a:ext cx="2511950" cy="1661350"/>
              <a:chOff x="8591550" y="3000375"/>
              <a:chExt cx="2511950" cy="1661350"/>
            </a:xfrm>
          </p:grpSpPr>
          <p:sp>
            <p:nvSpPr>
              <p:cNvPr id="27" name="Ellipse 27"/>
              <p:cNvSpPr/>
              <p:nvPr/>
            </p:nvSpPr>
            <p:spPr>
              <a:xfrm>
                <a:off x="9486900" y="3000375"/>
                <a:ext cx="381000" cy="381000"/>
              </a:xfrm>
              <a:prstGeom prst="ellipse">
                <a:avLst/>
              </a:prstGeom>
              <a:solidFill>
                <a:schemeClr val="accent1"/>
              </a:solidFill>
              <a:ln w="57150">
                <a:solidFill>
                  <a:srgbClr val="FFFFFF"/>
                </a:solidFill>
              </a:ln>
            </p:spPr>
          </p:sp>
          <p:sp>
            <p:nvSpPr>
              <p:cNvPr id="28" name="Rectangle 28"/>
              <p:cNvSpPr/>
              <p:nvPr/>
            </p:nvSpPr>
            <p:spPr>
              <a:xfrm>
                <a:off x="8591550" y="3648075"/>
                <a:ext cx="2476500" cy="990600"/>
              </a:xfrm>
              <a:prstGeom prst="roundRect">
                <a:avLst>
                  <a:gd name="adj" fmla="val 13462"/>
                </a:avLst>
              </a:prstGeom>
              <a:solidFill>
                <a:schemeClr val="accent1"/>
              </a:solidFill>
              <a:ln>
                <a:noFill/>
              </a:ln>
            </p:spPr>
          </p:sp>
          <p:sp>
            <p:nvSpPr>
              <p:cNvPr id="29" name="TextBox 29"/>
              <p:cNvSpPr txBox="1"/>
              <p:nvPr/>
            </p:nvSpPr>
            <p:spPr>
              <a:xfrm>
                <a:off x="8775954" y="3804285"/>
                <a:ext cx="665234"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07/2026</a:t>
                </a:r>
              </a:p>
            </p:txBody>
          </p:sp>
          <p:sp>
            <p:nvSpPr>
              <p:cNvPr id="30" name="TextBox 30"/>
              <p:cNvSpPr txBox="1"/>
              <p:nvPr/>
            </p:nvSpPr>
            <p:spPr>
              <a:xfrm>
                <a:off x="8773668" y="4079558"/>
                <a:ext cx="1947395"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LUKA &amp; Auto Test</a:t>
                </a:r>
              </a:p>
            </p:txBody>
          </p:sp>
          <p:sp>
            <p:nvSpPr>
              <p:cNvPr id="31" name="TextBox 31"/>
              <p:cNvSpPr txBox="1"/>
              <p:nvPr/>
            </p:nvSpPr>
            <p:spPr>
              <a:xfrm>
                <a:off x="8775192" y="4397692"/>
                <a:ext cx="2328308"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Topology, servo, cảm biến</a:t>
                </a:r>
              </a:p>
            </p:txBody>
          </p:sp>
        </p:grpSp>
      </p:grpSp>
      <p:grpSp>
        <p:nvGrpSpPr>
          <p:cNvPr id="36" name="Group 36"/>
          <p:cNvGrpSpPr/>
          <p:nvPr/>
        </p:nvGrpSpPr>
        <p:grpSpPr>
          <a:xfrm>
            <a:off x="533400" y="5391150"/>
            <a:ext cx="11125200" cy="533400"/>
            <a:chOff x="533400" y="5391150"/>
            <a:chExt cx="11125200" cy="533400"/>
          </a:xfrm>
        </p:grpSpPr>
        <p:sp>
          <p:nvSpPr>
            <p:cNvPr id="34" name="Rectangle 34"/>
            <p:cNvSpPr/>
            <p:nvPr/>
          </p:nvSpPr>
          <p:spPr>
            <a:xfrm>
              <a:off x="533400" y="5391150"/>
              <a:ext cx="11125200" cy="533400"/>
            </a:xfrm>
            <a:prstGeom prst="roundRect">
              <a:avLst>
                <a:gd name="adj" fmla="val 25000"/>
              </a:avLst>
            </a:prstGeom>
            <a:solidFill>
              <a:srgbClr val="EAF5EF"/>
            </a:solidFill>
            <a:ln>
              <a:noFill/>
            </a:ln>
          </p:spPr>
        </p:sp>
        <p:sp>
          <p:nvSpPr>
            <p:cNvPr id="35" name="TextBox 35"/>
            <p:cNvSpPr txBox="1"/>
            <p:nvPr/>
          </p:nvSpPr>
          <p:spPr>
            <a:xfrm>
              <a:off x="773430" y="5572125"/>
              <a:ext cx="8790671"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Mỗi giai đoạn mở rộng thêm một lớp giá trị: thiết bị → công cụ → hệ thống → con người.</a:t>
              </a:r>
            </a:p>
          </p:txBody>
        </p:sp>
      </p:grpSp>
      <p:grpSp>
        <p:nvGrpSpPr>
          <p:cNvPr id="39" name="Group 39"/>
          <p:cNvGrpSpPr/>
          <p:nvPr/>
        </p:nvGrpSpPr>
        <p:grpSpPr>
          <a:xfrm>
            <a:off x="533400" y="6362700"/>
            <a:ext cx="11130534" cy="311087"/>
            <a:chOff x="533400" y="6362700"/>
            <a:chExt cx="11130534" cy="311087"/>
          </a:xfrm>
        </p:grpSpPr>
        <p:sp>
          <p:nvSpPr>
            <p:cNvPr id="37" name="Line 37"/>
            <p:cNvSpPr/>
            <p:nvPr/>
          </p:nvSpPr>
          <p:spPr>
            <a:xfrm>
              <a:off x="533400" y="6362700"/>
              <a:ext cx="11125200" cy="9525"/>
            </a:xfrm>
            <a:custGeom>
              <a:avLst/>
              <a:gdLst/>
              <a:ahLst/>
              <a:cxnLst/>
              <a:rect l="l" t="t" r="r" b="b"/>
              <a:pathLst>
                <a:path w="11125200" h="9525">
                  <a:moveTo>
                    <a:pt x="0" y="0"/>
                  </a:moveTo>
                  <a:lnTo>
                    <a:pt x="11125200" y="0"/>
                  </a:lnTo>
                </a:path>
              </a:pathLst>
            </a:custGeom>
            <a:noFill/>
            <a:ln w="9525">
              <a:solidFill>
                <a:srgbClr val="E1E6E3"/>
              </a:solidFill>
            </a:ln>
          </p:spPr>
        </p:sp>
        <p:sp>
          <p:nvSpPr>
            <p:cNvPr id="38" name="TextBox 38"/>
            <p:cNvSpPr txBox="1"/>
            <p:nvPr/>
          </p:nvSpPr>
          <p:spPr>
            <a:xfrm>
              <a:off x="11179740" y="6468428"/>
              <a:ext cx="484194" cy="205359"/>
            </a:xfrm>
            <a:prstGeom prst="rect">
              <a:avLst/>
            </a:prstGeom>
            <a:noFill/>
            <a:ln>
              <a:noFill/>
            </a:ln>
          </p:spPr>
          <p:txBody>
            <a:bodyPr wrap="none" lIns="0" tIns="0" rIns="0" bIns="0" anchor="t" anchorCtr="0">
              <a:spAutoFit/>
            </a:bodyPr>
            <a:lstStyle/>
            <a:p>
              <a:pPr algn="r"/>
              <a:r>
                <a:rPr lang="en-US" sz="1050" dirty="0">
                  <a:solidFill>
                    <a:srgbClr val="89918D"/>
                  </a:solidFill>
                  <a:latin typeface="+mn-lt"/>
                  <a:ea typeface="+mn-ea"/>
                  <a:cs typeface="+mn-cs"/>
                </a:rPr>
                <a:t>05 / 15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38162" y="381000"/>
            <a:ext cx="11126153" cy="637985"/>
            <a:chOff x="538162" y="381000"/>
            <a:chExt cx="11126153" cy="637985"/>
          </a:xfrm>
        </p:grpSpPr>
        <p:pic>
          <p:nvPicPr>
            <p:cNvPr id="2" name="Image 2"/>
            <p:cNvPicPr>
              <a:picLocks noChangeAspect="1"/>
            </p:cNvPicPr>
            <p:nvPr/>
          </p:nvPicPr>
          <p:blipFill>
            <a:blip r:embed="rId2"/>
            <a:stretch>
              <a:fillRect/>
            </a:stretch>
          </p:blipFill>
          <p:spPr>
            <a:xfrm>
              <a:off x="538162" y="381000"/>
              <a:ext cx="1247775" cy="361950"/>
            </a:xfrm>
            <a:prstGeom prst="rect">
              <a:avLst/>
            </a:prstGeom>
          </p:spPr>
        </p:pic>
        <p:sp>
          <p:nvSpPr>
            <p:cNvPr id="3" name="TextBox 3"/>
            <p:cNvSpPr txBox="1"/>
            <p:nvPr/>
          </p:nvSpPr>
          <p:spPr>
            <a:xfrm>
              <a:off x="3127248" y="402908"/>
              <a:ext cx="5239395"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Thiết bị &amp; firmware KNX</a:t>
              </a:r>
            </a:p>
          </p:txBody>
        </p:sp>
        <p:sp>
          <p:nvSpPr>
            <p:cNvPr id="4" name="TextBox 4"/>
            <p:cNvSpPr txBox="1"/>
            <p:nvPr/>
          </p:nvSpPr>
          <p:spPr>
            <a:xfrm>
              <a:off x="10507056" y="564356"/>
              <a:ext cx="1157259" cy="220028"/>
            </a:xfrm>
            <a:prstGeom prst="rect">
              <a:avLst/>
            </a:prstGeom>
            <a:noFill/>
            <a:ln>
              <a:noFill/>
            </a:ln>
          </p:spPr>
          <p:txBody>
            <a:bodyPr wrap="none" lIns="0" tIns="0" rIns="0" bIns="0" anchor="t" anchorCtr="0">
              <a:spAutoFit/>
            </a:bodyPr>
            <a:lstStyle/>
            <a:p>
              <a:pPr algn="r"/>
              <a:r>
                <a:rPr lang="en-US" sz="1120" b="1" dirty="0">
                  <a:solidFill>
                    <a:srgbClr val="7A827E"/>
                  </a:solidFill>
                  <a:latin typeface="+mn-lt"/>
                  <a:ea typeface="+mn-ea"/>
                  <a:cs typeface="+mn-cs"/>
                </a:rPr>
                <a:t>TRỌNG TÂM KNX</a:t>
              </a:r>
            </a:p>
          </p:txBody>
        </p:sp>
      </p:grpSp>
      <p:grpSp>
        <p:nvGrpSpPr>
          <p:cNvPr id="7" name="Group 7"/>
          <p:cNvGrpSpPr/>
          <p:nvPr/>
        </p:nvGrpSpPr>
        <p:grpSpPr>
          <a:xfrm>
            <a:off x="523875" y="1321594"/>
            <a:ext cx="7947636" cy="366712"/>
            <a:chOff x="523875" y="1321594"/>
            <a:chExt cx="7947636" cy="366712"/>
          </a:xfrm>
        </p:grpSpPr>
        <p:sp>
          <p:nvSpPr>
            <p:cNvPr id="6" name="TextBox 6"/>
            <p:cNvSpPr txBox="1"/>
            <p:nvPr/>
          </p:nvSpPr>
          <p:spPr>
            <a:xfrm>
              <a:off x="523875" y="1321594"/>
              <a:ext cx="7947636"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Tham gia xuyên suốt từ firmware, thiết bị đến file sản phẩm.</a:t>
              </a:r>
            </a:p>
          </p:txBody>
        </p:sp>
      </p:grpSp>
      <p:grpSp>
        <p:nvGrpSpPr>
          <p:cNvPr id="20" name="Group 20"/>
          <p:cNvGrpSpPr/>
          <p:nvPr/>
        </p:nvGrpSpPr>
        <p:grpSpPr>
          <a:xfrm>
            <a:off x="533400" y="1952625"/>
            <a:ext cx="4572000" cy="2952750"/>
            <a:chOff x="533400" y="1952625"/>
            <a:chExt cx="4572000" cy="2952750"/>
          </a:xfrm>
        </p:grpSpPr>
        <p:sp>
          <p:nvSpPr>
            <p:cNvPr id="8" name="Rectangle 8"/>
            <p:cNvSpPr/>
            <p:nvPr/>
          </p:nvSpPr>
          <p:spPr>
            <a:xfrm>
              <a:off x="533400" y="1952625"/>
              <a:ext cx="2190750" cy="1381125"/>
            </a:xfrm>
            <a:prstGeom prst="roundRect">
              <a:avLst>
                <a:gd name="adj" fmla="val 12414"/>
              </a:avLst>
            </a:prstGeom>
            <a:solidFill>
              <a:schemeClr val="accent1"/>
            </a:solidFill>
            <a:ln>
              <a:noFill/>
            </a:ln>
          </p:spPr>
        </p:sp>
        <p:sp>
          <p:nvSpPr>
            <p:cNvPr id="9" name="TextBox 9"/>
            <p:cNvSpPr txBox="1"/>
            <p:nvPr/>
          </p:nvSpPr>
          <p:spPr>
            <a:xfrm>
              <a:off x="755523" y="2176939"/>
              <a:ext cx="1312914"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01 · FIRMWARE</a:t>
              </a:r>
            </a:p>
          </p:txBody>
        </p:sp>
        <p:sp>
          <p:nvSpPr>
            <p:cNvPr id="10" name="TextBox 10"/>
            <p:cNvSpPr txBox="1"/>
            <p:nvPr/>
          </p:nvSpPr>
          <p:spPr>
            <a:xfrm>
              <a:off x="753618" y="2546032"/>
              <a:ext cx="1732978" cy="608457"/>
            </a:xfrm>
            <a:prstGeom prst="rect">
              <a:avLst/>
            </a:prstGeom>
            <a:noFill/>
            <a:ln>
              <a:noFill/>
            </a:ln>
          </p:spPr>
          <p:txBody>
            <a:bodyPr wrap="square" lIns="0" tIns="0" rIns="0" bIns="0" anchor="t" anchorCtr="0"/>
            <a:lstStyle/>
            <a:p>
              <a:pPr algn="l">
                <a:lnSpc>
                  <a:spcPts val="2250"/>
                </a:lnSpc>
              </a:pPr>
              <a:r>
                <a:rPr lang="en-US" sz="1650" b="1" dirty="0">
                  <a:solidFill>
                    <a:srgbClr val="FFFFFF"/>
                  </a:solidFill>
                  <a:latin typeface="+mn-lt"/>
                  <a:ea typeface="+mn-ea"/>
                  <a:cs typeface="+mn-cs"/>
                </a:rPr>
                <a:t>Thiết bị 2/4 nút Rèm · Actuator</a:t>
              </a:r>
            </a:p>
          </p:txBody>
        </p:sp>
        <p:sp>
          <p:nvSpPr>
            <p:cNvPr id="11" name="Rectangle 11"/>
            <p:cNvSpPr/>
            <p:nvPr/>
          </p:nvSpPr>
          <p:spPr>
            <a:xfrm>
              <a:off x="2914650" y="1952625"/>
              <a:ext cx="2190750" cy="1381125"/>
            </a:xfrm>
            <a:prstGeom prst="roundRect">
              <a:avLst>
                <a:gd name="adj" fmla="val 12414"/>
              </a:avLst>
            </a:prstGeom>
            <a:solidFill>
              <a:schemeClr val="lt2"/>
            </a:solidFill>
            <a:ln>
              <a:noFill/>
            </a:ln>
          </p:spPr>
        </p:sp>
        <p:sp>
          <p:nvSpPr>
            <p:cNvPr id="12" name="TextBox 12"/>
            <p:cNvSpPr txBox="1"/>
            <p:nvPr/>
          </p:nvSpPr>
          <p:spPr>
            <a:xfrm>
              <a:off x="3136773" y="2176939"/>
              <a:ext cx="901897"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02 · KNOB</a:t>
              </a:r>
            </a:p>
          </p:txBody>
        </p:sp>
        <p:sp>
          <p:nvSpPr>
            <p:cNvPr id="13" name="TextBox 13"/>
            <p:cNvSpPr txBox="1"/>
            <p:nvPr/>
          </p:nvSpPr>
          <p:spPr>
            <a:xfrm>
              <a:off x="3134868" y="2546032"/>
              <a:ext cx="1721977" cy="608457"/>
            </a:xfrm>
            <a:prstGeom prst="rect">
              <a:avLst/>
            </a:prstGeom>
            <a:noFill/>
            <a:ln>
              <a:noFill/>
            </a:ln>
          </p:spPr>
          <p:txBody>
            <a:bodyPr wrap="square" lIns="0" tIns="0" rIns="0" bIns="0" anchor="t" anchorCtr="0"/>
            <a:lstStyle/>
            <a:p>
              <a:pPr algn="l">
                <a:lnSpc>
                  <a:spcPts val="2250"/>
                </a:lnSpc>
              </a:pPr>
              <a:r>
                <a:rPr lang="en-US" sz="1650" b="1" dirty="0">
                  <a:solidFill>
                    <a:schemeClr val="dk1"/>
                  </a:solidFill>
                  <a:latin typeface="+mn-lt"/>
                  <a:ea typeface="+mn-ea"/>
                  <a:cs typeface="+mn-cs"/>
                </a:rPr>
                <a:t>Phát triển &amp; kiểm tra hành vi</a:t>
              </a:r>
            </a:p>
          </p:txBody>
        </p:sp>
        <p:sp>
          <p:nvSpPr>
            <p:cNvPr id="14" name="Rectangle 14"/>
            <p:cNvSpPr/>
            <p:nvPr/>
          </p:nvSpPr>
          <p:spPr>
            <a:xfrm>
              <a:off x="533400" y="3524250"/>
              <a:ext cx="2190750" cy="1381125"/>
            </a:xfrm>
            <a:prstGeom prst="roundRect">
              <a:avLst>
                <a:gd name="adj" fmla="val 12414"/>
              </a:avLst>
            </a:prstGeom>
            <a:solidFill>
              <a:schemeClr val="lt2"/>
            </a:solidFill>
            <a:ln>
              <a:noFill/>
            </a:ln>
          </p:spPr>
        </p:sp>
        <p:sp>
          <p:nvSpPr>
            <p:cNvPr id="15" name="TextBox 15"/>
            <p:cNvSpPr txBox="1"/>
            <p:nvPr/>
          </p:nvSpPr>
          <p:spPr>
            <a:xfrm>
              <a:off x="755523" y="3748564"/>
              <a:ext cx="1322472"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03 · .KNXPROD</a:t>
              </a:r>
            </a:p>
          </p:txBody>
        </p:sp>
        <p:sp>
          <p:nvSpPr>
            <p:cNvPr id="16" name="TextBox 16"/>
            <p:cNvSpPr txBox="1"/>
            <p:nvPr/>
          </p:nvSpPr>
          <p:spPr>
            <a:xfrm>
              <a:off x="753618" y="4117658"/>
              <a:ext cx="1666970" cy="608457"/>
            </a:xfrm>
            <a:prstGeom prst="rect">
              <a:avLst/>
            </a:prstGeom>
            <a:noFill/>
            <a:ln>
              <a:noFill/>
            </a:ln>
          </p:spPr>
          <p:txBody>
            <a:bodyPr wrap="square" lIns="0" tIns="0" rIns="0" bIns="0" anchor="t" anchorCtr="0"/>
            <a:lstStyle/>
            <a:p>
              <a:pPr algn="l">
                <a:lnSpc>
                  <a:spcPts val="2250"/>
                </a:lnSpc>
              </a:pPr>
              <a:r>
                <a:rPr lang="en-US" sz="1650" b="1" dirty="0">
                  <a:solidFill>
                    <a:schemeClr val="dk1"/>
                  </a:solidFill>
                  <a:latin typeface="+mn-lt"/>
                  <a:ea typeface="+mn-ea"/>
                  <a:cs typeface="+mn-cs"/>
                </a:rPr>
                <a:t>Tạo &amp; chỉnh sửa file sản phẩm</a:t>
              </a:r>
            </a:p>
          </p:txBody>
        </p:sp>
        <p:sp>
          <p:nvSpPr>
            <p:cNvPr id="17" name="Rectangle 17"/>
            <p:cNvSpPr/>
            <p:nvPr/>
          </p:nvSpPr>
          <p:spPr>
            <a:xfrm>
              <a:off x="2914650" y="3524250"/>
              <a:ext cx="2190750" cy="1381125"/>
            </a:xfrm>
            <a:prstGeom prst="roundRect">
              <a:avLst>
                <a:gd name="adj" fmla="val 12414"/>
              </a:avLst>
            </a:prstGeom>
            <a:solidFill>
              <a:schemeClr val="lt2"/>
            </a:solidFill>
            <a:ln>
              <a:noFill/>
            </a:ln>
          </p:spPr>
        </p:sp>
        <p:sp>
          <p:nvSpPr>
            <p:cNvPr id="18" name="TextBox 18"/>
            <p:cNvSpPr txBox="1"/>
            <p:nvPr/>
          </p:nvSpPr>
          <p:spPr>
            <a:xfrm>
              <a:off x="3136773" y="3748564"/>
              <a:ext cx="1131302"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04 · ỔN ĐỊNH</a:t>
              </a:r>
            </a:p>
          </p:txBody>
        </p:sp>
        <p:sp>
          <p:nvSpPr>
            <p:cNvPr id="19" name="TextBox 19"/>
            <p:cNvSpPr txBox="1"/>
            <p:nvPr/>
          </p:nvSpPr>
          <p:spPr>
            <a:xfrm>
              <a:off x="3134868" y="4117658"/>
              <a:ext cx="1556956" cy="608457"/>
            </a:xfrm>
            <a:prstGeom prst="rect">
              <a:avLst/>
            </a:prstGeom>
            <a:noFill/>
            <a:ln>
              <a:noFill/>
            </a:ln>
          </p:spPr>
          <p:txBody>
            <a:bodyPr wrap="square" lIns="0" tIns="0" rIns="0" bIns="0" anchor="t" anchorCtr="0"/>
            <a:lstStyle/>
            <a:p>
              <a:pPr algn="l">
                <a:lnSpc>
                  <a:spcPts val="2250"/>
                </a:lnSpc>
              </a:pPr>
              <a:r>
                <a:rPr lang="en-US" sz="1650" b="1" dirty="0">
                  <a:solidFill>
                    <a:schemeClr val="dk1"/>
                  </a:solidFill>
                  <a:latin typeface="+mn-lt"/>
                  <a:ea typeface="+mn-ea"/>
                  <a:cs typeface="+mn-cs"/>
                </a:rPr>
                <a:t>Sửa lỗi qua các vòng kiểm thử</a:t>
              </a:r>
            </a:p>
          </p:txBody>
        </p:sp>
      </p:grpSp>
      <p:grpSp>
        <p:nvGrpSpPr>
          <p:cNvPr id="23" name="Group 23"/>
          <p:cNvGrpSpPr/>
          <p:nvPr/>
        </p:nvGrpSpPr>
        <p:grpSpPr>
          <a:xfrm>
            <a:off x="5619750" y="1952625"/>
            <a:ext cx="6038850" cy="3429000"/>
            <a:chOff x="5619750" y="1952625"/>
            <a:chExt cx="6038850" cy="3429000"/>
          </a:xfrm>
        </p:grpSpPr>
        <p:sp>
          <p:nvSpPr>
            <p:cNvPr id="21" name="Rectangle 21"/>
            <p:cNvSpPr/>
            <p:nvPr/>
          </p:nvSpPr>
          <p:spPr>
            <a:xfrm>
              <a:off x="5619750" y="1952625"/>
              <a:ext cx="6038850" cy="3429000"/>
            </a:xfrm>
            <a:prstGeom prst="roundRect">
              <a:avLst>
                <a:gd name="adj" fmla="val 6111"/>
              </a:avLst>
            </a:prstGeom>
            <a:solidFill>
              <a:schemeClr val="lt2"/>
            </a:solidFill>
            <a:ln>
              <a:noFill/>
            </a:ln>
          </p:spPr>
        </p:sp>
        <p:pic>
          <p:nvPicPr>
            <p:cNvPr id="22" name="Image 22"/>
            <p:cNvPicPr>
              <a:picLocks noChangeAspect="1"/>
            </p:cNvPicPr>
            <p:nvPr/>
          </p:nvPicPr>
          <p:blipFill>
            <a:blip r:embed="rId3"/>
            <a:stretch>
              <a:fillRect/>
            </a:stretch>
          </p:blipFill>
          <p:spPr>
            <a:xfrm>
              <a:off x="6097191" y="2190750"/>
              <a:ext cx="5083969" cy="2905125"/>
            </a:xfrm>
            <a:prstGeom prst="rect">
              <a:avLst/>
            </a:prstGeom>
          </p:spPr>
        </p:pic>
      </p:grpSp>
      <p:grpSp>
        <p:nvGrpSpPr>
          <p:cNvPr id="26" name="Group 26"/>
          <p:cNvGrpSpPr/>
          <p:nvPr/>
        </p:nvGrpSpPr>
        <p:grpSpPr>
          <a:xfrm>
            <a:off x="533400" y="5572125"/>
            <a:ext cx="11125200" cy="457200"/>
            <a:chOff x="533400" y="5572125"/>
            <a:chExt cx="11125200" cy="457200"/>
          </a:xfrm>
        </p:grpSpPr>
        <p:sp>
          <p:nvSpPr>
            <p:cNvPr id="24" name="Rectangle 24"/>
            <p:cNvSpPr/>
            <p:nvPr/>
          </p:nvSpPr>
          <p:spPr>
            <a:xfrm>
              <a:off x="533400" y="5572125"/>
              <a:ext cx="11125200" cy="457200"/>
            </a:xfrm>
            <a:prstGeom prst="roundRect">
              <a:avLst>
                <a:gd name="adj" fmla="val 25000"/>
              </a:avLst>
            </a:prstGeom>
            <a:solidFill>
              <a:srgbClr val="EAF5EF"/>
            </a:solidFill>
            <a:ln>
              <a:noFill/>
            </a:ln>
          </p:spPr>
        </p:sp>
        <p:sp>
          <p:nvSpPr>
            <p:cNvPr id="25" name="TextBox 25"/>
            <p:cNvSpPr txBox="1"/>
            <p:nvPr/>
          </p:nvSpPr>
          <p:spPr>
            <a:xfrm>
              <a:off x="754761" y="5713571"/>
              <a:ext cx="6635308"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ĐẦU RA: sẵn sàng cho vòng kiểm thử, tích hợp và bàn giao tiếp theo.</a:t>
              </a:r>
            </a:p>
          </p:txBody>
        </p:sp>
      </p:grpSp>
      <p:grpSp>
        <p:nvGrpSpPr>
          <p:cNvPr id="29" name="Group 29"/>
          <p:cNvGrpSpPr/>
          <p:nvPr/>
        </p:nvGrpSpPr>
        <p:grpSpPr>
          <a:xfrm>
            <a:off x="533400" y="6362700"/>
            <a:ext cx="11130534" cy="311087"/>
            <a:chOff x="533400" y="6362700"/>
            <a:chExt cx="11130534" cy="311087"/>
          </a:xfrm>
        </p:grpSpPr>
        <p:sp>
          <p:nvSpPr>
            <p:cNvPr id="27" name="Line 27"/>
            <p:cNvSpPr/>
            <p:nvPr/>
          </p:nvSpPr>
          <p:spPr>
            <a:xfrm>
              <a:off x="533400" y="6362700"/>
              <a:ext cx="11125200" cy="9525"/>
            </a:xfrm>
            <a:custGeom>
              <a:avLst/>
              <a:gdLst/>
              <a:ahLst/>
              <a:cxnLst/>
              <a:rect l="l" t="t" r="r" b="b"/>
              <a:pathLst>
                <a:path w="11125200" h="9525">
                  <a:moveTo>
                    <a:pt x="0" y="0"/>
                  </a:moveTo>
                  <a:lnTo>
                    <a:pt x="11125200" y="0"/>
                  </a:lnTo>
                </a:path>
              </a:pathLst>
            </a:custGeom>
            <a:noFill/>
            <a:ln w="9525">
              <a:solidFill>
                <a:srgbClr val="E1E6E3"/>
              </a:solidFill>
            </a:ln>
          </p:spPr>
        </p:sp>
        <p:sp>
          <p:nvSpPr>
            <p:cNvPr id="28" name="TextBox 28"/>
            <p:cNvSpPr txBox="1"/>
            <p:nvPr/>
          </p:nvSpPr>
          <p:spPr>
            <a:xfrm>
              <a:off x="11179740" y="6468428"/>
              <a:ext cx="484194" cy="205359"/>
            </a:xfrm>
            <a:prstGeom prst="rect">
              <a:avLst/>
            </a:prstGeom>
            <a:noFill/>
            <a:ln>
              <a:noFill/>
            </a:ln>
          </p:spPr>
          <p:txBody>
            <a:bodyPr wrap="none" lIns="0" tIns="0" rIns="0" bIns="0" anchor="t" anchorCtr="0">
              <a:spAutoFit/>
            </a:bodyPr>
            <a:lstStyle/>
            <a:p>
              <a:pPr algn="r"/>
              <a:r>
                <a:rPr lang="en-US" sz="1050" dirty="0">
                  <a:solidFill>
                    <a:srgbClr val="89918D"/>
                  </a:solidFill>
                  <a:latin typeface="+mn-lt"/>
                  <a:ea typeface="+mn-ea"/>
                  <a:cs typeface="+mn-cs"/>
                </a:rPr>
                <a:t>06 / 15</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38162" y="381000"/>
            <a:ext cx="11126153" cy="637985"/>
            <a:chOff x="538162" y="381000"/>
            <a:chExt cx="11126153" cy="637985"/>
          </a:xfrm>
        </p:grpSpPr>
        <p:pic>
          <p:nvPicPr>
            <p:cNvPr id="2" name="Image 2"/>
            <p:cNvPicPr>
              <a:picLocks noChangeAspect="1"/>
            </p:cNvPicPr>
            <p:nvPr/>
          </p:nvPicPr>
          <p:blipFill>
            <a:blip r:embed="rId2"/>
            <a:stretch>
              <a:fillRect/>
            </a:stretch>
          </p:blipFill>
          <p:spPr>
            <a:xfrm>
              <a:off x="538162" y="381000"/>
              <a:ext cx="1247775" cy="361950"/>
            </a:xfrm>
            <a:prstGeom prst="rect">
              <a:avLst/>
            </a:prstGeom>
          </p:spPr>
        </p:pic>
        <p:sp>
          <p:nvSpPr>
            <p:cNvPr id="3" name="TextBox 3"/>
            <p:cNvSpPr txBox="1"/>
            <p:nvPr/>
          </p:nvSpPr>
          <p:spPr>
            <a:xfrm>
              <a:off x="3127248" y="402908"/>
              <a:ext cx="4917610"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Tool, Jig &amp; code loader</a:t>
              </a:r>
            </a:p>
          </p:txBody>
        </p:sp>
        <p:sp>
          <p:nvSpPr>
            <p:cNvPr id="4" name="TextBox 4"/>
            <p:cNvSpPr txBox="1"/>
            <p:nvPr/>
          </p:nvSpPr>
          <p:spPr>
            <a:xfrm>
              <a:off x="10214327" y="564356"/>
              <a:ext cx="1449988" cy="220028"/>
            </a:xfrm>
            <a:prstGeom prst="rect">
              <a:avLst/>
            </a:prstGeom>
            <a:noFill/>
            <a:ln>
              <a:noFill/>
            </a:ln>
          </p:spPr>
          <p:txBody>
            <a:bodyPr wrap="none" lIns="0" tIns="0" rIns="0" bIns="0" anchor="t" anchorCtr="0">
              <a:spAutoFit/>
            </a:bodyPr>
            <a:lstStyle/>
            <a:p>
              <a:pPr algn="r"/>
              <a:r>
                <a:rPr lang="en-US" sz="1120" b="1" dirty="0">
                  <a:solidFill>
                    <a:srgbClr val="7A827E"/>
                  </a:solidFill>
                  <a:latin typeface="+mn-lt"/>
                  <a:ea typeface="+mn-ea"/>
                  <a:cs typeface="+mn-cs"/>
                </a:rPr>
                <a:t>TĂNG TỐC VÒNG LẶP</a:t>
              </a:r>
            </a:p>
          </p:txBody>
        </p:sp>
      </p:grpSp>
      <p:grpSp>
        <p:nvGrpSpPr>
          <p:cNvPr id="7" name="Group 7"/>
          <p:cNvGrpSpPr/>
          <p:nvPr/>
        </p:nvGrpSpPr>
        <p:grpSpPr>
          <a:xfrm>
            <a:off x="523875" y="1321594"/>
            <a:ext cx="7921030" cy="366712"/>
            <a:chOff x="523875" y="1321594"/>
            <a:chExt cx="7921030" cy="366712"/>
          </a:xfrm>
        </p:grpSpPr>
        <p:sp>
          <p:nvSpPr>
            <p:cNvPr id="6" name="TextBox 6"/>
            <p:cNvSpPr txBox="1"/>
            <p:nvPr/>
          </p:nvSpPr>
          <p:spPr>
            <a:xfrm>
              <a:off x="523875" y="1321594"/>
              <a:ext cx="7921030"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Tool hóa thao tác nạp và kiểm tra để giảm công việc thủ công.</a:t>
              </a:r>
            </a:p>
          </p:txBody>
        </p:sp>
      </p:grpSp>
      <p:grpSp>
        <p:nvGrpSpPr>
          <p:cNvPr id="25" name="Group 25"/>
          <p:cNvGrpSpPr/>
          <p:nvPr/>
        </p:nvGrpSpPr>
        <p:grpSpPr>
          <a:xfrm>
            <a:off x="526161" y="2495550"/>
            <a:ext cx="6108192" cy="2087023"/>
            <a:chOff x="526161" y="2495550"/>
            <a:chExt cx="6108192" cy="2087023"/>
          </a:xfrm>
        </p:grpSpPr>
        <p:sp>
          <p:nvSpPr>
            <p:cNvPr id="8" name="Line 8"/>
            <p:cNvSpPr/>
            <p:nvPr/>
          </p:nvSpPr>
          <p:spPr>
            <a:xfrm>
              <a:off x="1619250" y="3162300"/>
              <a:ext cx="4572000" cy="9525"/>
            </a:xfrm>
            <a:custGeom>
              <a:avLst/>
              <a:gdLst/>
              <a:ahLst/>
              <a:cxnLst/>
              <a:rect l="l" t="t" r="r" b="b"/>
              <a:pathLst>
                <a:path w="4572000" h="9525">
                  <a:moveTo>
                    <a:pt x="0" y="0"/>
                  </a:moveTo>
                  <a:lnTo>
                    <a:pt x="4572000" y="0"/>
                  </a:lnTo>
                </a:path>
              </a:pathLst>
            </a:custGeom>
            <a:noFill/>
            <a:ln w="38100">
              <a:solidFill>
                <a:schemeClr val="accent3"/>
              </a:solidFill>
            </a:ln>
          </p:spPr>
        </p:sp>
        <p:sp>
          <p:nvSpPr>
            <p:cNvPr id="9" name="Freeform 9"/>
            <p:cNvSpPr/>
            <p:nvPr/>
          </p:nvSpPr>
          <p:spPr>
            <a:xfrm>
              <a:off x="6096000" y="3067050"/>
              <a:ext cx="190500" cy="190500"/>
            </a:xfrm>
            <a:custGeom>
              <a:avLst/>
              <a:gdLst/>
              <a:ahLst/>
              <a:cxnLst/>
              <a:rect l="l" t="t" r="r" b="b"/>
              <a:pathLst>
                <a:path w="190500" h="190500">
                  <a:moveTo>
                    <a:pt x="0" y="0"/>
                  </a:moveTo>
                  <a:lnTo>
                    <a:pt x="190500" y="95250"/>
                  </a:lnTo>
                  <a:lnTo>
                    <a:pt x="0" y="190500"/>
                  </a:lnTo>
                </a:path>
              </a:pathLst>
            </a:custGeom>
            <a:noFill/>
            <a:ln w="38100">
              <a:solidFill>
                <a:schemeClr val="accent3"/>
              </a:solidFill>
            </a:ln>
          </p:spPr>
        </p:sp>
        <p:grpSp>
          <p:nvGrpSpPr>
            <p:cNvPr id="14" name="Group 14"/>
            <p:cNvGrpSpPr/>
            <p:nvPr/>
          </p:nvGrpSpPr>
          <p:grpSpPr>
            <a:xfrm>
              <a:off x="526161" y="2495550"/>
              <a:ext cx="1607439" cy="2087023"/>
              <a:chOff x="526161" y="2495550"/>
              <a:chExt cx="1607439" cy="2087023"/>
            </a:xfrm>
          </p:grpSpPr>
          <p:sp>
            <p:nvSpPr>
              <p:cNvPr id="10" name="Ellipse 10"/>
              <p:cNvSpPr/>
              <p:nvPr/>
            </p:nvSpPr>
            <p:spPr>
              <a:xfrm>
                <a:off x="800100" y="2495550"/>
                <a:ext cx="1333500" cy="1333500"/>
              </a:xfrm>
              <a:prstGeom prst="ellipse">
                <a:avLst/>
              </a:prstGeom>
              <a:solidFill>
                <a:schemeClr val="accent1"/>
              </a:solidFill>
              <a:ln>
                <a:noFill/>
              </a:ln>
            </p:spPr>
          </p:sp>
          <p:sp>
            <p:nvSpPr>
              <p:cNvPr id="11" name="TextBox 11"/>
              <p:cNvSpPr txBox="1"/>
              <p:nvPr/>
            </p:nvSpPr>
            <p:spPr>
              <a:xfrm>
                <a:off x="1355039" y="2873692"/>
                <a:ext cx="223622"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01</a:t>
                </a:r>
              </a:p>
            </p:txBody>
          </p:sp>
          <p:sp>
            <p:nvSpPr>
              <p:cNvPr id="12" name="TextBox 12"/>
              <p:cNvSpPr txBox="1"/>
              <p:nvPr/>
            </p:nvSpPr>
            <p:spPr>
              <a:xfrm>
                <a:off x="1150430" y="3127058"/>
                <a:ext cx="632841"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BUILD</a:t>
                </a:r>
              </a:p>
            </p:txBody>
          </p:sp>
          <p:sp>
            <p:nvSpPr>
              <p:cNvPr id="13" name="TextBox 13"/>
              <p:cNvSpPr txBox="1"/>
              <p:nvPr/>
            </p:nvSpPr>
            <p:spPr>
              <a:xfrm>
                <a:off x="526161" y="4037171"/>
                <a:ext cx="1574419" cy="545402"/>
              </a:xfrm>
              <a:prstGeom prst="rect">
                <a:avLst/>
              </a:prstGeom>
              <a:noFill/>
              <a:ln>
                <a:noFill/>
              </a:ln>
            </p:spPr>
            <p:txBody>
              <a:bodyPr wrap="square" lIns="0" tIns="0" rIns="0" bIns="0" anchor="t" anchorCtr="0"/>
              <a:lstStyle/>
              <a:p>
                <a:pPr algn="l">
                  <a:lnSpc>
                    <a:spcPts val="2100"/>
                  </a:lnSpc>
                </a:pPr>
                <a:r>
                  <a:rPr lang="en-US" sz="1420" dirty="0">
                    <a:solidFill>
                      <a:schemeClr val="dk1"/>
                    </a:solidFill>
                    <a:latin typeface="+mn-lt"/>
                    <a:ea typeface="+mn-ea"/>
                    <a:cs typeface="+mn-cs"/>
                  </a:rPr>
                  <a:t>Phát triển Jig KNX và flow kiểm tra</a:t>
                </a:r>
              </a:p>
            </p:txBody>
          </p:sp>
        </p:grpSp>
        <p:grpSp>
          <p:nvGrpSpPr>
            <p:cNvPr id="19" name="Group 19"/>
            <p:cNvGrpSpPr/>
            <p:nvPr/>
          </p:nvGrpSpPr>
          <p:grpSpPr>
            <a:xfrm>
              <a:off x="2707386" y="2495550"/>
              <a:ext cx="1607439" cy="2087023"/>
              <a:chOff x="2707386" y="2495550"/>
              <a:chExt cx="1607439" cy="2087023"/>
            </a:xfrm>
          </p:grpSpPr>
          <p:sp>
            <p:nvSpPr>
              <p:cNvPr id="15" name="Ellipse 15"/>
              <p:cNvSpPr/>
              <p:nvPr/>
            </p:nvSpPr>
            <p:spPr>
              <a:xfrm>
                <a:off x="2981325" y="2495550"/>
                <a:ext cx="1333500" cy="1333500"/>
              </a:xfrm>
              <a:prstGeom prst="ellipse">
                <a:avLst/>
              </a:prstGeom>
              <a:solidFill>
                <a:schemeClr val="lt2"/>
              </a:solidFill>
              <a:ln w="28575">
                <a:solidFill>
                  <a:schemeClr val="accent1"/>
                </a:solidFill>
              </a:ln>
            </p:spPr>
          </p:sp>
          <p:sp>
            <p:nvSpPr>
              <p:cNvPr id="16" name="TextBox 16"/>
              <p:cNvSpPr txBox="1"/>
              <p:nvPr/>
            </p:nvSpPr>
            <p:spPr>
              <a:xfrm>
                <a:off x="3536264" y="2873692"/>
                <a:ext cx="223622"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02</a:t>
                </a:r>
              </a:p>
            </p:txBody>
          </p:sp>
          <p:sp>
            <p:nvSpPr>
              <p:cNvPr id="17" name="TextBox 17"/>
              <p:cNvSpPr txBox="1"/>
              <p:nvPr/>
            </p:nvSpPr>
            <p:spPr>
              <a:xfrm>
                <a:off x="3343976" y="3127058"/>
                <a:ext cx="60819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LOAD</a:t>
                </a:r>
              </a:p>
            </p:txBody>
          </p:sp>
          <p:sp>
            <p:nvSpPr>
              <p:cNvPr id="18" name="TextBox 18"/>
              <p:cNvSpPr txBox="1"/>
              <p:nvPr/>
            </p:nvSpPr>
            <p:spPr>
              <a:xfrm>
                <a:off x="2707386" y="4037171"/>
                <a:ext cx="1466215" cy="545402"/>
              </a:xfrm>
              <a:prstGeom prst="rect">
                <a:avLst/>
              </a:prstGeom>
              <a:noFill/>
              <a:ln>
                <a:noFill/>
              </a:ln>
            </p:spPr>
            <p:txBody>
              <a:bodyPr wrap="square" lIns="0" tIns="0" rIns="0" bIns="0" anchor="t" anchorCtr="0"/>
              <a:lstStyle/>
              <a:p>
                <a:pPr algn="l">
                  <a:lnSpc>
                    <a:spcPts val="2100"/>
                  </a:lnSpc>
                </a:pPr>
                <a:r>
                  <a:rPr lang="en-US" sz="1420" dirty="0">
                    <a:solidFill>
                      <a:schemeClr val="dk1"/>
                    </a:solidFill>
                    <a:latin typeface="+mn-lt"/>
                    <a:ea typeface="+mn-ea"/>
                    <a:cs typeface="+mn-cs"/>
                  </a:rPr>
                  <a:t>Tool/code loader nạp firmware</a:t>
                </a:r>
              </a:p>
            </p:txBody>
          </p:sp>
        </p:grpSp>
        <p:grpSp>
          <p:nvGrpSpPr>
            <p:cNvPr id="24" name="Group 24"/>
            <p:cNvGrpSpPr/>
            <p:nvPr/>
          </p:nvGrpSpPr>
          <p:grpSpPr>
            <a:xfrm>
              <a:off x="4888611" y="2495550"/>
              <a:ext cx="1745742" cy="2087023"/>
              <a:chOff x="4888611" y="2495550"/>
              <a:chExt cx="1745742" cy="2087023"/>
            </a:xfrm>
          </p:grpSpPr>
          <p:sp>
            <p:nvSpPr>
              <p:cNvPr id="20" name="Ellipse 20"/>
              <p:cNvSpPr/>
              <p:nvPr/>
            </p:nvSpPr>
            <p:spPr>
              <a:xfrm>
                <a:off x="5162550" y="2495550"/>
                <a:ext cx="1333500" cy="1333500"/>
              </a:xfrm>
              <a:prstGeom prst="ellipse">
                <a:avLst/>
              </a:prstGeom>
              <a:solidFill>
                <a:schemeClr val="accent2"/>
              </a:solidFill>
              <a:ln>
                <a:noFill/>
              </a:ln>
            </p:spPr>
          </p:sp>
          <p:sp>
            <p:nvSpPr>
              <p:cNvPr id="21" name="TextBox 21"/>
              <p:cNvSpPr txBox="1"/>
              <p:nvPr/>
            </p:nvSpPr>
            <p:spPr>
              <a:xfrm>
                <a:off x="5717489" y="2873692"/>
                <a:ext cx="223622"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03</a:t>
                </a:r>
              </a:p>
            </p:txBody>
          </p:sp>
          <p:sp>
            <p:nvSpPr>
              <p:cNvPr id="22" name="TextBox 22"/>
              <p:cNvSpPr txBox="1"/>
              <p:nvPr/>
            </p:nvSpPr>
            <p:spPr>
              <a:xfrm>
                <a:off x="5445111" y="3127058"/>
                <a:ext cx="768378"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VERIFY</a:t>
                </a:r>
              </a:p>
            </p:txBody>
          </p:sp>
          <p:sp>
            <p:nvSpPr>
              <p:cNvPr id="23" name="TextBox 23"/>
              <p:cNvSpPr txBox="1"/>
              <p:nvPr/>
            </p:nvSpPr>
            <p:spPr>
              <a:xfrm>
                <a:off x="4888611" y="4037171"/>
                <a:ext cx="1745742" cy="545402"/>
              </a:xfrm>
              <a:prstGeom prst="rect">
                <a:avLst/>
              </a:prstGeom>
              <a:noFill/>
              <a:ln>
                <a:noFill/>
              </a:ln>
            </p:spPr>
            <p:txBody>
              <a:bodyPr wrap="square" lIns="0" tIns="0" rIns="0" bIns="0" anchor="t" anchorCtr="0"/>
              <a:lstStyle/>
              <a:p>
                <a:pPr algn="l">
                  <a:lnSpc>
                    <a:spcPts val="2100"/>
                  </a:lnSpc>
                </a:pPr>
                <a:r>
                  <a:rPr lang="en-US" sz="1420" dirty="0">
                    <a:solidFill>
                      <a:schemeClr val="dk1"/>
                    </a:solidFill>
                    <a:latin typeface="+mn-lt"/>
                    <a:ea typeface="+mn-ea"/>
                    <a:cs typeface="+mn-cs"/>
                  </a:rPr>
                  <a:t>Benchmark thao tác và xác nhận đầu ra</a:t>
                </a:r>
              </a:p>
            </p:txBody>
          </p:sp>
        </p:grpSp>
      </p:grpSp>
      <p:grpSp>
        <p:nvGrpSpPr>
          <p:cNvPr id="28" name="Group 28"/>
          <p:cNvGrpSpPr/>
          <p:nvPr/>
        </p:nvGrpSpPr>
        <p:grpSpPr>
          <a:xfrm>
            <a:off x="7524750" y="1952625"/>
            <a:ext cx="4133850" cy="3333750"/>
            <a:chOff x="7524750" y="1952625"/>
            <a:chExt cx="4133850" cy="3333750"/>
          </a:xfrm>
        </p:grpSpPr>
        <p:sp>
          <p:nvSpPr>
            <p:cNvPr id="26" name="Rectangle 26"/>
            <p:cNvSpPr/>
            <p:nvPr/>
          </p:nvSpPr>
          <p:spPr>
            <a:xfrm>
              <a:off x="7524750" y="1952625"/>
              <a:ext cx="4133850" cy="3333750"/>
            </a:xfrm>
            <a:prstGeom prst="roundRect">
              <a:avLst>
                <a:gd name="adj" fmla="val 6286"/>
              </a:avLst>
            </a:prstGeom>
            <a:solidFill>
              <a:schemeClr val="lt2"/>
            </a:solidFill>
            <a:ln>
              <a:noFill/>
            </a:ln>
          </p:spPr>
        </p:sp>
        <p:pic>
          <p:nvPicPr>
            <p:cNvPr id="27" name="Image 27"/>
            <p:cNvPicPr>
              <a:picLocks noChangeAspect="1"/>
            </p:cNvPicPr>
            <p:nvPr/>
          </p:nvPicPr>
          <p:blipFill>
            <a:blip r:embed="rId3"/>
            <a:stretch>
              <a:fillRect/>
            </a:stretch>
          </p:blipFill>
          <p:spPr>
            <a:xfrm>
              <a:off x="7715250" y="2564011"/>
              <a:ext cx="3752850" cy="2110978"/>
            </a:xfrm>
            <a:prstGeom prst="rect">
              <a:avLst/>
            </a:prstGeom>
          </p:spPr>
        </p:pic>
      </p:grpSp>
      <p:grpSp>
        <p:nvGrpSpPr>
          <p:cNvPr id="31" name="Group 31"/>
          <p:cNvGrpSpPr/>
          <p:nvPr/>
        </p:nvGrpSpPr>
        <p:grpSpPr>
          <a:xfrm>
            <a:off x="533400" y="5524500"/>
            <a:ext cx="11125200" cy="476250"/>
            <a:chOff x="533400" y="5524500"/>
            <a:chExt cx="11125200" cy="476250"/>
          </a:xfrm>
        </p:grpSpPr>
        <p:sp>
          <p:nvSpPr>
            <p:cNvPr id="29" name="Rectangle 29"/>
            <p:cNvSpPr/>
            <p:nvPr/>
          </p:nvSpPr>
          <p:spPr>
            <a:xfrm>
              <a:off x="533400" y="5524500"/>
              <a:ext cx="11125200" cy="476250"/>
            </a:xfrm>
            <a:prstGeom prst="roundRect">
              <a:avLst>
                <a:gd name="adj" fmla="val 24000"/>
              </a:avLst>
            </a:prstGeom>
            <a:solidFill>
              <a:srgbClr val="EAF5EF"/>
            </a:solidFill>
            <a:ln>
              <a:noFill/>
            </a:ln>
          </p:spPr>
        </p:sp>
        <p:sp>
          <p:nvSpPr>
            <p:cNvPr id="30" name="TextBox 30"/>
            <p:cNvSpPr txBox="1"/>
            <p:nvPr/>
          </p:nvSpPr>
          <p:spPr>
            <a:xfrm>
              <a:off x="754761" y="5675471"/>
              <a:ext cx="6530754"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KẾT QUẢ: vòng lặp build–load–verify rõ ràng hơn và dễ chuyển giao.</a:t>
              </a:r>
            </a:p>
          </p:txBody>
        </p:sp>
      </p:grpSp>
      <p:grpSp>
        <p:nvGrpSpPr>
          <p:cNvPr id="34" name="Group 34"/>
          <p:cNvGrpSpPr/>
          <p:nvPr/>
        </p:nvGrpSpPr>
        <p:grpSpPr>
          <a:xfrm>
            <a:off x="533400" y="6362700"/>
            <a:ext cx="11130534" cy="311087"/>
            <a:chOff x="533400" y="6362700"/>
            <a:chExt cx="11130534" cy="311087"/>
          </a:xfrm>
        </p:grpSpPr>
        <p:sp>
          <p:nvSpPr>
            <p:cNvPr id="32" name="Line 32"/>
            <p:cNvSpPr/>
            <p:nvPr/>
          </p:nvSpPr>
          <p:spPr>
            <a:xfrm>
              <a:off x="533400" y="6362700"/>
              <a:ext cx="11125200" cy="9525"/>
            </a:xfrm>
            <a:custGeom>
              <a:avLst/>
              <a:gdLst/>
              <a:ahLst/>
              <a:cxnLst/>
              <a:rect l="l" t="t" r="r" b="b"/>
              <a:pathLst>
                <a:path w="11125200" h="9525">
                  <a:moveTo>
                    <a:pt x="0" y="0"/>
                  </a:moveTo>
                  <a:lnTo>
                    <a:pt x="11125200" y="0"/>
                  </a:lnTo>
                </a:path>
              </a:pathLst>
            </a:custGeom>
            <a:noFill/>
            <a:ln w="9525">
              <a:solidFill>
                <a:srgbClr val="E1E6E3"/>
              </a:solidFill>
            </a:ln>
          </p:spPr>
        </p:sp>
        <p:sp>
          <p:nvSpPr>
            <p:cNvPr id="33" name="TextBox 33"/>
            <p:cNvSpPr txBox="1"/>
            <p:nvPr/>
          </p:nvSpPr>
          <p:spPr>
            <a:xfrm>
              <a:off x="11179740" y="6468428"/>
              <a:ext cx="484194" cy="205359"/>
            </a:xfrm>
            <a:prstGeom prst="rect">
              <a:avLst/>
            </a:prstGeom>
            <a:noFill/>
            <a:ln>
              <a:noFill/>
            </a:ln>
          </p:spPr>
          <p:txBody>
            <a:bodyPr wrap="none" lIns="0" tIns="0" rIns="0" bIns="0" anchor="t" anchorCtr="0">
              <a:spAutoFit/>
            </a:bodyPr>
            <a:lstStyle/>
            <a:p>
              <a:pPr algn="r"/>
              <a:r>
                <a:rPr lang="en-US" sz="1050" dirty="0">
                  <a:solidFill>
                    <a:srgbClr val="89918D"/>
                  </a:solidFill>
                  <a:latin typeface="+mn-lt"/>
                  <a:ea typeface="+mn-ea"/>
                  <a:cs typeface="+mn-cs"/>
                </a:rPr>
                <a:t>07 / 15</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38162" y="381000"/>
            <a:ext cx="11126153" cy="624840"/>
            <a:chOff x="538162" y="381000"/>
            <a:chExt cx="11126153" cy="624840"/>
          </a:xfrm>
        </p:grpSpPr>
        <p:pic>
          <p:nvPicPr>
            <p:cNvPr id="2" name="Image 2"/>
            <p:cNvPicPr>
              <a:picLocks noChangeAspect="1"/>
            </p:cNvPicPr>
            <p:nvPr/>
          </p:nvPicPr>
          <p:blipFill>
            <a:blip r:embed="rId2"/>
            <a:stretch>
              <a:fillRect/>
            </a:stretch>
          </p:blipFill>
          <p:spPr>
            <a:xfrm>
              <a:off x="538162" y="381000"/>
              <a:ext cx="1247775" cy="361950"/>
            </a:xfrm>
            <a:prstGeom prst="rect">
              <a:avLst/>
            </a:prstGeom>
          </p:spPr>
        </p:pic>
        <p:sp>
          <p:nvSpPr>
            <p:cNvPr id="3" name="TextBox 3"/>
            <p:cNvSpPr txBox="1"/>
            <p:nvPr/>
          </p:nvSpPr>
          <p:spPr>
            <a:xfrm>
              <a:off x="3128010" y="419100"/>
              <a:ext cx="6343165"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n-lt"/>
                  <a:ea typeface="+mn-ea"/>
                  <a:cs typeface="+mn-cs"/>
                </a:rPr>
                <a:t>Benchmark &amp; kiểm thử hệ thống</a:t>
              </a:r>
            </a:p>
          </p:txBody>
        </p:sp>
        <p:sp>
          <p:nvSpPr>
            <p:cNvPr id="4" name="TextBox 4"/>
            <p:cNvSpPr txBox="1"/>
            <p:nvPr/>
          </p:nvSpPr>
          <p:spPr>
            <a:xfrm>
              <a:off x="10113962" y="564356"/>
              <a:ext cx="1550353" cy="220028"/>
            </a:xfrm>
            <a:prstGeom prst="rect">
              <a:avLst/>
            </a:prstGeom>
            <a:noFill/>
            <a:ln>
              <a:noFill/>
            </a:ln>
          </p:spPr>
          <p:txBody>
            <a:bodyPr wrap="none" lIns="0" tIns="0" rIns="0" bIns="0" anchor="t" anchorCtr="0">
              <a:spAutoFit/>
            </a:bodyPr>
            <a:lstStyle/>
            <a:p>
              <a:pPr algn="r"/>
              <a:r>
                <a:rPr lang="en-US" sz="1120" b="1" dirty="0">
                  <a:solidFill>
                    <a:srgbClr val="7A827E"/>
                  </a:solidFill>
                  <a:latin typeface="+mn-lt"/>
                  <a:ea typeface="+mn-ea"/>
                  <a:cs typeface="+mn-cs"/>
                </a:rPr>
                <a:t>TỪ THIẾT BỊ ĐẾN BUS</a:t>
              </a:r>
            </a:p>
          </p:txBody>
        </p:sp>
      </p:grpSp>
      <p:grpSp>
        <p:nvGrpSpPr>
          <p:cNvPr id="7" name="Group 7"/>
          <p:cNvGrpSpPr/>
          <p:nvPr/>
        </p:nvGrpSpPr>
        <p:grpSpPr>
          <a:xfrm>
            <a:off x="523875" y="1321594"/>
            <a:ext cx="8029651" cy="366712"/>
            <a:chOff x="523875" y="1321594"/>
            <a:chExt cx="8029651" cy="366712"/>
          </a:xfrm>
        </p:grpSpPr>
        <p:sp>
          <p:nvSpPr>
            <p:cNvPr id="6" name="TextBox 6"/>
            <p:cNvSpPr txBox="1"/>
            <p:nvPr/>
          </p:nvSpPr>
          <p:spPr>
            <a:xfrm>
              <a:off x="523875" y="1321594"/>
              <a:ext cx="8029651"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Mở rộng kiểm thử từ thiết bị đơn lẻ sang hành vi hệ thống KNX.</a:t>
              </a:r>
            </a:p>
          </p:txBody>
        </p:sp>
      </p:grpSp>
      <p:grpSp>
        <p:nvGrpSpPr>
          <p:cNvPr id="18" name="Group 18"/>
          <p:cNvGrpSpPr/>
          <p:nvPr/>
        </p:nvGrpSpPr>
        <p:grpSpPr>
          <a:xfrm>
            <a:off x="533400" y="1952625"/>
            <a:ext cx="3714750" cy="3295650"/>
            <a:chOff x="533400" y="1952625"/>
            <a:chExt cx="3714750" cy="3295650"/>
          </a:xfrm>
        </p:grpSpPr>
        <p:sp>
          <p:nvSpPr>
            <p:cNvPr id="8" name="Rectangle 8"/>
            <p:cNvSpPr/>
            <p:nvPr/>
          </p:nvSpPr>
          <p:spPr>
            <a:xfrm>
              <a:off x="533400" y="1952625"/>
              <a:ext cx="3714750" cy="914400"/>
            </a:xfrm>
            <a:prstGeom prst="roundRect">
              <a:avLst>
                <a:gd name="adj" fmla="val 16667"/>
              </a:avLst>
            </a:prstGeom>
            <a:solidFill>
              <a:schemeClr val="accent1"/>
            </a:solidFill>
            <a:ln>
              <a:noFill/>
            </a:ln>
          </p:spPr>
        </p:sp>
        <p:sp>
          <p:nvSpPr>
            <p:cNvPr id="9" name="TextBox 9"/>
            <p:cNvSpPr txBox="1"/>
            <p:nvPr/>
          </p:nvSpPr>
          <p:spPr>
            <a:xfrm>
              <a:off x="774573" y="2157889"/>
              <a:ext cx="490880"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LỚP 1</a:t>
              </a:r>
            </a:p>
          </p:txBody>
        </p:sp>
        <p:sp>
          <p:nvSpPr>
            <p:cNvPr id="10" name="TextBox 10"/>
            <p:cNvSpPr txBox="1"/>
            <p:nvPr/>
          </p:nvSpPr>
          <p:spPr>
            <a:xfrm>
              <a:off x="772287" y="2414111"/>
              <a:ext cx="2462281"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mn-lt"/>
                  <a:ea typeface="+mn-ea"/>
                  <a:cs typeface="+mn-cs"/>
                </a:rPr>
                <a:t>Benchmark Jig / Tool</a:t>
              </a:r>
            </a:p>
          </p:txBody>
        </p:sp>
        <p:sp>
          <p:nvSpPr>
            <p:cNvPr id="11" name="Rectangle 11"/>
            <p:cNvSpPr/>
            <p:nvPr/>
          </p:nvSpPr>
          <p:spPr>
            <a:xfrm>
              <a:off x="533400" y="3048000"/>
              <a:ext cx="3714750" cy="914400"/>
            </a:xfrm>
            <a:prstGeom prst="roundRect">
              <a:avLst>
                <a:gd name="adj" fmla="val 16667"/>
              </a:avLst>
            </a:prstGeom>
            <a:solidFill>
              <a:schemeClr val="lt2"/>
            </a:solidFill>
            <a:ln>
              <a:noFill/>
            </a:ln>
          </p:spPr>
        </p:sp>
        <p:sp>
          <p:nvSpPr>
            <p:cNvPr id="12" name="TextBox 12"/>
            <p:cNvSpPr txBox="1"/>
            <p:nvPr/>
          </p:nvSpPr>
          <p:spPr>
            <a:xfrm>
              <a:off x="774573" y="3253264"/>
              <a:ext cx="490880"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LỚP 2</a:t>
              </a:r>
            </a:p>
          </p:txBody>
        </p:sp>
        <p:sp>
          <p:nvSpPr>
            <p:cNvPr id="13" name="TextBox 13"/>
            <p:cNvSpPr txBox="1"/>
            <p:nvPr/>
          </p:nvSpPr>
          <p:spPr>
            <a:xfrm>
              <a:off x="772287" y="3509486"/>
              <a:ext cx="2858355"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Test tương tác hệ thống</a:t>
              </a:r>
            </a:p>
          </p:txBody>
        </p:sp>
        <p:sp>
          <p:nvSpPr>
            <p:cNvPr id="14" name="Rectangle 14"/>
            <p:cNvSpPr/>
            <p:nvPr/>
          </p:nvSpPr>
          <p:spPr>
            <a:xfrm>
              <a:off x="533400" y="4143375"/>
              <a:ext cx="3714750" cy="1104900"/>
            </a:xfrm>
            <a:prstGeom prst="roundRect">
              <a:avLst>
                <a:gd name="adj" fmla="val 13793"/>
              </a:avLst>
            </a:prstGeom>
            <a:solidFill>
              <a:schemeClr val="lt2"/>
            </a:solidFill>
            <a:ln>
              <a:noFill/>
            </a:ln>
          </p:spPr>
        </p:sp>
        <p:sp>
          <p:nvSpPr>
            <p:cNvPr id="15" name="TextBox 15"/>
            <p:cNvSpPr txBox="1"/>
            <p:nvPr/>
          </p:nvSpPr>
          <p:spPr>
            <a:xfrm>
              <a:off x="774573" y="4348639"/>
              <a:ext cx="490880"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LỚP 3</a:t>
              </a:r>
            </a:p>
          </p:txBody>
        </p:sp>
        <p:sp>
          <p:nvSpPr>
            <p:cNvPr id="16" name="TextBox 16"/>
            <p:cNvSpPr txBox="1"/>
            <p:nvPr/>
          </p:nvSpPr>
          <p:spPr>
            <a:xfrm>
              <a:off x="772287" y="4604861"/>
              <a:ext cx="2687662"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Tái hiện và xác nhận lỗi</a:t>
              </a:r>
            </a:p>
          </p:txBody>
        </p:sp>
        <p:sp>
          <p:nvSpPr>
            <p:cNvPr id="17" name="TextBox 17"/>
            <p:cNvSpPr txBox="1"/>
            <p:nvPr/>
          </p:nvSpPr>
          <p:spPr>
            <a:xfrm>
              <a:off x="774573" y="4939189"/>
              <a:ext cx="3009010" cy="249364"/>
            </a:xfrm>
            <a:prstGeom prst="rect">
              <a:avLst/>
            </a:prstGeom>
            <a:noFill/>
            <a:ln>
              <a:noFill/>
            </a:ln>
          </p:spPr>
          <p:txBody>
            <a:bodyPr wrap="none" lIns="0" tIns="0" rIns="0" bIns="0" anchor="t" anchorCtr="0">
              <a:spAutoFit/>
            </a:bodyPr>
            <a:lstStyle/>
            <a:p>
              <a:pPr algn="l"/>
              <a:r>
                <a:rPr lang="en-US" sz="1280" dirty="0">
                  <a:solidFill>
                    <a:srgbClr val="5E6862"/>
                  </a:solidFill>
                  <a:latin typeface="+mn-lt"/>
                  <a:ea typeface="+mn-ea"/>
                  <a:cs typeface="+mn-cs"/>
                </a:rPr>
                <a:t>GA delay/miss · Coupler · GA secure</a:t>
              </a:r>
            </a:p>
          </p:txBody>
        </p:sp>
      </p:grpSp>
      <p:grpSp>
        <p:nvGrpSpPr>
          <p:cNvPr id="21" name="Group 21"/>
          <p:cNvGrpSpPr/>
          <p:nvPr/>
        </p:nvGrpSpPr>
        <p:grpSpPr>
          <a:xfrm>
            <a:off x="4572000" y="1952625"/>
            <a:ext cx="7086600" cy="3524250"/>
            <a:chOff x="4572000" y="1952625"/>
            <a:chExt cx="7086600" cy="3524250"/>
          </a:xfrm>
        </p:grpSpPr>
        <p:sp>
          <p:nvSpPr>
            <p:cNvPr id="19" name="Rectangle 19"/>
            <p:cNvSpPr/>
            <p:nvPr/>
          </p:nvSpPr>
          <p:spPr>
            <a:xfrm>
              <a:off x="4572000" y="1952625"/>
              <a:ext cx="7086600" cy="3524250"/>
            </a:xfrm>
            <a:prstGeom prst="roundRect">
              <a:avLst>
                <a:gd name="adj" fmla="val 5946"/>
              </a:avLst>
            </a:prstGeom>
            <a:solidFill>
              <a:schemeClr val="lt2"/>
            </a:solidFill>
            <a:ln>
              <a:noFill/>
            </a:ln>
          </p:spPr>
        </p:sp>
        <p:pic>
          <p:nvPicPr>
            <p:cNvPr id="20" name="Image 20"/>
            <p:cNvPicPr>
              <a:picLocks noChangeAspect="1"/>
            </p:cNvPicPr>
            <p:nvPr/>
          </p:nvPicPr>
          <p:blipFill>
            <a:blip r:embed="rId3"/>
            <a:stretch>
              <a:fillRect/>
            </a:stretch>
          </p:blipFill>
          <p:spPr>
            <a:xfrm>
              <a:off x="5294500" y="2143125"/>
              <a:ext cx="5641601" cy="3143250"/>
            </a:xfrm>
            <a:prstGeom prst="rect">
              <a:avLst/>
            </a:prstGeom>
          </p:spPr>
        </p:pic>
      </p:grpSp>
      <p:grpSp>
        <p:nvGrpSpPr>
          <p:cNvPr id="23" name="Group 23"/>
          <p:cNvGrpSpPr/>
          <p:nvPr/>
        </p:nvGrpSpPr>
        <p:grpSpPr>
          <a:xfrm>
            <a:off x="525780" y="5791200"/>
            <a:ext cx="8398058" cy="293370"/>
            <a:chOff x="525780" y="5791200"/>
            <a:chExt cx="8398058" cy="293370"/>
          </a:xfrm>
        </p:grpSpPr>
        <p:sp>
          <p:nvSpPr>
            <p:cNvPr id="22" name="TextBox 22"/>
            <p:cNvSpPr txBox="1"/>
            <p:nvPr/>
          </p:nvSpPr>
          <p:spPr>
            <a:xfrm>
              <a:off x="525780" y="5791200"/>
              <a:ext cx="8398058"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Giá trị: phát hiện vấn đề trong đúng bối cảnh hệ thống, không chỉ ở mức thiết bị.</a:t>
              </a:r>
            </a:p>
          </p:txBody>
        </p:sp>
      </p:grpSp>
      <p:grpSp>
        <p:nvGrpSpPr>
          <p:cNvPr id="26" name="Group 26"/>
          <p:cNvGrpSpPr/>
          <p:nvPr/>
        </p:nvGrpSpPr>
        <p:grpSpPr>
          <a:xfrm>
            <a:off x="533400" y="6362700"/>
            <a:ext cx="11130534" cy="311087"/>
            <a:chOff x="533400" y="6362700"/>
            <a:chExt cx="11130534" cy="311087"/>
          </a:xfrm>
        </p:grpSpPr>
        <p:sp>
          <p:nvSpPr>
            <p:cNvPr id="24" name="Line 24"/>
            <p:cNvSpPr/>
            <p:nvPr/>
          </p:nvSpPr>
          <p:spPr>
            <a:xfrm>
              <a:off x="533400" y="6362700"/>
              <a:ext cx="11125200" cy="9525"/>
            </a:xfrm>
            <a:custGeom>
              <a:avLst/>
              <a:gdLst/>
              <a:ahLst/>
              <a:cxnLst/>
              <a:rect l="l" t="t" r="r" b="b"/>
              <a:pathLst>
                <a:path w="11125200" h="9525">
                  <a:moveTo>
                    <a:pt x="0" y="0"/>
                  </a:moveTo>
                  <a:lnTo>
                    <a:pt x="11125200" y="0"/>
                  </a:lnTo>
                </a:path>
              </a:pathLst>
            </a:custGeom>
            <a:noFill/>
            <a:ln w="9525">
              <a:solidFill>
                <a:srgbClr val="E1E6E3"/>
              </a:solidFill>
            </a:ln>
          </p:spPr>
        </p:sp>
        <p:sp>
          <p:nvSpPr>
            <p:cNvPr id="25" name="TextBox 25"/>
            <p:cNvSpPr txBox="1"/>
            <p:nvPr/>
          </p:nvSpPr>
          <p:spPr>
            <a:xfrm>
              <a:off x="11179740" y="6468428"/>
              <a:ext cx="484194" cy="205359"/>
            </a:xfrm>
            <a:prstGeom prst="rect">
              <a:avLst/>
            </a:prstGeom>
            <a:noFill/>
            <a:ln>
              <a:noFill/>
            </a:ln>
          </p:spPr>
          <p:txBody>
            <a:bodyPr wrap="none" lIns="0" tIns="0" rIns="0" bIns="0" anchor="t" anchorCtr="0">
              <a:spAutoFit/>
            </a:bodyPr>
            <a:lstStyle/>
            <a:p>
              <a:pPr algn="r"/>
              <a:r>
                <a:rPr lang="en-US" sz="1050" dirty="0">
                  <a:solidFill>
                    <a:srgbClr val="89918D"/>
                  </a:solidFill>
                  <a:latin typeface="+mn-lt"/>
                  <a:ea typeface="+mn-ea"/>
                  <a:cs typeface="+mn-cs"/>
                </a:rPr>
                <a:t>08 / 15</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38162" y="381000"/>
            <a:ext cx="11126153" cy="637985"/>
            <a:chOff x="538162" y="381000"/>
            <a:chExt cx="11126153" cy="637985"/>
          </a:xfrm>
        </p:grpSpPr>
        <p:pic>
          <p:nvPicPr>
            <p:cNvPr id="2" name="Image 2"/>
            <p:cNvPicPr>
              <a:picLocks noChangeAspect="1"/>
            </p:cNvPicPr>
            <p:nvPr/>
          </p:nvPicPr>
          <p:blipFill>
            <a:blip r:embed="rId2"/>
            <a:stretch>
              <a:fillRect/>
            </a:stretch>
          </p:blipFill>
          <p:spPr>
            <a:xfrm>
              <a:off x="538162" y="381000"/>
              <a:ext cx="1247775" cy="361950"/>
            </a:xfrm>
            <a:prstGeom prst="rect">
              <a:avLst/>
            </a:prstGeom>
          </p:spPr>
        </p:pic>
        <p:sp>
          <p:nvSpPr>
            <p:cNvPr id="3" name="TextBox 3"/>
            <p:cNvSpPr txBox="1"/>
            <p:nvPr/>
          </p:nvSpPr>
          <p:spPr>
            <a:xfrm>
              <a:off x="3127248" y="402908"/>
              <a:ext cx="2565341"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Đào tạo KNX</a:t>
              </a:r>
            </a:p>
          </p:txBody>
        </p:sp>
        <p:sp>
          <p:nvSpPr>
            <p:cNvPr id="4" name="TextBox 4"/>
            <p:cNvSpPr txBox="1"/>
            <p:nvPr/>
          </p:nvSpPr>
          <p:spPr>
            <a:xfrm>
              <a:off x="10389964" y="564356"/>
              <a:ext cx="1274351" cy="220028"/>
            </a:xfrm>
            <a:prstGeom prst="rect">
              <a:avLst/>
            </a:prstGeom>
            <a:noFill/>
            <a:ln>
              <a:noFill/>
            </a:ln>
          </p:spPr>
          <p:txBody>
            <a:bodyPr wrap="none" lIns="0" tIns="0" rIns="0" bIns="0" anchor="t" anchorCtr="0">
              <a:spAutoFit/>
            </a:bodyPr>
            <a:lstStyle/>
            <a:p>
              <a:pPr algn="r"/>
              <a:r>
                <a:rPr lang="en-US" sz="1120" b="1" dirty="0">
                  <a:solidFill>
                    <a:srgbClr val="7A827E"/>
                  </a:solidFill>
                  <a:latin typeface="+mn-lt"/>
                  <a:ea typeface="+mn-ea"/>
                  <a:cs typeface="+mn-cs"/>
                </a:rPr>
                <a:t>CHIA SẺ TRI THỨC</a:t>
              </a:r>
            </a:p>
          </p:txBody>
        </p:sp>
      </p:grpSp>
      <p:grpSp>
        <p:nvGrpSpPr>
          <p:cNvPr id="8" name="Group 8"/>
          <p:cNvGrpSpPr/>
          <p:nvPr/>
        </p:nvGrpSpPr>
        <p:grpSpPr>
          <a:xfrm>
            <a:off x="523494" y="1313498"/>
            <a:ext cx="8684532" cy="624077"/>
            <a:chOff x="523494" y="1313498"/>
            <a:chExt cx="8684532" cy="624077"/>
          </a:xfrm>
        </p:grpSpPr>
        <p:sp>
          <p:nvSpPr>
            <p:cNvPr id="6" name="TextBox 6"/>
            <p:cNvSpPr txBox="1"/>
            <p:nvPr/>
          </p:nvSpPr>
          <p:spPr>
            <a:xfrm>
              <a:off x="523494" y="1313498"/>
              <a:ext cx="8684532"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Hệ thống hóa kiến thức thành một hành trình học có thể dùng lại.</a:t>
              </a:r>
            </a:p>
          </p:txBody>
        </p:sp>
        <p:sp>
          <p:nvSpPr>
            <p:cNvPr id="7" name="TextBox 7"/>
            <p:cNvSpPr txBox="1"/>
            <p:nvPr/>
          </p:nvSpPr>
          <p:spPr>
            <a:xfrm>
              <a:off x="526542" y="1673542"/>
              <a:ext cx="6148295" cy="264033"/>
            </a:xfrm>
            <a:prstGeom prst="rect">
              <a:avLst/>
            </a:prstGeom>
            <a:noFill/>
            <a:ln>
              <a:noFill/>
            </a:ln>
          </p:spPr>
          <p:txBody>
            <a:bodyPr wrap="none" lIns="0" tIns="0" rIns="0" bIns="0" anchor="t" anchorCtr="0">
              <a:spAutoFit/>
            </a:bodyPr>
            <a:lstStyle/>
            <a:p>
              <a:pPr algn="l"/>
              <a:r>
                <a:rPr lang="en-US" sz="1350" dirty="0">
                  <a:solidFill>
                    <a:srgbClr val="5E6862"/>
                  </a:solidFill>
                  <a:latin typeface="+mn-lt"/>
                  <a:ea typeface="+mn-ea"/>
                  <a:cs typeface="+mn-cs"/>
                </a:rPr>
                <a:t>Từ nền tảng đến thực hành — phù hợp Dev, Tester, App và nhân sự mới.</a:t>
              </a:r>
            </a:p>
          </p:txBody>
        </p:sp>
      </p:grpSp>
      <p:grpSp>
        <p:nvGrpSpPr>
          <p:cNvPr id="30" name="Group 30"/>
          <p:cNvGrpSpPr/>
          <p:nvPr/>
        </p:nvGrpSpPr>
        <p:grpSpPr>
          <a:xfrm>
            <a:off x="722219" y="2781300"/>
            <a:ext cx="10067167" cy="1721453"/>
            <a:chOff x="722219" y="2781300"/>
            <a:chExt cx="10067167" cy="1721453"/>
          </a:xfrm>
        </p:grpSpPr>
        <p:sp>
          <p:nvSpPr>
            <p:cNvPr id="9" name="Line 9"/>
            <p:cNvSpPr/>
            <p:nvPr/>
          </p:nvSpPr>
          <p:spPr>
            <a:xfrm>
              <a:off x="1428750" y="3238500"/>
              <a:ext cx="9334500" cy="9525"/>
            </a:xfrm>
            <a:custGeom>
              <a:avLst/>
              <a:gdLst/>
              <a:ahLst/>
              <a:cxnLst/>
              <a:rect l="l" t="t" r="r" b="b"/>
              <a:pathLst>
                <a:path w="9334500" h="9525">
                  <a:moveTo>
                    <a:pt x="0" y="0"/>
                  </a:moveTo>
                  <a:lnTo>
                    <a:pt x="9334500" y="0"/>
                  </a:lnTo>
                </a:path>
              </a:pathLst>
            </a:custGeom>
            <a:noFill/>
            <a:ln w="47625">
              <a:solidFill>
                <a:srgbClr val="CFE4D8"/>
              </a:solidFill>
            </a:ln>
          </p:spPr>
        </p:sp>
        <p:grpSp>
          <p:nvGrpSpPr>
            <p:cNvPr id="14" name="Group 14"/>
            <p:cNvGrpSpPr/>
            <p:nvPr/>
          </p:nvGrpSpPr>
          <p:grpSpPr>
            <a:xfrm>
              <a:off x="722219" y="2781300"/>
              <a:ext cx="1794063" cy="1721453"/>
              <a:chOff x="722219" y="2781300"/>
              <a:chExt cx="1794063" cy="1721453"/>
            </a:xfrm>
          </p:grpSpPr>
          <p:sp>
            <p:nvSpPr>
              <p:cNvPr id="10" name="Ellipse 10"/>
              <p:cNvSpPr/>
              <p:nvPr/>
            </p:nvSpPr>
            <p:spPr>
              <a:xfrm>
                <a:off x="1162050" y="2781300"/>
                <a:ext cx="914400" cy="914400"/>
              </a:xfrm>
              <a:prstGeom prst="ellipse">
                <a:avLst/>
              </a:prstGeom>
              <a:solidFill>
                <a:schemeClr val="accent1"/>
              </a:solidFill>
              <a:ln>
                <a:noFill/>
              </a:ln>
            </p:spPr>
          </p:sp>
          <p:sp>
            <p:nvSpPr>
              <p:cNvPr id="11" name="TextBox 11"/>
              <p:cNvSpPr txBox="1"/>
              <p:nvPr/>
            </p:nvSpPr>
            <p:spPr>
              <a:xfrm>
                <a:off x="1463568" y="3121819"/>
                <a:ext cx="311364"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mn-lt"/>
                    <a:ea typeface="+mn-ea"/>
                    <a:cs typeface="+mn-cs"/>
                  </a:rPr>
                  <a:t>01</a:t>
                </a:r>
              </a:p>
            </p:txBody>
          </p:sp>
          <p:sp>
            <p:nvSpPr>
              <p:cNvPr id="12" name="TextBox 12"/>
              <p:cNvSpPr txBox="1"/>
              <p:nvPr/>
            </p:nvSpPr>
            <p:spPr>
              <a:xfrm>
                <a:off x="852170" y="3909536"/>
                <a:ext cx="1534159" cy="337376"/>
              </a:xfrm>
              <a:prstGeom prst="rect">
                <a:avLst/>
              </a:prstGeom>
              <a:noFill/>
              <a:ln>
                <a:noFill/>
              </a:ln>
            </p:spPr>
            <p:txBody>
              <a:bodyPr wrap="none" lIns="0" tIns="0" rIns="0" bIns="0" anchor="t" anchorCtr="0">
                <a:spAutoFit/>
              </a:bodyPr>
              <a:lstStyle/>
              <a:p>
                <a:pPr algn="ctr"/>
                <a:r>
                  <a:rPr lang="en-US" sz="1720" b="1" dirty="0">
                    <a:solidFill>
                      <a:schemeClr val="dk1"/>
                    </a:solidFill>
                    <a:latin typeface="+mn-lt"/>
                    <a:ea typeface="+mn-ea"/>
                    <a:cs typeface="+mn-cs"/>
                  </a:rPr>
                  <a:t>Nền tảng KNX</a:t>
                </a:r>
              </a:p>
            </p:txBody>
          </p:sp>
          <p:sp>
            <p:nvSpPr>
              <p:cNvPr id="13" name="TextBox 13"/>
              <p:cNvSpPr txBox="1"/>
              <p:nvPr/>
            </p:nvSpPr>
            <p:spPr>
              <a:xfrm>
                <a:off x="722219" y="4253389"/>
                <a:ext cx="1794063" cy="249364"/>
              </a:xfrm>
              <a:prstGeom prst="rect">
                <a:avLst/>
              </a:prstGeom>
              <a:noFill/>
              <a:ln>
                <a:noFill/>
              </a:ln>
            </p:spPr>
            <p:txBody>
              <a:bodyPr wrap="none" lIns="0" tIns="0" rIns="0" bIns="0" anchor="t" anchorCtr="0">
                <a:spAutoFit/>
              </a:bodyPr>
              <a:lstStyle/>
              <a:p>
                <a:pPr algn="ctr"/>
                <a:r>
                  <a:rPr lang="en-US" sz="1280" dirty="0">
                    <a:solidFill>
                      <a:srgbClr val="5E6862"/>
                    </a:solidFill>
                    <a:latin typeface="+mn-lt"/>
                    <a:ea typeface="+mn-ea"/>
                    <a:cs typeface="+mn-cs"/>
                  </a:rPr>
                  <a:t>Giáo trình · khóa học</a:t>
                </a:r>
              </a:p>
            </p:txBody>
          </p:sp>
        </p:grpSp>
        <p:grpSp>
          <p:nvGrpSpPr>
            <p:cNvPr id="19" name="Group 19"/>
            <p:cNvGrpSpPr/>
            <p:nvPr/>
          </p:nvGrpSpPr>
          <p:grpSpPr>
            <a:xfrm>
              <a:off x="3395508" y="2781300"/>
              <a:ext cx="1895785" cy="1721453"/>
              <a:chOff x="3395508" y="2781300"/>
              <a:chExt cx="1895785" cy="1721453"/>
            </a:xfrm>
          </p:grpSpPr>
          <p:sp>
            <p:nvSpPr>
              <p:cNvPr id="15" name="Ellipse 15"/>
              <p:cNvSpPr/>
              <p:nvPr/>
            </p:nvSpPr>
            <p:spPr>
              <a:xfrm>
                <a:off x="3886200" y="2781300"/>
                <a:ext cx="914400" cy="914400"/>
              </a:xfrm>
              <a:prstGeom prst="ellipse">
                <a:avLst/>
              </a:prstGeom>
              <a:solidFill>
                <a:schemeClr val="lt1"/>
              </a:solidFill>
              <a:ln w="38100">
                <a:solidFill>
                  <a:schemeClr val="accent1"/>
                </a:solidFill>
              </a:ln>
            </p:spPr>
          </p:sp>
          <p:sp>
            <p:nvSpPr>
              <p:cNvPr id="16" name="TextBox 16"/>
              <p:cNvSpPr txBox="1"/>
              <p:nvPr/>
            </p:nvSpPr>
            <p:spPr>
              <a:xfrm>
                <a:off x="4187718" y="3121819"/>
                <a:ext cx="311364" cy="366712"/>
              </a:xfrm>
              <a:prstGeom prst="rect">
                <a:avLst/>
              </a:prstGeom>
              <a:noFill/>
              <a:ln>
                <a:noFill/>
              </a:ln>
            </p:spPr>
            <p:txBody>
              <a:bodyPr wrap="none" lIns="0" tIns="0" rIns="0" bIns="0" anchor="t" anchorCtr="0">
                <a:spAutoFit/>
              </a:bodyPr>
              <a:lstStyle/>
              <a:p>
                <a:pPr algn="ctr"/>
                <a:r>
                  <a:rPr lang="en-US" sz="1880" b="1" dirty="0">
                    <a:solidFill>
                      <a:schemeClr val="accent1"/>
                    </a:solidFill>
                    <a:latin typeface="+mn-lt"/>
                    <a:ea typeface="+mn-ea"/>
                    <a:cs typeface="+mn-cs"/>
                  </a:rPr>
                  <a:t>02</a:t>
                </a:r>
              </a:p>
            </p:txBody>
          </p:sp>
          <p:sp>
            <p:nvSpPr>
              <p:cNvPr id="17" name="TextBox 17"/>
              <p:cNvSpPr txBox="1"/>
              <p:nvPr/>
            </p:nvSpPr>
            <p:spPr>
              <a:xfrm>
                <a:off x="4122707" y="3909536"/>
                <a:ext cx="441387" cy="337376"/>
              </a:xfrm>
              <a:prstGeom prst="rect">
                <a:avLst/>
              </a:prstGeom>
              <a:noFill/>
              <a:ln>
                <a:noFill/>
              </a:ln>
            </p:spPr>
            <p:txBody>
              <a:bodyPr wrap="none" lIns="0" tIns="0" rIns="0" bIns="0" anchor="t" anchorCtr="0">
                <a:spAutoFit/>
              </a:bodyPr>
              <a:lstStyle/>
              <a:p>
                <a:pPr algn="ctr"/>
                <a:r>
                  <a:rPr lang="en-US" sz="1720" b="1" dirty="0">
                    <a:solidFill>
                      <a:schemeClr val="dk1"/>
                    </a:solidFill>
                    <a:latin typeface="+mn-lt"/>
                    <a:ea typeface="+mn-ea"/>
                    <a:cs typeface="+mn-cs"/>
                  </a:rPr>
                  <a:t>ETS</a:t>
                </a:r>
              </a:p>
            </p:txBody>
          </p:sp>
          <p:sp>
            <p:nvSpPr>
              <p:cNvPr id="18" name="TextBox 18"/>
              <p:cNvSpPr txBox="1"/>
              <p:nvPr/>
            </p:nvSpPr>
            <p:spPr>
              <a:xfrm>
                <a:off x="3395508" y="4253389"/>
                <a:ext cx="1895785" cy="249364"/>
              </a:xfrm>
              <a:prstGeom prst="rect">
                <a:avLst/>
              </a:prstGeom>
              <a:noFill/>
              <a:ln>
                <a:noFill/>
              </a:ln>
            </p:spPr>
            <p:txBody>
              <a:bodyPr wrap="none" lIns="0" tIns="0" rIns="0" bIns="0" anchor="t" anchorCtr="0">
                <a:spAutoFit/>
              </a:bodyPr>
              <a:lstStyle/>
              <a:p>
                <a:pPr algn="ctr"/>
                <a:r>
                  <a:rPr lang="en-US" sz="1280" dirty="0">
                    <a:solidFill>
                      <a:srgbClr val="5E6862"/>
                    </a:solidFill>
                    <a:latin typeface="+mn-lt"/>
                    <a:ea typeface="+mn-ea"/>
                    <a:cs typeface="+mn-cs"/>
                  </a:rPr>
                  <a:t>Slide · thao tác · Quiz</a:t>
                </a:r>
              </a:p>
            </p:txBody>
          </p:sp>
        </p:grpSp>
        <p:grpSp>
          <p:nvGrpSpPr>
            <p:cNvPr id="24" name="Group 24"/>
            <p:cNvGrpSpPr/>
            <p:nvPr/>
          </p:nvGrpSpPr>
          <p:grpSpPr>
            <a:xfrm>
              <a:off x="6301755" y="2781300"/>
              <a:ext cx="1531590" cy="1721453"/>
              <a:chOff x="6301755" y="2781300"/>
              <a:chExt cx="1531590" cy="1721453"/>
            </a:xfrm>
          </p:grpSpPr>
          <p:sp>
            <p:nvSpPr>
              <p:cNvPr id="20" name="Ellipse 20"/>
              <p:cNvSpPr/>
              <p:nvPr/>
            </p:nvSpPr>
            <p:spPr>
              <a:xfrm>
                <a:off x="6610350" y="2781300"/>
                <a:ext cx="914400" cy="914400"/>
              </a:xfrm>
              <a:prstGeom prst="ellipse">
                <a:avLst/>
              </a:prstGeom>
              <a:solidFill>
                <a:schemeClr val="accent2"/>
              </a:solidFill>
              <a:ln>
                <a:noFill/>
              </a:ln>
            </p:spPr>
          </p:sp>
          <p:sp>
            <p:nvSpPr>
              <p:cNvPr id="21" name="TextBox 21"/>
              <p:cNvSpPr txBox="1"/>
              <p:nvPr/>
            </p:nvSpPr>
            <p:spPr>
              <a:xfrm>
                <a:off x="6911868" y="3121819"/>
                <a:ext cx="311364"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mn-lt"/>
                    <a:ea typeface="+mn-ea"/>
                    <a:cs typeface="+mn-cs"/>
                  </a:rPr>
                  <a:t>03</a:t>
                </a:r>
              </a:p>
            </p:txBody>
          </p:sp>
          <p:sp>
            <p:nvSpPr>
              <p:cNvPr id="22" name="TextBox 22"/>
              <p:cNvSpPr txBox="1"/>
              <p:nvPr/>
            </p:nvSpPr>
            <p:spPr>
              <a:xfrm>
                <a:off x="6550736" y="3909536"/>
                <a:ext cx="1033628" cy="337376"/>
              </a:xfrm>
              <a:prstGeom prst="rect">
                <a:avLst/>
              </a:prstGeom>
              <a:noFill/>
              <a:ln>
                <a:noFill/>
              </a:ln>
            </p:spPr>
            <p:txBody>
              <a:bodyPr wrap="none" lIns="0" tIns="0" rIns="0" bIns="0" anchor="t" anchorCtr="0">
                <a:spAutoFit/>
              </a:bodyPr>
              <a:lstStyle/>
              <a:p>
                <a:pPr algn="ctr"/>
                <a:r>
                  <a:rPr lang="en-US" sz="1720" b="1" dirty="0">
                    <a:solidFill>
                      <a:schemeClr val="dk1"/>
                    </a:solidFill>
                    <a:latin typeface="+mn-lt"/>
                    <a:ea typeface="+mn-ea"/>
                    <a:cs typeface="+mn-cs"/>
                  </a:rPr>
                  <a:t>Topology</a:t>
                </a:r>
              </a:p>
            </p:txBody>
          </p:sp>
          <p:sp>
            <p:nvSpPr>
              <p:cNvPr id="23" name="TextBox 23"/>
              <p:cNvSpPr txBox="1"/>
              <p:nvPr/>
            </p:nvSpPr>
            <p:spPr>
              <a:xfrm>
                <a:off x="6301755" y="4253389"/>
                <a:ext cx="1531590" cy="249364"/>
              </a:xfrm>
              <a:prstGeom prst="rect">
                <a:avLst/>
              </a:prstGeom>
              <a:noFill/>
              <a:ln>
                <a:noFill/>
              </a:ln>
            </p:spPr>
            <p:txBody>
              <a:bodyPr wrap="none" lIns="0" tIns="0" rIns="0" bIns="0" anchor="t" anchorCtr="0">
                <a:spAutoFit/>
              </a:bodyPr>
              <a:lstStyle/>
              <a:p>
                <a:pPr algn="ctr"/>
                <a:r>
                  <a:rPr lang="en-US" sz="1280" dirty="0">
                    <a:solidFill>
                      <a:srgbClr val="5E6862"/>
                    </a:solidFill>
                    <a:latin typeface="+mn-lt"/>
                    <a:ea typeface="+mn-ea"/>
                    <a:cs typeface="+mn-cs"/>
                  </a:rPr>
                  <a:t>Bus · Coupler · GA</a:t>
                </a:r>
              </a:p>
            </p:txBody>
          </p:sp>
        </p:grpSp>
        <p:grpSp>
          <p:nvGrpSpPr>
            <p:cNvPr id="29" name="Group 29"/>
            <p:cNvGrpSpPr/>
            <p:nvPr/>
          </p:nvGrpSpPr>
          <p:grpSpPr>
            <a:xfrm>
              <a:off x="8794013" y="2781300"/>
              <a:ext cx="1995373" cy="1721453"/>
              <a:chOff x="8794013" y="2781300"/>
              <a:chExt cx="1995373" cy="1721453"/>
            </a:xfrm>
          </p:grpSpPr>
          <p:sp>
            <p:nvSpPr>
              <p:cNvPr id="25" name="Ellipse 25"/>
              <p:cNvSpPr/>
              <p:nvPr/>
            </p:nvSpPr>
            <p:spPr>
              <a:xfrm>
                <a:off x="9334500" y="2781300"/>
                <a:ext cx="914400" cy="914400"/>
              </a:xfrm>
              <a:prstGeom prst="ellipse">
                <a:avLst/>
              </a:prstGeom>
              <a:solidFill>
                <a:schemeClr val="accent1"/>
              </a:solidFill>
              <a:ln>
                <a:noFill/>
              </a:ln>
            </p:spPr>
          </p:sp>
          <p:sp>
            <p:nvSpPr>
              <p:cNvPr id="26" name="TextBox 26"/>
              <p:cNvSpPr txBox="1"/>
              <p:nvPr/>
            </p:nvSpPr>
            <p:spPr>
              <a:xfrm>
                <a:off x="9636018" y="3121819"/>
                <a:ext cx="311364"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mn-lt"/>
                    <a:ea typeface="+mn-ea"/>
                    <a:cs typeface="+mn-cs"/>
                  </a:rPr>
                  <a:t>04</a:t>
                </a:r>
              </a:p>
            </p:txBody>
          </p:sp>
          <p:sp>
            <p:nvSpPr>
              <p:cNvPr id="27" name="TextBox 27"/>
              <p:cNvSpPr txBox="1"/>
              <p:nvPr/>
            </p:nvSpPr>
            <p:spPr>
              <a:xfrm>
                <a:off x="9207554" y="3909536"/>
                <a:ext cx="1168292" cy="337376"/>
              </a:xfrm>
              <a:prstGeom prst="rect">
                <a:avLst/>
              </a:prstGeom>
              <a:noFill/>
              <a:ln>
                <a:noFill/>
              </a:ln>
            </p:spPr>
            <p:txBody>
              <a:bodyPr wrap="none" lIns="0" tIns="0" rIns="0" bIns="0" anchor="t" anchorCtr="0">
                <a:spAutoFit/>
              </a:bodyPr>
              <a:lstStyle/>
              <a:p>
                <a:pPr algn="ctr"/>
                <a:r>
                  <a:rPr lang="en-US" sz="1720" b="1" dirty="0">
                    <a:solidFill>
                      <a:schemeClr val="dk1"/>
                    </a:solidFill>
                    <a:latin typeface="+mn-lt"/>
                    <a:ea typeface="+mn-ea"/>
                    <a:cs typeface="+mn-cs"/>
                  </a:rPr>
                  <a:t>Thực hành</a:t>
                </a:r>
              </a:p>
            </p:txBody>
          </p:sp>
          <p:sp>
            <p:nvSpPr>
              <p:cNvPr id="28" name="TextBox 28"/>
              <p:cNvSpPr txBox="1"/>
              <p:nvPr/>
            </p:nvSpPr>
            <p:spPr>
              <a:xfrm>
                <a:off x="8794013" y="4253389"/>
                <a:ext cx="1995373" cy="249364"/>
              </a:xfrm>
              <a:prstGeom prst="rect">
                <a:avLst/>
              </a:prstGeom>
              <a:noFill/>
              <a:ln>
                <a:noFill/>
              </a:ln>
            </p:spPr>
            <p:txBody>
              <a:bodyPr wrap="none" lIns="0" tIns="0" rIns="0" bIns="0" anchor="t" anchorCtr="0">
                <a:spAutoFit/>
              </a:bodyPr>
              <a:lstStyle/>
              <a:p>
                <a:pPr algn="ctr"/>
                <a:r>
                  <a:rPr lang="en-US" sz="1280" dirty="0">
                    <a:solidFill>
                      <a:srgbClr val="5E6862"/>
                    </a:solidFill>
                    <a:latin typeface="+mn-lt"/>
                    <a:ea typeface="+mn-ea"/>
                    <a:cs typeface="+mn-cs"/>
                  </a:rPr>
                  <a:t>LUKA Q&amp;A · hỗ trợ nhóm</a:t>
                </a:r>
              </a:p>
            </p:txBody>
          </p:sp>
        </p:grpSp>
      </p:grpSp>
      <p:grpSp>
        <p:nvGrpSpPr>
          <p:cNvPr id="34" name="Group 34"/>
          <p:cNvGrpSpPr/>
          <p:nvPr/>
        </p:nvGrpSpPr>
        <p:grpSpPr>
          <a:xfrm>
            <a:off x="533400" y="5191125"/>
            <a:ext cx="11125200" cy="723900"/>
            <a:chOff x="533400" y="5191125"/>
            <a:chExt cx="11125200" cy="723900"/>
          </a:xfrm>
        </p:grpSpPr>
        <p:sp>
          <p:nvSpPr>
            <p:cNvPr id="31" name="Rectangle 31"/>
            <p:cNvSpPr/>
            <p:nvPr/>
          </p:nvSpPr>
          <p:spPr>
            <a:xfrm>
              <a:off x="533400" y="5191125"/>
              <a:ext cx="11125200" cy="723900"/>
            </a:xfrm>
            <a:prstGeom prst="roundRect">
              <a:avLst>
                <a:gd name="adj" fmla="val 21053"/>
              </a:avLst>
            </a:prstGeom>
            <a:solidFill>
              <a:srgbClr val="EAF5EF"/>
            </a:solidFill>
            <a:ln>
              <a:noFill/>
            </a:ln>
          </p:spPr>
        </p:sp>
        <p:sp>
          <p:nvSpPr>
            <p:cNvPr id="32" name="TextBox 32"/>
            <p:cNvSpPr txBox="1"/>
            <p:nvPr/>
          </p:nvSpPr>
          <p:spPr>
            <a:xfrm>
              <a:off x="774573" y="5367814"/>
              <a:ext cx="1398941"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ĐẦU RA DÙNG LẠI</a:t>
              </a:r>
            </a:p>
          </p:txBody>
        </p:sp>
        <p:sp>
          <p:nvSpPr>
            <p:cNvPr id="33" name="TextBox 33"/>
            <p:cNvSpPr txBox="1"/>
            <p:nvPr/>
          </p:nvSpPr>
          <p:spPr>
            <a:xfrm>
              <a:off x="773430" y="5619750"/>
              <a:ext cx="793027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Giáo trình · slide ETS · Quiz · Topology · LUKA Q&amp;A · nội dung hỗ trợ Tester/App</a:t>
              </a:r>
            </a:p>
          </p:txBody>
        </p:sp>
      </p:grpSp>
      <p:grpSp>
        <p:nvGrpSpPr>
          <p:cNvPr id="37" name="Group 37"/>
          <p:cNvGrpSpPr/>
          <p:nvPr/>
        </p:nvGrpSpPr>
        <p:grpSpPr>
          <a:xfrm>
            <a:off x="533400" y="6362700"/>
            <a:ext cx="11130534" cy="311087"/>
            <a:chOff x="533400" y="6362700"/>
            <a:chExt cx="11130534" cy="311087"/>
          </a:xfrm>
        </p:grpSpPr>
        <p:sp>
          <p:nvSpPr>
            <p:cNvPr id="35" name="Line 35"/>
            <p:cNvSpPr/>
            <p:nvPr/>
          </p:nvSpPr>
          <p:spPr>
            <a:xfrm>
              <a:off x="533400" y="6362700"/>
              <a:ext cx="11125200" cy="9525"/>
            </a:xfrm>
            <a:custGeom>
              <a:avLst/>
              <a:gdLst/>
              <a:ahLst/>
              <a:cxnLst/>
              <a:rect l="l" t="t" r="r" b="b"/>
              <a:pathLst>
                <a:path w="11125200" h="9525">
                  <a:moveTo>
                    <a:pt x="0" y="0"/>
                  </a:moveTo>
                  <a:lnTo>
                    <a:pt x="11125200" y="0"/>
                  </a:lnTo>
                </a:path>
              </a:pathLst>
            </a:custGeom>
            <a:noFill/>
            <a:ln w="9525">
              <a:solidFill>
                <a:srgbClr val="E1E6E3"/>
              </a:solidFill>
            </a:ln>
          </p:spPr>
        </p:sp>
        <p:sp>
          <p:nvSpPr>
            <p:cNvPr id="36" name="TextBox 36"/>
            <p:cNvSpPr txBox="1"/>
            <p:nvPr/>
          </p:nvSpPr>
          <p:spPr>
            <a:xfrm>
              <a:off x="11179740" y="6468428"/>
              <a:ext cx="484194" cy="205359"/>
            </a:xfrm>
            <a:prstGeom prst="rect">
              <a:avLst/>
            </a:prstGeom>
            <a:noFill/>
            <a:ln>
              <a:noFill/>
            </a:ln>
          </p:spPr>
          <p:txBody>
            <a:bodyPr wrap="none" lIns="0" tIns="0" rIns="0" bIns="0" anchor="t" anchorCtr="0">
              <a:spAutoFit/>
            </a:bodyPr>
            <a:lstStyle/>
            <a:p>
              <a:pPr algn="r"/>
              <a:r>
                <a:rPr lang="en-US" sz="1050" dirty="0">
                  <a:solidFill>
                    <a:srgbClr val="89918D"/>
                  </a:solidFill>
                  <a:latin typeface="+mn-lt"/>
                  <a:ea typeface="+mn-ea"/>
                  <a:cs typeface="+mn-cs"/>
                </a:rPr>
                <a:t>09 / 15</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38162" y="381000"/>
            <a:ext cx="11126153" cy="637985"/>
            <a:chOff x="538162" y="381000"/>
            <a:chExt cx="11126153" cy="637985"/>
          </a:xfrm>
        </p:grpSpPr>
        <p:pic>
          <p:nvPicPr>
            <p:cNvPr id="2" name="Image 2"/>
            <p:cNvPicPr>
              <a:picLocks noChangeAspect="1"/>
            </p:cNvPicPr>
            <p:nvPr/>
          </p:nvPicPr>
          <p:blipFill>
            <a:blip r:embed="rId2"/>
            <a:stretch>
              <a:fillRect/>
            </a:stretch>
          </p:blipFill>
          <p:spPr>
            <a:xfrm>
              <a:off x="538162" y="381000"/>
              <a:ext cx="1247775" cy="361950"/>
            </a:xfrm>
            <a:prstGeom prst="rect">
              <a:avLst/>
            </a:prstGeom>
          </p:spPr>
        </p:pic>
        <p:sp>
          <p:nvSpPr>
            <p:cNvPr id="3" name="TextBox 3"/>
            <p:cNvSpPr txBox="1"/>
            <p:nvPr/>
          </p:nvSpPr>
          <p:spPr>
            <a:xfrm>
              <a:off x="3127248" y="402908"/>
              <a:ext cx="5791284"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Tài liệu &amp; khả năng bàn giao</a:t>
              </a:r>
            </a:p>
          </p:txBody>
        </p:sp>
        <p:sp>
          <p:nvSpPr>
            <p:cNvPr id="4" name="TextBox 4"/>
            <p:cNvSpPr txBox="1"/>
            <p:nvPr/>
          </p:nvSpPr>
          <p:spPr>
            <a:xfrm>
              <a:off x="10389964" y="564356"/>
              <a:ext cx="1274351" cy="220028"/>
            </a:xfrm>
            <a:prstGeom prst="rect">
              <a:avLst/>
            </a:prstGeom>
            <a:noFill/>
            <a:ln>
              <a:noFill/>
            </a:ln>
          </p:spPr>
          <p:txBody>
            <a:bodyPr wrap="none" lIns="0" tIns="0" rIns="0" bIns="0" anchor="t" anchorCtr="0">
              <a:spAutoFit/>
            </a:bodyPr>
            <a:lstStyle/>
            <a:p>
              <a:pPr algn="r"/>
              <a:r>
                <a:rPr lang="en-US" sz="1120" b="1" dirty="0">
                  <a:solidFill>
                    <a:srgbClr val="7A827E"/>
                  </a:solidFill>
                  <a:latin typeface="+mn-lt"/>
                  <a:ea typeface="+mn-ea"/>
                  <a:cs typeface="+mn-cs"/>
                </a:rPr>
                <a:t>TÀI SẢN DÙNG LẠI</a:t>
              </a:r>
            </a:p>
          </p:txBody>
        </p:sp>
      </p:grpSp>
      <p:grpSp>
        <p:nvGrpSpPr>
          <p:cNvPr id="7" name="Group 7"/>
          <p:cNvGrpSpPr/>
          <p:nvPr/>
        </p:nvGrpSpPr>
        <p:grpSpPr>
          <a:xfrm>
            <a:off x="523875" y="1321594"/>
            <a:ext cx="8638578" cy="366712"/>
            <a:chOff x="523875" y="1321594"/>
            <a:chExt cx="8638578" cy="366712"/>
          </a:xfrm>
        </p:grpSpPr>
        <p:sp>
          <p:nvSpPr>
            <p:cNvPr id="6" name="TextBox 6"/>
            <p:cNvSpPr txBox="1"/>
            <p:nvPr/>
          </p:nvSpPr>
          <p:spPr>
            <a:xfrm>
              <a:off x="523875" y="1321594"/>
              <a:ext cx="8638578"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Đầu ra không dừng ở code — tài liệu giúp đội ngũ vận hành nhất quán.</a:t>
              </a:r>
            </a:p>
          </p:txBody>
        </p:sp>
      </p:grpSp>
      <p:grpSp>
        <p:nvGrpSpPr>
          <p:cNvPr id="32" name="Group 32"/>
          <p:cNvGrpSpPr/>
          <p:nvPr/>
        </p:nvGrpSpPr>
        <p:grpSpPr>
          <a:xfrm>
            <a:off x="533400" y="2000250"/>
            <a:ext cx="7067550" cy="3143250"/>
            <a:chOff x="533400" y="2000250"/>
            <a:chExt cx="7067550" cy="3143250"/>
          </a:xfrm>
        </p:grpSpPr>
        <p:grpSp>
          <p:nvGrpSpPr>
            <p:cNvPr id="13" name="Group 13"/>
            <p:cNvGrpSpPr/>
            <p:nvPr/>
          </p:nvGrpSpPr>
          <p:grpSpPr>
            <a:xfrm>
              <a:off x="533400" y="2000250"/>
              <a:ext cx="3429000" cy="1428750"/>
              <a:chOff x="533400" y="2000250"/>
              <a:chExt cx="3429000" cy="1428750"/>
            </a:xfrm>
          </p:grpSpPr>
          <p:sp>
            <p:nvSpPr>
              <p:cNvPr id="8" name="Rectangle 8"/>
              <p:cNvSpPr/>
              <p:nvPr/>
            </p:nvSpPr>
            <p:spPr>
              <a:xfrm>
                <a:off x="533400" y="2000250"/>
                <a:ext cx="3429000" cy="1428750"/>
              </a:xfrm>
              <a:prstGeom prst="roundRect">
                <a:avLst>
                  <a:gd name="adj" fmla="val 10667"/>
                </a:avLst>
              </a:prstGeom>
              <a:solidFill>
                <a:schemeClr val="lt2"/>
              </a:solidFill>
              <a:ln>
                <a:noFill/>
              </a:ln>
            </p:spPr>
          </p:sp>
          <p:sp>
            <p:nvSpPr>
              <p:cNvPr id="9" name="Freeform 9"/>
              <p:cNvSpPr/>
              <p:nvPr/>
            </p:nvSpPr>
            <p:spPr>
              <a:xfrm>
                <a:off x="819150" y="2286000"/>
                <a:ext cx="514350" cy="790575"/>
              </a:xfrm>
              <a:custGeom>
                <a:avLst/>
                <a:gdLst/>
                <a:ahLst/>
                <a:cxnLst/>
                <a:rect l="l" t="t" r="r" b="b"/>
                <a:pathLst>
                  <a:path w="514350" h="790575">
                    <a:moveTo>
                      <a:pt x="0" y="0"/>
                    </a:moveTo>
                    <a:lnTo>
                      <a:pt x="361950" y="0"/>
                    </a:lnTo>
                    <a:lnTo>
                      <a:pt x="514350" y="152400"/>
                    </a:lnTo>
                    <a:lnTo>
                      <a:pt x="514350" y="790575"/>
                    </a:lnTo>
                    <a:lnTo>
                      <a:pt x="0" y="790575"/>
                    </a:lnTo>
                    <a:close/>
                  </a:path>
                </a:pathLst>
              </a:custGeom>
              <a:solidFill>
                <a:schemeClr val="lt1"/>
              </a:solidFill>
              <a:ln w="19050">
                <a:solidFill>
                  <a:schemeClr val="accent1"/>
                </a:solidFill>
              </a:ln>
            </p:spPr>
          </p:sp>
          <p:sp>
            <p:nvSpPr>
              <p:cNvPr id="10" name="Freeform 10"/>
              <p:cNvSpPr/>
              <p:nvPr/>
            </p:nvSpPr>
            <p:spPr>
              <a:xfrm>
                <a:off x="1181100" y="2286000"/>
                <a:ext cx="152400" cy="152400"/>
              </a:xfrm>
              <a:custGeom>
                <a:avLst/>
                <a:gdLst/>
                <a:ahLst/>
                <a:cxnLst/>
                <a:rect l="l" t="t" r="r" b="b"/>
                <a:pathLst>
                  <a:path w="152400" h="152400">
                    <a:moveTo>
                      <a:pt x="0" y="0"/>
                    </a:moveTo>
                    <a:lnTo>
                      <a:pt x="0" y="152400"/>
                    </a:lnTo>
                    <a:lnTo>
                      <a:pt x="152400" y="152400"/>
                    </a:lnTo>
                  </a:path>
                </a:pathLst>
              </a:custGeom>
              <a:noFill/>
              <a:ln w="19050">
                <a:solidFill>
                  <a:schemeClr val="accent1"/>
                </a:solidFill>
              </a:ln>
            </p:spPr>
          </p:sp>
          <p:sp>
            <p:nvSpPr>
              <p:cNvPr id="11" name="TextBox 11"/>
              <p:cNvSpPr txBox="1"/>
              <p:nvPr/>
            </p:nvSpPr>
            <p:spPr>
              <a:xfrm>
                <a:off x="1572768" y="2326958"/>
                <a:ext cx="1139533"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API &amp; flow</a:t>
                </a:r>
              </a:p>
            </p:txBody>
          </p:sp>
          <p:sp>
            <p:nvSpPr>
              <p:cNvPr id="12" name="TextBox 12"/>
              <p:cNvSpPr txBox="1"/>
              <p:nvPr/>
            </p:nvSpPr>
            <p:spPr>
              <a:xfrm>
                <a:off x="1574292" y="2673668"/>
                <a:ext cx="1428178" cy="521208"/>
              </a:xfrm>
              <a:prstGeom prst="rect">
                <a:avLst/>
              </a:prstGeom>
              <a:noFill/>
              <a:ln>
                <a:noFill/>
              </a:ln>
            </p:spPr>
            <p:txBody>
              <a:bodyPr wrap="square" lIns="0" tIns="0" rIns="0" bIns="0" anchor="t" anchorCtr="0"/>
              <a:lstStyle/>
              <a:p>
                <a:pPr algn="l">
                  <a:lnSpc>
                    <a:spcPts val="2025"/>
                  </a:lnSpc>
                </a:pPr>
                <a:r>
                  <a:rPr lang="en-US" sz="1350" dirty="0">
                    <a:solidFill>
                      <a:srgbClr val="5E6862"/>
                    </a:solidFill>
                    <a:latin typeface="+mn-lt"/>
                    <a:ea typeface="+mn-ea"/>
                    <a:cs typeface="+mn-cs"/>
                  </a:rPr>
                  <a:t>Servo, cảm biến, luồng hoạt động</a:t>
                </a:r>
              </a:p>
            </p:txBody>
          </p:sp>
        </p:grpSp>
        <p:grpSp>
          <p:nvGrpSpPr>
            <p:cNvPr id="19" name="Group 19"/>
            <p:cNvGrpSpPr/>
            <p:nvPr/>
          </p:nvGrpSpPr>
          <p:grpSpPr>
            <a:xfrm>
              <a:off x="4171950" y="2000250"/>
              <a:ext cx="3429000" cy="1428750"/>
              <a:chOff x="4171950" y="2000250"/>
              <a:chExt cx="3429000" cy="1428750"/>
            </a:xfrm>
          </p:grpSpPr>
          <p:sp>
            <p:nvSpPr>
              <p:cNvPr id="14" name="Rectangle 14"/>
              <p:cNvSpPr/>
              <p:nvPr/>
            </p:nvSpPr>
            <p:spPr>
              <a:xfrm>
                <a:off x="4171950" y="2000250"/>
                <a:ext cx="3429000" cy="1428750"/>
              </a:xfrm>
              <a:prstGeom prst="roundRect">
                <a:avLst>
                  <a:gd name="adj" fmla="val 10667"/>
                </a:avLst>
              </a:prstGeom>
              <a:solidFill>
                <a:schemeClr val="lt2"/>
              </a:solidFill>
              <a:ln>
                <a:noFill/>
              </a:ln>
            </p:spPr>
          </p:sp>
          <p:sp>
            <p:nvSpPr>
              <p:cNvPr id="15" name="Freeform 15"/>
              <p:cNvSpPr/>
              <p:nvPr/>
            </p:nvSpPr>
            <p:spPr>
              <a:xfrm>
                <a:off x="4457700" y="2286000"/>
                <a:ext cx="514350" cy="790575"/>
              </a:xfrm>
              <a:custGeom>
                <a:avLst/>
                <a:gdLst/>
                <a:ahLst/>
                <a:cxnLst/>
                <a:rect l="l" t="t" r="r" b="b"/>
                <a:pathLst>
                  <a:path w="514350" h="790575">
                    <a:moveTo>
                      <a:pt x="0" y="0"/>
                    </a:moveTo>
                    <a:lnTo>
                      <a:pt x="361950" y="0"/>
                    </a:lnTo>
                    <a:lnTo>
                      <a:pt x="514350" y="152400"/>
                    </a:lnTo>
                    <a:lnTo>
                      <a:pt x="514350" y="790575"/>
                    </a:lnTo>
                    <a:lnTo>
                      <a:pt x="0" y="790575"/>
                    </a:lnTo>
                    <a:close/>
                  </a:path>
                </a:pathLst>
              </a:custGeom>
              <a:solidFill>
                <a:schemeClr val="lt1"/>
              </a:solidFill>
              <a:ln w="19050">
                <a:solidFill>
                  <a:schemeClr val="accent2"/>
                </a:solidFill>
              </a:ln>
            </p:spPr>
          </p:sp>
          <p:sp>
            <p:nvSpPr>
              <p:cNvPr id="16" name="Freeform 16"/>
              <p:cNvSpPr/>
              <p:nvPr/>
            </p:nvSpPr>
            <p:spPr>
              <a:xfrm>
                <a:off x="4819650" y="2286000"/>
                <a:ext cx="152400" cy="152400"/>
              </a:xfrm>
              <a:custGeom>
                <a:avLst/>
                <a:gdLst/>
                <a:ahLst/>
                <a:cxnLst/>
                <a:rect l="l" t="t" r="r" b="b"/>
                <a:pathLst>
                  <a:path w="152400" h="152400">
                    <a:moveTo>
                      <a:pt x="0" y="0"/>
                    </a:moveTo>
                    <a:lnTo>
                      <a:pt x="0" y="152400"/>
                    </a:lnTo>
                    <a:lnTo>
                      <a:pt x="152400" y="152400"/>
                    </a:lnTo>
                  </a:path>
                </a:pathLst>
              </a:custGeom>
              <a:noFill/>
              <a:ln w="19050">
                <a:solidFill>
                  <a:schemeClr val="accent2"/>
                </a:solidFill>
              </a:ln>
            </p:spPr>
          </p:sp>
          <p:sp>
            <p:nvSpPr>
              <p:cNvPr id="17" name="TextBox 17"/>
              <p:cNvSpPr txBox="1"/>
              <p:nvPr/>
            </p:nvSpPr>
            <p:spPr>
              <a:xfrm>
                <a:off x="5211318" y="2326958"/>
                <a:ext cx="1083269"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Tool &amp; Jig</a:t>
                </a:r>
              </a:p>
            </p:txBody>
          </p:sp>
          <p:sp>
            <p:nvSpPr>
              <p:cNvPr id="18" name="TextBox 18"/>
              <p:cNvSpPr txBox="1"/>
              <p:nvPr/>
            </p:nvSpPr>
            <p:spPr>
              <a:xfrm>
                <a:off x="5212842" y="2673668"/>
                <a:ext cx="1582484" cy="521208"/>
              </a:xfrm>
              <a:prstGeom prst="rect">
                <a:avLst/>
              </a:prstGeom>
              <a:noFill/>
              <a:ln>
                <a:noFill/>
              </a:ln>
            </p:spPr>
            <p:txBody>
              <a:bodyPr wrap="square" lIns="0" tIns="0" rIns="0" bIns="0" anchor="t" anchorCtr="0"/>
              <a:lstStyle/>
              <a:p>
                <a:pPr algn="l">
                  <a:lnSpc>
                    <a:spcPts val="2025"/>
                  </a:lnSpc>
                </a:pPr>
                <a:r>
                  <a:rPr lang="en-US" sz="1350" dirty="0">
                    <a:solidFill>
                      <a:srgbClr val="5E6862"/>
                    </a:solidFill>
                    <a:latin typeface="+mn-lt"/>
                    <a:ea typeface="+mn-ea"/>
                    <a:cs typeface="+mn-cs"/>
                  </a:rPr>
                  <a:t>Hướng dẫn thao tác và kiểm tra</a:t>
                </a:r>
              </a:p>
            </p:txBody>
          </p:sp>
        </p:grpSp>
        <p:grpSp>
          <p:nvGrpSpPr>
            <p:cNvPr id="25" name="Group 25"/>
            <p:cNvGrpSpPr/>
            <p:nvPr/>
          </p:nvGrpSpPr>
          <p:grpSpPr>
            <a:xfrm>
              <a:off x="533400" y="3714750"/>
              <a:ext cx="3429000" cy="1428750"/>
              <a:chOff x="533400" y="3714750"/>
              <a:chExt cx="3429000" cy="1428750"/>
            </a:xfrm>
          </p:grpSpPr>
          <p:sp>
            <p:nvSpPr>
              <p:cNvPr id="20" name="Rectangle 20"/>
              <p:cNvSpPr/>
              <p:nvPr/>
            </p:nvSpPr>
            <p:spPr>
              <a:xfrm>
                <a:off x="533400" y="3714750"/>
                <a:ext cx="3429000" cy="1428750"/>
              </a:xfrm>
              <a:prstGeom prst="roundRect">
                <a:avLst>
                  <a:gd name="adj" fmla="val 10667"/>
                </a:avLst>
              </a:prstGeom>
              <a:solidFill>
                <a:schemeClr val="lt2"/>
              </a:solidFill>
              <a:ln>
                <a:noFill/>
              </a:ln>
            </p:spPr>
          </p:sp>
          <p:sp>
            <p:nvSpPr>
              <p:cNvPr id="21" name="Freeform 21"/>
              <p:cNvSpPr/>
              <p:nvPr/>
            </p:nvSpPr>
            <p:spPr>
              <a:xfrm>
                <a:off x="819150" y="4000500"/>
                <a:ext cx="514350" cy="790575"/>
              </a:xfrm>
              <a:custGeom>
                <a:avLst/>
                <a:gdLst/>
                <a:ahLst/>
                <a:cxnLst/>
                <a:rect l="l" t="t" r="r" b="b"/>
                <a:pathLst>
                  <a:path w="514350" h="790575">
                    <a:moveTo>
                      <a:pt x="0" y="0"/>
                    </a:moveTo>
                    <a:lnTo>
                      <a:pt x="361950" y="0"/>
                    </a:lnTo>
                    <a:lnTo>
                      <a:pt x="514350" y="152400"/>
                    </a:lnTo>
                    <a:lnTo>
                      <a:pt x="514350" y="790575"/>
                    </a:lnTo>
                    <a:lnTo>
                      <a:pt x="0" y="790575"/>
                    </a:lnTo>
                    <a:close/>
                  </a:path>
                </a:pathLst>
              </a:custGeom>
              <a:solidFill>
                <a:schemeClr val="lt1"/>
              </a:solidFill>
              <a:ln w="19050">
                <a:solidFill>
                  <a:schemeClr val="accent1"/>
                </a:solidFill>
              </a:ln>
            </p:spPr>
          </p:sp>
          <p:sp>
            <p:nvSpPr>
              <p:cNvPr id="22" name="Freeform 22"/>
              <p:cNvSpPr/>
              <p:nvPr/>
            </p:nvSpPr>
            <p:spPr>
              <a:xfrm>
                <a:off x="1181100" y="4000500"/>
                <a:ext cx="152400" cy="152400"/>
              </a:xfrm>
              <a:custGeom>
                <a:avLst/>
                <a:gdLst/>
                <a:ahLst/>
                <a:cxnLst/>
                <a:rect l="l" t="t" r="r" b="b"/>
                <a:pathLst>
                  <a:path w="152400" h="152400">
                    <a:moveTo>
                      <a:pt x="0" y="0"/>
                    </a:moveTo>
                    <a:lnTo>
                      <a:pt x="0" y="152400"/>
                    </a:lnTo>
                    <a:lnTo>
                      <a:pt x="152400" y="152400"/>
                    </a:lnTo>
                  </a:path>
                </a:pathLst>
              </a:custGeom>
              <a:noFill/>
              <a:ln w="19050">
                <a:solidFill>
                  <a:schemeClr val="accent1"/>
                </a:solidFill>
              </a:ln>
            </p:spPr>
          </p:sp>
          <p:sp>
            <p:nvSpPr>
              <p:cNvPr id="23" name="TextBox 23"/>
              <p:cNvSpPr txBox="1"/>
              <p:nvPr/>
            </p:nvSpPr>
            <p:spPr>
              <a:xfrm>
                <a:off x="1572768" y="4041458"/>
                <a:ext cx="1644263"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Đào tạo &amp; Quiz</a:t>
                </a:r>
              </a:p>
            </p:txBody>
          </p:sp>
          <p:sp>
            <p:nvSpPr>
              <p:cNvPr id="24" name="TextBox 24"/>
              <p:cNvSpPr txBox="1"/>
              <p:nvPr/>
            </p:nvSpPr>
            <p:spPr>
              <a:xfrm>
                <a:off x="1574292" y="4388168"/>
                <a:ext cx="1582483" cy="521208"/>
              </a:xfrm>
              <a:prstGeom prst="rect">
                <a:avLst/>
              </a:prstGeom>
              <a:noFill/>
              <a:ln>
                <a:noFill/>
              </a:ln>
            </p:spPr>
            <p:txBody>
              <a:bodyPr wrap="square" lIns="0" tIns="0" rIns="0" bIns="0" anchor="t" anchorCtr="0"/>
              <a:lstStyle/>
              <a:p>
                <a:pPr algn="l">
                  <a:lnSpc>
                    <a:spcPts val="2025"/>
                  </a:lnSpc>
                </a:pPr>
                <a:r>
                  <a:rPr lang="en-US" sz="1350" dirty="0">
                    <a:solidFill>
                      <a:srgbClr val="5E6862"/>
                    </a:solidFill>
                    <a:latin typeface="+mn-lt"/>
                    <a:ea typeface="+mn-ea"/>
                    <a:cs typeface="+mn-cs"/>
                  </a:rPr>
                  <a:t>Slide KNX, ETS và câu hỏi kiểm tra</a:t>
                </a:r>
              </a:p>
            </p:txBody>
          </p:sp>
        </p:grpSp>
        <p:grpSp>
          <p:nvGrpSpPr>
            <p:cNvPr id="31" name="Group 31"/>
            <p:cNvGrpSpPr/>
            <p:nvPr/>
          </p:nvGrpSpPr>
          <p:grpSpPr>
            <a:xfrm>
              <a:off x="4171950" y="3714750"/>
              <a:ext cx="3429000" cy="1428750"/>
              <a:chOff x="4171950" y="3714750"/>
              <a:chExt cx="3429000" cy="1428750"/>
            </a:xfrm>
          </p:grpSpPr>
          <p:sp>
            <p:nvSpPr>
              <p:cNvPr id="26" name="Rectangle 26"/>
              <p:cNvSpPr/>
              <p:nvPr/>
            </p:nvSpPr>
            <p:spPr>
              <a:xfrm>
                <a:off x="4171950" y="3714750"/>
                <a:ext cx="3429000" cy="1428750"/>
              </a:xfrm>
              <a:prstGeom prst="roundRect">
                <a:avLst>
                  <a:gd name="adj" fmla="val 10667"/>
                </a:avLst>
              </a:prstGeom>
              <a:solidFill>
                <a:schemeClr val="lt2"/>
              </a:solidFill>
              <a:ln>
                <a:noFill/>
              </a:ln>
            </p:spPr>
          </p:sp>
          <p:sp>
            <p:nvSpPr>
              <p:cNvPr id="27" name="Freeform 27"/>
              <p:cNvSpPr/>
              <p:nvPr/>
            </p:nvSpPr>
            <p:spPr>
              <a:xfrm>
                <a:off x="4457700" y="4000500"/>
                <a:ext cx="514350" cy="790575"/>
              </a:xfrm>
              <a:custGeom>
                <a:avLst/>
                <a:gdLst/>
                <a:ahLst/>
                <a:cxnLst/>
                <a:rect l="l" t="t" r="r" b="b"/>
                <a:pathLst>
                  <a:path w="514350" h="790575">
                    <a:moveTo>
                      <a:pt x="0" y="0"/>
                    </a:moveTo>
                    <a:lnTo>
                      <a:pt x="361950" y="0"/>
                    </a:lnTo>
                    <a:lnTo>
                      <a:pt x="514350" y="152400"/>
                    </a:lnTo>
                    <a:lnTo>
                      <a:pt x="514350" y="790575"/>
                    </a:lnTo>
                    <a:lnTo>
                      <a:pt x="0" y="790575"/>
                    </a:lnTo>
                    <a:close/>
                  </a:path>
                </a:pathLst>
              </a:custGeom>
              <a:solidFill>
                <a:schemeClr val="lt1"/>
              </a:solidFill>
              <a:ln w="19050">
                <a:solidFill>
                  <a:schemeClr val="accent2"/>
                </a:solidFill>
              </a:ln>
            </p:spPr>
          </p:sp>
          <p:sp>
            <p:nvSpPr>
              <p:cNvPr id="28" name="Freeform 28"/>
              <p:cNvSpPr/>
              <p:nvPr/>
            </p:nvSpPr>
            <p:spPr>
              <a:xfrm>
                <a:off x="4819650" y="4000500"/>
                <a:ext cx="152400" cy="152400"/>
              </a:xfrm>
              <a:custGeom>
                <a:avLst/>
                <a:gdLst/>
                <a:ahLst/>
                <a:cxnLst/>
                <a:rect l="l" t="t" r="r" b="b"/>
                <a:pathLst>
                  <a:path w="152400" h="152400">
                    <a:moveTo>
                      <a:pt x="0" y="0"/>
                    </a:moveTo>
                    <a:lnTo>
                      <a:pt x="0" y="152400"/>
                    </a:lnTo>
                    <a:lnTo>
                      <a:pt x="152400" y="152400"/>
                    </a:lnTo>
                  </a:path>
                </a:pathLst>
              </a:custGeom>
              <a:noFill/>
              <a:ln w="19050">
                <a:solidFill>
                  <a:schemeClr val="accent2"/>
                </a:solidFill>
              </a:ln>
            </p:spPr>
          </p:sp>
          <p:sp>
            <p:nvSpPr>
              <p:cNvPr id="29" name="TextBox 29"/>
              <p:cNvSpPr txBox="1"/>
              <p:nvPr/>
            </p:nvSpPr>
            <p:spPr>
              <a:xfrm>
                <a:off x="5211318" y="4041458"/>
                <a:ext cx="1712670"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Q&amp;A / Topology</a:t>
                </a:r>
              </a:p>
            </p:txBody>
          </p:sp>
          <p:sp>
            <p:nvSpPr>
              <p:cNvPr id="30" name="TextBox 30"/>
              <p:cNvSpPr txBox="1"/>
              <p:nvPr/>
            </p:nvSpPr>
            <p:spPr>
              <a:xfrm>
                <a:off x="5212842" y="4388168"/>
                <a:ext cx="1865376" cy="521208"/>
              </a:xfrm>
              <a:prstGeom prst="rect">
                <a:avLst/>
              </a:prstGeom>
              <a:noFill/>
              <a:ln>
                <a:noFill/>
              </a:ln>
            </p:spPr>
            <p:txBody>
              <a:bodyPr wrap="square" lIns="0" tIns="0" rIns="0" bIns="0" anchor="t" anchorCtr="0"/>
              <a:lstStyle/>
              <a:p>
                <a:pPr algn="l">
                  <a:lnSpc>
                    <a:spcPts val="2025"/>
                  </a:lnSpc>
                </a:pPr>
                <a:r>
                  <a:rPr lang="en-US" sz="1350" dirty="0">
                    <a:solidFill>
                      <a:srgbClr val="5E6862"/>
                    </a:solidFill>
                    <a:latin typeface="+mn-lt"/>
                    <a:ea typeface="+mn-ea"/>
                    <a:cs typeface="+mn-cs"/>
                  </a:rPr>
                  <a:t>Tình huống thường gặp và cách xử lý</a:t>
                </a:r>
              </a:p>
            </p:txBody>
          </p:sp>
        </p:grpSp>
      </p:grpSp>
      <p:grpSp>
        <p:nvGrpSpPr>
          <p:cNvPr id="38" name="Group 38"/>
          <p:cNvGrpSpPr/>
          <p:nvPr/>
        </p:nvGrpSpPr>
        <p:grpSpPr>
          <a:xfrm>
            <a:off x="8191500" y="2000250"/>
            <a:ext cx="3467100" cy="3238500"/>
            <a:chOff x="8191500" y="2000250"/>
            <a:chExt cx="3467100" cy="3238500"/>
          </a:xfrm>
        </p:grpSpPr>
        <p:sp>
          <p:nvSpPr>
            <p:cNvPr id="33" name="Rectangle 33"/>
            <p:cNvSpPr/>
            <p:nvPr/>
          </p:nvSpPr>
          <p:spPr>
            <a:xfrm>
              <a:off x="8191500" y="2000250"/>
              <a:ext cx="3467100" cy="3238500"/>
            </a:xfrm>
            <a:prstGeom prst="roundRect">
              <a:avLst>
                <a:gd name="adj" fmla="val 6471"/>
              </a:avLst>
            </a:prstGeom>
            <a:solidFill>
              <a:schemeClr val="accent1"/>
            </a:solidFill>
            <a:ln>
              <a:noFill/>
            </a:ln>
          </p:spPr>
        </p:sp>
        <p:sp>
          <p:nvSpPr>
            <p:cNvPr id="34" name="TextBox 34"/>
            <p:cNvSpPr txBox="1"/>
            <p:nvPr/>
          </p:nvSpPr>
          <p:spPr>
            <a:xfrm>
              <a:off x="8508873" y="2319814"/>
              <a:ext cx="1647462"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KHẢ NĂNG BÀN GIAO</a:t>
              </a:r>
            </a:p>
          </p:txBody>
        </p:sp>
        <p:sp>
          <p:nvSpPr>
            <p:cNvPr id="35" name="TextBox 35"/>
            <p:cNvSpPr txBox="1"/>
            <p:nvPr/>
          </p:nvSpPr>
          <p:spPr>
            <a:xfrm>
              <a:off x="8503920" y="2805112"/>
              <a:ext cx="1928098" cy="1554480"/>
            </a:xfrm>
            <a:prstGeom prst="rect">
              <a:avLst/>
            </a:prstGeom>
            <a:noFill/>
            <a:ln>
              <a:noFill/>
            </a:ln>
          </p:spPr>
          <p:txBody>
            <a:bodyPr wrap="square" lIns="0" tIns="0" rIns="0" bIns="0" anchor="t" anchorCtr="0"/>
            <a:lstStyle/>
            <a:p>
              <a:pPr algn="l">
                <a:lnSpc>
                  <a:spcPts val="2925"/>
                </a:lnSpc>
              </a:pPr>
              <a:r>
                <a:rPr lang="en-US" sz="2250" b="1" dirty="0">
                  <a:solidFill>
                    <a:srgbClr val="FFFFFF"/>
                  </a:solidFill>
                  <a:latin typeface="+mn-lt"/>
                  <a:ea typeface="+mn-ea"/>
                  <a:cs typeface="+mn-cs"/>
                </a:rPr>
                <a:t>Dev hiểu Tester kiểm App tích hợp Người mới học</a:t>
              </a:r>
            </a:p>
          </p:txBody>
        </p:sp>
        <p:sp>
          <p:nvSpPr>
            <p:cNvPr id="36" name="Line 36"/>
            <p:cNvSpPr/>
            <p:nvPr/>
          </p:nvSpPr>
          <p:spPr>
            <a:xfrm>
              <a:off x="8515350" y="4762500"/>
              <a:ext cx="2800350" cy="9525"/>
            </a:xfrm>
            <a:custGeom>
              <a:avLst/>
              <a:gdLst/>
              <a:ahLst/>
              <a:cxnLst/>
              <a:rect l="l" t="t" r="r" b="b"/>
              <a:pathLst>
                <a:path w="2800350" h="9525">
                  <a:moveTo>
                    <a:pt x="0" y="0"/>
                  </a:moveTo>
                  <a:lnTo>
                    <a:pt x="2800350" y="0"/>
                  </a:lnTo>
                </a:path>
              </a:pathLst>
            </a:custGeom>
            <a:noFill/>
            <a:ln w="19050">
              <a:solidFill>
                <a:schemeClr val="accent3"/>
              </a:solidFill>
            </a:ln>
          </p:spPr>
        </p:sp>
        <p:sp>
          <p:nvSpPr>
            <p:cNvPr id="37" name="TextBox 37"/>
            <p:cNvSpPr txBox="1"/>
            <p:nvPr/>
          </p:nvSpPr>
          <p:spPr>
            <a:xfrm>
              <a:off x="8508873" y="4901089"/>
              <a:ext cx="2543302" cy="249364"/>
            </a:xfrm>
            <a:prstGeom prst="rect">
              <a:avLst/>
            </a:prstGeom>
            <a:noFill/>
            <a:ln>
              <a:noFill/>
            </a:ln>
          </p:spPr>
          <p:txBody>
            <a:bodyPr wrap="none" lIns="0" tIns="0" rIns="0" bIns="0" anchor="t" anchorCtr="0">
              <a:spAutoFit/>
            </a:bodyPr>
            <a:lstStyle/>
            <a:p>
              <a:pPr algn="l"/>
              <a:r>
                <a:rPr lang="en-US" sz="1280" dirty="0">
                  <a:solidFill>
                    <a:srgbClr val="FFFFFF"/>
                  </a:solidFill>
                  <a:latin typeface="+mn-lt"/>
                  <a:ea typeface="+mn-ea"/>
                  <a:cs typeface="+mn-cs"/>
                </a:rPr>
                <a:t>Một nguồn thông tin nhất quán</a:t>
              </a:r>
            </a:p>
          </p:txBody>
        </p:sp>
      </p:grpSp>
      <p:grpSp>
        <p:nvGrpSpPr>
          <p:cNvPr id="41" name="Group 41"/>
          <p:cNvGrpSpPr/>
          <p:nvPr/>
        </p:nvGrpSpPr>
        <p:grpSpPr>
          <a:xfrm>
            <a:off x="533400" y="6362700"/>
            <a:ext cx="11130534" cy="311087"/>
            <a:chOff x="533400" y="6362700"/>
            <a:chExt cx="11130534" cy="311087"/>
          </a:xfrm>
        </p:grpSpPr>
        <p:sp>
          <p:nvSpPr>
            <p:cNvPr id="39" name="Line 39"/>
            <p:cNvSpPr/>
            <p:nvPr/>
          </p:nvSpPr>
          <p:spPr>
            <a:xfrm>
              <a:off x="533400" y="6362700"/>
              <a:ext cx="11125200" cy="9525"/>
            </a:xfrm>
            <a:custGeom>
              <a:avLst/>
              <a:gdLst/>
              <a:ahLst/>
              <a:cxnLst/>
              <a:rect l="l" t="t" r="r" b="b"/>
              <a:pathLst>
                <a:path w="11125200" h="9525">
                  <a:moveTo>
                    <a:pt x="0" y="0"/>
                  </a:moveTo>
                  <a:lnTo>
                    <a:pt x="11125200" y="0"/>
                  </a:lnTo>
                </a:path>
              </a:pathLst>
            </a:custGeom>
            <a:noFill/>
            <a:ln w="9525">
              <a:solidFill>
                <a:srgbClr val="E1E6E3"/>
              </a:solidFill>
            </a:ln>
          </p:spPr>
        </p:sp>
        <p:sp>
          <p:nvSpPr>
            <p:cNvPr id="40" name="TextBox 40"/>
            <p:cNvSpPr txBox="1"/>
            <p:nvPr/>
          </p:nvSpPr>
          <p:spPr>
            <a:xfrm>
              <a:off x="11179740" y="6468428"/>
              <a:ext cx="484194" cy="205359"/>
            </a:xfrm>
            <a:prstGeom prst="rect">
              <a:avLst/>
            </a:prstGeom>
            <a:noFill/>
            <a:ln>
              <a:noFill/>
            </a:ln>
          </p:spPr>
          <p:txBody>
            <a:bodyPr wrap="none" lIns="0" tIns="0" rIns="0" bIns="0" anchor="t" anchorCtr="0">
              <a:spAutoFit/>
            </a:bodyPr>
            <a:lstStyle/>
            <a:p>
              <a:pPr algn="r"/>
              <a:r>
                <a:rPr lang="en-US" sz="1050" dirty="0">
                  <a:solidFill>
                    <a:srgbClr val="89918D"/>
                  </a:solidFill>
                  <a:latin typeface="+mn-lt"/>
                  <a:ea typeface="+mn-ea"/>
                  <a:cs typeface="+mn-cs"/>
                </a:rPr>
                <a:t>10 / 15</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38162" y="381000"/>
            <a:ext cx="11126153" cy="637985"/>
            <a:chOff x="538162" y="381000"/>
            <a:chExt cx="11126153" cy="637985"/>
          </a:xfrm>
        </p:grpSpPr>
        <p:pic>
          <p:nvPicPr>
            <p:cNvPr id="2" name="Image 2"/>
            <p:cNvPicPr>
              <a:picLocks noChangeAspect="1"/>
            </p:cNvPicPr>
            <p:nvPr/>
          </p:nvPicPr>
          <p:blipFill>
            <a:blip r:embed="rId2"/>
            <a:stretch>
              <a:fillRect/>
            </a:stretch>
          </p:blipFill>
          <p:spPr>
            <a:xfrm>
              <a:off x="538162" y="381000"/>
              <a:ext cx="1247775" cy="361950"/>
            </a:xfrm>
            <a:prstGeom prst="rect">
              <a:avLst/>
            </a:prstGeom>
          </p:spPr>
        </p:pic>
        <p:sp>
          <p:nvSpPr>
            <p:cNvPr id="3" name="TextBox 3"/>
            <p:cNvSpPr txBox="1"/>
            <p:nvPr/>
          </p:nvSpPr>
          <p:spPr>
            <a:xfrm>
              <a:off x="3127248" y="402908"/>
              <a:ext cx="5059052"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Auto Test &amp; Tool Design</a:t>
              </a:r>
            </a:p>
          </p:txBody>
        </p:sp>
        <p:sp>
          <p:nvSpPr>
            <p:cNvPr id="4" name="TextBox 4"/>
            <p:cNvSpPr txBox="1"/>
            <p:nvPr/>
          </p:nvSpPr>
          <p:spPr>
            <a:xfrm>
              <a:off x="10440147" y="564356"/>
              <a:ext cx="1224168" cy="220028"/>
            </a:xfrm>
            <a:prstGeom prst="rect">
              <a:avLst/>
            </a:prstGeom>
            <a:noFill/>
            <a:ln>
              <a:noFill/>
            </a:ln>
          </p:spPr>
          <p:txBody>
            <a:bodyPr wrap="none" lIns="0" tIns="0" rIns="0" bIns="0" anchor="t" anchorCtr="0">
              <a:spAutoFit/>
            </a:bodyPr>
            <a:lstStyle/>
            <a:p>
              <a:pPr algn="r"/>
              <a:r>
                <a:rPr lang="en-US" sz="1120" b="1" dirty="0">
                  <a:solidFill>
                    <a:srgbClr val="7A827E"/>
                  </a:solidFill>
                  <a:latin typeface="+mn-lt"/>
                  <a:ea typeface="+mn-ea"/>
                  <a:cs typeface="+mn-cs"/>
                </a:rPr>
                <a:t>ĐANG TRIỂN KHAI</a:t>
              </a:r>
            </a:p>
          </p:txBody>
        </p:sp>
      </p:grpSp>
      <p:grpSp>
        <p:nvGrpSpPr>
          <p:cNvPr id="7" name="Group 7"/>
          <p:cNvGrpSpPr/>
          <p:nvPr/>
        </p:nvGrpSpPr>
        <p:grpSpPr>
          <a:xfrm>
            <a:off x="523875" y="1321594"/>
            <a:ext cx="8864519" cy="366712"/>
            <a:chOff x="523875" y="1321594"/>
            <a:chExt cx="8864519" cy="366712"/>
          </a:xfrm>
        </p:grpSpPr>
        <p:sp>
          <p:nvSpPr>
            <p:cNvPr id="6" name="TextBox 6"/>
            <p:cNvSpPr txBox="1"/>
            <p:nvPr/>
          </p:nvSpPr>
          <p:spPr>
            <a:xfrm>
              <a:off x="523875" y="1321594"/>
              <a:ext cx="8864519"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Xây nền tự động hóa kiểm thử với servo, cảm biến và mạch điều khiển.</a:t>
              </a:r>
            </a:p>
          </p:txBody>
        </p:sp>
      </p:grpSp>
      <p:grpSp>
        <p:nvGrpSpPr>
          <p:cNvPr id="28" name="Group 28"/>
          <p:cNvGrpSpPr/>
          <p:nvPr/>
        </p:nvGrpSpPr>
        <p:grpSpPr>
          <a:xfrm>
            <a:off x="533400" y="1952625"/>
            <a:ext cx="6096000" cy="3409950"/>
            <a:chOff x="533400" y="1952625"/>
            <a:chExt cx="6096000" cy="3409950"/>
          </a:xfrm>
        </p:grpSpPr>
        <p:grpSp>
          <p:nvGrpSpPr>
            <p:cNvPr id="13" name="Group 13"/>
            <p:cNvGrpSpPr/>
            <p:nvPr/>
          </p:nvGrpSpPr>
          <p:grpSpPr>
            <a:xfrm>
              <a:off x="533400" y="1952625"/>
              <a:ext cx="6096000" cy="742950"/>
              <a:chOff x="533400" y="1952625"/>
              <a:chExt cx="6096000" cy="742950"/>
            </a:xfrm>
          </p:grpSpPr>
          <p:sp>
            <p:nvSpPr>
              <p:cNvPr id="8" name="Rectangle 8"/>
              <p:cNvSpPr/>
              <p:nvPr/>
            </p:nvSpPr>
            <p:spPr>
              <a:xfrm>
                <a:off x="533400" y="1952625"/>
                <a:ext cx="6096000" cy="742950"/>
              </a:xfrm>
              <a:prstGeom prst="roundRect">
                <a:avLst>
                  <a:gd name="adj" fmla="val 20513"/>
                </a:avLst>
              </a:prstGeom>
              <a:solidFill>
                <a:schemeClr val="lt2"/>
              </a:solidFill>
              <a:ln>
                <a:noFill/>
              </a:ln>
            </p:spPr>
          </p:sp>
          <p:sp>
            <p:nvSpPr>
              <p:cNvPr id="9" name="Ellipse 9"/>
              <p:cNvSpPr/>
              <p:nvPr/>
            </p:nvSpPr>
            <p:spPr>
              <a:xfrm>
                <a:off x="723900" y="2133600"/>
                <a:ext cx="381000" cy="381000"/>
              </a:xfrm>
              <a:prstGeom prst="ellipse">
                <a:avLst/>
              </a:prstGeom>
              <a:solidFill>
                <a:schemeClr val="accent1"/>
              </a:solidFill>
              <a:ln>
                <a:noFill/>
              </a:ln>
            </p:spPr>
          </p:sp>
          <p:sp>
            <p:nvSpPr>
              <p:cNvPr id="10" name="TextBox 10"/>
              <p:cNvSpPr txBox="1"/>
              <p:nvPr/>
            </p:nvSpPr>
            <p:spPr>
              <a:xfrm>
                <a:off x="855065" y="22450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11" name="TextBox 11"/>
              <p:cNvSpPr txBox="1"/>
              <p:nvPr/>
            </p:nvSpPr>
            <p:spPr>
              <a:xfrm>
                <a:off x="1248918" y="2098358"/>
                <a:ext cx="145850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Lớp giao tiếp</a:t>
                </a:r>
              </a:p>
            </p:txBody>
          </p:sp>
          <p:sp>
            <p:nvSpPr>
              <p:cNvPr id="12" name="TextBox 12"/>
              <p:cNvSpPr txBox="1"/>
              <p:nvPr/>
            </p:nvSpPr>
            <p:spPr>
              <a:xfrm>
                <a:off x="1250823" y="2386489"/>
                <a:ext cx="1703318" cy="249364"/>
              </a:xfrm>
              <a:prstGeom prst="rect">
                <a:avLst/>
              </a:prstGeom>
              <a:noFill/>
              <a:ln>
                <a:noFill/>
              </a:ln>
            </p:spPr>
            <p:txBody>
              <a:bodyPr wrap="none" lIns="0" tIns="0" rIns="0" bIns="0" anchor="t" anchorCtr="0">
                <a:spAutoFit/>
              </a:bodyPr>
              <a:lstStyle/>
              <a:p>
                <a:pPr algn="l"/>
                <a:r>
                  <a:rPr lang="en-US" sz="1280" dirty="0">
                    <a:solidFill>
                      <a:srgbClr val="5E6862"/>
                    </a:solidFill>
                    <a:latin typeface="+mn-lt"/>
                    <a:ea typeface="+mn-ea"/>
                    <a:cs typeface="+mn-cs"/>
                  </a:rPr>
                  <a:t>API servo / cảm biến</a:t>
                </a:r>
              </a:p>
            </p:txBody>
          </p:sp>
        </p:grpSp>
        <p:grpSp>
          <p:nvGrpSpPr>
            <p:cNvPr id="19" name="Group 19"/>
            <p:cNvGrpSpPr/>
            <p:nvPr/>
          </p:nvGrpSpPr>
          <p:grpSpPr>
            <a:xfrm>
              <a:off x="533400" y="2914650"/>
              <a:ext cx="6096000" cy="742950"/>
              <a:chOff x="533400" y="2914650"/>
              <a:chExt cx="6096000" cy="742950"/>
            </a:xfrm>
          </p:grpSpPr>
          <p:sp>
            <p:nvSpPr>
              <p:cNvPr id="14" name="Rectangle 14"/>
              <p:cNvSpPr/>
              <p:nvPr/>
            </p:nvSpPr>
            <p:spPr>
              <a:xfrm>
                <a:off x="533400" y="2914650"/>
                <a:ext cx="6096000" cy="742950"/>
              </a:xfrm>
              <a:prstGeom prst="roundRect">
                <a:avLst>
                  <a:gd name="adj" fmla="val 20513"/>
                </a:avLst>
              </a:prstGeom>
              <a:solidFill>
                <a:schemeClr val="lt2"/>
              </a:solidFill>
              <a:ln>
                <a:noFill/>
              </a:ln>
            </p:spPr>
          </p:sp>
          <p:sp>
            <p:nvSpPr>
              <p:cNvPr id="15" name="Ellipse 15"/>
              <p:cNvSpPr/>
              <p:nvPr/>
            </p:nvSpPr>
            <p:spPr>
              <a:xfrm>
                <a:off x="723900" y="3095625"/>
                <a:ext cx="381000" cy="381000"/>
              </a:xfrm>
              <a:prstGeom prst="ellipse">
                <a:avLst/>
              </a:prstGeom>
              <a:solidFill>
                <a:schemeClr val="accent2"/>
              </a:solidFill>
              <a:ln>
                <a:noFill/>
              </a:ln>
            </p:spPr>
          </p:sp>
          <p:sp>
            <p:nvSpPr>
              <p:cNvPr id="16" name="TextBox 16"/>
              <p:cNvSpPr txBox="1"/>
              <p:nvPr/>
            </p:nvSpPr>
            <p:spPr>
              <a:xfrm>
                <a:off x="855065" y="32070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17" name="TextBox 17"/>
              <p:cNvSpPr txBox="1"/>
              <p:nvPr/>
            </p:nvSpPr>
            <p:spPr>
              <a:xfrm>
                <a:off x="1248918" y="3060382"/>
                <a:ext cx="145850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Lớp điều phối</a:t>
                </a:r>
              </a:p>
            </p:txBody>
          </p:sp>
          <p:sp>
            <p:nvSpPr>
              <p:cNvPr id="18" name="TextBox 18"/>
              <p:cNvSpPr txBox="1"/>
              <p:nvPr/>
            </p:nvSpPr>
            <p:spPr>
              <a:xfrm>
                <a:off x="1250823" y="3348514"/>
                <a:ext cx="2793243" cy="249364"/>
              </a:xfrm>
              <a:prstGeom prst="rect">
                <a:avLst/>
              </a:prstGeom>
              <a:noFill/>
              <a:ln>
                <a:noFill/>
              </a:ln>
            </p:spPr>
            <p:txBody>
              <a:bodyPr wrap="none" lIns="0" tIns="0" rIns="0" bIns="0" anchor="t" anchorCtr="0">
                <a:spAutoFit/>
              </a:bodyPr>
              <a:lstStyle/>
              <a:p>
                <a:pPr algn="l"/>
                <a:r>
                  <a:rPr lang="en-US" sz="1280" dirty="0">
                    <a:solidFill>
                      <a:srgbClr val="5E6862"/>
                    </a:solidFill>
                    <a:latin typeface="+mn-lt"/>
                    <a:ea typeface="+mn-ea"/>
                    <a:cs typeface="+mn-cs"/>
                  </a:rPr>
                  <a:t>Luồng hoạt động và kịch bản test</a:t>
                </a:r>
              </a:p>
            </p:txBody>
          </p:sp>
        </p:grpSp>
        <p:grpSp>
          <p:nvGrpSpPr>
            <p:cNvPr id="25" name="Group 25"/>
            <p:cNvGrpSpPr/>
            <p:nvPr/>
          </p:nvGrpSpPr>
          <p:grpSpPr>
            <a:xfrm>
              <a:off x="533400" y="3876675"/>
              <a:ext cx="6096000" cy="742950"/>
              <a:chOff x="533400" y="3876675"/>
              <a:chExt cx="6096000" cy="742950"/>
            </a:xfrm>
          </p:grpSpPr>
          <p:sp>
            <p:nvSpPr>
              <p:cNvPr id="20" name="Rectangle 20"/>
              <p:cNvSpPr/>
              <p:nvPr/>
            </p:nvSpPr>
            <p:spPr>
              <a:xfrm>
                <a:off x="533400" y="3876675"/>
                <a:ext cx="6096000" cy="742950"/>
              </a:xfrm>
              <a:prstGeom prst="roundRect">
                <a:avLst>
                  <a:gd name="adj" fmla="val 20513"/>
                </a:avLst>
              </a:prstGeom>
              <a:solidFill>
                <a:schemeClr val="accent1"/>
              </a:solidFill>
              <a:ln>
                <a:noFill/>
              </a:ln>
            </p:spPr>
          </p:sp>
          <p:sp>
            <p:nvSpPr>
              <p:cNvPr id="21" name="Ellipse 21"/>
              <p:cNvSpPr/>
              <p:nvPr/>
            </p:nvSpPr>
            <p:spPr>
              <a:xfrm>
                <a:off x="723900" y="4057650"/>
                <a:ext cx="381000" cy="381000"/>
              </a:xfrm>
              <a:prstGeom prst="ellipse">
                <a:avLst/>
              </a:prstGeom>
              <a:solidFill>
                <a:schemeClr val="lt1"/>
              </a:solidFill>
              <a:ln>
                <a:noFill/>
              </a:ln>
            </p:spPr>
          </p:sp>
          <p:sp>
            <p:nvSpPr>
              <p:cNvPr id="22" name="TextBox 22"/>
              <p:cNvSpPr txBox="1"/>
              <p:nvPr/>
            </p:nvSpPr>
            <p:spPr>
              <a:xfrm>
                <a:off x="855065" y="4169092"/>
                <a:ext cx="118669"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3</a:t>
                </a:r>
              </a:p>
            </p:txBody>
          </p:sp>
          <p:sp>
            <p:nvSpPr>
              <p:cNvPr id="23" name="TextBox 23"/>
              <p:cNvSpPr txBox="1"/>
              <p:nvPr/>
            </p:nvSpPr>
            <p:spPr>
              <a:xfrm>
                <a:off x="1248918" y="4022408"/>
                <a:ext cx="1575719"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Lớp phần cứng</a:t>
                </a:r>
              </a:p>
            </p:txBody>
          </p:sp>
          <p:sp>
            <p:nvSpPr>
              <p:cNvPr id="24" name="TextBox 24"/>
              <p:cNvSpPr txBox="1"/>
              <p:nvPr/>
            </p:nvSpPr>
            <p:spPr>
              <a:xfrm>
                <a:off x="1250823" y="4310539"/>
                <a:ext cx="3482398" cy="249364"/>
              </a:xfrm>
              <a:prstGeom prst="rect">
                <a:avLst/>
              </a:prstGeom>
              <a:noFill/>
              <a:ln>
                <a:noFill/>
              </a:ln>
            </p:spPr>
            <p:txBody>
              <a:bodyPr wrap="none" lIns="0" tIns="0" rIns="0" bIns="0" anchor="t" anchorCtr="0">
                <a:spAutoFit/>
              </a:bodyPr>
              <a:lstStyle/>
              <a:p>
                <a:pPr algn="l"/>
                <a:r>
                  <a:rPr lang="en-US" sz="1280" dirty="0">
                    <a:solidFill>
                      <a:srgbClr val="FFFFFF"/>
                    </a:solidFill>
                    <a:latin typeface="+mn-lt"/>
                    <a:ea typeface="+mn-ea"/>
                    <a:cs typeface="+mn-cs"/>
                  </a:rPr>
                  <a:t>Module servo/cảm biến và mạch điều khiển</a:t>
                </a:r>
              </a:p>
            </p:txBody>
          </p:sp>
        </p:grpSp>
        <p:sp>
          <p:nvSpPr>
            <p:cNvPr id="26" name="Rectangle 26"/>
            <p:cNvSpPr/>
            <p:nvPr/>
          </p:nvSpPr>
          <p:spPr>
            <a:xfrm>
              <a:off x="533400" y="4905375"/>
              <a:ext cx="6096000" cy="457200"/>
            </a:xfrm>
            <a:prstGeom prst="roundRect">
              <a:avLst>
                <a:gd name="adj" fmla="val 25000"/>
              </a:avLst>
            </a:prstGeom>
            <a:solidFill>
              <a:srgbClr val="EAF5EF"/>
            </a:solidFill>
            <a:ln>
              <a:noFill/>
            </a:ln>
          </p:spPr>
        </p:sp>
        <p:sp>
          <p:nvSpPr>
            <p:cNvPr id="27" name="TextBox 27"/>
            <p:cNvSpPr txBox="1"/>
            <p:nvPr/>
          </p:nvSpPr>
          <p:spPr>
            <a:xfrm>
              <a:off x="755142" y="5054918"/>
              <a:ext cx="318954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5 task Ongoing tại thời điểm 22/07</a:t>
              </a:r>
            </a:p>
          </p:txBody>
        </p:sp>
      </p:grpSp>
      <p:grpSp>
        <p:nvGrpSpPr>
          <p:cNvPr id="31" name="Group 31"/>
          <p:cNvGrpSpPr/>
          <p:nvPr/>
        </p:nvGrpSpPr>
        <p:grpSpPr>
          <a:xfrm>
            <a:off x="7524750" y="1952625"/>
            <a:ext cx="4133850" cy="3619500"/>
            <a:chOff x="7524750" y="1952625"/>
            <a:chExt cx="4133850" cy="3619500"/>
          </a:xfrm>
        </p:grpSpPr>
        <p:sp>
          <p:nvSpPr>
            <p:cNvPr id="29" name="Rectangle 29"/>
            <p:cNvSpPr/>
            <p:nvPr/>
          </p:nvSpPr>
          <p:spPr>
            <a:xfrm>
              <a:off x="7524750" y="1952625"/>
              <a:ext cx="4133850" cy="3619500"/>
            </a:xfrm>
            <a:prstGeom prst="roundRect">
              <a:avLst>
                <a:gd name="adj" fmla="val 5789"/>
              </a:avLst>
            </a:prstGeom>
            <a:solidFill>
              <a:schemeClr val="lt2"/>
            </a:solidFill>
            <a:ln>
              <a:noFill/>
            </a:ln>
          </p:spPr>
        </p:sp>
        <p:pic>
          <p:nvPicPr>
            <p:cNvPr id="30" name="Image 30"/>
            <p:cNvPicPr>
              <a:picLocks noChangeAspect="1"/>
            </p:cNvPicPr>
            <p:nvPr/>
          </p:nvPicPr>
          <p:blipFill>
            <a:blip r:embed="rId3"/>
            <a:stretch>
              <a:fillRect/>
            </a:stretch>
          </p:blipFill>
          <p:spPr>
            <a:xfrm>
              <a:off x="8634639" y="2143125"/>
              <a:ext cx="1914071" cy="3238500"/>
            </a:xfrm>
            <a:prstGeom prst="rect">
              <a:avLst/>
            </a:prstGeom>
          </p:spPr>
        </p:pic>
      </p:grpSp>
      <p:grpSp>
        <p:nvGrpSpPr>
          <p:cNvPr id="33" name="Group 33"/>
          <p:cNvGrpSpPr/>
          <p:nvPr/>
        </p:nvGrpSpPr>
        <p:grpSpPr>
          <a:xfrm>
            <a:off x="526161" y="5846921"/>
            <a:ext cx="6253840" cy="278702"/>
            <a:chOff x="526161" y="5846921"/>
            <a:chExt cx="6253840" cy="278702"/>
          </a:xfrm>
        </p:grpSpPr>
        <p:sp>
          <p:nvSpPr>
            <p:cNvPr id="32" name="TextBox 32"/>
            <p:cNvSpPr txBox="1"/>
            <p:nvPr/>
          </p:nvSpPr>
          <p:spPr>
            <a:xfrm>
              <a:off x="526161" y="5846921"/>
              <a:ext cx="6253840" cy="278702"/>
            </a:xfrm>
            <a:prstGeom prst="rect">
              <a:avLst/>
            </a:prstGeom>
            <a:noFill/>
            <a:ln>
              <a:noFill/>
            </a:ln>
          </p:spPr>
          <p:txBody>
            <a:bodyPr wrap="none" lIns="0" tIns="0" rIns="0" bIns="0" anchor="t" anchorCtr="0">
              <a:spAutoFit/>
            </a:bodyPr>
            <a:lstStyle/>
            <a:p>
              <a:pPr algn="l"/>
              <a:r>
                <a:rPr lang="en-US" sz="1420" b="1" dirty="0">
                  <a:solidFill>
                    <a:schemeClr val="accent2"/>
                  </a:solidFill>
                  <a:latin typeface="+mn-lt"/>
                  <a:ea typeface="+mn-ea"/>
                  <a:cs typeface="+mn-cs"/>
                </a:rPr>
                <a:t>Tiếp theo: hoàn thiện module và chức năng trên mạch điều khiển.</a:t>
              </a:r>
            </a:p>
          </p:txBody>
        </p:sp>
      </p:grpSp>
      <p:grpSp>
        <p:nvGrpSpPr>
          <p:cNvPr id="36" name="Group 36"/>
          <p:cNvGrpSpPr/>
          <p:nvPr/>
        </p:nvGrpSpPr>
        <p:grpSpPr>
          <a:xfrm>
            <a:off x="533400" y="6362700"/>
            <a:ext cx="11130534" cy="311087"/>
            <a:chOff x="533400" y="6362700"/>
            <a:chExt cx="11130534" cy="311087"/>
          </a:xfrm>
        </p:grpSpPr>
        <p:sp>
          <p:nvSpPr>
            <p:cNvPr id="34" name="Line 34"/>
            <p:cNvSpPr/>
            <p:nvPr/>
          </p:nvSpPr>
          <p:spPr>
            <a:xfrm>
              <a:off x="533400" y="6362700"/>
              <a:ext cx="11125200" cy="9525"/>
            </a:xfrm>
            <a:custGeom>
              <a:avLst/>
              <a:gdLst/>
              <a:ahLst/>
              <a:cxnLst/>
              <a:rect l="l" t="t" r="r" b="b"/>
              <a:pathLst>
                <a:path w="11125200" h="9525">
                  <a:moveTo>
                    <a:pt x="0" y="0"/>
                  </a:moveTo>
                  <a:lnTo>
                    <a:pt x="11125200" y="0"/>
                  </a:lnTo>
                </a:path>
              </a:pathLst>
            </a:custGeom>
            <a:noFill/>
            <a:ln w="9525">
              <a:solidFill>
                <a:srgbClr val="E1E6E3"/>
              </a:solidFill>
            </a:ln>
          </p:spPr>
        </p:sp>
        <p:sp>
          <p:nvSpPr>
            <p:cNvPr id="35" name="TextBox 35"/>
            <p:cNvSpPr txBox="1"/>
            <p:nvPr/>
          </p:nvSpPr>
          <p:spPr>
            <a:xfrm>
              <a:off x="11179740" y="6468428"/>
              <a:ext cx="484194" cy="205359"/>
            </a:xfrm>
            <a:prstGeom prst="rect">
              <a:avLst/>
            </a:prstGeom>
            <a:noFill/>
            <a:ln>
              <a:noFill/>
            </a:ln>
          </p:spPr>
          <p:txBody>
            <a:bodyPr wrap="none" lIns="0" tIns="0" rIns="0" bIns="0" anchor="t" anchorCtr="0">
              <a:spAutoFit/>
            </a:bodyPr>
            <a:lstStyle/>
            <a:p>
              <a:pPr algn="r"/>
              <a:r>
                <a:rPr lang="en-US" sz="1050" dirty="0">
                  <a:solidFill>
                    <a:srgbClr val="89918D"/>
                  </a:solidFill>
                  <a:latin typeface="+mn-lt"/>
                  <a:ea typeface="+mn-ea"/>
                  <a:cs typeface="+mn-cs"/>
                </a:rPr>
                <a:t>11 / 15</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38162" y="381000"/>
            <a:ext cx="11126153" cy="637985"/>
            <a:chOff x="538162" y="381000"/>
            <a:chExt cx="11126153" cy="637985"/>
          </a:xfrm>
        </p:grpSpPr>
        <p:pic>
          <p:nvPicPr>
            <p:cNvPr id="2" name="Image 2"/>
            <p:cNvPicPr>
              <a:picLocks noChangeAspect="1"/>
            </p:cNvPicPr>
            <p:nvPr/>
          </p:nvPicPr>
          <p:blipFill>
            <a:blip r:embed="rId2"/>
            <a:stretch>
              <a:fillRect/>
            </a:stretch>
          </p:blipFill>
          <p:spPr>
            <a:xfrm>
              <a:off x="538162" y="381000"/>
              <a:ext cx="1247775" cy="361950"/>
            </a:xfrm>
            <a:prstGeom prst="rect">
              <a:avLst/>
            </a:prstGeom>
          </p:spPr>
        </p:pic>
        <p:sp>
          <p:nvSpPr>
            <p:cNvPr id="3" name="TextBox 3"/>
            <p:cNvSpPr txBox="1"/>
            <p:nvPr/>
          </p:nvSpPr>
          <p:spPr>
            <a:xfrm>
              <a:off x="3127248" y="402908"/>
              <a:ext cx="4523709"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Các dự án &amp; tool khác</a:t>
              </a:r>
            </a:p>
          </p:txBody>
        </p:sp>
        <p:sp>
          <p:nvSpPr>
            <p:cNvPr id="4" name="TextBox 4"/>
            <p:cNvSpPr txBox="1"/>
            <p:nvPr/>
          </p:nvSpPr>
          <p:spPr>
            <a:xfrm>
              <a:off x="10373237" y="564356"/>
              <a:ext cx="1291078" cy="220028"/>
            </a:xfrm>
            <a:prstGeom prst="rect">
              <a:avLst/>
            </a:prstGeom>
            <a:noFill/>
            <a:ln>
              <a:noFill/>
            </a:ln>
          </p:spPr>
          <p:txBody>
            <a:bodyPr wrap="none" lIns="0" tIns="0" rIns="0" bIns="0" anchor="t" anchorCtr="0">
              <a:spAutoFit/>
            </a:bodyPr>
            <a:lstStyle/>
            <a:p>
              <a:pPr algn="r"/>
              <a:r>
                <a:rPr lang="en-US" sz="1120" b="1" dirty="0">
                  <a:solidFill>
                    <a:srgbClr val="7A827E"/>
                  </a:solidFill>
                  <a:latin typeface="+mn-lt"/>
                  <a:ea typeface="+mn-ea"/>
                  <a:cs typeface="+mn-cs"/>
                </a:rPr>
                <a:t>MỞ RỘNG PHẠM VI</a:t>
              </a:r>
            </a:p>
          </p:txBody>
        </p:sp>
      </p:grpSp>
      <p:grpSp>
        <p:nvGrpSpPr>
          <p:cNvPr id="7" name="Group 7"/>
          <p:cNvGrpSpPr/>
          <p:nvPr/>
        </p:nvGrpSpPr>
        <p:grpSpPr>
          <a:xfrm>
            <a:off x="523875" y="1321594"/>
            <a:ext cx="9555285" cy="366712"/>
            <a:chOff x="523875" y="1321594"/>
            <a:chExt cx="9555285" cy="366712"/>
          </a:xfrm>
        </p:grpSpPr>
        <p:sp>
          <p:nvSpPr>
            <p:cNvPr id="6" name="TextBox 6"/>
            <p:cNvSpPr txBox="1"/>
            <p:nvPr/>
          </p:nvSpPr>
          <p:spPr>
            <a:xfrm>
              <a:off x="523875" y="1321594"/>
              <a:ext cx="9555285"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Tái sử dụng kinh nghiệm firmware, tool và test trên nhiều nhóm sản phẩm.</a:t>
              </a:r>
            </a:p>
          </p:txBody>
        </p:sp>
      </p:grpSp>
      <p:grpSp>
        <p:nvGrpSpPr>
          <p:cNvPr id="24" name="Group 24"/>
          <p:cNvGrpSpPr/>
          <p:nvPr/>
        </p:nvGrpSpPr>
        <p:grpSpPr>
          <a:xfrm>
            <a:off x="533400" y="1952625"/>
            <a:ext cx="6896100" cy="3467100"/>
            <a:chOff x="533400" y="1952625"/>
            <a:chExt cx="6896100" cy="3467100"/>
          </a:xfrm>
        </p:grpSpPr>
        <p:sp>
          <p:nvSpPr>
            <p:cNvPr id="8" name="Rectangle 8"/>
            <p:cNvSpPr/>
            <p:nvPr/>
          </p:nvSpPr>
          <p:spPr>
            <a:xfrm>
              <a:off x="533400" y="1952625"/>
              <a:ext cx="3333750" cy="1619250"/>
            </a:xfrm>
            <a:prstGeom prst="roundRect">
              <a:avLst>
                <a:gd name="adj" fmla="val 10588"/>
              </a:avLst>
            </a:prstGeom>
            <a:solidFill>
              <a:schemeClr val="accent1"/>
            </a:solidFill>
            <a:ln>
              <a:noFill/>
            </a:ln>
          </p:spPr>
        </p:sp>
        <p:sp>
          <p:nvSpPr>
            <p:cNvPr id="9" name="TextBox 9"/>
            <p:cNvSpPr txBox="1"/>
            <p:nvPr/>
          </p:nvSpPr>
          <p:spPr>
            <a:xfrm>
              <a:off x="774192" y="2178368"/>
              <a:ext cx="830298"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LUMESV2</a:t>
              </a:r>
            </a:p>
          </p:txBody>
        </p:sp>
        <p:sp>
          <p:nvSpPr>
            <p:cNvPr id="10" name="TextBox 10"/>
            <p:cNvSpPr txBox="1"/>
            <p:nvPr/>
          </p:nvSpPr>
          <p:spPr>
            <a:xfrm>
              <a:off x="772287" y="2537936"/>
              <a:ext cx="1634528" cy="613600"/>
            </a:xfrm>
            <a:prstGeom prst="rect">
              <a:avLst/>
            </a:prstGeom>
            <a:noFill/>
            <a:ln>
              <a:noFill/>
            </a:ln>
          </p:spPr>
          <p:txBody>
            <a:bodyPr wrap="square" lIns="0" tIns="0" rIns="0" bIns="0" anchor="t" anchorCtr="0"/>
            <a:lstStyle/>
            <a:p>
              <a:pPr algn="l">
                <a:lnSpc>
                  <a:spcPts val="2175"/>
                </a:lnSpc>
              </a:pPr>
              <a:r>
                <a:rPr lang="en-US" sz="1720" b="1" dirty="0">
                  <a:solidFill>
                    <a:srgbClr val="FFFFFF"/>
                  </a:solidFill>
                  <a:latin typeface="+mn-lt"/>
                  <a:ea typeface="+mn-ea"/>
                  <a:cs typeface="+mn-cs"/>
                </a:rPr>
                <a:t>Test · source</a:t>
              </a:r>
            </a:p>
            <a:p>
              <a:pPr algn="l" marL="194958" indent="-194958">
                <a:lnSpc>
                  <a:spcPts val="2175"/>
                </a:lnSpc>
                <a:buClr>
                  <a:srgbClr val="FFFFFF"/>
                </a:buClr>
                <a:buSzTx/>
                <a:buFontTx/>
                <a:buChar char="•"/>
              </a:pPr>
              <a:r>
                <a:rPr lang="en-US" sz="1720" b="1" dirty="0">
                  <a:solidFill>
                    <a:srgbClr val="FFFFFF"/>
                  </a:solidFill>
                  <a:latin typeface="+mn-lt"/>
                  <a:ea typeface="+mn-ea"/>
                  <a:cs typeface="+mn-cs"/>
                </a:rPr>
                <a:t>programming</a:t>
              </a:r>
            </a:p>
          </p:txBody>
        </p:sp>
        <p:sp>
          <p:nvSpPr>
            <p:cNvPr id="11" name="TextBox 11"/>
            <p:cNvSpPr txBox="1"/>
            <p:nvPr/>
          </p:nvSpPr>
          <p:spPr>
            <a:xfrm>
              <a:off x="774573" y="3196114"/>
              <a:ext cx="2663726" cy="249364"/>
            </a:xfrm>
            <a:prstGeom prst="rect">
              <a:avLst/>
            </a:prstGeom>
            <a:noFill/>
            <a:ln>
              <a:noFill/>
            </a:ln>
          </p:spPr>
          <p:txBody>
            <a:bodyPr wrap="none" lIns="0" tIns="0" rIns="0" bIns="0" anchor="t" anchorCtr="0">
              <a:spAutoFit/>
            </a:bodyPr>
            <a:lstStyle/>
            <a:p>
              <a:pPr algn="l"/>
              <a:r>
                <a:rPr lang="en-US" sz="1280" dirty="0">
                  <a:solidFill>
                    <a:srgbClr val="FFFFFF"/>
                  </a:solidFill>
                  <a:latin typeface="+mn-lt"/>
                  <a:ea typeface="+mn-ea"/>
                  <a:cs typeface="+mn-cs"/>
                </a:rPr>
                <a:t>Ổn định tool và luồng phát triển</a:t>
              </a:r>
            </a:p>
          </p:txBody>
        </p:sp>
        <p:sp>
          <p:nvSpPr>
            <p:cNvPr id="12" name="Rectangle 12"/>
            <p:cNvSpPr/>
            <p:nvPr/>
          </p:nvSpPr>
          <p:spPr>
            <a:xfrm>
              <a:off x="4095750" y="1952625"/>
              <a:ext cx="3333750" cy="1619250"/>
            </a:xfrm>
            <a:prstGeom prst="roundRect">
              <a:avLst>
                <a:gd name="adj" fmla="val 10588"/>
              </a:avLst>
            </a:prstGeom>
            <a:solidFill>
              <a:schemeClr val="lt2"/>
            </a:solidFill>
            <a:ln>
              <a:noFill/>
            </a:ln>
          </p:spPr>
        </p:sp>
        <p:sp>
          <p:nvSpPr>
            <p:cNvPr id="13" name="TextBox 13"/>
            <p:cNvSpPr txBox="1"/>
            <p:nvPr/>
          </p:nvSpPr>
          <p:spPr>
            <a:xfrm>
              <a:off x="4336542" y="2178368"/>
              <a:ext cx="386723"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MSB</a:t>
              </a:r>
            </a:p>
          </p:txBody>
        </p:sp>
        <p:sp>
          <p:nvSpPr>
            <p:cNvPr id="14" name="TextBox 14"/>
            <p:cNvSpPr txBox="1"/>
            <p:nvPr/>
          </p:nvSpPr>
          <p:spPr>
            <a:xfrm>
              <a:off x="4333875" y="2578894"/>
              <a:ext cx="2977550"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Jig kiểm tra năng lượng</a:t>
              </a:r>
            </a:p>
          </p:txBody>
        </p:sp>
        <p:sp>
          <p:nvSpPr>
            <p:cNvPr id="15" name="TextBox 15"/>
            <p:cNvSpPr txBox="1"/>
            <p:nvPr/>
          </p:nvSpPr>
          <p:spPr>
            <a:xfrm>
              <a:off x="4336542" y="2949892"/>
              <a:ext cx="1527825" cy="264033"/>
            </a:xfrm>
            <a:prstGeom prst="rect">
              <a:avLst/>
            </a:prstGeom>
            <a:noFill/>
            <a:ln>
              <a:noFill/>
            </a:ln>
          </p:spPr>
          <p:txBody>
            <a:bodyPr wrap="none" lIns="0" tIns="0" rIns="0" bIns="0" anchor="t" anchorCtr="0">
              <a:spAutoFit/>
            </a:bodyPr>
            <a:lstStyle/>
            <a:p>
              <a:pPr algn="l"/>
              <a:r>
                <a:rPr lang="en-US" sz="1350" dirty="0">
                  <a:solidFill>
                    <a:srgbClr val="5E6862"/>
                  </a:solidFill>
                  <a:latin typeface="+mn-lt"/>
                  <a:ea typeface="+mn-ea"/>
                  <a:cs typeface="+mn-cs"/>
                </a:rPr>
                <a:t>Factory checking</a:t>
              </a:r>
            </a:p>
          </p:txBody>
        </p:sp>
        <p:sp>
          <p:nvSpPr>
            <p:cNvPr id="16" name="Rectangle 16"/>
            <p:cNvSpPr/>
            <p:nvPr/>
          </p:nvSpPr>
          <p:spPr>
            <a:xfrm>
              <a:off x="533400" y="3800475"/>
              <a:ext cx="3333750" cy="1619250"/>
            </a:xfrm>
            <a:prstGeom prst="roundRect">
              <a:avLst>
                <a:gd name="adj" fmla="val 10588"/>
              </a:avLst>
            </a:prstGeom>
            <a:solidFill>
              <a:schemeClr val="lt2"/>
            </a:solidFill>
            <a:ln>
              <a:noFill/>
            </a:ln>
          </p:spPr>
        </p:sp>
        <p:sp>
          <p:nvSpPr>
            <p:cNvPr id="17" name="TextBox 17"/>
            <p:cNvSpPr txBox="1"/>
            <p:nvPr/>
          </p:nvSpPr>
          <p:spPr>
            <a:xfrm>
              <a:off x="774192" y="4026218"/>
              <a:ext cx="290951"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IoT</a:t>
              </a:r>
            </a:p>
          </p:txBody>
        </p:sp>
        <p:sp>
          <p:nvSpPr>
            <p:cNvPr id="18" name="TextBox 18"/>
            <p:cNvSpPr txBox="1"/>
            <p:nvPr/>
          </p:nvSpPr>
          <p:spPr>
            <a:xfrm>
              <a:off x="771525" y="4426744"/>
              <a:ext cx="1502255"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Luto loader</a:t>
              </a:r>
            </a:p>
          </p:txBody>
        </p:sp>
        <p:sp>
          <p:nvSpPr>
            <p:cNvPr id="19" name="TextBox 19"/>
            <p:cNvSpPr txBox="1"/>
            <p:nvPr/>
          </p:nvSpPr>
          <p:spPr>
            <a:xfrm>
              <a:off x="774192" y="4797742"/>
              <a:ext cx="2658397" cy="264033"/>
            </a:xfrm>
            <a:prstGeom prst="rect">
              <a:avLst/>
            </a:prstGeom>
            <a:noFill/>
            <a:ln>
              <a:noFill/>
            </a:ln>
          </p:spPr>
          <p:txBody>
            <a:bodyPr wrap="none" lIns="0" tIns="0" rIns="0" bIns="0" anchor="t" anchorCtr="0">
              <a:spAutoFit/>
            </a:bodyPr>
            <a:lstStyle/>
            <a:p>
              <a:pPr algn="l"/>
              <a:r>
                <a:rPr lang="en-US" sz="1350" dirty="0">
                  <a:solidFill>
                    <a:srgbClr val="5E6862"/>
                  </a:solidFill>
                  <a:latin typeface="+mn-lt"/>
                  <a:ea typeface="+mn-ea"/>
                  <a:cs typeface="+mn-cs"/>
                </a:rPr>
                <a:t>Phối hợp định hướng Auto Test</a:t>
              </a:r>
            </a:p>
          </p:txBody>
        </p:sp>
        <p:sp>
          <p:nvSpPr>
            <p:cNvPr id="20" name="Rectangle 20"/>
            <p:cNvSpPr/>
            <p:nvPr/>
          </p:nvSpPr>
          <p:spPr>
            <a:xfrm>
              <a:off x="4095750" y="3800475"/>
              <a:ext cx="3333750" cy="1619250"/>
            </a:xfrm>
            <a:prstGeom prst="roundRect">
              <a:avLst>
                <a:gd name="adj" fmla="val 10588"/>
              </a:avLst>
            </a:prstGeom>
            <a:solidFill>
              <a:schemeClr val="lt2"/>
            </a:solidFill>
            <a:ln>
              <a:noFill/>
            </a:ln>
          </p:spPr>
        </p:sp>
        <p:sp>
          <p:nvSpPr>
            <p:cNvPr id="21" name="TextBox 21"/>
            <p:cNvSpPr txBox="1"/>
            <p:nvPr/>
          </p:nvSpPr>
          <p:spPr>
            <a:xfrm>
              <a:off x="4336542" y="4026218"/>
              <a:ext cx="145533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SMART LIGHTING</a:t>
              </a:r>
            </a:p>
          </p:txBody>
        </p:sp>
        <p:sp>
          <p:nvSpPr>
            <p:cNvPr id="22" name="TextBox 22"/>
            <p:cNvSpPr txBox="1"/>
            <p:nvPr/>
          </p:nvSpPr>
          <p:spPr>
            <a:xfrm>
              <a:off x="4334256" y="4434840"/>
              <a:ext cx="2367444"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Deep Dimming / CCT</a:t>
              </a:r>
            </a:p>
          </p:txBody>
        </p:sp>
        <p:sp>
          <p:nvSpPr>
            <p:cNvPr id="23" name="TextBox 23"/>
            <p:cNvSpPr txBox="1"/>
            <p:nvPr/>
          </p:nvSpPr>
          <p:spPr>
            <a:xfrm>
              <a:off x="4336542" y="4797742"/>
              <a:ext cx="2236884" cy="264033"/>
            </a:xfrm>
            <a:prstGeom prst="rect">
              <a:avLst/>
            </a:prstGeom>
            <a:noFill/>
            <a:ln>
              <a:noFill/>
            </a:ln>
          </p:spPr>
          <p:txBody>
            <a:bodyPr wrap="none" lIns="0" tIns="0" rIns="0" bIns="0" anchor="t" anchorCtr="0">
              <a:spAutoFit/>
            </a:bodyPr>
            <a:lstStyle/>
            <a:p>
              <a:pPr algn="l"/>
              <a:r>
                <a:rPr lang="en-US" sz="1350" dirty="0">
                  <a:solidFill>
                    <a:srgbClr val="5E6862"/>
                  </a:solidFill>
                  <a:latin typeface="+mn-lt"/>
                  <a:ea typeface="+mn-ea"/>
                  <a:cs typeface="+mn-cs"/>
                </a:rPr>
                <a:t>Tool kiểm thử chuyên biệt</a:t>
              </a:r>
            </a:p>
          </p:txBody>
        </p:sp>
      </p:grpSp>
      <p:grpSp>
        <p:nvGrpSpPr>
          <p:cNvPr id="31" name="Group 31"/>
          <p:cNvGrpSpPr/>
          <p:nvPr/>
        </p:nvGrpSpPr>
        <p:grpSpPr>
          <a:xfrm>
            <a:off x="7905750" y="1952625"/>
            <a:ext cx="3752850" cy="3467100"/>
            <a:chOff x="7905750" y="1952625"/>
            <a:chExt cx="3752850" cy="3467100"/>
          </a:xfrm>
        </p:grpSpPr>
        <p:sp>
          <p:nvSpPr>
            <p:cNvPr id="25" name="Rectangle 25"/>
            <p:cNvSpPr/>
            <p:nvPr/>
          </p:nvSpPr>
          <p:spPr>
            <a:xfrm>
              <a:off x="7905750" y="1952625"/>
              <a:ext cx="3752850" cy="2133600"/>
            </a:xfrm>
            <a:prstGeom prst="roundRect">
              <a:avLst>
                <a:gd name="adj" fmla="val 8929"/>
              </a:avLst>
            </a:prstGeom>
            <a:solidFill>
              <a:schemeClr val="lt2"/>
            </a:solidFill>
            <a:ln>
              <a:noFill/>
            </a:ln>
          </p:spPr>
        </p:sp>
        <p:pic>
          <p:nvPicPr>
            <p:cNvPr id="26" name="Image 26"/>
            <p:cNvPicPr>
              <a:picLocks noChangeAspect="1"/>
            </p:cNvPicPr>
            <p:nvPr/>
          </p:nvPicPr>
          <p:blipFill>
            <a:blip r:embed="rId3"/>
            <a:stretch>
              <a:fillRect/>
            </a:stretch>
          </p:blipFill>
          <p:spPr>
            <a:xfrm>
              <a:off x="8791743" y="2143125"/>
              <a:ext cx="1980864" cy="1752600"/>
            </a:xfrm>
            <a:prstGeom prst="rect">
              <a:avLst/>
            </a:prstGeom>
          </p:spPr>
        </p:pic>
        <p:sp>
          <p:nvSpPr>
            <p:cNvPr id="27" name="Rectangle 27"/>
            <p:cNvSpPr/>
            <p:nvPr/>
          </p:nvSpPr>
          <p:spPr>
            <a:xfrm>
              <a:off x="7905750" y="4276725"/>
              <a:ext cx="3752850" cy="1143000"/>
            </a:xfrm>
            <a:prstGeom prst="roundRect">
              <a:avLst>
                <a:gd name="adj" fmla="val 16667"/>
              </a:avLst>
            </a:prstGeom>
            <a:solidFill>
              <a:srgbClr val="EAF5EF"/>
            </a:solidFill>
            <a:ln>
              <a:noFill/>
            </a:ln>
          </p:spPr>
        </p:sp>
        <p:pic>
          <p:nvPicPr>
            <p:cNvPr id="28" name="Image 28"/>
            <p:cNvPicPr>
              <a:picLocks noChangeAspect="1"/>
            </p:cNvPicPr>
            <p:nvPr/>
          </p:nvPicPr>
          <p:blipFill>
            <a:blip r:embed="rId4"/>
            <a:stretch>
              <a:fillRect/>
            </a:stretch>
          </p:blipFill>
          <p:spPr>
            <a:xfrm>
              <a:off x="8120847" y="4410075"/>
              <a:ext cx="408005" cy="876300"/>
            </a:xfrm>
            <a:prstGeom prst="rect">
              <a:avLst/>
            </a:prstGeom>
          </p:spPr>
        </p:pic>
        <p:sp>
          <p:nvSpPr>
            <p:cNvPr id="29" name="TextBox 29"/>
            <p:cNvSpPr txBox="1"/>
            <p:nvPr/>
          </p:nvSpPr>
          <p:spPr>
            <a:xfrm>
              <a:off x="8794242" y="4531042"/>
              <a:ext cx="145112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Một năng lực lõi</a:t>
              </a:r>
            </a:p>
          </p:txBody>
        </p:sp>
        <p:sp>
          <p:nvSpPr>
            <p:cNvPr id="30" name="TextBox 30"/>
            <p:cNvSpPr txBox="1"/>
            <p:nvPr/>
          </p:nvSpPr>
          <p:spPr>
            <a:xfrm>
              <a:off x="8794242" y="4816792"/>
              <a:ext cx="1865376" cy="521208"/>
            </a:xfrm>
            <a:prstGeom prst="rect">
              <a:avLst/>
            </a:prstGeom>
            <a:noFill/>
            <a:ln>
              <a:noFill/>
            </a:ln>
          </p:spPr>
          <p:txBody>
            <a:bodyPr wrap="square" lIns="0" tIns="0" rIns="0" bIns="0" anchor="t" anchorCtr="0"/>
            <a:lstStyle/>
            <a:p>
              <a:pPr algn="l">
                <a:lnSpc>
                  <a:spcPts val="2025"/>
                </a:lnSpc>
              </a:pPr>
              <a:r>
                <a:rPr lang="en-US" sz="1350" dirty="0">
                  <a:solidFill>
                    <a:schemeClr val="dk1"/>
                  </a:solidFill>
                  <a:latin typeface="+mn-lt"/>
                  <a:ea typeface="+mn-ea"/>
                  <a:cs typeface="+mn-cs"/>
                </a:rPr>
                <a:t>ứng dụng trên nhiều hệ sinh thái sản phẩm.</a:t>
              </a:r>
            </a:p>
          </p:txBody>
        </p:sp>
      </p:grpSp>
      <p:grpSp>
        <p:nvGrpSpPr>
          <p:cNvPr id="34" name="Group 34"/>
          <p:cNvGrpSpPr/>
          <p:nvPr/>
        </p:nvGrpSpPr>
        <p:grpSpPr>
          <a:xfrm>
            <a:off x="533400" y="6362700"/>
            <a:ext cx="11130534" cy="311087"/>
            <a:chOff x="533400" y="6362700"/>
            <a:chExt cx="11130534" cy="311087"/>
          </a:xfrm>
        </p:grpSpPr>
        <p:sp>
          <p:nvSpPr>
            <p:cNvPr id="32" name="Line 32"/>
            <p:cNvSpPr/>
            <p:nvPr/>
          </p:nvSpPr>
          <p:spPr>
            <a:xfrm>
              <a:off x="533400" y="6362700"/>
              <a:ext cx="11125200" cy="9525"/>
            </a:xfrm>
            <a:custGeom>
              <a:avLst/>
              <a:gdLst/>
              <a:ahLst/>
              <a:cxnLst/>
              <a:rect l="l" t="t" r="r" b="b"/>
              <a:pathLst>
                <a:path w="11125200" h="9525">
                  <a:moveTo>
                    <a:pt x="0" y="0"/>
                  </a:moveTo>
                  <a:lnTo>
                    <a:pt x="11125200" y="0"/>
                  </a:lnTo>
                </a:path>
              </a:pathLst>
            </a:custGeom>
            <a:noFill/>
            <a:ln w="9525">
              <a:solidFill>
                <a:srgbClr val="E1E6E3"/>
              </a:solidFill>
            </a:ln>
          </p:spPr>
        </p:sp>
        <p:sp>
          <p:nvSpPr>
            <p:cNvPr id="33" name="TextBox 33"/>
            <p:cNvSpPr txBox="1"/>
            <p:nvPr/>
          </p:nvSpPr>
          <p:spPr>
            <a:xfrm>
              <a:off x="11179740" y="6468428"/>
              <a:ext cx="484194" cy="205359"/>
            </a:xfrm>
            <a:prstGeom prst="rect">
              <a:avLst/>
            </a:prstGeom>
            <a:noFill/>
            <a:ln>
              <a:noFill/>
            </a:ln>
          </p:spPr>
          <p:txBody>
            <a:bodyPr wrap="none" lIns="0" tIns="0" rIns="0" bIns="0" anchor="t" anchorCtr="0">
              <a:spAutoFit/>
            </a:bodyPr>
            <a:lstStyle/>
            <a:p>
              <a:pPr algn="r"/>
              <a:r>
                <a:rPr lang="en-US" sz="1050" dirty="0">
                  <a:solidFill>
                    <a:srgbClr val="89918D"/>
                  </a:solidFill>
                  <a:latin typeface="+mn-lt"/>
                  <a:ea typeface="+mn-ea"/>
                  <a:cs typeface="+mn-cs"/>
                </a:rPr>
                <a:t>12 / 15</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38162" y="381000"/>
            <a:ext cx="11126153" cy="637985"/>
            <a:chOff x="538162" y="381000"/>
            <a:chExt cx="11126153" cy="637985"/>
          </a:xfrm>
        </p:grpSpPr>
        <p:pic>
          <p:nvPicPr>
            <p:cNvPr id="2" name="Image 2"/>
            <p:cNvPicPr>
              <a:picLocks noChangeAspect="1"/>
            </p:cNvPicPr>
            <p:nvPr/>
          </p:nvPicPr>
          <p:blipFill>
            <a:blip r:embed="rId2"/>
            <a:stretch>
              <a:fillRect/>
            </a:stretch>
          </p:blipFill>
          <p:spPr>
            <a:xfrm>
              <a:off x="538162" y="381000"/>
              <a:ext cx="1247775" cy="361950"/>
            </a:xfrm>
            <a:prstGeom prst="rect">
              <a:avLst/>
            </a:prstGeom>
          </p:spPr>
        </p:pic>
        <p:sp>
          <p:nvSpPr>
            <p:cNvPr id="3" name="TextBox 3"/>
            <p:cNvSpPr txBox="1"/>
            <p:nvPr/>
          </p:nvSpPr>
          <p:spPr>
            <a:xfrm>
              <a:off x="3127248" y="402908"/>
              <a:ext cx="4633407"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Năng lực được củng cố</a:t>
              </a:r>
            </a:p>
          </p:txBody>
        </p:sp>
        <p:sp>
          <p:nvSpPr>
            <p:cNvPr id="4" name="TextBox 4"/>
            <p:cNvSpPr txBox="1"/>
            <p:nvPr/>
          </p:nvSpPr>
          <p:spPr>
            <a:xfrm>
              <a:off x="9837959" y="564356"/>
              <a:ext cx="1826356" cy="220028"/>
            </a:xfrm>
            <a:prstGeom prst="rect">
              <a:avLst/>
            </a:prstGeom>
            <a:noFill/>
            <a:ln>
              <a:noFill/>
            </a:ln>
          </p:spPr>
          <p:txBody>
            <a:bodyPr wrap="none" lIns="0" tIns="0" rIns="0" bIns="0" anchor="t" anchorCtr="0">
              <a:spAutoFit/>
            </a:bodyPr>
            <a:lstStyle/>
            <a:p>
              <a:pPr algn="r"/>
              <a:r>
                <a:rPr lang="en-US" sz="1120" b="1" dirty="0">
                  <a:solidFill>
                    <a:srgbClr val="7A827E"/>
                  </a:solidFill>
                  <a:latin typeface="+mn-lt"/>
                  <a:ea typeface="+mn-ea"/>
                  <a:cs typeface="+mn-cs"/>
                </a:rPr>
                <a:t>TỪ ĐẦU RA ĐẾN NĂNG LỰC</a:t>
              </a:r>
            </a:p>
          </p:txBody>
        </p:sp>
      </p:grpSp>
      <p:grpSp>
        <p:nvGrpSpPr>
          <p:cNvPr id="7" name="Group 7"/>
          <p:cNvGrpSpPr/>
          <p:nvPr/>
        </p:nvGrpSpPr>
        <p:grpSpPr>
          <a:xfrm>
            <a:off x="523875" y="1321594"/>
            <a:ext cx="10631598" cy="366712"/>
            <a:chOff x="523875" y="1321594"/>
            <a:chExt cx="10631598" cy="366712"/>
          </a:xfrm>
        </p:grpSpPr>
        <p:sp>
          <p:nvSpPr>
            <p:cNvPr id="6" name="TextBox 6"/>
            <p:cNvSpPr txBox="1"/>
            <p:nvPr/>
          </p:nvSpPr>
          <p:spPr>
            <a:xfrm>
              <a:off x="523875" y="1321594"/>
              <a:ext cx="10631598"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Nối firmware, tool, test hệ thống và chia sẻ tri thức thành một chuỗi hoàn chỉnh.</a:t>
              </a:r>
            </a:p>
          </p:txBody>
        </p:sp>
      </p:grpSp>
      <p:grpSp>
        <p:nvGrpSpPr>
          <p:cNvPr id="35" name="Group 35"/>
          <p:cNvGrpSpPr/>
          <p:nvPr/>
        </p:nvGrpSpPr>
        <p:grpSpPr>
          <a:xfrm>
            <a:off x="533400" y="1952625"/>
            <a:ext cx="11125200" cy="3733800"/>
            <a:chOff x="533400" y="1952625"/>
            <a:chExt cx="11125200" cy="3733800"/>
          </a:xfrm>
        </p:grpSpPr>
        <p:sp>
          <p:nvSpPr>
            <p:cNvPr id="8" name="Line 8"/>
            <p:cNvSpPr/>
            <p:nvPr/>
          </p:nvSpPr>
          <p:spPr>
            <a:xfrm>
              <a:off x="2114550" y="2571750"/>
              <a:ext cx="3981450" cy="1143000"/>
            </a:xfrm>
            <a:custGeom>
              <a:avLst/>
              <a:gdLst/>
              <a:ahLst/>
              <a:cxnLst/>
              <a:rect l="l" t="t" r="r" b="b"/>
              <a:pathLst>
                <a:path w="3981450" h="1143000">
                  <a:moveTo>
                    <a:pt x="3981450" y="1143000"/>
                  </a:moveTo>
                  <a:lnTo>
                    <a:pt x="0" y="0"/>
                  </a:lnTo>
                </a:path>
              </a:pathLst>
            </a:custGeom>
            <a:noFill/>
            <a:ln w="28575">
              <a:solidFill>
                <a:srgbClr val="CFE4D8"/>
              </a:solidFill>
            </a:ln>
          </p:spPr>
        </p:sp>
        <p:sp>
          <p:nvSpPr>
            <p:cNvPr id="9" name="Line 9"/>
            <p:cNvSpPr/>
            <p:nvPr/>
          </p:nvSpPr>
          <p:spPr>
            <a:xfrm>
              <a:off x="6096000" y="2571750"/>
              <a:ext cx="4000500" cy="1143000"/>
            </a:xfrm>
            <a:custGeom>
              <a:avLst/>
              <a:gdLst/>
              <a:ahLst/>
              <a:cxnLst/>
              <a:rect l="l" t="t" r="r" b="b"/>
              <a:pathLst>
                <a:path w="4000500" h="1143000">
                  <a:moveTo>
                    <a:pt x="0" y="1143000"/>
                  </a:moveTo>
                  <a:lnTo>
                    <a:pt x="4000500" y="0"/>
                  </a:lnTo>
                </a:path>
              </a:pathLst>
            </a:custGeom>
            <a:noFill/>
            <a:ln w="28575">
              <a:solidFill>
                <a:srgbClr val="CFE4D8"/>
              </a:solidFill>
            </a:ln>
          </p:spPr>
        </p:sp>
        <p:sp>
          <p:nvSpPr>
            <p:cNvPr id="10" name="Line 10"/>
            <p:cNvSpPr/>
            <p:nvPr/>
          </p:nvSpPr>
          <p:spPr>
            <a:xfrm>
              <a:off x="2095500" y="3714750"/>
              <a:ext cx="4000500" cy="1238250"/>
            </a:xfrm>
            <a:custGeom>
              <a:avLst/>
              <a:gdLst/>
              <a:ahLst/>
              <a:cxnLst/>
              <a:rect l="l" t="t" r="r" b="b"/>
              <a:pathLst>
                <a:path w="4000500" h="1238250">
                  <a:moveTo>
                    <a:pt x="4000500" y="0"/>
                  </a:moveTo>
                  <a:lnTo>
                    <a:pt x="0" y="1238250"/>
                  </a:lnTo>
                </a:path>
              </a:pathLst>
            </a:custGeom>
            <a:noFill/>
            <a:ln w="28575">
              <a:solidFill>
                <a:srgbClr val="CFE4D8"/>
              </a:solidFill>
            </a:ln>
          </p:spPr>
        </p:sp>
        <p:sp>
          <p:nvSpPr>
            <p:cNvPr id="11" name="Line 11"/>
            <p:cNvSpPr/>
            <p:nvPr/>
          </p:nvSpPr>
          <p:spPr>
            <a:xfrm>
              <a:off x="6096000" y="3714750"/>
              <a:ext cx="4000500" cy="1238250"/>
            </a:xfrm>
            <a:custGeom>
              <a:avLst/>
              <a:gdLst/>
              <a:ahLst/>
              <a:cxnLst/>
              <a:rect l="l" t="t" r="r" b="b"/>
              <a:pathLst>
                <a:path w="4000500" h="1238250">
                  <a:moveTo>
                    <a:pt x="0" y="0"/>
                  </a:moveTo>
                  <a:lnTo>
                    <a:pt x="4000500" y="1238250"/>
                  </a:lnTo>
                </a:path>
              </a:pathLst>
            </a:custGeom>
            <a:noFill/>
            <a:ln w="28575">
              <a:solidFill>
                <a:srgbClr val="CFE4D8"/>
              </a:solidFill>
            </a:ln>
          </p:spPr>
        </p:sp>
        <p:grpSp>
          <p:nvGrpSpPr>
            <p:cNvPr id="16" name="Group 16"/>
            <p:cNvGrpSpPr/>
            <p:nvPr/>
          </p:nvGrpSpPr>
          <p:grpSpPr>
            <a:xfrm>
              <a:off x="5095875" y="2714625"/>
              <a:ext cx="2000250" cy="2000250"/>
              <a:chOff x="5095875" y="2714625"/>
              <a:chExt cx="2000250" cy="2000250"/>
            </a:xfrm>
          </p:grpSpPr>
          <p:sp>
            <p:nvSpPr>
              <p:cNvPr id="12" name="Ellipse 12"/>
              <p:cNvSpPr/>
              <p:nvPr/>
            </p:nvSpPr>
            <p:spPr>
              <a:xfrm>
                <a:off x="5095875" y="2714625"/>
                <a:ext cx="2000250" cy="2000250"/>
              </a:xfrm>
              <a:prstGeom prst="ellipse">
                <a:avLst/>
              </a:prstGeom>
              <a:solidFill>
                <a:schemeClr val="accent1"/>
              </a:solidFill>
              <a:ln>
                <a:noFill/>
              </a:ln>
            </p:spPr>
          </p:sp>
          <p:sp>
            <p:nvSpPr>
              <p:cNvPr id="13" name="TextBox 13"/>
              <p:cNvSpPr txBox="1"/>
              <p:nvPr/>
            </p:nvSpPr>
            <p:spPr>
              <a:xfrm>
                <a:off x="5530349" y="3319939"/>
                <a:ext cx="1131302"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NĂNG LỰC LÕI</a:t>
                </a:r>
              </a:p>
            </p:txBody>
          </p:sp>
          <p:sp>
            <p:nvSpPr>
              <p:cNvPr id="14" name="TextBox 14"/>
              <p:cNvSpPr txBox="1"/>
              <p:nvPr/>
            </p:nvSpPr>
            <p:spPr>
              <a:xfrm>
                <a:off x="5513832" y="3604736"/>
                <a:ext cx="1164336" cy="594550"/>
              </a:xfrm>
              <a:prstGeom prst="rect">
                <a:avLst/>
              </a:prstGeom>
              <a:noFill/>
              <a:ln>
                <a:noFill/>
              </a:ln>
            </p:spPr>
            <p:txBody>
              <a:bodyPr wrap="square" lIns="0" tIns="0" rIns="0" bIns="0" anchor="t" anchorCtr="0"/>
              <a:lstStyle/>
              <a:p>
                <a:pPr algn="ctr">
                  <a:lnSpc>
                    <a:spcPts val="2025"/>
                  </a:lnSpc>
                </a:pPr>
                <a:r>
                  <a:rPr lang="en-US" sz="1720" b="1" dirty="0">
                    <a:solidFill>
                      <a:srgbClr val="FFFFFF"/>
                    </a:solidFill>
                    <a:latin typeface="+mn-lt"/>
                    <a:ea typeface="+mn-ea"/>
                    <a:cs typeface="+mn-cs"/>
                  </a:rPr>
                  <a:t>Kết nối toàn chuỗi</a:t>
                </a:r>
              </a:p>
            </p:txBody>
          </p:sp>
          <p:sp>
            <p:nvSpPr>
              <p:cNvPr id="15" name="TextBox 15"/>
              <p:cNvSpPr txBox="1"/>
              <p:nvPr/>
            </p:nvSpPr>
            <p:spPr>
              <a:xfrm>
                <a:off x="5261106" y="4186714"/>
                <a:ext cx="1669789" cy="249364"/>
              </a:xfrm>
              <a:prstGeom prst="rect">
                <a:avLst/>
              </a:prstGeom>
              <a:noFill/>
              <a:ln>
                <a:noFill/>
              </a:ln>
            </p:spPr>
            <p:txBody>
              <a:bodyPr wrap="none" lIns="0" tIns="0" rIns="0" bIns="0" anchor="t" anchorCtr="0">
                <a:spAutoFit/>
              </a:bodyPr>
              <a:lstStyle/>
              <a:p>
                <a:pPr algn="ctr"/>
                <a:r>
                  <a:rPr lang="en-US" sz="1280" dirty="0">
                    <a:solidFill>
                      <a:srgbClr val="FFFFFF"/>
                    </a:solidFill>
                    <a:latin typeface="+mn-lt"/>
                    <a:ea typeface="+mn-ea"/>
                    <a:cs typeface="+mn-cs"/>
                  </a:rPr>
                  <a:t>Build → Test → Share</a:t>
                </a:r>
              </a:p>
            </p:txBody>
          </p:sp>
        </p:grpSp>
        <p:grpSp>
          <p:nvGrpSpPr>
            <p:cNvPr id="20" name="Group 20"/>
            <p:cNvGrpSpPr/>
            <p:nvPr/>
          </p:nvGrpSpPr>
          <p:grpSpPr>
            <a:xfrm>
              <a:off x="533400" y="1952625"/>
              <a:ext cx="3143250" cy="1066800"/>
              <a:chOff x="533400" y="1952625"/>
              <a:chExt cx="3143250" cy="1066800"/>
            </a:xfrm>
          </p:grpSpPr>
          <p:sp>
            <p:nvSpPr>
              <p:cNvPr id="17" name="Rectangle 17"/>
              <p:cNvSpPr/>
              <p:nvPr/>
            </p:nvSpPr>
            <p:spPr>
              <a:xfrm>
                <a:off x="533400" y="1952625"/>
                <a:ext cx="3143250" cy="1066800"/>
              </a:xfrm>
              <a:prstGeom prst="roundRect">
                <a:avLst>
                  <a:gd name="adj" fmla="val 16071"/>
                </a:avLst>
              </a:prstGeom>
              <a:solidFill>
                <a:schemeClr val="lt2"/>
              </a:solidFill>
              <a:ln>
                <a:noFill/>
              </a:ln>
            </p:spPr>
          </p:sp>
          <p:sp>
            <p:nvSpPr>
              <p:cNvPr id="18" name="TextBox 18"/>
              <p:cNvSpPr txBox="1"/>
              <p:nvPr/>
            </p:nvSpPr>
            <p:spPr>
              <a:xfrm>
                <a:off x="773049" y="2144554"/>
                <a:ext cx="2168105"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Firmware &amp; thiết bị</a:t>
                </a:r>
              </a:p>
            </p:txBody>
          </p:sp>
          <p:sp>
            <p:nvSpPr>
              <p:cNvPr id="19" name="TextBox 19"/>
              <p:cNvSpPr txBox="1"/>
              <p:nvPr/>
            </p:nvSpPr>
            <p:spPr>
              <a:xfrm>
                <a:off x="774573" y="2500789"/>
                <a:ext cx="2769321" cy="249364"/>
              </a:xfrm>
              <a:prstGeom prst="rect">
                <a:avLst/>
              </a:prstGeom>
              <a:noFill/>
              <a:ln>
                <a:noFill/>
              </a:ln>
            </p:spPr>
            <p:txBody>
              <a:bodyPr wrap="none" lIns="0" tIns="0" rIns="0" bIns="0" anchor="t" anchorCtr="0">
                <a:spAutoFit/>
              </a:bodyPr>
              <a:lstStyle/>
              <a:p>
                <a:pPr algn="l"/>
                <a:r>
                  <a:rPr lang="en-US" sz="1280" dirty="0">
                    <a:solidFill>
                      <a:srgbClr val="5E6862"/>
                    </a:solidFill>
                    <a:latin typeface="+mn-lt"/>
                    <a:ea typeface="+mn-ea"/>
                    <a:cs typeface="+mn-cs"/>
                  </a:rPr>
                  <a:t>2/4 nút · Rèm · Actuator · KNOB</a:t>
                </a:r>
              </a:p>
            </p:txBody>
          </p:sp>
        </p:grpSp>
        <p:grpSp>
          <p:nvGrpSpPr>
            <p:cNvPr id="24" name="Group 24"/>
            <p:cNvGrpSpPr/>
            <p:nvPr/>
          </p:nvGrpSpPr>
          <p:grpSpPr>
            <a:xfrm>
              <a:off x="8515350" y="1952625"/>
              <a:ext cx="3143250" cy="1066800"/>
              <a:chOff x="8515350" y="1952625"/>
              <a:chExt cx="3143250" cy="1066800"/>
            </a:xfrm>
          </p:grpSpPr>
          <p:sp>
            <p:nvSpPr>
              <p:cNvPr id="21" name="Rectangle 21"/>
              <p:cNvSpPr/>
              <p:nvPr/>
            </p:nvSpPr>
            <p:spPr>
              <a:xfrm>
                <a:off x="8515350" y="1952625"/>
                <a:ext cx="3143250" cy="1066800"/>
              </a:xfrm>
              <a:prstGeom prst="roundRect">
                <a:avLst>
                  <a:gd name="adj" fmla="val 16071"/>
                </a:avLst>
              </a:prstGeom>
              <a:solidFill>
                <a:schemeClr val="lt2"/>
              </a:solidFill>
              <a:ln>
                <a:noFill/>
              </a:ln>
            </p:spPr>
          </p:sp>
          <p:sp>
            <p:nvSpPr>
              <p:cNvPr id="22" name="TextBox 22"/>
              <p:cNvSpPr txBox="1"/>
              <p:nvPr/>
            </p:nvSpPr>
            <p:spPr>
              <a:xfrm>
                <a:off x="8754999" y="2144554"/>
                <a:ext cx="2320426"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Tool / Jig automation</a:t>
                </a:r>
              </a:p>
            </p:txBody>
          </p:sp>
          <p:sp>
            <p:nvSpPr>
              <p:cNvPr id="23" name="TextBox 23"/>
              <p:cNvSpPr txBox="1"/>
              <p:nvPr/>
            </p:nvSpPr>
            <p:spPr>
              <a:xfrm>
                <a:off x="8756523" y="2500789"/>
                <a:ext cx="2119732" cy="249364"/>
              </a:xfrm>
              <a:prstGeom prst="rect">
                <a:avLst/>
              </a:prstGeom>
              <a:noFill/>
              <a:ln>
                <a:noFill/>
              </a:ln>
            </p:spPr>
            <p:txBody>
              <a:bodyPr wrap="none" lIns="0" tIns="0" rIns="0" bIns="0" anchor="t" anchorCtr="0">
                <a:spAutoFit/>
              </a:bodyPr>
              <a:lstStyle/>
              <a:p>
                <a:pPr algn="l"/>
                <a:r>
                  <a:rPr lang="en-US" sz="1280" dirty="0">
                    <a:solidFill>
                      <a:srgbClr val="5E6862"/>
                    </a:solidFill>
                    <a:latin typeface="+mn-lt"/>
                    <a:ea typeface="+mn-ea"/>
                    <a:cs typeface="+mn-cs"/>
                  </a:rPr>
                  <a:t>Loader · Jig · benchmark</a:t>
                </a:r>
              </a:p>
            </p:txBody>
          </p:sp>
        </p:grpSp>
        <p:grpSp>
          <p:nvGrpSpPr>
            <p:cNvPr id="28" name="Group 28"/>
            <p:cNvGrpSpPr/>
            <p:nvPr/>
          </p:nvGrpSpPr>
          <p:grpSpPr>
            <a:xfrm>
              <a:off x="533400" y="4429125"/>
              <a:ext cx="3143250" cy="1066800"/>
              <a:chOff x="533400" y="4429125"/>
              <a:chExt cx="3143250" cy="1066800"/>
            </a:xfrm>
          </p:grpSpPr>
          <p:sp>
            <p:nvSpPr>
              <p:cNvPr id="25" name="Rectangle 25"/>
              <p:cNvSpPr/>
              <p:nvPr/>
            </p:nvSpPr>
            <p:spPr>
              <a:xfrm>
                <a:off x="533400" y="4429125"/>
                <a:ext cx="3143250" cy="1066800"/>
              </a:xfrm>
              <a:prstGeom prst="roundRect">
                <a:avLst>
                  <a:gd name="adj" fmla="val 16071"/>
                </a:avLst>
              </a:prstGeom>
              <a:solidFill>
                <a:schemeClr val="lt2"/>
              </a:solidFill>
              <a:ln>
                <a:noFill/>
              </a:ln>
            </p:spPr>
          </p:sp>
          <p:sp>
            <p:nvSpPr>
              <p:cNvPr id="26" name="TextBox 26"/>
              <p:cNvSpPr txBox="1"/>
              <p:nvPr/>
            </p:nvSpPr>
            <p:spPr>
              <a:xfrm>
                <a:off x="773049" y="4621054"/>
                <a:ext cx="1675874" cy="308039"/>
              </a:xfrm>
              <a:prstGeom prst="rect">
                <a:avLst/>
              </a:prstGeom>
              <a:noFill/>
              <a:ln>
                <a:noFill/>
              </a:ln>
            </p:spPr>
            <p:txBody>
              <a:bodyPr wrap="none" lIns="0" tIns="0" rIns="0" bIns="0" anchor="t" anchorCtr="0">
                <a:spAutoFit/>
              </a:bodyPr>
              <a:lstStyle/>
              <a:p>
                <a:pPr algn="l"/>
                <a:r>
                  <a:rPr lang="en-US" sz="1580" b="1" dirty="0">
                    <a:solidFill>
                      <a:schemeClr val="accent2"/>
                    </a:solidFill>
                    <a:latin typeface="+mn-lt"/>
                    <a:ea typeface="+mn-ea"/>
                    <a:cs typeface="+mn-cs"/>
                  </a:rPr>
                  <a:t>System testing</a:t>
                </a:r>
              </a:p>
            </p:txBody>
          </p:sp>
          <p:sp>
            <p:nvSpPr>
              <p:cNvPr id="27" name="TextBox 27"/>
              <p:cNvSpPr txBox="1"/>
              <p:nvPr/>
            </p:nvSpPr>
            <p:spPr>
              <a:xfrm>
                <a:off x="774573" y="4977289"/>
                <a:ext cx="2815509" cy="249364"/>
              </a:xfrm>
              <a:prstGeom prst="rect">
                <a:avLst/>
              </a:prstGeom>
              <a:noFill/>
              <a:ln>
                <a:noFill/>
              </a:ln>
            </p:spPr>
            <p:txBody>
              <a:bodyPr wrap="none" lIns="0" tIns="0" rIns="0" bIns="0" anchor="t" anchorCtr="0">
                <a:spAutoFit/>
              </a:bodyPr>
              <a:lstStyle/>
              <a:p>
                <a:pPr algn="l"/>
                <a:r>
                  <a:rPr lang="en-US" sz="1280" dirty="0">
                    <a:solidFill>
                      <a:srgbClr val="5E6862"/>
                    </a:solidFill>
                    <a:latin typeface="+mn-lt"/>
                    <a:ea typeface="+mn-ea"/>
                    <a:cs typeface="+mn-cs"/>
                  </a:rPr>
                  <a:t>GA · Coupler · secure · debugging</a:t>
                </a:r>
              </a:p>
            </p:txBody>
          </p:sp>
        </p:grpSp>
        <p:grpSp>
          <p:nvGrpSpPr>
            <p:cNvPr id="32" name="Group 32"/>
            <p:cNvGrpSpPr/>
            <p:nvPr/>
          </p:nvGrpSpPr>
          <p:grpSpPr>
            <a:xfrm>
              <a:off x="8515350" y="4429125"/>
              <a:ext cx="3143250" cy="1066800"/>
              <a:chOff x="8515350" y="4429125"/>
              <a:chExt cx="3143250" cy="1066800"/>
            </a:xfrm>
          </p:grpSpPr>
          <p:sp>
            <p:nvSpPr>
              <p:cNvPr id="29" name="Rectangle 29"/>
              <p:cNvSpPr/>
              <p:nvPr/>
            </p:nvSpPr>
            <p:spPr>
              <a:xfrm>
                <a:off x="8515350" y="4429125"/>
                <a:ext cx="3143250" cy="1066800"/>
              </a:xfrm>
              <a:prstGeom prst="roundRect">
                <a:avLst>
                  <a:gd name="adj" fmla="val 16071"/>
                </a:avLst>
              </a:prstGeom>
              <a:solidFill>
                <a:schemeClr val="lt2"/>
              </a:solidFill>
              <a:ln>
                <a:noFill/>
              </a:ln>
            </p:spPr>
          </p:sp>
          <p:sp>
            <p:nvSpPr>
              <p:cNvPr id="30" name="TextBox 30"/>
              <p:cNvSpPr txBox="1"/>
              <p:nvPr/>
            </p:nvSpPr>
            <p:spPr>
              <a:xfrm>
                <a:off x="8754999" y="4621054"/>
                <a:ext cx="2736831"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Documentation &amp; training</a:t>
                </a:r>
              </a:p>
            </p:txBody>
          </p:sp>
          <p:sp>
            <p:nvSpPr>
              <p:cNvPr id="31" name="TextBox 31"/>
              <p:cNvSpPr txBox="1"/>
              <p:nvPr/>
            </p:nvSpPr>
            <p:spPr>
              <a:xfrm>
                <a:off x="8756523" y="4977289"/>
                <a:ext cx="2466594" cy="249364"/>
              </a:xfrm>
              <a:prstGeom prst="rect">
                <a:avLst/>
              </a:prstGeom>
              <a:noFill/>
              <a:ln>
                <a:noFill/>
              </a:ln>
            </p:spPr>
            <p:txBody>
              <a:bodyPr wrap="none" lIns="0" tIns="0" rIns="0" bIns="0" anchor="t" anchorCtr="0">
                <a:spAutoFit/>
              </a:bodyPr>
              <a:lstStyle/>
              <a:p>
                <a:pPr algn="l"/>
                <a:r>
                  <a:rPr lang="en-US" sz="1280" dirty="0">
                    <a:solidFill>
                      <a:srgbClr val="5E6862"/>
                    </a:solidFill>
                    <a:latin typeface="+mn-lt"/>
                    <a:ea typeface="+mn-ea"/>
                    <a:cs typeface="+mn-cs"/>
                  </a:rPr>
                  <a:t>API · flow · ETS · Quiz · Q&amp;A</a:t>
                </a:r>
              </a:p>
            </p:txBody>
          </p:sp>
        </p:grpSp>
        <p:sp>
          <p:nvSpPr>
            <p:cNvPr id="33" name="Rectangle 33"/>
            <p:cNvSpPr/>
            <p:nvPr/>
          </p:nvSpPr>
          <p:spPr>
            <a:xfrm>
              <a:off x="4305300" y="5286375"/>
              <a:ext cx="3581400" cy="400050"/>
            </a:xfrm>
            <a:prstGeom prst="roundRect">
              <a:avLst>
                <a:gd name="adj" fmla="val 50000"/>
              </a:avLst>
            </a:prstGeom>
            <a:solidFill>
              <a:srgbClr val="EAF5EF"/>
            </a:solidFill>
            <a:ln>
              <a:noFill/>
            </a:ln>
          </p:spPr>
        </p:sp>
        <p:sp>
          <p:nvSpPr>
            <p:cNvPr id="34" name="TextBox 34"/>
            <p:cNvSpPr txBox="1"/>
            <p:nvPr/>
          </p:nvSpPr>
          <p:spPr>
            <a:xfrm>
              <a:off x="4792984" y="5397818"/>
              <a:ext cx="2606032"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Phối hợp đa nhóm xuyên suốt</a:t>
              </a:r>
            </a:p>
          </p:txBody>
        </p:sp>
      </p:grpSp>
      <p:grpSp>
        <p:nvGrpSpPr>
          <p:cNvPr id="38" name="Group 38"/>
          <p:cNvGrpSpPr/>
          <p:nvPr/>
        </p:nvGrpSpPr>
        <p:grpSpPr>
          <a:xfrm>
            <a:off x="533400" y="6362700"/>
            <a:ext cx="11130534" cy="311087"/>
            <a:chOff x="533400" y="6362700"/>
            <a:chExt cx="11130534" cy="311087"/>
          </a:xfrm>
        </p:grpSpPr>
        <p:sp>
          <p:nvSpPr>
            <p:cNvPr id="36" name="Line 36"/>
            <p:cNvSpPr/>
            <p:nvPr/>
          </p:nvSpPr>
          <p:spPr>
            <a:xfrm>
              <a:off x="533400" y="6362700"/>
              <a:ext cx="11125200" cy="9525"/>
            </a:xfrm>
            <a:custGeom>
              <a:avLst/>
              <a:gdLst/>
              <a:ahLst/>
              <a:cxnLst/>
              <a:rect l="l" t="t" r="r" b="b"/>
              <a:pathLst>
                <a:path w="11125200" h="9525">
                  <a:moveTo>
                    <a:pt x="0" y="0"/>
                  </a:moveTo>
                  <a:lnTo>
                    <a:pt x="11125200" y="0"/>
                  </a:lnTo>
                </a:path>
              </a:pathLst>
            </a:custGeom>
            <a:noFill/>
            <a:ln w="9525">
              <a:solidFill>
                <a:srgbClr val="E1E6E3"/>
              </a:solidFill>
            </a:ln>
          </p:spPr>
        </p:sp>
        <p:sp>
          <p:nvSpPr>
            <p:cNvPr id="37" name="TextBox 37"/>
            <p:cNvSpPr txBox="1"/>
            <p:nvPr/>
          </p:nvSpPr>
          <p:spPr>
            <a:xfrm>
              <a:off x="11179740" y="6468428"/>
              <a:ext cx="484194" cy="205359"/>
            </a:xfrm>
            <a:prstGeom prst="rect">
              <a:avLst/>
            </a:prstGeom>
            <a:noFill/>
            <a:ln>
              <a:noFill/>
            </a:ln>
          </p:spPr>
          <p:txBody>
            <a:bodyPr wrap="none" lIns="0" tIns="0" rIns="0" bIns="0" anchor="t" anchorCtr="0">
              <a:spAutoFit/>
            </a:bodyPr>
            <a:lstStyle/>
            <a:p>
              <a:pPr algn="r"/>
              <a:r>
                <a:rPr lang="en-US" sz="1050" dirty="0">
                  <a:solidFill>
                    <a:srgbClr val="89918D"/>
                  </a:solidFill>
                  <a:latin typeface="+mn-lt"/>
                  <a:ea typeface="+mn-ea"/>
                  <a:cs typeface="+mn-cs"/>
                </a:rPr>
                <a:t>13 / 15</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38162" y="381000"/>
            <a:ext cx="11126153" cy="637985"/>
            <a:chOff x="538162" y="381000"/>
            <a:chExt cx="11126153" cy="637985"/>
          </a:xfrm>
        </p:grpSpPr>
        <p:pic>
          <p:nvPicPr>
            <p:cNvPr id="2" name="Image 2"/>
            <p:cNvPicPr>
              <a:picLocks noChangeAspect="1"/>
            </p:cNvPicPr>
            <p:nvPr/>
          </p:nvPicPr>
          <p:blipFill>
            <a:blip r:embed="rId2"/>
            <a:stretch>
              <a:fillRect/>
            </a:stretch>
          </p:blipFill>
          <p:spPr>
            <a:xfrm>
              <a:off x="538162" y="381000"/>
              <a:ext cx="1247775" cy="361950"/>
            </a:xfrm>
            <a:prstGeom prst="rect">
              <a:avLst/>
            </a:prstGeom>
          </p:spPr>
        </p:pic>
        <p:sp>
          <p:nvSpPr>
            <p:cNvPr id="3" name="TextBox 3"/>
            <p:cNvSpPr txBox="1"/>
            <p:nvPr/>
          </p:nvSpPr>
          <p:spPr>
            <a:xfrm>
              <a:off x="3127248" y="402908"/>
              <a:ext cx="4343922"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Trọng tâm tiếp theo</a:t>
              </a:r>
            </a:p>
          </p:txBody>
        </p:sp>
        <p:sp>
          <p:nvSpPr>
            <p:cNvPr id="4" name="TextBox 4"/>
            <p:cNvSpPr txBox="1"/>
            <p:nvPr/>
          </p:nvSpPr>
          <p:spPr>
            <a:xfrm>
              <a:off x="10097235" y="564356"/>
              <a:ext cx="1567080" cy="220028"/>
            </a:xfrm>
            <a:prstGeom prst="rect">
              <a:avLst/>
            </a:prstGeom>
            <a:noFill/>
            <a:ln>
              <a:noFill/>
            </a:ln>
          </p:spPr>
          <p:txBody>
            <a:bodyPr wrap="none" lIns="0" tIns="0" rIns="0" bIns="0" anchor="t" anchorCtr="0">
              <a:spAutoFit/>
            </a:bodyPr>
            <a:lstStyle/>
            <a:p>
              <a:pPr algn="r"/>
              <a:r>
                <a:rPr lang="en-US" sz="1120" b="1" dirty="0">
                  <a:solidFill>
                    <a:srgbClr val="7A827E"/>
                  </a:solidFill>
                  <a:latin typeface="+mn-lt"/>
                  <a:ea typeface="+mn-ea"/>
                  <a:cs typeface="+mn-cs"/>
                </a:rPr>
                <a:t>NOW · NEXT · SCALE</a:t>
              </a:r>
            </a:p>
          </p:txBody>
        </p:sp>
      </p:grpSp>
      <p:grpSp>
        <p:nvGrpSpPr>
          <p:cNvPr id="7" name="Group 7"/>
          <p:cNvGrpSpPr/>
          <p:nvPr/>
        </p:nvGrpSpPr>
        <p:grpSpPr>
          <a:xfrm>
            <a:off x="523875" y="1321594"/>
            <a:ext cx="8697684" cy="366712"/>
            <a:chOff x="523875" y="1321594"/>
            <a:chExt cx="8697684" cy="366712"/>
          </a:xfrm>
        </p:grpSpPr>
        <p:sp>
          <p:nvSpPr>
            <p:cNvPr id="6" name="TextBox 6"/>
            <p:cNvSpPr txBox="1"/>
            <p:nvPr/>
          </p:nvSpPr>
          <p:spPr>
            <a:xfrm>
              <a:off x="523875" y="1321594"/>
              <a:ext cx="8697684" cy="366712"/>
            </a:xfrm>
            <a:prstGeom prst="rect">
              <a:avLst/>
            </a:prstGeom>
            <a:noFill/>
            <a:ln>
              <a:noFill/>
            </a:ln>
          </p:spPr>
          <p:txBody>
            <a:bodyPr wrap="none" lIns="0" tIns="0" rIns="0" bIns="0" anchor="t" anchorCtr="0">
              <a:spAutoFit/>
            </a:bodyPr>
            <a:lstStyle/>
            <a:p>
              <a:pPr algn="l"/>
              <a:r>
                <a:rPr lang="en-US" sz="1880" b="1" dirty="0">
                  <a:solidFill>
                    <a:schemeClr val="dk1"/>
                  </a:solidFill>
                  <a:latin typeface="+mn-lt"/>
                  <a:ea typeface="+mn-ea"/>
                  <a:cs typeface="+mn-cs"/>
                </a:rPr>
                <a:t>Hoàn tất Auto Test, đóng việc còn mở và chuẩn hóa tài sản dùng lại.</a:t>
              </a:r>
            </a:p>
          </p:txBody>
        </p:sp>
      </p:grpSp>
      <p:grpSp>
        <p:nvGrpSpPr>
          <p:cNvPr id="19" name="Group 19"/>
          <p:cNvGrpSpPr/>
          <p:nvPr/>
        </p:nvGrpSpPr>
        <p:grpSpPr>
          <a:xfrm>
            <a:off x="533400" y="2000250"/>
            <a:ext cx="2286000" cy="3429000"/>
            <a:chOff x="533400" y="2000250"/>
            <a:chExt cx="2286000" cy="3429000"/>
          </a:xfrm>
        </p:grpSpPr>
        <p:sp>
          <p:nvSpPr>
            <p:cNvPr id="8" name="Rectangle 8"/>
            <p:cNvSpPr/>
            <p:nvPr/>
          </p:nvSpPr>
          <p:spPr>
            <a:xfrm>
              <a:off x="533400" y="2000250"/>
              <a:ext cx="2286000" cy="3429000"/>
            </a:xfrm>
            <a:prstGeom prst="roundRect">
              <a:avLst>
                <a:gd name="adj" fmla="val 9167"/>
              </a:avLst>
            </a:prstGeom>
            <a:solidFill>
              <a:schemeClr val="accent1"/>
            </a:solidFill>
            <a:ln>
              <a:noFill/>
            </a:ln>
          </p:spPr>
        </p:sp>
        <p:sp>
          <p:nvSpPr>
            <p:cNvPr id="9" name="TextBox 9"/>
            <p:cNvSpPr txBox="1"/>
            <p:nvPr/>
          </p:nvSpPr>
          <p:spPr>
            <a:xfrm>
              <a:off x="774573" y="2262664"/>
              <a:ext cx="1475409"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SNAPSHOT 22/07</a:t>
              </a:r>
            </a:p>
          </p:txBody>
        </p:sp>
        <p:sp>
          <p:nvSpPr>
            <p:cNvPr id="10" name="TextBox 10"/>
            <p:cNvSpPr txBox="1"/>
            <p:nvPr/>
          </p:nvSpPr>
          <p:spPr>
            <a:xfrm>
              <a:off x="762000" y="2625090"/>
              <a:ext cx="411267" cy="933450"/>
            </a:xfrm>
            <a:prstGeom prst="rect">
              <a:avLst/>
            </a:prstGeom>
            <a:noFill/>
            <a:ln>
              <a:noFill/>
            </a:ln>
          </p:spPr>
          <p:txBody>
            <a:bodyPr wrap="none" lIns="0" tIns="0" rIns="0" bIns="0" anchor="t" anchorCtr="0">
              <a:spAutoFit/>
            </a:bodyPr>
            <a:lstStyle/>
            <a:p>
              <a:pPr algn="l"/>
              <a:r>
                <a:rPr lang="en-US" sz="4800" b="1" dirty="0">
                  <a:solidFill>
                    <a:srgbClr val="FFFFFF"/>
                  </a:solidFill>
                  <a:latin typeface="+mn-lt"/>
                  <a:ea typeface="+mn-ea"/>
                  <a:cs typeface="+mn-cs"/>
                </a:rPr>
                <a:t>5</a:t>
              </a:r>
            </a:p>
          </p:txBody>
        </p:sp>
        <p:sp>
          <p:nvSpPr>
            <p:cNvPr id="11" name="TextBox 11"/>
            <p:cNvSpPr txBox="1"/>
            <p:nvPr/>
          </p:nvSpPr>
          <p:spPr>
            <a:xfrm>
              <a:off x="773049" y="3287554"/>
              <a:ext cx="871536" cy="308039"/>
            </a:xfrm>
            <a:prstGeom prst="rect">
              <a:avLst/>
            </a:prstGeom>
            <a:noFill/>
            <a:ln>
              <a:noFill/>
            </a:ln>
          </p:spPr>
          <p:txBody>
            <a:bodyPr wrap="none" lIns="0" tIns="0" rIns="0" bIns="0" anchor="t" anchorCtr="0">
              <a:spAutoFit/>
            </a:bodyPr>
            <a:lstStyle/>
            <a:p>
              <a:pPr algn="l"/>
              <a:r>
                <a:rPr lang="en-US" sz="1580" b="1" dirty="0">
                  <a:solidFill>
                    <a:srgbClr val="FFFFFF"/>
                  </a:solidFill>
                  <a:latin typeface="+mn-lt"/>
                  <a:ea typeface="+mn-ea"/>
                  <a:cs typeface="+mn-cs"/>
                </a:rPr>
                <a:t>Ongoing</a:t>
              </a:r>
            </a:p>
          </p:txBody>
        </p:sp>
        <p:sp>
          <p:nvSpPr>
            <p:cNvPr id="12" name="Line 12"/>
            <p:cNvSpPr/>
            <p:nvPr/>
          </p:nvSpPr>
          <p:spPr>
            <a:xfrm>
              <a:off x="781050" y="3790950"/>
              <a:ext cx="1790700" cy="9525"/>
            </a:xfrm>
            <a:custGeom>
              <a:avLst/>
              <a:gdLst/>
              <a:ahLst/>
              <a:cxnLst/>
              <a:rect l="l" t="t" r="r" b="b"/>
              <a:pathLst>
                <a:path w="1790700" h="9525">
                  <a:moveTo>
                    <a:pt x="0" y="0"/>
                  </a:moveTo>
                  <a:lnTo>
                    <a:pt x="1790700" y="0"/>
                  </a:lnTo>
                </a:path>
              </a:pathLst>
            </a:custGeom>
            <a:noFill/>
            <a:ln w="19050">
              <a:solidFill>
                <a:schemeClr val="accent3"/>
              </a:solidFill>
            </a:ln>
          </p:spPr>
        </p:sp>
        <p:sp>
          <p:nvSpPr>
            <p:cNvPr id="13" name="TextBox 13"/>
            <p:cNvSpPr txBox="1"/>
            <p:nvPr/>
          </p:nvSpPr>
          <p:spPr>
            <a:xfrm>
              <a:off x="772668" y="4031932"/>
              <a:ext cx="145040"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4</a:t>
              </a:r>
            </a:p>
          </p:txBody>
        </p:sp>
        <p:sp>
          <p:nvSpPr>
            <p:cNvPr id="14" name="TextBox 14"/>
            <p:cNvSpPr txBox="1"/>
            <p:nvPr/>
          </p:nvSpPr>
          <p:spPr>
            <a:xfrm>
              <a:off x="1136523" y="4072414"/>
              <a:ext cx="1354199" cy="249364"/>
            </a:xfrm>
            <a:prstGeom prst="rect">
              <a:avLst/>
            </a:prstGeom>
            <a:noFill/>
            <a:ln>
              <a:noFill/>
            </a:ln>
          </p:spPr>
          <p:txBody>
            <a:bodyPr wrap="none" lIns="0" tIns="0" rIns="0" bIns="0" anchor="t" anchorCtr="0">
              <a:spAutoFit/>
            </a:bodyPr>
            <a:lstStyle/>
            <a:p>
              <a:pPr algn="l"/>
              <a:r>
                <a:rPr lang="en-US" sz="1280" dirty="0">
                  <a:solidFill>
                    <a:srgbClr val="FFFFFF"/>
                  </a:solidFill>
                  <a:latin typeface="+mn-lt"/>
                  <a:ea typeface="+mn-ea"/>
                  <a:cs typeface="+mn-cs"/>
                </a:rPr>
                <a:t>Not yet started</a:t>
              </a:r>
            </a:p>
          </p:txBody>
        </p:sp>
        <p:sp>
          <p:nvSpPr>
            <p:cNvPr id="15" name="TextBox 15"/>
            <p:cNvSpPr txBox="1"/>
            <p:nvPr/>
          </p:nvSpPr>
          <p:spPr>
            <a:xfrm>
              <a:off x="772668" y="4451032"/>
              <a:ext cx="145040"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2</a:t>
              </a:r>
            </a:p>
          </p:txBody>
        </p:sp>
        <p:sp>
          <p:nvSpPr>
            <p:cNvPr id="16" name="TextBox 16"/>
            <p:cNvSpPr txBox="1"/>
            <p:nvPr/>
          </p:nvSpPr>
          <p:spPr>
            <a:xfrm>
              <a:off x="1136523" y="4491514"/>
              <a:ext cx="397408" cy="249364"/>
            </a:xfrm>
            <a:prstGeom prst="rect">
              <a:avLst/>
            </a:prstGeom>
            <a:noFill/>
            <a:ln>
              <a:noFill/>
            </a:ln>
          </p:spPr>
          <p:txBody>
            <a:bodyPr wrap="none" lIns="0" tIns="0" rIns="0" bIns="0" anchor="t" anchorCtr="0">
              <a:spAutoFit/>
            </a:bodyPr>
            <a:lstStyle/>
            <a:p>
              <a:pPr algn="l"/>
              <a:r>
                <a:rPr lang="en-US" sz="1280" dirty="0">
                  <a:solidFill>
                    <a:srgbClr val="FFFFFF"/>
                  </a:solidFill>
                  <a:latin typeface="+mn-lt"/>
                  <a:ea typeface="+mn-ea"/>
                  <a:cs typeface="+mn-cs"/>
                </a:rPr>
                <a:t>Late</a:t>
              </a:r>
            </a:p>
          </p:txBody>
        </p:sp>
        <p:sp>
          <p:nvSpPr>
            <p:cNvPr id="17" name="TextBox 17"/>
            <p:cNvSpPr txBox="1"/>
            <p:nvPr/>
          </p:nvSpPr>
          <p:spPr>
            <a:xfrm>
              <a:off x="772668" y="4870132"/>
              <a:ext cx="145040"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1</a:t>
              </a:r>
            </a:p>
          </p:txBody>
        </p:sp>
        <p:sp>
          <p:nvSpPr>
            <p:cNvPr id="18" name="TextBox 18"/>
            <p:cNvSpPr txBox="1"/>
            <p:nvPr/>
          </p:nvSpPr>
          <p:spPr>
            <a:xfrm>
              <a:off x="1136523" y="4910614"/>
              <a:ext cx="543469" cy="249364"/>
            </a:xfrm>
            <a:prstGeom prst="rect">
              <a:avLst/>
            </a:prstGeom>
            <a:noFill/>
            <a:ln>
              <a:noFill/>
            </a:ln>
          </p:spPr>
          <p:txBody>
            <a:bodyPr wrap="none" lIns="0" tIns="0" rIns="0" bIns="0" anchor="t" anchorCtr="0">
              <a:spAutoFit/>
            </a:bodyPr>
            <a:lstStyle/>
            <a:p>
              <a:pPr algn="l"/>
              <a:r>
                <a:rPr lang="en-US" sz="1280" dirty="0">
                  <a:solidFill>
                    <a:srgbClr val="FFFFFF"/>
                  </a:solidFill>
                  <a:latin typeface="+mn-lt"/>
                  <a:ea typeface="+mn-ea"/>
                  <a:cs typeface="+mn-cs"/>
                </a:rPr>
                <a:t>Closed</a:t>
              </a:r>
            </a:p>
          </p:txBody>
        </p:sp>
      </p:grpSp>
      <p:grpSp>
        <p:nvGrpSpPr>
          <p:cNvPr id="38" name="Group 38"/>
          <p:cNvGrpSpPr/>
          <p:nvPr/>
        </p:nvGrpSpPr>
        <p:grpSpPr>
          <a:xfrm>
            <a:off x="3143250" y="2000250"/>
            <a:ext cx="8515350" cy="3429000"/>
            <a:chOff x="3143250" y="2000250"/>
            <a:chExt cx="8515350" cy="3429000"/>
          </a:xfrm>
        </p:grpSpPr>
        <p:grpSp>
          <p:nvGrpSpPr>
            <p:cNvPr id="27" name="Group 27"/>
            <p:cNvGrpSpPr/>
            <p:nvPr/>
          </p:nvGrpSpPr>
          <p:grpSpPr>
            <a:xfrm>
              <a:off x="3143250" y="2000250"/>
              <a:ext cx="2571750" cy="3429000"/>
              <a:chOff x="3143250" y="2000250"/>
              <a:chExt cx="2571750" cy="3429000"/>
            </a:xfrm>
          </p:grpSpPr>
          <p:sp>
            <p:nvSpPr>
              <p:cNvPr id="20" name="Rectangle 20"/>
              <p:cNvSpPr/>
              <p:nvPr/>
            </p:nvSpPr>
            <p:spPr>
              <a:xfrm>
                <a:off x="3143250" y="2000250"/>
                <a:ext cx="2571750" cy="3429000"/>
              </a:xfrm>
              <a:prstGeom prst="roundRect">
                <a:avLst>
                  <a:gd name="adj" fmla="val 8148"/>
                </a:avLst>
              </a:prstGeom>
              <a:solidFill>
                <a:schemeClr val="lt2"/>
              </a:solidFill>
              <a:ln>
                <a:noFill/>
              </a:ln>
            </p:spPr>
          </p:sp>
          <p:sp>
            <p:nvSpPr>
              <p:cNvPr id="21" name="TextBox 21"/>
              <p:cNvSpPr txBox="1"/>
              <p:nvPr/>
            </p:nvSpPr>
            <p:spPr>
              <a:xfrm>
                <a:off x="3384042" y="2235518"/>
                <a:ext cx="42704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NOW</a:t>
                </a:r>
              </a:p>
            </p:txBody>
          </p:sp>
          <p:sp>
            <p:nvSpPr>
              <p:cNvPr id="22" name="TextBox 22"/>
              <p:cNvSpPr txBox="1"/>
              <p:nvPr/>
            </p:nvSpPr>
            <p:spPr>
              <a:xfrm>
                <a:off x="3380994" y="2646998"/>
                <a:ext cx="1319975" cy="705231"/>
              </a:xfrm>
              <a:prstGeom prst="rect">
                <a:avLst/>
              </a:prstGeom>
              <a:noFill/>
              <a:ln>
                <a:noFill/>
              </a:ln>
            </p:spPr>
            <p:txBody>
              <a:bodyPr wrap="square" lIns="0" tIns="0" rIns="0" bIns="0" anchor="t" anchorCtr="0"/>
              <a:lstStyle/>
              <a:p>
                <a:pPr algn="l">
                  <a:lnSpc>
                    <a:spcPts val="2550"/>
                  </a:lnSpc>
                </a:pPr>
                <a:r>
                  <a:rPr lang="en-US" sz="1950" b="1" dirty="0">
                    <a:solidFill>
                      <a:schemeClr val="dk1"/>
                    </a:solidFill>
                    <a:latin typeface="+mn-lt"/>
                    <a:ea typeface="+mn-ea"/>
                    <a:cs typeface="+mn-cs"/>
                  </a:rPr>
                  <a:t>Hoàn thiện Auto Test</a:t>
                </a:r>
              </a:p>
            </p:txBody>
          </p:sp>
          <p:sp>
            <p:nvSpPr>
              <p:cNvPr id="23" name="TextBox 23"/>
              <p:cNvSpPr txBox="1"/>
              <p:nvPr/>
            </p:nvSpPr>
            <p:spPr>
              <a:xfrm>
                <a:off x="3384423" y="3577114"/>
                <a:ext cx="2043897" cy="249364"/>
              </a:xfrm>
              <a:prstGeom prst="rect">
                <a:avLst/>
              </a:prstGeom>
              <a:noFill/>
              <a:ln>
                <a:noFill/>
              </a:ln>
            </p:spPr>
            <p:txBody>
              <a:bodyPr wrap="none" lIns="0" tIns="0" rIns="0" bIns="0" anchor="t" anchorCtr="0">
                <a:spAutoFit/>
              </a:bodyPr>
              <a:lstStyle/>
              <a:p>
                <a:pPr algn="l" marL="138176" indent="-138176">
                  <a:buClr>
                    <a:srgbClr val="5E6862"/>
                  </a:buClr>
                  <a:buSzTx/>
                  <a:buFontTx/>
                  <a:buChar char="•"/>
                </a:pPr>
                <a:r>
                  <a:rPr lang="en-US" sz="1280" dirty="0">
                    <a:solidFill>
                      <a:srgbClr val="5E6862"/>
                    </a:solidFill>
                    <a:latin typeface="+mn-lt"/>
                    <a:ea typeface="+mn-ea"/>
                    <a:cs typeface="+mn-cs"/>
                  </a:rPr>
                  <a:t>Module servo/cảm biến</a:t>
                </a:r>
              </a:p>
            </p:txBody>
          </p:sp>
          <p:sp>
            <p:nvSpPr>
              <p:cNvPr id="24" name="TextBox 24"/>
              <p:cNvSpPr txBox="1"/>
              <p:nvPr/>
            </p:nvSpPr>
            <p:spPr>
              <a:xfrm>
                <a:off x="3384423" y="3853339"/>
                <a:ext cx="1432265" cy="249364"/>
              </a:xfrm>
              <a:prstGeom prst="rect">
                <a:avLst/>
              </a:prstGeom>
              <a:noFill/>
              <a:ln>
                <a:noFill/>
              </a:ln>
            </p:spPr>
            <p:txBody>
              <a:bodyPr wrap="none" lIns="0" tIns="0" rIns="0" bIns="0" anchor="t" anchorCtr="0">
                <a:spAutoFit/>
              </a:bodyPr>
              <a:lstStyle/>
              <a:p>
                <a:pPr algn="l" marL="138176" indent="-138176">
                  <a:buClr>
                    <a:srgbClr val="5E6862"/>
                  </a:buClr>
                  <a:buSzTx/>
                  <a:buFontTx/>
                  <a:buChar char="•"/>
                </a:pPr>
                <a:r>
                  <a:rPr lang="en-US" sz="1280" dirty="0">
                    <a:solidFill>
                      <a:srgbClr val="5E6862"/>
                    </a:solidFill>
                    <a:latin typeface="+mn-lt"/>
                    <a:ea typeface="+mn-ea"/>
                    <a:cs typeface="+mn-cs"/>
                  </a:rPr>
                  <a:t>Chức năng mạch</a:t>
                </a:r>
              </a:p>
            </p:txBody>
          </p:sp>
          <p:sp>
            <p:nvSpPr>
              <p:cNvPr id="25" name="TextBox 25"/>
              <p:cNvSpPr txBox="1"/>
              <p:nvPr/>
            </p:nvSpPr>
            <p:spPr>
              <a:xfrm>
                <a:off x="3555873" y="4091464"/>
                <a:ext cx="831444" cy="249364"/>
              </a:xfrm>
              <a:prstGeom prst="rect">
                <a:avLst/>
              </a:prstGeom>
              <a:noFill/>
              <a:ln>
                <a:noFill/>
              </a:ln>
            </p:spPr>
            <p:txBody>
              <a:bodyPr wrap="none" lIns="0" tIns="0" rIns="0" bIns="0" anchor="t" anchorCtr="0">
                <a:spAutoFit/>
              </a:bodyPr>
              <a:lstStyle/>
              <a:p>
                <a:pPr algn="l"/>
                <a:r>
                  <a:rPr lang="en-US" sz="1280" dirty="0">
                    <a:solidFill>
                      <a:srgbClr val="5E6862"/>
                    </a:solidFill>
                    <a:latin typeface="+mn-lt"/>
                    <a:ea typeface="+mn-ea"/>
                    <a:cs typeface="+mn-cs"/>
                  </a:rPr>
                  <a:t>điều khiển</a:t>
                </a:r>
              </a:p>
            </p:txBody>
          </p:sp>
          <p:sp>
            <p:nvSpPr>
              <p:cNvPr id="26" name="TextBox 26"/>
              <p:cNvSpPr txBox="1"/>
              <p:nvPr/>
            </p:nvSpPr>
            <p:spPr>
              <a:xfrm>
                <a:off x="3384423" y="4367689"/>
                <a:ext cx="1294252" cy="249364"/>
              </a:xfrm>
              <a:prstGeom prst="rect">
                <a:avLst/>
              </a:prstGeom>
              <a:noFill/>
              <a:ln>
                <a:noFill/>
              </a:ln>
            </p:spPr>
            <p:txBody>
              <a:bodyPr wrap="none" lIns="0" tIns="0" rIns="0" bIns="0" anchor="t" anchorCtr="0">
                <a:spAutoFit/>
              </a:bodyPr>
              <a:lstStyle/>
              <a:p>
                <a:pPr algn="l" marL="138176" indent="-138176">
                  <a:buClr>
                    <a:srgbClr val="5E6862"/>
                  </a:buClr>
                  <a:buSzTx/>
                  <a:buFontTx/>
                  <a:buChar char="•"/>
                </a:pPr>
                <a:r>
                  <a:rPr lang="en-US" sz="1280" dirty="0">
                    <a:solidFill>
                      <a:srgbClr val="5E6862"/>
                    </a:solidFill>
                    <a:latin typeface="+mn-lt"/>
                    <a:ea typeface="+mn-ea"/>
                    <a:cs typeface="+mn-cs"/>
                  </a:rPr>
                  <a:t>Xác nhận flow</a:t>
                </a:r>
              </a:p>
            </p:txBody>
          </p:sp>
        </p:grpSp>
        <p:grpSp>
          <p:nvGrpSpPr>
            <p:cNvPr id="32" name="Group 32"/>
            <p:cNvGrpSpPr/>
            <p:nvPr/>
          </p:nvGrpSpPr>
          <p:grpSpPr>
            <a:xfrm>
              <a:off x="5943600" y="2000250"/>
              <a:ext cx="2571750" cy="3429000"/>
              <a:chOff x="5943600" y="2000250"/>
              <a:chExt cx="2571750" cy="3429000"/>
            </a:xfrm>
          </p:grpSpPr>
          <p:sp>
            <p:nvSpPr>
              <p:cNvPr id="28" name="Rectangle 28"/>
              <p:cNvSpPr/>
              <p:nvPr/>
            </p:nvSpPr>
            <p:spPr>
              <a:xfrm>
                <a:off x="5943600" y="2000250"/>
                <a:ext cx="2571750" cy="3429000"/>
              </a:xfrm>
              <a:prstGeom prst="roundRect">
                <a:avLst>
                  <a:gd name="adj" fmla="val 8148"/>
                </a:avLst>
              </a:prstGeom>
              <a:solidFill>
                <a:schemeClr val="lt2"/>
              </a:solidFill>
              <a:ln>
                <a:noFill/>
              </a:ln>
            </p:spPr>
          </p:sp>
          <p:sp>
            <p:nvSpPr>
              <p:cNvPr id="29" name="TextBox 29"/>
              <p:cNvSpPr txBox="1"/>
              <p:nvPr/>
            </p:nvSpPr>
            <p:spPr>
              <a:xfrm>
                <a:off x="6184392" y="2235518"/>
                <a:ext cx="457291"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NEXT</a:t>
                </a:r>
              </a:p>
            </p:txBody>
          </p:sp>
          <p:sp>
            <p:nvSpPr>
              <p:cNvPr id="30" name="TextBox 30"/>
              <p:cNvSpPr txBox="1"/>
              <p:nvPr/>
            </p:nvSpPr>
            <p:spPr>
              <a:xfrm>
                <a:off x="6181344" y="2646998"/>
                <a:ext cx="1176957" cy="705231"/>
              </a:xfrm>
              <a:prstGeom prst="rect">
                <a:avLst/>
              </a:prstGeom>
              <a:noFill/>
              <a:ln>
                <a:noFill/>
              </a:ln>
            </p:spPr>
            <p:txBody>
              <a:bodyPr wrap="square" lIns="0" tIns="0" rIns="0" bIns="0" anchor="t" anchorCtr="0"/>
              <a:lstStyle/>
              <a:p>
                <a:pPr algn="l">
                  <a:lnSpc>
                    <a:spcPts val="2550"/>
                  </a:lnSpc>
                </a:pPr>
                <a:r>
                  <a:rPr lang="en-US" sz="1950" b="1" dirty="0">
                    <a:solidFill>
                      <a:schemeClr val="dk1"/>
                    </a:solidFill>
                    <a:latin typeface="+mn-lt"/>
                    <a:ea typeface="+mn-ea"/>
                    <a:cs typeface="+mn-cs"/>
                  </a:rPr>
                  <a:t>Đóng việc còn mở</a:t>
                </a:r>
              </a:p>
            </p:txBody>
          </p:sp>
          <p:sp>
            <p:nvSpPr>
              <p:cNvPr id="31" name="TextBox 31"/>
              <p:cNvSpPr txBox="1"/>
              <p:nvPr/>
            </p:nvSpPr>
            <p:spPr>
              <a:xfrm>
                <a:off x="6184392" y="3569018"/>
                <a:ext cx="1916811" cy="854583"/>
              </a:xfrm>
              <a:prstGeom prst="rect">
                <a:avLst/>
              </a:prstGeom>
              <a:noFill/>
              <a:ln>
                <a:noFill/>
              </a:ln>
            </p:spPr>
            <p:txBody>
              <a:bodyPr wrap="square" lIns="0" tIns="0" rIns="0" bIns="0" anchor="t" anchorCtr="0"/>
              <a:lstStyle/>
              <a:p>
                <a:pPr algn="l" marL="145732" indent="-145732">
                  <a:lnSpc>
                    <a:spcPts val="2325"/>
                  </a:lnSpc>
                  <a:buClr>
                    <a:srgbClr val="5E6862"/>
                  </a:buClr>
                  <a:buSzTx/>
                  <a:buFontTx/>
                  <a:buChar char="•"/>
                </a:pPr>
                <a:r>
                  <a:rPr lang="en-US" sz="1350" dirty="0">
                    <a:solidFill>
                      <a:srgbClr val="5E6862"/>
                    </a:solidFill>
                    <a:latin typeface="+mn-lt"/>
                    <a:ea typeface="+mn-ea"/>
                    <a:cs typeface="+mn-cs"/>
                  </a:rPr>
                  <a:t>Ưu tiên task Late</a:t>
                </a:r>
              </a:p>
              <a:p>
                <a:pPr algn="l" marL="145732" indent="-145732">
                  <a:lnSpc>
                    <a:spcPts val="2325"/>
                  </a:lnSpc>
                  <a:buClr>
                    <a:srgbClr val="5E6862"/>
                  </a:buClr>
                  <a:buSzTx/>
                  <a:buFontTx/>
                  <a:buChar char="•"/>
                </a:pPr>
                <a:r>
                  <a:rPr lang="en-US" sz="1350" dirty="0">
                    <a:solidFill>
                      <a:srgbClr val="5E6862"/>
                    </a:solidFill>
                    <a:latin typeface="+mn-lt"/>
                    <a:ea typeface="+mn-ea"/>
                    <a:cs typeface="+mn-cs"/>
                  </a:rPr>
                  <a:t>Chốt Not yet started</a:t>
                </a:r>
              </a:p>
              <a:p>
                <a:pPr algn="l" marL="145732" indent="-145732">
                  <a:lnSpc>
                    <a:spcPts val="2325"/>
                  </a:lnSpc>
                  <a:buClr>
                    <a:srgbClr val="5E6862"/>
                  </a:buClr>
                  <a:buSzTx/>
                  <a:buFontTx/>
                  <a:buChar char="•"/>
                </a:pPr>
                <a:r>
                  <a:rPr lang="en-US" sz="1350" dirty="0">
                    <a:solidFill>
                      <a:srgbClr val="5E6862"/>
                    </a:solidFill>
                    <a:latin typeface="+mn-lt"/>
                    <a:ea typeface="+mn-ea"/>
                    <a:cs typeface="+mn-cs"/>
                  </a:rPr>
                  <a:t>Xác nhận chất lượng</a:t>
                </a:r>
              </a:p>
            </p:txBody>
          </p:sp>
        </p:grpSp>
        <p:grpSp>
          <p:nvGrpSpPr>
            <p:cNvPr id="37" name="Group 37"/>
            <p:cNvGrpSpPr/>
            <p:nvPr/>
          </p:nvGrpSpPr>
          <p:grpSpPr>
            <a:xfrm>
              <a:off x="8743950" y="2000250"/>
              <a:ext cx="2914650" cy="3429000"/>
              <a:chOff x="8743950" y="2000250"/>
              <a:chExt cx="2914650" cy="3429000"/>
            </a:xfrm>
          </p:grpSpPr>
          <p:sp>
            <p:nvSpPr>
              <p:cNvPr id="33" name="Rectangle 33"/>
              <p:cNvSpPr/>
              <p:nvPr/>
            </p:nvSpPr>
            <p:spPr>
              <a:xfrm>
                <a:off x="8743950" y="2000250"/>
                <a:ext cx="2914650" cy="3429000"/>
              </a:xfrm>
              <a:prstGeom prst="roundRect">
                <a:avLst>
                  <a:gd name="adj" fmla="val 7190"/>
                </a:avLst>
              </a:prstGeom>
              <a:solidFill>
                <a:srgbClr val="EAF5EF"/>
              </a:solidFill>
              <a:ln>
                <a:noFill/>
              </a:ln>
            </p:spPr>
          </p:sp>
          <p:sp>
            <p:nvSpPr>
              <p:cNvPr id="34" name="TextBox 34"/>
              <p:cNvSpPr txBox="1"/>
              <p:nvPr/>
            </p:nvSpPr>
            <p:spPr>
              <a:xfrm>
                <a:off x="8984742" y="2235518"/>
                <a:ext cx="568185"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SCALE</a:t>
                </a:r>
              </a:p>
            </p:txBody>
          </p:sp>
          <p:sp>
            <p:nvSpPr>
              <p:cNvPr id="35" name="TextBox 35"/>
              <p:cNvSpPr txBox="1"/>
              <p:nvPr/>
            </p:nvSpPr>
            <p:spPr>
              <a:xfrm>
                <a:off x="8981694" y="2646998"/>
                <a:ext cx="1918049" cy="705231"/>
              </a:xfrm>
              <a:prstGeom prst="rect">
                <a:avLst/>
              </a:prstGeom>
              <a:noFill/>
              <a:ln>
                <a:noFill/>
              </a:ln>
            </p:spPr>
            <p:txBody>
              <a:bodyPr wrap="square" lIns="0" tIns="0" rIns="0" bIns="0" anchor="t" anchorCtr="0"/>
              <a:lstStyle/>
              <a:p>
                <a:pPr algn="l">
                  <a:lnSpc>
                    <a:spcPts val="2550"/>
                  </a:lnSpc>
                </a:pPr>
                <a:r>
                  <a:rPr lang="en-US" sz="1950" b="1" dirty="0">
                    <a:solidFill>
                      <a:schemeClr val="dk1"/>
                    </a:solidFill>
                    <a:latin typeface="+mn-lt"/>
                    <a:ea typeface="+mn-ea"/>
                    <a:cs typeface="+mn-cs"/>
                  </a:rPr>
                  <a:t>Chuẩn hóa tài sản dùng lại</a:t>
                </a:r>
              </a:p>
            </p:txBody>
          </p:sp>
          <p:sp>
            <p:nvSpPr>
              <p:cNvPr id="36" name="TextBox 36"/>
              <p:cNvSpPr txBox="1"/>
              <p:nvPr/>
            </p:nvSpPr>
            <p:spPr>
              <a:xfrm>
                <a:off x="8984742" y="3569018"/>
                <a:ext cx="1745361" cy="854583"/>
              </a:xfrm>
              <a:prstGeom prst="rect">
                <a:avLst/>
              </a:prstGeom>
              <a:noFill/>
              <a:ln>
                <a:noFill/>
              </a:ln>
            </p:spPr>
            <p:txBody>
              <a:bodyPr wrap="square" lIns="0" tIns="0" rIns="0" bIns="0" anchor="t" anchorCtr="0"/>
              <a:lstStyle/>
              <a:p>
                <a:pPr algn="l" marL="145732" indent="-145732">
                  <a:lnSpc>
                    <a:spcPts val="2325"/>
                  </a:lnSpc>
                  <a:buClr>
                    <a:srgbClr val="5E6862"/>
                  </a:buClr>
                  <a:buSzTx/>
                  <a:buFontTx/>
                  <a:buChar char="•"/>
                </a:pPr>
                <a:r>
                  <a:rPr lang="en-US" sz="1350" dirty="0">
                    <a:solidFill>
                      <a:srgbClr val="5E6862"/>
                    </a:solidFill>
                    <a:latin typeface="+mn-lt"/>
                    <a:ea typeface="+mn-ea"/>
                    <a:cs typeface="+mn-cs"/>
                  </a:rPr>
                  <a:t>Tool và test case</a:t>
                </a:r>
              </a:p>
              <a:p>
                <a:pPr algn="l" marL="145732" indent="-145732">
                  <a:lnSpc>
                    <a:spcPts val="2325"/>
                  </a:lnSpc>
                  <a:buClr>
                    <a:srgbClr val="5E6862"/>
                  </a:buClr>
                  <a:buSzTx/>
                  <a:buFontTx/>
                  <a:buChar char="•"/>
                </a:pPr>
                <a:r>
                  <a:rPr lang="en-US" sz="1350" dirty="0">
                    <a:solidFill>
                      <a:srgbClr val="5E6862"/>
                    </a:solidFill>
                    <a:latin typeface="+mn-lt"/>
                    <a:ea typeface="+mn-ea"/>
                    <a:cs typeface="+mn-cs"/>
                  </a:rPr>
                  <a:t>Tài liệu / hướng dẫn</a:t>
                </a:r>
              </a:p>
              <a:p>
                <a:pPr algn="l" marL="145732" indent="-145732">
                  <a:lnSpc>
                    <a:spcPts val="2325"/>
                  </a:lnSpc>
                  <a:buClr>
                    <a:srgbClr val="5E6862"/>
                  </a:buClr>
                  <a:buSzTx/>
                  <a:buFontTx/>
                  <a:buChar char="•"/>
                </a:pPr>
                <a:r>
                  <a:rPr lang="en-US" sz="1350" dirty="0">
                    <a:solidFill>
                      <a:srgbClr val="5E6862"/>
                    </a:solidFill>
                    <a:latin typeface="+mn-lt"/>
                    <a:ea typeface="+mn-ea"/>
                    <a:cs typeface="+mn-cs"/>
                  </a:rPr>
                  <a:t>Chia sẻ nội bộ</a:t>
                </a:r>
              </a:p>
            </p:txBody>
          </p:sp>
        </p:grpSp>
      </p:grpSp>
      <p:grpSp>
        <p:nvGrpSpPr>
          <p:cNvPr id="40" name="Group 40"/>
          <p:cNvGrpSpPr/>
          <p:nvPr/>
        </p:nvGrpSpPr>
        <p:grpSpPr>
          <a:xfrm>
            <a:off x="526923" y="5825014"/>
            <a:ext cx="5381934" cy="249364"/>
            <a:chOff x="526923" y="5825014"/>
            <a:chExt cx="5381934" cy="249364"/>
          </a:xfrm>
        </p:grpSpPr>
        <p:sp>
          <p:nvSpPr>
            <p:cNvPr id="39" name="TextBox 39"/>
            <p:cNvSpPr txBox="1"/>
            <p:nvPr/>
          </p:nvSpPr>
          <p:spPr>
            <a:xfrm>
              <a:off x="526923" y="5825014"/>
              <a:ext cx="5381934"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Theo dõi: task Done · vòng lặp test · tài sản được tái sử dụng</a:t>
              </a:r>
            </a:p>
          </p:txBody>
        </p:sp>
      </p:grpSp>
      <p:grpSp>
        <p:nvGrpSpPr>
          <p:cNvPr id="43" name="Group 43"/>
          <p:cNvGrpSpPr/>
          <p:nvPr/>
        </p:nvGrpSpPr>
        <p:grpSpPr>
          <a:xfrm>
            <a:off x="533400" y="6362700"/>
            <a:ext cx="11130534" cy="311087"/>
            <a:chOff x="533400" y="6362700"/>
            <a:chExt cx="11130534" cy="311087"/>
          </a:xfrm>
        </p:grpSpPr>
        <p:sp>
          <p:nvSpPr>
            <p:cNvPr id="41" name="Line 41"/>
            <p:cNvSpPr/>
            <p:nvPr/>
          </p:nvSpPr>
          <p:spPr>
            <a:xfrm>
              <a:off x="533400" y="6362700"/>
              <a:ext cx="11125200" cy="9525"/>
            </a:xfrm>
            <a:custGeom>
              <a:avLst/>
              <a:gdLst/>
              <a:ahLst/>
              <a:cxnLst/>
              <a:rect l="l" t="t" r="r" b="b"/>
              <a:pathLst>
                <a:path w="11125200" h="9525">
                  <a:moveTo>
                    <a:pt x="0" y="0"/>
                  </a:moveTo>
                  <a:lnTo>
                    <a:pt x="11125200" y="0"/>
                  </a:lnTo>
                </a:path>
              </a:pathLst>
            </a:custGeom>
            <a:noFill/>
            <a:ln w="9525">
              <a:solidFill>
                <a:srgbClr val="E1E6E3"/>
              </a:solidFill>
            </a:ln>
          </p:spPr>
        </p:sp>
        <p:sp>
          <p:nvSpPr>
            <p:cNvPr id="42" name="TextBox 42"/>
            <p:cNvSpPr txBox="1"/>
            <p:nvPr/>
          </p:nvSpPr>
          <p:spPr>
            <a:xfrm>
              <a:off x="11179740" y="6468428"/>
              <a:ext cx="484194" cy="205359"/>
            </a:xfrm>
            <a:prstGeom prst="rect">
              <a:avLst/>
            </a:prstGeom>
            <a:noFill/>
            <a:ln>
              <a:noFill/>
            </a:ln>
          </p:spPr>
          <p:txBody>
            <a:bodyPr wrap="none" lIns="0" tIns="0" rIns="0" bIns="0" anchor="t" anchorCtr="0">
              <a:spAutoFit/>
            </a:bodyPr>
            <a:lstStyle/>
            <a:p>
              <a:pPr algn="r"/>
              <a:r>
                <a:rPr lang="en-US" sz="1050" dirty="0">
                  <a:solidFill>
                    <a:srgbClr val="89918D"/>
                  </a:solidFill>
                  <a:latin typeface="+mn-lt"/>
                  <a:ea typeface="+mn-ea"/>
                  <a:cs typeface="+mn-cs"/>
                </a:rPr>
                <a:t>14 / 15</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7048500" y="-1714500"/>
            <a:ext cx="6286500" cy="7315200"/>
            <a:chOff x="7048500" y="-1714500"/>
            <a:chExt cx="6286500" cy="7315200"/>
          </a:xfrm>
        </p:grpSpPr>
        <p:sp>
          <p:nvSpPr>
            <p:cNvPr id="2" name="Ellipse 2"/>
            <p:cNvSpPr/>
            <p:nvPr/>
          </p:nvSpPr>
          <p:spPr>
            <a:xfrm>
              <a:off x="7048500" y="-1714500"/>
              <a:ext cx="6286500" cy="6286500"/>
            </a:xfrm>
            <a:prstGeom prst="ellipse">
              <a:avLst/>
            </a:prstGeom>
            <a:solidFill>
              <a:schemeClr val="lt2"/>
            </a:solidFill>
            <a:ln>
              <a:noFill/>
            </a:ln>
          </p:spPr>
        </p:sp>
        <p:pic>
          <p:nvPicPr>
            <p:cNvPr id="3" name="Image 3"/>
            <p:cNvPicPr>
              <a:picLocks noChangeAspect="1"/>
            </p:cNvPicPr>
            <p:nvPr/>
          </p:nvPicPr>
          <p:blipFill>
            <a:blip r:embed="rId2"/>
            <a:stretch>
              <a:fillRect/>
            </a:stretch>
          </p:blipFill>
          <p:spPr>
            <a:xfrm>
              <a:off x="7239000" y="0"/>
              <a:ext cx="4953000" cy="4953000"/>
            </a:xfrm>
            <a:prstGeom prst="rect">
              <a:avLst/>
            </a:prstGeom>
          </p:spPr>
        </p:pic>
        <p:sp>
          <p:nvSpPr>
            <p:cNvPr id="4" name="Ellipse 4"/>
            <p:cNvSpPr/>
            <p:nvPr/>
          </p:nvSpPr>
          <p:spPr>
            <a:xfrm>
              <a:off x="8829675" y="3352800"/>
              <a:ext cx="2247900" cy="2247900"/>
            </a:xfrm>
            <a:prstGeom prst="ellipse">
              <a:avLst/>
            </a:prstGeom>
            <a:solidFill>
              <a:schemeClr val="accent1"/>
            </a:solidFill>
            <a:ln>
              <a:noFill/>
            </a:ln>
          </p:spPr>
        </p:sp>
        <p:sp>
          <p:nvSpPr>
            <p:cNvPr id="5" name="Ellipse 5"/>
            <p:cNvSpPr/>
            <p:nvPr/>
          </p:nvSpPr>
          <p:spPr>
            <a:xfrm>
              <a:off x="9172575" y="3695700"/>
              <a:ext cx="1562100" cy="1562100"/>
            </a:xfrm>
            <a:prstGeom prst="ellipse">
              <a:avLst/>
            </a:prstGeom>
            <a:solidFill>
              <a:schemeClr val="lt1"/>
            </a:solidFill>
            <a:ln>
              <a:noFill/>
            </a:ln>
          </p:spPr>
        </p:sp>
      </p:grpSp>
      <p:grpSp>
        <p:nvGrpSpPr>
          <p:cNvPr id="8" name="Group 8"/>
          <p:cNvGrpSpPr/>
          <p:nvPr/>
        </p:nvGrpSpPr>
        <p:grpSpPr>
          <a:xfrm>
            <a:off x="552450" y="403904"/>
            <a:ext cx="1352550" cy="392343"/>
            <a:chOff x="552450" y="403904"/>
            <a:chExt cx="1352550" cy="392343"/>
          </a:xfrm>
        </p:grpSpPr>
        <p:pic>
          <p:nvPicPr>
            <p:cNvPr id="7" name="Image 7"/>
            <p:cNvPicPr>
              <a:picLocks noChangeAspect="1"/>
            </p:cNvPicPr>
            <p:nvPr/>
          </p:nvPicPr>
          <p:blipFill>
            <a:blip r:embed="rId3"/>
            <a:stretch>
              <a:fillRect/>
            </a:stretch>
          </p:blipFill>
          <p:spPr>
            <a:xfrm>
              <a:off x="552450" y="403904"/>
              <a:ext cx="1352550" cy="392343"/>
            </a:xfrm>
            <a:prstGeom prst="rect">
              <a:avLst/>
            </a:prstGeom>
          </p:spPr>
        </p:pic>
      </p:grpSp>
      <p:grpSp>
        <p:nvGrpSpPr>
          <p:cNvPr id="15" name="Group 15"/>
          <p:cNvGrpSpPr/>
          <p:nvPr/>
        </p:nvGrpSpPr>
        <p:grpSpPr>
          <a:xfrm>
            <a:off x="666750" y="2187892"/>
            <a:ext cx="4160647" cy="2836451"/>
            <a:chOff x="666750" y="2187892"/>
            <a:chExt cx="4160647" cy="2836451"/>
          </a:xfrm>
        </p:grpSpPr>
        <p:sp>
          <p:nvSpPr>
            <p:cNvPr id="9" name="TextBox 9"/>
            <p:cNvSpPr txBox="1"/>
            <p:nvPr/>
          </p:nvSpPr>
          <p:spPr>
            <a:xfrm>
              <a:off x="678942" y="2187892"/>
              <a:ext cx="3646757" cy="264033"/>
            </a:xfrm>
            <a:prstGeom prst="rect">
              <a:avLst/>
            </a:prstGeom>
            <a:noFill/>
            <a:ln>
              <a:noFill/>
            </a:ln>
          </p:spPr>
          <p:txBody>
            <a:bodyPr wrap="none" lIns="0" tIns="0" rIns="0" bIns="0" anchor="t" anchorCtr="0">
              <a:spAutoFit/>
            </a:bodyPr>
            <a:lstStyle/>
            <a:p>
              <a:pPr algn="l"/>
              <a:r>
                <a:rPr lang="en-US" sz="1350" b="1" spc="150" dirty="0">
                  <a:solidFill>
                    <a:schemeClr val="accent1"/>
                  </a:solidFill>
                  <a:latin typeface="+mn-lt"/>
                  <a:ea typeface="+mn-ea"/>
                  <a:cs typeface="+mn-cs"/>
                </a:rPr>
                <a:t>KẾT QUẢ · NĂNG LỰC · HÀNH ĐỘNG</a:t>
              </a:r>
            </a:p>
          </p:txBody>
        </p:sp>
        <p:sp>
          <p:nvSpPr>
            <p:cNvPr id="10" name="TextBox 10"/>
            <p:cNvSpPr txBox="1"/>
            <p:nvPr/>
          </p:nvSpPr>
          <p:spPr>
            <a:xfrm>
              <a:off x="666750" y="2705100"/>
              <a:ext cx="2222373" cy="876300"/>
            </a:xfrm>
            <a:prstGeom prst="rect">
              <a:avLst/>
            </a:prstGeom>
            <a:noFill/>
            <a:ln>
              <a:noFill/>
            </a:ln>
          </p:spPr>
          <p:txBody>
            <a:bodyPr wrap="none" lIns="0" tIns="0" rIns="0" bIns="0" anchor="t" anchorCtr="0">
              <a:spAutoFit/>
            </a:bodyPr>
            <a:lstStyle/>
            <a:p>
              <a:pPr algn="l"/>
              <a:r>
                <a:rPr lang="en-US" sz="4500" b="1" dirty="0">
                  <a:solidFill>
                    <a:schemeClr val="dk1"/>
                  </a:solidFill>
                  <a:latin typeface="+mn-lt"/>
                  <a:ea typeface="+mn-ea"/>
                  <a:cs typeface="+mn-cs"/>
                </a:rPr>
                <a:t>CẢM ƠN</a:t>
              </a:r>
            </a:p>
          </p:txBody>
        </p:sp>
        <p:sp>
          <p:nvSpPr>
            <p:cNvPr id="11" name="Rectangle 11"/>
            <p:cNvSpPr/>
            <p:nvPr/>
          </p:nvSpPr>
          <p:spPr>
            <a:xfrm>
              <a:off x="685800" y="3476625"/>
              <a:ext cx="819150" cy="47625"/>
            </a:xfrm>
            <a:prstGeom prst="roundRect">
              <a:avLst>
                <a:gd name="adj" fmla="val 50000"/>
              </a:avLst>
            </a:prstGeom>
            <a:solidFill>
              <a:schemeClr val="accent1"/>
            </a:solidFill>
            <a:ln>
              <a:noFill/>
            </a:ln>
          </p:spPr>
        </p:sp>
        <p:sp>
          <p:nvSpPr>
            <p:cNvPr id="12" name="TextBox 12"/>
            <p:cNvSpPr txBox="1"/>
            <p:nvPr/>
          </p:nvSpPr>
          <p:spPr>
            <a:xfrm>
              <a:off x="676656" y="3901440"/>
              <a:ext cx="1722231"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102 task Done</a:t>
              </a:r>
            </a:p>
          </p:txBody>
        </p:sp>
        <p:sp>
          <p:nvSpPr>
            <p:cNvPr id="13" name="TextBox 13"/>
            <p:cNvSpPr txBox="1"/>
            <p:nvPr/>
          </p:nvSpPr>
          <p:spPr>
            <a:xfrm>
              <a:off x="2848356" y="3901440"/>
              <a:ext cx="1697538"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07 nhóm dự án</a:t>
              </a:r>
            </a:p>
          </p:txBody>
        </p:sp>
        <p:sp>
          <p:nvSpPr>
            <p:cNvPr id="14" name="TextBox 14"/>
            <p:cNvSpPr txBox="1"/>
            <p:nvPr/>
          </p:nvSpPr>
          <p:spPr>
            <a:xfrm>
              <a:off x="677799" y="4421029"/>
              <a:ext cx="4149598" cy="603314"/>
            </a:xfrm>
            <a:prstGeom prst="rect">
              <a:avLst/>
            </a:prstGeom>
            <a:noFill/>
            <a:ln>
              <a:noFill/>
            </a:ln>
          </p:spPr>
          <p:txBody>
            <a:bodyPr wrap="square" lIns="0" tIns="0" rIns="0" bIns="0" anchor="t" anchorCtr="0"/>
            <a:lstStyle/>
            <a:p>
              <a:pPr algn="l">
                <a:lnSpc>
                  <a:spcPts val="2325"/>
                </a:lnSpc>
              </a:pPr>
              <a:r>
                <a:rPr lang="en-US" sz="1580" dirty="0">
                  <a:solidFill>
                    <a:srgbClr val="5E6862"/>
                  </a:solidFill>
                  <a:latin typeface="+mn-lt"/>
                  <a:ea typeface="+mn-ea"/>
                  <a:cs typeface="+mn-cs"/>
                </a:rPr>
                <a:t>Tiếp tục hoàn thiện Auto Test và chuẩn hóa tool, test case, tài liệu dùng lại.</a:t>
              </a:r>
            </a:p>
          </p:txBody>
        </p:sp>
      </p:grpSp>
      <p:sp>
        <p:nvSpPr>
          <p:cNvPr id="16" name="TextBox 16"/>
          <p:cNvSpPr txBox="1"/>
          <p:nvPr/>
        </p:nvSpPr>
        <p:spPr>
          <a:xfrm>
            <a:off x="678942" y="5950268"/>
            <a:ext cx="373959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Nguyễn Văn Dương · Review tháng 7/2026</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review_nhan_su_t7_redesign">
  <a:themeElements>
    <a:clrScheme name="review_nhan_su_t7_redesign">
      <a:dk1>
        <a:srgbClr val="1F2329"/>
      </a:dk1>
      <a:lt1>
        <a:srgbClr val="FFFFFF"/>
      </a:lt1>
      <a:dk2>
        <a:srgbClr val="1F497D"/>
      </a:dk2>
      <a:lt2>
        <a:srgbClr val="F4F7F5"/>
      </a:lt2>
      <a:accent1>
        <a:srgbClr val="008C4F"/>
      </a:accent1>
      <a:accent2>
        <a:srgbClr val="1456F0"/>
      </a:accent2>
      <a:accent3>
        <a:srgbClr val="79C6A3"/>
      </a:accent3>
      <a:accent4>
        <a:srgbClr val="008C4F"/>
      </a:accent4>
      <a:accent5>
        <a:srgbClr val="4BACC6"/>
      </a:accent5>
      <a:accent6>
        <a:srgbClr val="F79646"/>
      </a:accent6>
      <a:hlink>
        <a:srgbClr val="1456F0"/>
      </a:hlink>
      <a:folHlink>
        <a:srgbClr val="79C6A3"/>
      </a:folHlink>
    </a:clrScheme>
    <a:fontScheme name="review_nhan_su_t7_re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view_nhan_su_t7_r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review_nhan_su_t7_redesign">
  <a:themeElements>
    <a:clrScheme name="review_nhan_su_t7_redesign">
      <a:dk1>
        <a:srgbClr val="1F2329"/>
      </a:dk1>
      <a:lt1>
        <a:srgbClr val="FFFFFF"/>
      </a:lt1>
      <a:dk2>
        <a:srgbClr val="1F497D"/>
      </a:dk2>
      <a:lt2>
        <a:srgbClr val="F4F7F5"/>
      </a:lt2>
      <a:accent1>
        <a:srgbClr val="008C4F"/>
      </a:accent1>
      <a:accent2>
        <a:srgbClr val="1456F0"/>
      </a:accent2>
      <a:accent3>
        <a:srgbClr val="79C6A3"/>
      </a:accent3>
      <a:accent4>
        <a:srgbClr val="008C4F"/>
      </a:accent4>
      <a:accent5>
        <a:srgbClr val="4BACC6"/>
      </a:accent5>
      <a:accent6>
        <a:srgbClr val="F79646"/>
      </a:accent6>
      <a:hlink>
        <a:srgbClr val="1456F0"/>
      </a:hlink>
      <a:folHlink>
        <a:srgbClr val="79C6A3"/>
      </a:folHlink>
    </a:clrScheme>
    <a:fontScheme name="review_nhan_su_t7_re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view_nhan_su_t7_re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2026-07-22T14:53:52Z</dcterms:created>
  <dcterms:modified xsi:type="dcterms:W3CDTF">2026-07-22T14:53:52Z</dcterms:modified>
  <cp:category/>
  <cp:contentStatus/>
</cp:coreProperties>
</file>
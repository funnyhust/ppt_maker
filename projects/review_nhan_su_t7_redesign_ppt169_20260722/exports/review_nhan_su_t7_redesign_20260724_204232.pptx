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_rels/notesSlide1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0.xml"/>
</Relationships>
</file>

<file path=ppt/notesSlides/_rels/notesSlide2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1.xml"/>
</Relationships>
</file>

<file path=ppt/notesSlides/_rels/notesSlide2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2.xml"/>
</Relationships>
</file>

<file path=ppt/notesSlides/_rels/notesSlide2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3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Mở đầu kỳ review ngày 23/07/2026, phạm vi đánh giá từ 20/03 đến 22/07/2026.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trình bày giữ nguyên bốn phần của template cũ: dự án, AI, tự đánh giá và mục tiêu.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Trong kỳ có 114 task thuộc 7 nhóm dự án; 102 task đã Done, tương đương 89,5%.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KNX là trọng tâm lớn nhất với 98 task, bao phủ sản phẩm, tool, hệ thống và đào tạo.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Đầu ra KNX đi xuyên suốt từ firmware đến Jig, benchmark, kiểm thử, tài liệu và đào tạo.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phóng lớn cho thấy bảng điều khiển tập trung, hỗ trợ theo dõi thiết bị và trạng thái benchmark.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Giao diện tạo test case chuẩn hóa dữ liệu đầu vào và giảm thao tác rời rạc trong quá trình kiểm thử.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Báo cáo tổng hợp kết quả pass/fail và bằng chứng test, giúp truy vết và xác nhận đầu ra.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tiến bộ chính là tư duy end-to-end và quy trình tái hiện, đo, đối chiếu, xác nhận.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nạp code gom cấu hình, điều khiển nhiều máy và log vận hành vào một giao diện thống nhất.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Đã hoàn thành KNX Basic Course, đạt 88,5% lý thuyết và 96% thực hành; được KNX Association công nhận KNX Partner số 147063 ngày 31/05/2026.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Auto Test đang ở giai đoạn xây nền, đã hoàn thành 4 trên 5 task trong phạm vi review.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Tool Design tập trung chỉnh sửa tool nguồn DC cho flow vận hành thực tế tại nhà máy.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Ảnh giao diện phóng lớn minh họa hai vòng chỉnh sửa, ưu tiên độ ổn định, dễ dùng và dễ bảo trì.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Đóng góp cho IoT gồm loader Luto và phối hợp định hướng Auto Test; cả hai task đã hoàn thành.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LumesV2 đã có tool test nguồn và tool nạp code cho mạch main V2.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MSB tập trung xử lý lỗi đo sai năng lượng và kiểm tra Jig tại nhà máy.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Smart Lighting mới khởi động từ 20/07, đang dựng nền tool test cho Deep Dimming và CCT Tunable.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AI hỗ trợ code, tài liệu và học nhanh; mọi kết luận kỹ thuật vẫn phải được kiểm chứng thực tế.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Điểm mạnh là năng lực end-to-end và chủ động; điểm cần cải thiện là ưu tiên và đóng vòng công việc.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Bài học chung là chuẩn hóa interface, logging, acceptance và handoff càng sớm càng tốt.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Mục tiêu tiếp theo là hoàn tất dự án đang chạy, đóng task còn mở và chuẩn hóa tài sản dùng lại.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Cảm ơn và sẵn sàng trao đổi thêm.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review_nhan_su_t7_re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review_nhan_su_t7_redesign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5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5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5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10fcf8f9f909b91.pn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3db7369d2c1e7d49.jp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10707da1aef28a0.pn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d5d8ea2d71d37bf.pn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b9e63bc5fbef4046.pn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6c42e28fcff89fb.png"/>
  <Relationship Id="rId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f37076700b99ce05.jpg"/>
  <Relationship Id="rId4" Type="http://schemas.openxmlformats.org/officeDocument/2006/relationships/image" Target="../media/image_1769f417fa58109b.png"/>
  <Relationship Id="rId5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0ee3708cd69e1814.jpg"/>
  <Relationship Id="rId4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69664ee4becf20cb.png"/>
  <Relationship Id="rId4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deea19358d7d9df9.jpg"/>
  <Relationship Id="rId4" Type="http://schemas.openxmlformats.org/officeDocument/2006/relationships/notesSlide" Target="../notesSlides/notesSlide16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image" Target="../media/image_ebf0602e5ed4ba86.jpg"/>
  <Relationship Id="rId4" Type="http://schemas.openxmlformats.org/officeDocument/2006/relationships/notesSlide" Target="../notesSlides/notesSlide1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8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19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0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1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fa7a601c29ca778.png"/>
  <Relationship Id="rId3" Type="http://schemas.openxmlformats.org/officeDocument/2006/relationships/notesSlide" Target="../notesSlides/notesSlide22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7dad2eee78ee9d.png"/>
  <Relationship Id="rId3" Type="http://schemas.openxmlformats.org/officeDocument/2006/relationships/image" Target="../media/image_b3ef018bf0b10f2b.png"/>
  <Relationship Id="rId4" Type="http://schemas.openxmlformats.org/officeDocument/2006/relationships/image" Target="../media/image_cd22578ee1f97165.png"/>
  <Relationship Id="rId5" Type="http://schemas.openxmlformats.org/officeDocument/2006/relationships/image" Target="../media/image_5a1205fbd766d78e.png"/>
  <Relationship Id="rId6" Type="http://schemas.openxmlformats.org/officeDocument/2006/relationships/image" Target="../media/image_3f64fe1646839cff.png"/>
  <Relationship Id="rId7" Type="http://schemas.openxmlformats.org/officeDocument/2006/relationships/notesSlide" Target="../notesSlides/notesSlide23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386334" y="2708910"/>
            <a:ext cx="4090416" cy="1765268"/>
            <a:chOff x="386334" y="2708910"/>
            <a:chExt cx="4090416" cy="1765268"/>
          </a:xfrm>
        </p:grpSpPr>
        <p:sp>
          <p:nvSpPr>
            <p:cNvPr id="3" name="TextBox 3"/>
            <p:cNvSpPr txBox="1"/>
            <p:nvPr/>
          </p:nvSpPr>
          <p:spPr>
            <a:xfrm>
              <a:off x="386334" y="2708910"/>
              <a:ext cx="277337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REVIEW NHÂN SỰ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92430" y="3362325"/>
              <a:ext cx="27910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Họ và tên: Nguyễn Văn Dương</a:t>
              </a:r>
            </a:p>
          </p:txBody>
        </p:sp>
        <p:sp>
          <p:nvSpPr>
            <p:cNvPr id="5" name="Line 5"/>
            <p:cNvSpPr/>
            <p:nvPr/>
          </p:nvSpPr>
          <p:spPr>
            <a:xfrm>
              <a:off x="400050" y="3762375"/>
              <a:ext cx="4076700" cy="9525"/>
            </a:xfrm>
            <a:custGeom>
              <a:avLst/>
              <a:gdLst/>
              <a:ahLst/>
              <a:cxnLst/>
              <a:rect l="l" t="t" r="r" b="b"/>
              <a:pathLst>
                <a:path w="4076700" h="9525">
                  <a:moveTo>
                    <a:pt x="0" y="0"/>
                  </a:moveTo>
                  <a:lnTo>
                    <a:pt x="4076700" y="0"/>
                  </a:lnTo>
                </a:path>
              </a:pathLst>
            </a:custGeom>
            <a:noFill/>
            <a:ln w="9525">
              <a:solidFill>
                <a:srgbClr val="FFFFFF">
                  <a:alpha val="45000"/>
                </a:srgbClr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93573" y="3929539"/>
              <a:ext cx="21097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Ngày review: 23/07/2026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93573" y="4224814"/>
              <a:ext cx="3023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Giai đoạn review: 20/03–22/07/2026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81800" y="847725"/>
            <a:ext cx="5143500" cy="5143500"/>
            <a:chOff x="6781800" y="847725"/>
            <a:chExt cx="5143500" cy="5143500"/>
          </a:xfrm>
        </p:grpSpPr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1800" y="847725"/>
              <a:ext cx="5143500" cy="5143500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741" y="285750"/>
            <a:ext cx="1444792" cy="4191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709026" y="952500"/>
            <a:ext cx="2487198" cy="4953000"/>
            <a:chOff x="709026" y="952500"/>
            <a:chExt cx="2487198" cy="4953000"/>
          </a:xfrm>
        </p:grpSpPr>
        <p:pic>
          <p:nvPicPr>
            <p:cNvPr id="3" name="Imag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026" y="952500"/>
              <a:ext cx="2487198" cy="4953000"/>
            </a:xfrm>
            <a:prstGeom prst="rect">
              <a:avLst/>
            </a:prstGeom>
          </p:spPr>
        </p:pic>
        <p:sp>
          <p:nvSpPr>
            <p:cNvPr id="4" name="TextBox 4"/>
            <p:cNvSpPr txBox="1"/>
            <p:nvPr/>
          </p:nvSpPr>
          <p:spPr>
            <a:xfrm>
              <a:off x="1330361" y="3202305"/>
              <a:ext cx="12445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NỘI DUNG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3743325" y="1371600"/>
            <a:ext cx="5849993" cy="3489198"/>
            <a:chOff x="3743325" y="1371600"/>
            <a:chExt cx="5849993" cy="3489198"/>
          </a:xfrm>
        </p:grpSpPr>
        <p:grpSp>
          <p:nvGrpSpPr>
            <p:cNvPr id="12" name="Group 12"/>
            <p:cNvGrpSpPr/>
            <p:nvPr/>
          </p:nvGrpSpPr>
          <p:grpSpPr>
            <a:xfrm>
              <a:off x="3743325" y="1371600"/>
              <a:ext cx="5849993" cy="488823"/>
              <a:chOff x="3743325" y="1371600"/>
              <a:chExt cx="5849993" cy="488823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3743325" y="155257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Line 7"/>
              <p:cNvSpPr/>
              <p:nvPr/>
            </p:nvSpPr>
            <p:spPr>
              <a:xfrm>
                <a:off x="3819525" y="159067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4000500" y="137160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000625" y="137160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4410570" y="146304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01.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561457" y="1449705"/>
                <a:ext cx="403186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Các dự án tham gia và kết quả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743325" y="2371725"/>
              <a:ext cx="5416067" cy="488823"/>
              <a:chOff x="3743325" y="2371725"/>
              <a:chExt cx="5416067" cy="488823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3743325" y="255270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9525" y="259080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4000500" y="237172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5000625" y="237172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4410570" y="246316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02.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5561457" y="2449830"/>
                <a:ext cx="3597935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Sử dụng AI trong công việc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743325" y="3371850"/>
              <a:ext cx="5454120" cy="488823"/>
              <a:chOff x="3743325" y="3371850"/>
              <a:chExt cx="5454120" cy="488823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3743325" y="3552825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9525" y="3590925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000500" y="3371850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000625" y="3371850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10570" y="3463290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03.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561457" y="3449955"/>
                <a:ext cx="3635988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Tự đánh giá ưu, nhược điểm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743325" y="4371975"/>
              <a:ext cx="4039948" cy="488823"/>
              <a:chOff x="3743325" y="4371975"/>
              <a:chExt cx="4039948" cy="488823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3743325" y="4552950"/>
                <a:ext cx="76200" cy="76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3819525" y="4591050"/>
                <a:ext cx="180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9525">
                    <a:moveTo>
                      <a:pt x="0" y="0"/>
                    </a:moveTo>
                    <a:lnTo>
                      <a:pt x="180975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000500" y="4371975"/>
                <a:ext cx="1238250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238250" h="438150">
                    <a:moveTo>
                      <a:pt x="95250" y="0"/>
                    </a:moveTo>
                    <a:lnTo>
                      <a:pt x="1143000" y="0"/>
                    </a:lnTo>
                    <a:lnTo>
                      <a:pt x="1238250" y="95250"/>
                    </a:lnTo>
                    <a:lnTo>
                      <a:pt x="1238250" y="342900"/>
                    </a:lnTo>
                    <a:lnTo>
                      <a:pt x="1143000" y="438150"/>
                    </a:lnTo>
                    <a:lnTo>
                      <a:pt x="95250" y="438150"/>
                    </a:lnTo>
                    <a:lnTo>
                      <a:pt x="0" y="3429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lt1"/>
              </a:solidFill>
              <a:ln w="19050">
                <a:solidFill>
                  <a:schemeClr val="accent3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000625" y="4371975"/>
                <a:ext cx="161925" cy="4381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438150">
                    <a:moveTo>
                      <a:pt x="0" y="0"/>
                    </a:moveTo>
                    <a:lnTo>
                      <a:pt x="76200" y="76200"/>
                    </a:lnTo>
                    <a:moveTo>
                      <a:pt x="85725" y="0"/>
                    </a:moveTo>
                    <a:lnTo>
                      <a:pt x="161925" y="76200"/>
                    </a:lnTo>
                    <a:moveTo>
                      <a:pt x="0" y="438150"/>
                    </a:moveTo>
                    <a:lnTo>
                      <a:pt x="76200" y="361950"/>
                    </a:lnTo>
                    <a:moveTo>
                      <a:pt x="85725" y="438150"/>
                    </a:moveTo>
                    <a:lnTo>
                      <a:pt x="161925" y="361950"/>
                    </a:lnTo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accent1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10570" y="4463415"/>
                <a:ext cx="41810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04.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61457" y="4450080"/>
                <a:ext cx="222181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Mục tiêu sắp tới</a:t>
                </a:r>
              </a:p>
            </p:txBody>
          </p:sp>
        </p:grpSp>
      </p:grpSp>
      <p:sp>
        <p:nvSpPr>
          <p:cNvPr id="35" name="Line 35"/>
          <p:cNvSpPr/>
          <p:nvPr/>
        </p:nvSpPr>
        <p:spPr>
          <a:xfrm>
            <a:off x="0" y="6515100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0" y="0"/>
                </a:moveTo>
                <a:lnTo>
                  <a:pt x="12192000" y="0"/>
                </a:lnTo>
              </a:path>
            </a:pathLst>
          </a:custGeom>
          <a:noFill/>
          <a:ln w="9525">
            <a:solidFill>
              <a:srgbClr val="DDE6E1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4416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Các dự án tham gia và kết quả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953500" y="228600"/>
            <a:ext cx="2667000" cy="647700"/>
            <a:chOff x="8953500" y="228600"/>
            <a:chExt cx="2667000" cy="647700"/>
          </a:xfrm>
        </p:grpSpPr>
        <p:sp>
          <p:nvSpPr>
            <p:cNvPr id="4" name="Rectangle 4"/>
            <p:cNvSpPr/>
            <p:nvPr/>
          </p:nvSpPr>
          <p:spPr>
            <a:xfrm>
              <a:off x="8953500" y="228600"/>
              <a:ext cx="1200150" cy="647700"/>
            </a:xfrm>
            <a:prstGeom prst="roundRect">
              <a:avLst>
                <a:gd name="adj" fmla="val 17647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927976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114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383954" y="66770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0267950" y="228600"/>
              <a:ext cx="1352550" cy="647700"/>
            </a:xfrm>
            <a:prstGeom prst="roundRect">
              <a:avLst>
                <a:gd name="adj" fmla="val 1764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670412" y="347662"/>
              <a:ext cx="5476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53497" y="66770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DONE · 89,5%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59130" y="1116806"/>
            <a:ext cx="10586085" cy="4415314"/>
            <a:chOff x="659130" y="1116806"/>
            <a:chExt cx="10586085" cy="4415314"/>
          </a:xfrm>
        </p:grpSpPr>
        <p:sp>
          <p:nvSpPr>
            <p:cNvPr id="11" name="Line 11"/>
            <p:cNvSpPr/>
            <p:nvPr/>
          </p:nvSpPr>
          <p:spPr>
            <a:xfrm>
              <a:off x="2857500" y="1381125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9050">
              <a:solidFill>
                <a:srgbClr val="CBD8D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8517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20/03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090160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01/05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32853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01/06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1928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01/07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19155" y="1116806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22/07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659130" y="1695450"/>
              <a:ext cx="10580370" cy="460534"/>
              <a:chOff x="659130" y="1695450"/>
              <a:chExt cx="10580370" cy="460534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659130" y="1695450"/>
                <a:ext cx="38488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1035" y="1935956"/>
                <a:ext cx="1279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98 task · 91 Done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857500" y="1695450"/>
                <a:ext cx="8382000" cy="30480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10131100" y="1783556"/>
                <a:ext cx="9236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20/03–22/07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59130" y="2247900"/>
              <a:ext cx="4678128" cy="331470"/>
              <a:chOff x="659130" y="2247900"/>
              <a:chExt cx="4678128" cy="331470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659130" y="2286000"/>
                <a:ext cx="118898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MSB Office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3857625" y="2247900"/>
                <a:ext cx="5524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71416" y="23250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07/04–10/04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659130" y="2838450"/>
              <a:ext cx="8392878" cy="331470"/>
              <a:chOff x="659130" y="2838450"/>
              <a:chExt cx="8392878" cy="331470"/>
            </a:xfrm>
          </p:grpSpPr>
          <p:sp>
            <p:nvSpPr>
              <p:cNvPr id="26" name="TextBox 26"/>
              <p:cNvSpPr txBox="1"/>
              <p:nvPr/>
            </p:nvSpPr>
            <p:spPr>
              <a:xfrm>
                <a:off x="659130" y="2876550"/>
                <a:ext cx="89014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LumesV2</a:t>
                </a: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6191250" y="2838450"/>
                <a:ext cx="1905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186166" y="29156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18/05–16/06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59130" y="3429000"/>
              <a:ext cx="7440378" cy="331470"/>
              <a:chOff x="659130" y="3429000"/>
              <a:chExt cx="7440378" cy="331470"/>
            </a:xfrm>
          </p:grpSpPr>
          <p:sp>
            <p:nvSpPr>
              <p:cNvPr id="30" name="TextBox 30"/>
              <p:cNvSpPr txBox="1"/>
              <p:nvPr/>
            </p:nvSpPr>
            <p:spPr>
              <a:xfrm>
                <a:off x="659130" y="3467100"/>
                <a:ext cx="1151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Design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6477000" y="3429000"/>
                <a:ext cx="66675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45A775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233666" y="350615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21/05–27/05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659130" y="4019550"/>
              <a:ext cx="8659578" cy="331470"/>
              <a:chOff x="659130" y="4019550"/>
              <a:chExt cx="8659578" cy="331470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659130" y="4057650"/>
                <a:ext cx="9056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IoT Team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838950" y="40195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8452866" y="4096702"/>
                <a:ext cx="8658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26/05–15/06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659130" y="4610100"/>
              <a:ext cx="10580370" cy="331470"/>
              <a:chOff x="659130" y="4610100"/>
              <a:chExt cx="10580370" cy="331470"/>
            </a:xfrm>
          </p:grpSpPr>
          <p:sp>
            <p:nvSpPr>
              <p:cNvPr id="38" name="TextBox 38"/>
              <p:cNvSpPr txBox="1"/>
              <p:nvPr/>
            </p:nvSpPr>
            <p:spPr>
              <a:xfrm>
                <a:off x="659130" y="4648200"/>
                <a:ext cx="10258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Auto Test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9810750" y="4610100"/>
                <a:ext cx="142875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8339061" y="4687252"/>
                <a:ext cx="138177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06/07–25/07 dự kiến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9130" y="5200650"/>
              <a:ext cx="10580370" cy="331470"/>
              <a:chOff x="659130" y="5200650"/>
              <a:chExt cx="10580370" cy="331470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659130" y="5238750"/>
                <a:ext cx="15444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Smart Lighting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1049000" y="5200650"/>
                <a:ext cx="190500" cy="266700"/>
              </a:xfrm>
              <a:prstGeom prst="roundRect">
                <a:avLst>
                  <a:gd name="adj" fmla="val 50000"/>
                </a:avLst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26892" y="5277802"/>
                <a:ext cx="13131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105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Từ 20/07 · Ongoing</a:t>
                </a:r>
              </a:p>
            </p:txBody>
          </p:sp>
        </p:grpSp>
      </p:grpSp>
      <p:sp>
        <p:nvSpPr>
          <p:cNvPr id="47" name="Rectangle 47"/>
          <p:cNvSpPr/>
          <p:nvPr/>
        </p:nvSpPr>
        <p:spPr>
          <a:xfrm>
            <a:off x="495300" y="5905500"/>
            <a:ext cx="11125200" cy="419100"/>
          </a:xfrm>
          <a:prstGeom prst="roundRect">
            <a:avLst>
              <a:gd name="adj" fmla="val 22727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679323" y="6034564"/>
            <a:ext cx="8040631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Trọng tâm: KNX xuyên suốt · Mở rộng năng lực sang automation, tool nhà máy và kiểm thử đa hệ.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57696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1. Dự án KNX — Tổng quan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33400" y="1190625"/>
            <a:ext cx="4762500" cy="2286000"/>
            <a:chOff x="533400" y="1190625"/>
            <a:chExt cx="4762500" cy="2286000"/>
          </a:xfrm>
        </p:grpSpPr>
        <p:sp>
          <p:nvSpPr>
            <p:cNvPr id="6" name="Rectangle 6"/>
            <p:cNvSpPr/>
            <p:nvPr/>
          </p:nvSpPr>
          <p:spPr>
            <a:xfrm>
              <a:off x="533400" y="1190625"/>
              <a:ext cx="47625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12673" y="1443514"/>
              <a:ext cx="15423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PHẠM VI ĐÓNG GÓP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10768" y="1793558"/>
              <a:ext cx="21571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bị &amp; firmware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0768" y="2155508"/>
              <a:ext cx="32317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Tool, Jig, loader &amp; benchmark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2517458"/>
              <a:ext cx="33783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Kiểm thử hệ thống &amp; KNX Secure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10768" y="2879408"/>
              <a:ext cx="31344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trình, đào tạo &amp; tài liệu</a:t>
              </a:r>
            </a:p>
          </p:txBody>
        </p:sp>
      </p:grpSp>
      <p:pic>
        <p:nvPicPr>
          <p:cNvPr id="13" name="Imag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656" y="1143000"/>
            <a:ext cx="4167188" cy="2381250"/>
          </a:xfrm>
          <a:prstGeom prst="rect">
            <a:avLst/>
          </a:prstGeom>
        </p:spPr>
      </p:pic>
      <p:grpSp>
        <p:nvGrpSpPr>
          <p:cNvPr id="25" name="Group 25"/>
          <p:cNvGrpSpPr/>
          <p:nvPr/>
        </p:nvGrpSpPr>
        <p:grpSpPr>
          <a:xfrm>
            <a:off x="533400" y="3762375"/>
            <a:ext cx="11180047" cy="1047750"/>
            <a:chOff x="533400" y="3762375"/>
            <a:chExt cx="11180047" cy="1047750"/>
          </a:xfrm>
        </p:grpSpPr>
        <p:sp>
          <p:nvSpPr>
            <p:cNvPr id="14" name="Rectangle 14"/>
            <p:cNvSpPr/>
            <p:nvPr/>
          </p:nvSpPr>
          <p:spPr>
            <a:xfrm>
              <a:off x="53340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0086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98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2011" y="4122896"/>
              <a:ext cx="82703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KNX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3054" y="4461510"/>
              <a:ext cx="23303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86% tổng khối lượng kỳ review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210050" y="3762375"/>
              <a:ext cx="3429000" cy="1047750"/>
            </a:xfrm>
            <a:prstGeom prst="roundRect">
              <a:avLst>
                <a:gd name="adj" fmla="val 14545"/>
              </a:avLst>
            </a:prstGeom>
            <a:solidFill>
              <a:srgbClr val="EAF6F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77512" y="38881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9136" y="4122896"/>
              <a:ext cx="4409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Done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89704" y="4461510"/>
              <a:ext cx="24975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Đầu ra đã xác nhận trong dữ liệu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86700" y="3762375"/>
              <a:ext cx="3771900" cy="1047750"/>
            </a:xfrm>
            <a:prstGeom prst="roundRect">
              <a:avLst>
                <a:gd name="adj" fmla="val 145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165211" y="4018121"/>
              <a:ext cx="13091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 task còn lại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166354" y="4347210"/>
              <a:ext cx="35470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2 Ongoing · 2 Late · 2 Not started · 1 Closed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6923" y="5196364"/>
            <a:ext cx="11131677" cy="899636"/>
            <a:chOff x="526923" y="5196364"/>
            <a:chExt cx="11131677" cy="899636"/>
          </a:xfrm>
        </p:grpSpPr>
        <p:sp>
          <p:nvSpPr>
            <p:cNvPr id="26" name="TextBox 26"/>
            <p:cNvSpPr txBox="1"/>
            <p:nvPr/>
          </p:nvSpPr>
          <p:spPr>
            <a:xfrm>
              <a:off x="526923" y="5196364"/>
              <a:ext cx="17143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17423" y="5710714"/>
              <a:ext cx="2198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Firmware đa dòng thiết bị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210050" y="5486400"/>
              <a:ext cx="34290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394073" y="5710714"/>
              <a:ext cx="26439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Tool/Jig và benchmark hệ thống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7886700" y="5486400"/>
              <a:ext cx="3771900" cy="609600"/>
            </a:xfrm>
            <a:prstGeom prst="roundRect">
              <a:avLst>
                <a:gd name="adj" fmla="val 18750"/>
              </a:avLst>
            </a:prstGeom>
            <a:solidFill>
              <a:schemeClr val="lt1"/>
            </a:solidFill>
            <a:ln w="9525">
              <a:solidFill>
                <a:srgbClr val="CFE0D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70723" y="5710714"/>
              <a:ext cx="20543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Giáo trình &amp; đào tạo KNX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83034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Công việc chính &amp;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533400" y="1143000"/>
            <a:ext cx="11125200" cy="4095750"/>
            <a:chOff x="533400" y="1143000"/>
            <a:chExt cx="11125200" cy="4095750"/>
          </a:xfrm>
        </p:grpSpPr>
        <p:grpSp>
          <p:nvGrpSpPr>
            <p:cNvPr id="16" name="Group 16"/>
            <p:cNvGrpSpPr/>
            <p:nvPr/>
          </p:nvGrpSpPr>
          <p:grpSpPr>
            <a:xfrm>
              <a:off x="533400" y="1143000"/>
              <a:ext cx="3429000" cy="4095750"/>
              <a:chOff x="533400" y="1143000"/>
              <a:chExt cx="3429000" cy="40957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811530" y="1409700"/>
                <a:ext cx="24795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01 THIẾT BỊ &amp; FIRMWARE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1941671"/>
                <a:ext cx="171531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Công tắc 2/4 nút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2284571"/>
                <a:ext cx="2191074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Rèm, Actuator, KNOB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911" y="2627471"/>
                <a:ext cx="293683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Cấu hình và đóng gói .knxprod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81915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130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12292" y="4092892"/>
                <a:ext cx="282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thiện nhiều luồng firmware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12292" y="4388168"/>
                <a:ext cx="24762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chuẩn hóa cách kiểm thử.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4210050" y="1143000"/>
              <a:ext cx="3429000" cy="4095750"/>
              <a:chOff x="4210050" y="1143000"/>
              <a:chExt cx="3429000" cy="40957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210050" y="1143000"/>
                <a:ext cx="3429000" cy="4095750"/>
              </a:xfrm>
              <a:prstGeom prst="roundRect">
                <a:avLst>
                  <a:gd name="adj" fmla="val 5000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21005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488180" y="1409700"/>
                <a:ext cx="20987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02 TOOL &amp; HỆ THỐNG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488561" y="1941671"/>
                <a:ext cx="233467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Jig, loader, benchmark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488561" y="2284571"/>
                <a:ext cx="230001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delay/miss, Coupler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488561" y="2627471"/>
                <a:ext cx="271829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KNX Secure &amp; download flow</a:t>
                </a:r>
              </a:p>
            </p:txBody>
          </p:sp>
          <p:sp>
            <p:nvSpPr>
              <p:cNvPr id="23" name="Line 23"/>
              <p:cNvSpPr/>
              <p:nvPr/>
            </p:nvSpPr>
            <p:spPr>
              <a:xfrm>
                <a:off x="4495800" y="3476625"/>
                <a:ext cx="2857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0" h="9525">
                    <a:moveTo>
                      <a:pt x="0" y="0"/>
                    </a:moveTo>
                    <a:lnTo>
                      <a:pt x="2857500" y="0"/>
                    </a:lnTo>
                  </a:path>
                </a:pathLst>
              </a:custGeom>
              <a:noFill/>
              <a:ln w="9525">
                <a:solidFill>
                  <a:srgbClr val="B8D8C7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448970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488942" y="4092892"/>
                <a:ext cx="23009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Tăng khả năng tái hiện, đo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488942" y="4388168"/>
                <a:ext cx="21945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và xác nhận lỗi hệ thống.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7886700" y="1143000"/>
              <a:ext cx="3771900" cy="4095750"/>
              <a:chOff x="7886700" y="1143000"/>
              <a:chExt cx="3771900" cy="40957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7886700" y="1143000"/>
                <a:ext cx="3771900" cy="4095750"/>
              </a:xfrm>
              <a:prstGeom prst="roundRect">
                <a:avLst>
                  <a:gd name="adj" fmla="val 4545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29" name="Rectangle 29"/>
              <p:cNvSpPr/>
              <p:nvPr/>
            </p:nvSpPr>
            <p:spPr>
              <a:xfrm>
                <a:off x="7886700" y="1143000"/>
                <a:ext cx="76200" cy="4095750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8164830" y="1409700"/>
                <a:ext cx="23003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03 TÀI LIỆU &amp; ĐÀO TẠO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165211" y="1941671"/>
                <a:ext cx="178977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Giáo trình và ETS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165211" y="2284571"/>
                <a:ext cx="208114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Quiz, Q&amp;A, Topology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165211" y="2627471"/>
                <a:ext cx="305830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53289" indent="-153289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Tester và đào tạo nội bộ</a:t>
                </a:r>
              </a:p>
            </p:txBody>
          </p:sp>
          <p:sp>
            <p:nvSpPr>
              <p:cNvPr id="34" name="Line 34"/>
              <p:cNvSpPr/>
              <p:nvPr/>
            </p:nvSpPr>
            <p:spPr>
              <a:xfrm>
                <a:off x="8172450" y="3476625"/>
                <a:ext cx="32004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00400" h="9525">
                    <a:moveTo>
                      <a:pt x="0" y="0"/>
                    </a:moveTo>
                    <a:lnTo>
                      <a:pt x="3200400" y="0"/>
                    </a:lnTo>
                  </a:path>
                </a:pathLst>
              </a:custGeom>
              <a:noFill/>
              <a:ln w="9525">
                <a:solidFill>
                  <a:srgbClr val="C8D8D0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166354" y="3728085"/>
                <a:ext cx="6932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165592" y="40928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Chuyển tri thức kỹ thuật thành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165592" y="4388168"/>
                <a:ext cx="20491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tài sản có thể dùng lại.</a:t>
                </a:r>
              </a:p>
            </p:txBody>
          </p:sp>
        </p:grpSp>
      </p:grpSp>
      <p:sp>
        <p:nvSpPr>
          <p:cNvPr id="40" name="Rectangle 40"/>
          <p:cNvSpPr/>
          <p:nvPr/>
        </p:nvSpPr>
        <p:spPr>
          <a:xfrm>
            <a:off x="533400" y="5524500"/>
            <a:ext cx="11125200" cy="609600"/>
          </a:xfrm>
          <a:prstGeom prst="roundRect">
            <a:avLst>
              <a:gd name="adj" fmla="val 25000"/>
            </a:avLst>
          </a:prstGeom>
          <a:solidFill>
            <a:schemeClr val="accent1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852438" y="5735479"/>
            <a:ext cx="10487124" cy="3080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8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Các trang tiếp theo phóng lớn từng bằng chứng benchmark để có thể đọc trực tiếp trên màn hình.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3421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Bảng điều khiển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01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40139" y="1009650"/>
              <a:ext cx="9911721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8445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MỤC ĐÍCH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50898" y="5929789"/>
              <a:ext cx="63428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Theo dõi thiết bị, trạng thái test và điều khiển luồng benchmark tập trung.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4129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Tạo test case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02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725" y="1009650"/>
              <a:ext cx="1003855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7394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803273" y="5929789"/>
              <a:ext cx="6860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Chuẩn hóa dữ liệu đầu vào, thao tác tạo và quản lý test case trong cùng một flow.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43046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Benchmark — Báo cáo kết quả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965540" y="364331"/>
            <a:ext cx="1500171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03 / 03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20811" y="1009650"/>
              <a:ext cx="10150379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5960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ĐẦU RA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398" y="5929789"/>
              <a:ext cx="62913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Tổng hợp trạng thái, kết quả pass/fail và bằng chứng kiểm thử để truy vết.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246259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KNX: Năng lực &amp; bài học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20/03–22/07/2026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6896100" cy="4343400"/>
            <a:chOff x="533400" y="1066800"/>
            <a:chExt cx="6896100" cy="43434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333750" cy="2057400"/>
              <a:chOff x="533400" y="1066800"/>
              <a:chExt cx="3333750" cy="20574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4192" y="1292542"/>
                <a:ext cx="73956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573" y="1672114"/>
                <a:ext cx="22637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Firmware · ETS · .knxprod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573" y="1957864"/>
                <a:ext cx="17996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hệ thống và Jig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573" y="2243614"/>
                <a:ext cx="181098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 &amp; đào tạo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095750" y="1066800"/>
              <a:ext cx="3333750" cy="2057400"/>
              <a:chOff x="4095750" y="1066800"/>
              <a:chExt cx="3333750" cy="20574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095750" y="1066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336542" y="1292542"/>
                <a:ext cx="6286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336923" y="1672114"/>
                <a:ext cx="289685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Nhìn end-to-end, không tách lỗi lẻ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336923" y="1957864"/>
                <a:ext cx="22245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bằng chứng đo được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336923" y="2243614"/>
                <a:ext cx="246557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Biến tri thức thành quy trình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352800"/>
              <a:ext cx="3333750" cy="2057400"/>
              <a:chOff x="533400" y="3352800"/>
              <a:chExt cx="3333750" cy="20574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74192" y="3578542"/>
                <a:ext cx="6891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74573" y="3958114"/>
                <a:ext cx="18714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test từ sớm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74573" y="4243864"/>
                <a:ext cx="25001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benchmark, checklist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74573" y="4529614"/>
                <a:ext cx="240537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Handoff đủ context kỹ thuật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4095750" y="3352800"/>
              <a:ext cx="3333750" cy="2057400"/>
              <a:chOff x="4095750" y="3352800"/>
              <a:chExt cx="3333750" cy="205740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4095750" y="3352800"/>
                <a:ext cx="3333750" cy="2057400"/>
              </a:xfrm>
              <a:prstGeom prst="roundRect">
                <a:avLst>
                  <a:gd name="adj" fmla="val 7407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336542" y="3578542"/>
                <a:ext cx="2090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&amp; CÁCH XỬ LÝ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4336923" y="3958114"/>
                <a:ext cx="276119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GA delay/miss · Secure · Coupler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4336923" y="4243864"/>
                <a:ext cx="195793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hiện → đo → đối chiếu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336923" y="4529614"/>
                <a:ext cx="261214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lại trên cấu hình thật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7658100" y="1066800"/>
            <a:ext cx="4000500" cy="4343400"/>
            <a:chOff x="7658100" y="1066800"/>
            <a:chExt cx="4000500" cy="4343400"/>
          </a:xfrm>
        </p:grpSpPr>
        <p:sp>
          <p:nvSpPr>
            <p:cNvPr id="31" name="Rectangle 31"/>
            <p:cNvSpPr/>
            <p:nvPr/>
          </p:nvSpPr>
          <p:spPr>
            <a:xfrm>
              <a:off x="7658100" y="1066800"/>
              <a:ext cx="4000500" cy="2571750"/>
            </a:xfrm>
            <a:prstGeom prst="roundRect">
              <a:avLst>
                <a:gd name="adj" fmla="val 5926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80985" y="1269206"/>
              <a:ext cx="177896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8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886700" y="1543050"/>
              <a:ext cx="3543300" cy="1695450"/>
            </a:xfrm>
            <a:prstGeom prst="roundRect">
              <a:avLst>
                <a:gd name="adj" fmla="val 4494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8778" y="1543050"/>
              <a:ext cx="3219144" cy="169545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7880604" y="3347085"/>
              <a:ext cx="3114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Tool nạp code KNX · giao diện vận hành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58100" y="3867150"/>
              <a:ext cx="4000500" cy="1543050"/>
            </a:xfrm>
            <a:prstGeom prst="roundRect">
              <a:avLst>
                <a:gd name="adj" fmla="val 98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880985" y="4060031"/>
              <a:ext cx="1717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9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THÀNH TÍCH NỔI BẬT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68412" y="4383405"/>
              <a:ext cx="59632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6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622411" y="4541996"/>
              <a:ext cx="96452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task Done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624316" y="4858702"/>
              <a:ext cx="14369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Tool · test · đào tạo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01250" y="4171950"/>
              <a:ext cx="1428750" cy="9144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42" name="Image 4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01250" y="4171950"/>
              <a:ext cx="1428750" cy="914400"/>
            </a:xfrm>
            <a:prstGeom prst="rect">
              <a:avLst/>
            </a:prstGeom>
          </p:spPr>
        </p:pic>
        <p:sp>
          <p:nvSpPr>
            <p:cNvPr id="43" name="TextBox 43"/>
            <p:cNvSpPr txBox="1"/>
            <p:nvPr/>
          </p:nvSpPr>
          <p:spPr>
            <a:xfrm>
              <a:off x="9995916" y="5153978"/>
              <a:ext cx="13943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Basic · 91 điểm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09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31958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— Tool nạp code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28267" y="364331"/>
            <a:ext cx="137471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BẰNG CHỨNG TOOL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74730" y="1009650"/>
              <a:ext cx="9042540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6533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GIÁ TRỊ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12773" y="5929789"/>
              <a:ext cx="67565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Gom cấu hình, điều khiển nhiều máy và log vận hành vào một giao diện thống nhất.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75386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KNX Partner — Chứng chỉ &amp; năng lực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877721" y="364331"/>
            <a:ext cx="16758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PASSED · 31/05/2026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33400" y="876300"/>
            <a:ext cx="4286250" cy="5429250"/>
            <a:chOff x="533400" y="876300"/>
            <a:chExt cx="428625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4286250" cy="5429250"/>
            </a:xfrm>
            <a:prstGeom prst="roundRect">
              <a:avLst>
                <a:gd name="adj" fmla="val 4000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7150" y="990600"/>
              <a:ext cx="3678750" cy="5200650"/>
            </a:xfrm>
            <a:prstGeom prst="rect">
              <a:avLst/>
            </a:prstGeom>
          </p:spPr>
        </p:pic>
      </p:grpSp>
      <p:grpSp>
        <p:nvGrpSpPr>
          <p:cNvPr id="26" name="Group 26"/>
          <p:cNvGrpSpPr/>
          <p:nvPr/>
        </p:nvGrpSpPr>
        <p:grpSpPr>
          <a:xfrm>
            <a:off x="5086350" y="876300"/>
            <a:ext cx="6572250" cy="5295900"/>
            <a:chOff x="5086350" y="876300"/>
            <a:chExt cx="6572250" cy="5295900"/>
          </a:xfrm>
        </p:grpSpPr>
        <p:sp>
          <p:nvSpPr>
            <p:cNvPr id="9" name="Rectangle 9"/>
            <p:cNvSpPr/>
            <p:nvPr/>
          </p:nvSpPr>
          <p:spPr>
            <a:xfrm>
              <a:off x="5086350" y="876300"/>
              <a:ext cx="6572250" cy="1847850"/>
            </a:xfrm>
            <a:prstGeom prst="roundRect">
              <a:avLst>
                <a:gd name="adj" fmla="val 92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404104" y="1127760"/>
              <a:ext cx="19945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spc="112" dirty="0">
                  <a:solidFill>
                    <a:srgbClr val="DDF3E8"/>
                  </a:solidFill>
                  <a:latin typeface="+mn-lt"/>
                  <a:ea typeface="+mn-ea"/>
                  <a:cs typeface="+mn-cs"/>
                </a:rPr>
                <a:t>THÀNH TÍCH ĐÀO TẠO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95722" y="1483042"/>
              <a:ext cx="249774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KNX PARTNER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402580" y="2038350"/>
              <a:ext cx="38684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Partner No. 147063 · Nguyễn Văn Dương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9810750" y="1371600"/>
              <a:ext cx="1504950" cy="51435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165863" y="1534954"/>
              <a:ext cx="79472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PASSED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086350" y="2952750"/>
              <a:ext cx="6572250" cy="2305050"/>
            </a:xfrm>
            <a:prstGeom prst="roundRect">
              <a:avLst>
                <a:gd name="adj" fmla="val 74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403723" y="3196114"/>
              <a:ext cx="24981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KẾT QUẢ KHÓA HỌC KNX BASIC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410200" y="3524250"/>
              <a:ext cx="2857500" cy="1524000"/>
            </a:xfrm>
            <a:prstGeom prst="roundRect">
              <a:avLst>
                <a:gd name="adj" fmla="val 6250"/>
              </a:avLst>
            </a:prstGeom>
            <a:solidFill>
              <a:schemeClr val="lt1"/>
            </a:solidFill>
            <a:ln>
              <a:noFill/>
            </a:ln>
          </p:spPr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49730" y="3524250"/>
              <a:ext cx="2378439" cy="15240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8652510" y="3619500"/>
              <a:ext cx="1016203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PASS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661273" y="4196239"/>
              <a:ext cx="14879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Lý thuyết: 88,5%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61273" y="4501039"/>
              <a:ext cx="12970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Thực hành: 96%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61273" y="4805839"/>
              <a:ext cx="17647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thành KNX Basic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086350" y="5486400"/>
              <a:ext cx="6572250" cy="685800"/>
            </a:xfrm>
            <a:prstGeom prst="roundRect">
              <a:avLst>
                <a:gd name="adj" fmla="val 22222"/>
              </a:avLst>
            </a:prstGeom>
            <a:solidFill>
              <a:srgbClr val="EEF3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404485" y="5650706"/>
              <a:ext cx="1868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NĂNG LỰC ĐƯỢC XÁC NHẬN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403723" y="5891689"/>
              <a:ext cx="42857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Thiết kế · commissioning · chẩn đoán hệ thống KNX.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472163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2. Dự án Auto Test</a:t>
            </a:r>
          </a:p>
        </p:txBody>
      </p:sp>
      <p:sp>
        <p:nvSpPr>
          <p:cNvPr id="4" name="Rectangle 4"/>
          <p:cNvSpPr/>
          <p:nvPr/>
        </p:nvSpPr>
        <p:spPr>
          <a:xfrm>
            <a:off x="8858250" y="285750"/>
            <a:ext cx="2762250" cy="400050"/>
          </a:xfrm>
          <a:prstGeom prst="roundRect">
            <a:avLst>
              <a:gd name="adj" fmla="val 50000"/>
            </a:avLst>
          </a:prstGeom>
          <a:solidFill>
            <a:srgbClr val="EEF3FF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018368" y="405289"/>
            <a:ext cx="244201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06/07–25/07/2026 · Dự kiến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96477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cảm biến màu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64170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API &amp; luồng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313658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Controller, servo và sensor module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6833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4/5 task Done trong kỳ review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4189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tài liệu API/flow ban đầu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5828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đúng kế hoạch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21866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flow automation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30366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sensor/servo/controller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1807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API và test scenario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18460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Modular và API-first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5486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phần cứng khỏi test logic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3374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để mở rộng về sau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83728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Khó đồng bộ cơ khí–sensor–code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0457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chốt interface trước tích hợp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5734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sớm từng module độc lập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4/5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13638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66726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Đặt nền kiến trúc cho Auto Test</a:t>
                </a:r>
              </a:p>
            </p:txBody>
          </p:sp>
          <p:pic>
            <p:nvPicPr>
              <p:cNvPr id="41" name="Image 41"/>
              <p:cNvPicPr>
                <a:picLocks noChangeAspect="1"/>
              </p:cNvPicPr>
              <p:nvPr/>
            </p:nvPicPr>
            <p:blipFill>
              <a:blip r:embed="rId3"/>
              <a:srcRect l="0" t="14819" r="0" b="14819"/>
              <a:stretch>
                <a:fillRect/>
              </a:stretch>
            </p:blipFill>
            <p:spPr>
              <a:xfrm>
                <a:off x="10382250" y="4143375"/>
                <a:ext cx="1000125" cy="1190625"/>
              </a:xfrm>
              <a:prstGeom prst="rect">
                <a:avLst/>
              </a:prstGeom>
            </p:spPr>
          </p:pic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6970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3. Dự án Tool Design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533400" y="1066800"/>
            <a:ext cx="5334000" cy="4191000"/>
            <a:chOff x="533400" y="1066800"/>
            <a:chExt cx="5334000" cy="4191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2571750" cy="2000250"/>
              <a:chOff x="533400" y="1066800"/>
              <a:chExt cx="2571750" cy="200025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55523" y="1291114"/>
                <a:ext cx="144673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55904" y="1661160"/>
                <a:ext cx="18702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Chỉnh sửa tool nguồn DC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55904" y="1927860"/>
                <a:ext cx="18835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Điều chỉnh flow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55904" y="2194560"/>
                <a:ext cx="131828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Rà soát vận hành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3295650" y="1066800"/>
              <a:ext cx="2571750" cy="2000250"/>
              <a:chOff x="3295650" y="1066800"/>
              <a:chExt cx="2571750" cy="200025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3295650" y="106680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3517773" y="1291114"/>
                <a:ext cx="7394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3518154" y="1661160"/>
                <a:ext cx="91510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518154" y="1927860"/>
                <a:ext cx="203750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Hoàn tất 2 vòng chỉnh sửa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518154" y="2194560"/>
                <a:ext cx="15872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 task chưa khởi tạo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533400" y="3257550"/>
              <a:ext cx="2571750" cy="2000250"/>
              <a:chOff x="533400" y="3257550"/>
              <a:chExt cx="2571750" cy="20002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5523" y="3481864"/>
                <a:ext cx="150408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KỸ NĂNG &amp; TƯ DUY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5904" y="3851910"/>
                <a:ext cx="19481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tool phần cứng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5904" y="4118610"/>
                <a:ext cx="190820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ổn định, bảo trì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55904" y="4385310"/>
                <a:ext cx="190760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người dùng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3295650" y="3257550"/>
              <a:ext cx="2571750" cy="2000250"/>
              <a:chOff x="3295650" y="3257550"/>
              <a:chExt cx="2571750" cy="20002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3295650" y="3257550"/>
                <a:ext cx="2571750" cy="2000250"/>
              </a:xfrm>
              <a:prstGeom prst="roundRect">
                <a:avLst>
                  <a:gd name="adj" fmla="val 7619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517773" y="3481864"/>
                <a:ext cx="16665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3518154" y="3851910"/>
                <a:ext cx="1996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thực địa thay đổi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3518154" y="4118610"/>
                <a:ext cx="15688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Task mở thiếu mô tả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518154" y="4385310"/>
                <a:ext cx="233559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checklist acceptance sớm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6153150" y="1066800"/>
            <a:ext cx="5505450" cy="4343400"/>
            <a:chOff x="6153150" y="1066800"/>
            <a:chExt cx="5505450" cy="4343400"/>
          </a:xfrm>
        </p:grpSpPr>
        <p:sp>
          <p:nvSpPr>
            <p:cNvPr id="31" name="Rectangle 31"/>
            <p:cNvSpPr/>
            <p:nvPr/>
          </p:nvSpPr>
          <p:spPr>
            <a:xfrm>
              <a:off x="6153150" y="1066800"/>
              <a:ext cx="5505450" cy="4343400"/>
            </a:xfrm>
            <a:prstGeom prst="roundRect">
              <a:avLst>
                <a:gd name="adj" fmla="val 3947"/>
              </a:avLst>
            </a:prstGeom>
            <a:solidFill>
              <a:schemeClr val="lt1"/>
            </a:solidFill>
            <a:ln w="19050">
              <a:solidFill>
                <a:srgbClr val="B8D8C7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395085" y="1307306"/>
              <a:ext cx="3439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spc="105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BẰNG CHỨNG THỰC TẾ · TOOL NẠP CODE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00800" y="1600200"/>
              <a:ext cx="5010150" cy="2590800"/>
            </a:xfrm>
            <a:prstGeom prst="roundRect">
              <a:avLst>
                <a:gd name="adj" fmla="val 3676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0" y="1600200"/>
              <a:ext cx="5010150" cy="2590800"/>
            </a:xfrm>
            <a:prstGeom prst="rect">
              <a:avLst/>
            </a:prstGeom>
          </p:spPr>
        </p:pic>
        <p:sp>
          <p:nvSpPr>
            <p:cNvPr id="35" name="Line 35"/>
            <p:cNvSpPr/>
            <p:nvPr/>
          </p:nvSpPr>
          <p:spPr>
            <a:xfrm>
              <a:off x="6400800" y="4419600"/>
              <a:ext cx="5010150" cy="9525"/>
            </a:xfrm>
            <a:custGeom>
              <a:avLst/>
              <a:gdLst/>
              <a:ahLst/>
              <a:cxnLst/>
              <a:rect l="l" t="t" r="r" b="b"/>
              <a:pathLst>
                <a:path w="5010150" h="9525">
                  <a:moveTo>
                    <a:pt x="0" y="0"/>
                  </a:moveTo>
                  <a:lnTo>
                    <a:pt x="5010150" y="0"/>
                  </a:lnTo>
                </a:path>
              </a:pathLst>
            </a:custGeom>
            <a:noFill/>
            <a:ln w="9525">
              <a:solidFill>
                <a:srgbClr val="D7E4DD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394323" y="4596289"/>
              <a:ext cx="46328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Giao diện vận hành được điều chỉnh theo flow nhà máy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00800" y="49149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638529" y="5012531"/>
              <a:ext cx="13914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 VÒNG HOÀN TẤT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71535" y="5012531"/>
              <a:ext cx="27539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6706A"/>
                  </a:solidFill>
                  <a:latin typeface="+mn-lt"/>
                  <a:ea typeface="+mn-ea"/>
                  <a:cs typeface="+mn-cs"/>
                </a:rPr>
                <a:t>Ưu tiên ổn định · dễ dùng · dễ bảo trì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13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600"/>
            <a:ext cx="1238250" cy="36195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083308" y="331470"/>
            <a:ext cx="518173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Tool Design — Giao diện vận hành</a:t>
            </a:r>
          </a:p>
        </p:txBody>
      </p:sp>
      <p:sp>
        <p:nvSpPr>
          <p:cNvPr id="4" name="Rectangle 4"/>
          <p:cNvSpPr/>
          <p:nvPr/>
        </p:nvSpPr>
        <p:spPr>
          <a:xfrm>
            <a:off x="9810750" y="247650"/>
            <a:ext cx="1809750" cy="3619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013332" y="364331"/>
            <a:ext cx="140458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21/05–27/05/2026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533400" y="876300"/>
            <a:ext cx="11125200" cy="5429250"/>
            <a:chOff x="533400" y="876300"/>
            <a:chExt cx="11125200" cy="5429250"/>
          </a:xfrm>
        </p:grpSpPr>
        <p:sp>
          <p:nvSpPr>
            <p:cNvPr id="6" name="Rectangle 6"/>
            <p:cNvSpPr/>
            <p:nvPr/>
          </p:nvSpPr>
          <p:spPr>
            <a:xfrm>
              <a:off x="533400" y="876300"/>
              <a:ext cx="11125200" cy="5429250"/>
            </a:xfrm>
            <a:prstGeom prst="roundRect">
              <a:avLst>
                <a:gd name="adj" fmla="val 3158"/>
              </a:avLst>
            </a:prstGeom>
            <a:solidFill>
              <a:schemeClr val="lt2"/>
            </a:solidFill>
            <a:ln w="19050">
              <a:solidFill>
                <a:srgbClr val="B8D8C7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3543" y="1009650"/>
              <a:ext cx="9204913" cy="4762500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666750" y="5829300"/>
              <a:ext cx="10858500" cy="361950"/>
            </a:xfrm>
            <a:prstGeom prst="roundRect">
              <a:avLst>
                <a:gd name="adj" fmla="val 26316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50773" y="5929789"/>
              <a:ext cx="1016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THÀNH TÍCH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41398" y="5929789"/>
              <a:ext cx="729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Hoàn tất hai vòng chỉnh sửa, ưu tiên thao tác nhà máy, độ ổn định và khả năng bảo trì.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14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216506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4. Dự án IoT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26/05–15/06/2026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45184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Phát triển code loader Luto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2497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Họp định hướng Auto Test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73683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Hỗ trợ interface giữa các team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1520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loader cho Luto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44947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hướng Auto Test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5916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Loader và quy trình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32799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Làm rõ interface kỹ thuật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158255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liên team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6551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Tái sử dụng tool và pattern cũ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83677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Thống nhất contract trước code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192830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Bàn giao kèm ngữ cảnh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745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Đồng bộ ưu tiên giữa nhiều team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Interface mơ hồ tạo vòng lặp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200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decision log ngắn gọn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127873" y="4815364"/>
                <a:ext cx="21784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Loader Luto được bàn giao</a:t>
                </a:r>
              </a:p>
            </p:txBody>
          </p:sp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15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22949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5. Dự án LumesV2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18/05–16/06/2026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38267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test nguồn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38053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Tool nạp code mạch main V2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40999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theo flow nhà máy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123081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2/2 task Done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tool cho hai công đoạn chính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3826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Sẵn sàng tích hợp vào flow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203734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nguồn và nạp code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22806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Tích hợp với mạch main V2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49169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thao tác vận hành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21919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rõ test và nạp code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0916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theo công đoạn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882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Giảm thao tác thừa của operator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11882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Tương thích mạch cần xác nhận sớm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28188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Flow nhà máy cần rõ acceptance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546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fixture trước khi rollout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16062" y="4088130"/>
                <a:ext cx="876201" cy="7040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6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2/2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079230" y="4276725"/>
                <a:ext cx="97102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task Done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7605" t="0" r="7605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16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3771014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6. Dự án MSB Office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EAF6F0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627309" y="405289"/>
            <a:ext cx="160513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07/04–10/04/2026</a:t>
            </a:r>
          </a:p>
        </p:txBody>
      </p:sp>
      <p:grpSp>
        <p:nvGrpSpPr>
          <p:cNvPr id="42" name="Group 42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20640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Fix lỗi đo sai năng lượng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21344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Kiểm tra Jig tại nhà máy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dữ liệu đo thực tế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82038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0099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đo sai đã được xử lý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0294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Done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309151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 task Ongoing cần đóng trạng thái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lường và hiệu chuẩn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9522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Debug Jig tại thực địa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2095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Phân tích sai lệch dữ liệu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29000" cy="2143125"/>
              <a:chOff x="533400" y="3457575"/>
              <a:chExt cx="342900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094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Dựa trên dữ liệu thay vì phỏng đoán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29185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chuẩn–đo–sai lệch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53696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Xác nhận tại môi trường thật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3018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thực địa khó tái hiện trong lab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4569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Hiệu chuẩn phải có chuẩn tham chiếu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70065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đóng trạng thái sau hỗ trợ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0198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NỔI BẬT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173882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FIX LỖI ĐO SAI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59618"/>
                <a:ext cx="210715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Năng lượng trên Jig MSB</a:t>
                </a:r>
              </a:p>
            </p:txBody>
          </p:sp>
          <p:pic>
            <p:nvPicPr>
              <p:cNvPr id="40" name="Image 40"/>
              <p:cNvPicPr>
                <a:picLocks noChangeAspect="1"/>
              </p:cNvPicPr>
              <p:nvPr/>
            </p:nvPicPr>
            <p:blipFill>
              <a:blip r:embed="rId3"/>
              <a:srcRect l="23047" t="0" r="23047" b="0"/>
              <a:stretch>
                <a:fillRect/>
              </a:stretch>
            </p:blipFill>
            <p:spPr>
              <a:xfrm>
                <a:off x="10287000" y="4171950"/>
                <a:ext cx="1095375" cy="1143000"/>
              </a:xfrm>
              <a:prstGeom prst="rect">
                <a:avLst/>
              </a:prstGeom>
            </p:spPr>
          </p:pic>
        </p:grpSp>
      </p:grpSp>
      <p:sp>
        <p:nvSpPr>
          <p:cNvPr id="43" name="TextBox 43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17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40240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7. Dự án Smart Lighting</a:t>
            </a:r>
          </a:p>
        </p:txBody>
      </p:sp>
      <p:sp>
        <p:nvSpPr>
          <p:cNvPr id="4" name="Rectangle 4"/>
          <p:cNvSpPr/>
          <p:nvPr/>
        </p:nvSpPr>
        <p:spPr>
          <a:xfrm>
            <a:off x="9239250" y="285750"/>
            <a:ext cx="2381250" cy="400050"/>
          </a:xfrm>
          <a:prstGeom prst="roundRect">
            <a:avLst>
              <a:gd name="adj" fmla="val 50000"/>
            </a:avLst>
          </a:prstGeom>
          <a:solidFill>
            <a:srgbClr val="FFF7E8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9337908" y="405289"/>
            <a:ext cx="218393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80" b="1" dirty="0">
                <a:solidFill>
                  <a:srgbClr val="B56A00"/>
                </a:solidFill>
                <a:latin typeface="+mn-lt"/>
                <a:ea typeface="+mn-ea"/>
                <a:cs typeface="+mn-cs"/>
              </a:rPr>
              <a:t>Từ 20/07/2026 · Ongoing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533400" y="1066800"/>
            <a:ext cx="11125200" cy="4533900"/>
            <a:chOff x="533400" y="1066800"/>
            <a:chExt cx="11125200" cy="4533900"/>
          </a:xfrm>
        </p:grpSpPr>
        <p:grpSp>
          <p:nvGrpSpPr>
            <p:cNvPr id="11" name="Group 11"/>
            <p:cNvGrpSpPr/>
            <p:nvPr/>
          </p:nvGrpSpPr>
          <p:grpSpPr>
            <a:xfrm>
              <a:off x="533400" y="1066800"/>
              <a:ext cx="3429000" cy="2143125"/>
              <a:chOff x="533400" y="1066800"/>
              <a:chExt cx="3429000" cy="2143125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53340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73811" y="1284446"/>
                <a:ext cx="160507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CÔNG VIỆC CHÍNH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74192" y="1664018"/>
                <a:ext cx="18092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DEV tool test Driver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774192" y="1959292"/>
                <a:ext cx="116126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Deep Dimming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74192" y="2254568"/>
                <a:ext cx="104519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CCT Tunable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4210050" y="1066800"/>
              <a:ext cx="3429000" cy="2143125"/>
              <a:chOff x="4210050" y="1066800"/>
              <a:chExt cx="3429000" cy="2143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210050" y="1066800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50461" y="1284446"/>
                <a:ext cx="165809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KẾT QUẢ HIỆN TẠI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450842" y="1664018"/>
                <a:ext cx="218282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Đã xác định phạm vi test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450842" y="1959292"/>
                <a:ext cx="19917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Đang xây dựng nền tool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450842" y="2254568"/>
                <a:ext cx="28825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Chưa có mốc kết thúc chính thức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7886700" y="1066800"/>
              <a:ext cx="3771900" cy="2143125"/>
              <a:chOff x="7886700" y="1066800"/>
              <a:chExt cx="3771900" cy="2143125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886700" y="1066800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8127111" y="1284446"/>
                <a:ext cx="7779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KỸ NĂNG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127492" y="1664018"/>
                <a:ext cx="19461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test theo dải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8127492" y="1959292"/>
                <a:ext cx="15834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Đo dimming và CCT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127492" y="2254568"/>
                <a:ext cx="23641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Xây tool có khả năng lặp lại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33400" y="3457575"/>
              <a:ext cx="3432230" cy="2143125"/>
              <a:chOff x="533400" y="3457575"/>
              <a:chExt cx="3432230" cy="2143125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73811" y="3675221"/>
                <a:ext cx="661322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TƯ DUY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74192" y="4054792"/>
                <a:ext cx="31914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Test toàn dải, không chỉ điểm chuẩn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74192" y="4350068"/>
                <a:ext cx="26642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Thiết kế dữ liệu đo có cấu trúc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74192" y="4645342"/>
                <a:ext cx="275505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Tách tiêu chí pass/fail rõ ràng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4210050" y="3457575"/>
              <a:ext cx="3429000" cy="2143125"/>
              <a:chOff x="4210050" y="3457575"/>
              <a:chExt cx="3429000" cy="2143125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4210050" y="3457575"/>
                <a:ext cx="3429000" cy="2143125"/>
              </a:xfrm>
              <a:prstGeom prst="roundRect">
                <a:avLst>
                  <a:gd name="adj" fmla="val 711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4450461" y="3675221"/>
                <a:ext cx="184896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BÀI HỌC &amp; KHÓ KHĂN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450842" y="4054792"/>
                <a:ext cx="235533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Dữ liệu đầu vào còn hạn chế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450842" y="4350068"/>
                <a:ext cx="3155017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thống nhất chuẩn đo và dải test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4450842" y="4645342"/>
                <a:ext cx="268244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Ưu tiên prototype đo được sớm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7886700" y="3457575"/>
              <a:ext cx="3771900" cy="2143125"/>
              <a:chOff x="7886700" y="3457575"/>
              <a:chExt cx="3771900" cy="2143125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7886700" y="3457575"/>
                <a:ext cx="3771900" cy="2143125"/>
              </a:xfrm>
              <a:prstGeom prst="roundRect">
                <a:avLst>
                  <a:gd name="adj" fmla="val 7111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8127111" y="3675221"/>
                <a:ext cx="195500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THÀNH TÍCH BAN ĐẦU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125206" y="4168140"/>
                <a:ext cx="25856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DỰNG NỀN TOOL TEST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8127492" y="4569142"/>
                <a:ext cx="27663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Cho Deep Dimming &amp; CCT Tunable</a:t>
                </a: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8134350" y="5048250"/>
                <a:ext cx="1524000" cy="26670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8313141" y="5117306"/>
                <a:ext cx="11664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ĐANG TRIỂN KHAI</a:t>
                </a:r>
              </a:p>
            </p:txBody>
          </p:sp>
        </p:grpSp>
      </p:grpSp>
      <p:sp>
        <p:nvSpPr>
          <p:cNvPr id="44" name="TextBox 44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18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85584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Sử dụng AI trong công việc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125200" cy="3143250"/>
            <a:chOff x="533400" y="1285875"/>
            <a:chExt cx="11125200" cy="314325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143250"/>
              <a:chOff x="533400" y="1285875"/>
              <a:chExt cx="3429000" cy="31432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429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8605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0387" y="2137886"/>
                <a:ext cx="1635904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CODE &amp; DEBUG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911" y="2608421"/>
                <a:ext cx="17985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Gợi ý hướng xử lý lỗi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911" y="2932271"/>
                <a:ext cx="2095091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Sinh test case ban đầu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911" y="3256121"/>
                <a:ext cx="190311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Đối chiếu API và flow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3054" y="3870960"/>
                <a:ext cx="216625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Rút ngắn thời gian khám phá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143250"/>
              <a:chOff x="4381500" y="1285875"/>
              <a:chExt cx="3429000" cy="31432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4591050" y="1495425"/>
                <a:ext cx="533400" cy="5334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7086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02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8487" y="2137886"/>
                <a:ext cx="95515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TÀI LIỆU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60011" y="2608421"/>
                <a:ext cx="22879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Tóm tắt tài liệu KNX/ETS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60011" y="2932271"/>
                <a:ext cx="262564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Q&amp;A và giáo trình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4660011" y="3256121"/>
                <a:ext cx="2373037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Soạn API/flow dễ bàn giao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661154" y="3870960"/>
                <a:ext cx="217435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Tăng tốc chuẩn hóa tri thức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429000" cy="3143250"/>
              <a:chOff x="8229600" y="1285875"/>
              <a:chExt cx="3429000" cy="31432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143250"/>
              </a:xfrm>
              <a:prstGeom prst="roundRect">
                <a:avLst>
                  <a:gd name="adj" fmla="val 6061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Ellipse 23"/>
              <p:cNvSpPr/>
              <p:nvPr/>
            </p:nvSpPr>
            <p:spPr>
              <a:xfrm>
                <a:off x="8439150" y="1495425"/>
                <a:ext cx="533400" cy="5334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556769" y="1653540"/>
                <a:ext cx="298163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6587" y="2137886"/>
                <a:ext cx="1224888" cy="3373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7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HỌC NHANH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8111" y="2608421"/>
                <a:ext cx="2133443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Khảo sát công nghệ mới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8111" y="2932271"/>
                <a:ext cx="263023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So sánh phương án triển khai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8508111" y="3256121"/>
                <a:ext cx="23628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4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bị câu hỏi kỹ thuật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509254" y="3870960"/>
                <a:ext cx="27557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66706A"/>
                    </a:solidFill>
                    <a:latin typeface="+mn-lt"/>
                    <a:ea typeface="+mn-ea"/>
                    <a:cs typeface="+mn-cs"/>
                  </a:rPr>
                  <a:t>Giảm thời gian tiếp cận lĩnh vực mới</a:t>
                </a:r>
              </a:p>
            </p:txBody>
          </p:sp>
        </p:grpSp>
      </p:grpSp>
      <p:grpSp>
        <p:nvGrpSpPr>
          <p:cNvPr id="35" name="Group 35"/>
          <p:cNvGrpSpPr/>
          <p:nvPr/>
        </p:nvGrpSpPr>
        <p:grpSpPr>
          <a:xfrm>
            <a:off x="533400" y="4857750"/>
            <a:ext cx="11519878" cy="1143000"/>
            <a:chOff x="533400" y="4857750"/>
            <a:chExt cx="11519878" cy="1143000"/>
          </a:xfrm>
        </p:grpSpPr>
        <p:sp>
          <p:nvSpPr>
            <p:cNvPr id="32" name="Rectangle 32"/>
            <p:cNvSpPr/>
            <p:nvPr/>
          </p:nvSpPr>
          <p:spPr>
            <a:xfrm>
              <a:off x="533400" y="4857750"/>
              <a:ext cx="11125200" cy="1143000"/>
            </a:xfrm>
            <a:prstGeom prst="roundRect">
              <a:avLst>
                <a:gd name="adj" fmla="val 15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2673" y="5110639"/>
              <a:ext cx="20680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NGUYÊN TẮC KIỂM CHỨNG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10006" y="5463540"/>
              <a:ext cx="112432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AI hỗ trợ tăng tốc; kết luận kỹ thuật vẫn phải được đo, test và xác nhận trên hệ thống thực tế.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19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490721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Tự đánh giá ưu, nhược điểm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33400" y="1190625"/>
            <a:ext cx="11125200" cy="4095750"/>
            <a:chOff x="533400" y="1190625"/>
            <a:chExt cx="11125200" cy="4095750"/>
          </a:xfrm>
        </p:grpSpPr>
        <p:grpSp>
          <p:nvGrpSpPr>
            <p:cNvPr id="14" name="Group 14"/>
            <p:cNvGrpSpPr/>
            <p:nvPr/>
          </p:nvGrpSpPr>
          <p:grpSpPr>
            <a:xfrm>
              <a:off x="533400" y="1190625"/>
              <a:ext cx="5286375" cy="4095750"/>
              <a:chOff x="533400" y="1190625"/>
              <a:chExt cx="5286375" cy="4095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5" name="Ellipse 5"/>
              <p:cNvSpPr/>
              <p:nvPr/>
            </p:nvSpPr>
            <p:spPr>
              <a:xfrm>
                <a:off x="771525" y="1438275"/>
                <a:ext cx="476250" cy="47625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904875" y="1581150"/>
                <a:ext cx="2190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19075" h="171450">
                    <a:moveTo>
                      <a:pt x="0" y="95250"/>
                    </a:moveTo>
                    <a:lnTo>
                      <a:pt x="76200" y="171450"/>
                    </a:lnTo>
                    <a:lnTo>
                      <a:pt x="219075" y="0"/>
                    </a:lnTo>
                  </a:path>
                </a:pathLst>
              </a:custGeom>
              <a:noFill/>
              <a:ln w="38100">
                <a:solidFill>
                  <a:srgbClr val="FFFFFF"/>
                </a:solidFill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18844" y="1542098"/>
                <a:ext cx="1053701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ƯU ĐIỂM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2171700"/>
                <a:ext cx="453670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Năng lực end-to-end: firmware → tool → test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2571750"/>
                <a:ext cx="388981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Chủ động học nhanh và xử lý vấn đề mới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811530" y="2971800"/>
                <a:ext cx="39505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Có tư duy hệ thống, ưu tiên bằng chứng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811530" y="3371850"/>
                <a:ext cx="43033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Viết tài liệu, đào tạo và phối hợp liên team</a:t>
                </a:r>
              </a:p>
            </p:txBody>
          </p:sp>
          <p:sp>
            <p:nvSpPr>
              <p:cNvPr id="12" name="Rectangle 12"/>
              <p:cNvSpPr/>
              <p:nvPr/>
            </p:nvSpPr>
            <p:spPr>
              <a:xfrm>
                <a:off x="819150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003173" y="4558189"/>
                <a:ext cx="363883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Bằng chứng: 102 task Done / 7 nhóm dự án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372225" y="1190625"/>
              <a:ext cx="5286375" cy="4095750"/>
              <a:chOff x="6372225" y="1190625"/>
              <a:chExt cx="5286375" cy="409575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6372225" y="1190625"/>
                <a:ext cx="5286375" cy="4095750"/>
              </a:xfrm>
              <a:prstGeom prst="roundRect">
                <a:avLst>
                  <a:gd name="adj" fmla="val 4651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6" name="Ellipse 16"/>
              <p:cNvSpPr/>
              <p:nvPr/>
            </p:nvSpPr>
            <p:spPr>
              <a:xfrm>
                <a:off x="6610350" y="1438275"/>
                <a:ext cx="476250" cy="476250"/>
              </a:xfrm>
              <a:prstGeom prst="ellipse">
                <a:avLst/>
              </a:prstGeom>
              <a:solidFill>
                <a:srgbClr val="F5A623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801166" y="1558290"/>
                <a:ext cx="94618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8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257669" y="1542098"/>
                <a:ext cx="1810916" cy="38138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95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CẦN CẢI THIỆN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50355" y="2171700"/>
                <a:ext cx="429328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Dễ phân tán khi nhiều luồng chạy song song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0355" y="2571750"/>
                <a:ext cx="407119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Ước lượng và ưu tiên chưa luôn nhất quán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50355" y="2971800"/>
                <a:ext cx="4661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Một số task Late/Not started chưa được đóng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50355" y="3371850"/>
                <a:ext cx="445509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 marL="161925" indent="-161925">
                  <a:buClr>
                    <a:schemeClr val="dk1"/>
                  </a:buClr>
                  <a:buSzTx/>
                  <a:buFontTx/>
                  <a:buChar char="•"/>
                </a:pPr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Cần cập nhật trạng thái sau hỗ trợ thực địa</a:t>
                </a: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6657975" y="4333875"/>
                <a:ext cx="4524375" cy="590550"/>
              </a:xfrm>
              <a:prstGeom prst="roundRect">
                <a:avLst>
                  <a:gd name="adj" fmla="val 19355"/>
                </a:avLst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6841998" y="4558189"/>
                <a:ext cx="42801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Hành động: weekly planning + acceptance rõ ràng</a:t>
                </a:r>
              </a:p>
            </p:txBody>
          </p:sp>
        </p:grpSp>
      </p:grpSp>
      <p:sp>
        <p:nvSpPr>
          <p:cNvPr id="27" name="Rectangle 27"/>
          <p:cNvSpPr/>
          <p:nvPr/>
        </p:nvSpPr>
        <p:spPr>
          <a:xfrm>
            <a:off x="533400" y="5619750"/>
            <a:ext cx="11125200" cy="476250"/>
          </a:xfrm>
          <a:prstGeom prst="roundRect">
            <a:avLst>
              <a:gd name="adj" fmla="val 2400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554648" y="5770721"/>
            <a:ext cx="9082705" cy="2787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420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Tư duy cần duy trì: chủ động, đo được, tài liệu hóa — nhưng tập trung hơn vào ưu tiên và hoàn tất.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20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5575562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Bài học &amp; khó khăn xuyên dự án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533400" y="1143000"/>
            <a:ext cx="11125200" cy="4572000"/>
            <a:chOff x="533400" y="1143000"/>
            <a:chExt cx="11125200" cy="4572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143000"/>
              <a:ext cx="11125200" cy="1000125"/>
              <a:chOff x="533400" y="1143000"/>
              <a:chExt cx="11125200" cy="1000125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14300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774573" y="136731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01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773430" y="1695450"/>
                <a:ext cx="351544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Hệ thống nhiều thiết bị và phiên bản</a:t>
                </a:r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5191125" y="163830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057900" y="155257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6429375" y="114300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6670548" y="136731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69405" y="1695450"/>
                <a:ext cx="479764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Chuẩn hóa interface, phiên bản và checklist test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33400" y="2333625"/>
              <a:ext cx="11125200" cy="1000125"/>
              <a:chOff x="533400" y="2333625"/>
              <a:chExt cx="11125200" cy="1000125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533400" y="233362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74573" y="255793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02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73430" y="2886075"/>
                <a:ext cx="218232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Lỗi khó tái hiện tại lab</a:t>
                </a:r>
              </a:p>
            </p:txBody>
          </p:sp>
          <p:sp>
            <p:nvSpPr>
              <p:cNvPr id="16" name="Freeform 16"/>
              <p:cNvSpPr/>
              <p:nvPr/>
            </p:nvSpPr>
            <p:spPr>
              <a:xfrm>
                <a:off x="5191125" y="282892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6057900" y="274320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6429375" y="233362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670548" y="255793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69405" y="2886075"/>
                <a:ext cx="4656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Giữ log, benchmark và mẫu đo chuẩn từ thực địa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533400" y="3524250"/>
              <a:ext cx="11125200" cy="1000125"/>
              <a:chOff x="533400" y="3524250"/>
              <a:chExt cx="111252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33400" y="3524250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74573" y="3748564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03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773430" y="4076700"/>
                <a:ext cx="242536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Yêu cầu nhà máy thay đổi</a:t>
                </a:r>
              </a:p>
            </p:txBody>
          </p:sp>
          <p:sp>
            <p:nvSpPr>
              <p:cNvPr id="25" name="Freeform 25"/>
              <p:cNvSpPr/>
              <p:nvPr/>
            </p:nvSpPr>
            <p:spPr>
              <a:xfrm>
                <a:off x="5191125" y="4019550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57900" y="3933825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6429375" y="3524250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70548" y="3748564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9405" y="4076700"/>
                <a:ext cx="49489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Chốt acceptance và kiểm thử fixture trước rollout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33400" y="4714875"/>
              <a:ext cx="11125200" cy="1000125"/>
              <a:chOff x="533400" y="4714875"/>
              <a:chExt cx="11125200" cy="1000125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33400" y="4714875"/>
                <a:ext cx="44291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FFF7E8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74573" y="4939189"/>
                <a:ext cx="107395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B56A00"/>
                    </a:solidFill>
                    <a:latin typeface="+mn-lt"/>
                    <a:ea typeface="+mn-ea"/>
                    <a:cs typeface="+mn-cs"/>
                  </a:rPr>
                  <a:t>KHÓ KHĂN 04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73430" y="5267325"/>
                <a:ext cx="29400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Phối hợp nhiều team và ưu tiên</a:t>
                </a:r>
              </a:p>
            </p:txBody>
          </p:sp>
          <p:sp>
            <p:nvSpPr>
              <p:cNvPr id="34" name="Freeform 34"/>
              <p:cNvSpPr/>
              <p:nvPr/>
            </p:nvSpPr>
            <p:spPr>
              <a:xfrm>
                <a:off x="5191125" y="5210175"/>
                <a:ext cx="1000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5" h="9525">
                    <a:moveTo>
                      <a:pt x="0" y="0"/>
                    </a:moveTo>
                    <a:lnTo>
                      <a:pt x="1000125" y="0"/>
                    </a:lnTo>
                  </a:path>
                </a:pathLst>
              </a:custGeom>
              <a:solidFill>
                <a:srgbClr val="000000"/>
              </a:solidFill>
              <a:ln w="38100">
                <a:solidFill>
                  <a:schemeClr val="accent3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057900" y="5124450"/>
                <a:ext cx="1333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171450">
                    <a:moveTo>
                      <a:pt x="133350" y="85725"/>
                    </a:moveTo>
                    <a:lnTo>
                      <a:pt x="0" y="0"/>
                    </a:lnTo>
                    <a:lnTo>
                      <a:pt x="0" y="17145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</p:sp>
          <p:sp>
            <p:nvSpPr>
              <p:cNvPr id="36" name="Rectangle 36"/>
              <p:cNvSpPr/>
              <p:nvPr/>
            </p:nvSpPr>
            <p:spPr>
              <a:xfrm>
                <a:off x="6429375" y="4714875"/>
                <a:ext cx="5229225" cy="1000125"/>
              </a:xfrm>
              <a:prstGeom prst="roundRect">
                <a:avLst>
                  <a:gd name="adj" fmla="val 15238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670548" y="4939189"/>
                <a:ext cx="6533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BÀI HỌC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669405" y="5267325"/>
                <a:ext cx="44444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Decision log, owner rõ và handoff đủ context</a:t>
                </a:r>
              </a:p>
            </p:txBody>
          </p:sp>
        </p:grpSp>
      </p:grpSp>
      <p:sp>
        <p:nvSpPr>
          <p:cNvPr id="41" name="TextBox 41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21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6" y="266700"/>
            <a:ext cx="1313447" cy="381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462784" y="356235"/>
            <a:ext cx="2998080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Mục tiêu sắp tới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533400" y="1285875"/>
            <a:ext cx="11313372" cy="3429000"/>
            <a:chOff x="533400" y="1285875"/>
            <a:chExt cx="11313372" cy="3429000"/>
          </a:xfrm>
        </p:grpSpPr>
        <p:grpSp>
          <p:nvGrpSpPr>
            <p:cNvPr id="12" name="Group 12"/>
            <p:cNvGrpSpPr/>
            <p:nvPr/>
          </p:nvGrpSpPr>
          <p:grpSpPr>
            <a:xfrm>
              <a:off x="533400" y="1285875"/>
              <a:ext cx="3429000" cy="3429000"/>
              <a:chOff x="533400" y="1285875"/>
              <a:chExt cx="3429000" cy="3429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5334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812673" y="1624489"/>
                <a:ext cx="1418058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NOW · 0–4 TUẦN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808482" y="2078355"/>
                <a:ext cx="2761899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Hoàn tất triển khai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811530" y="2676525"/>
                <a:ext cx="278576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Auto Test: đóng task còn lại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11530" y="3057525"/>
                <a:ext cx="309794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Smart Lighting: prototype tool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11530" y="3438525"/>
                <a:ext cx="293734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Xác nhận mốc và tiêu chí Done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8191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lt1">
                  <a:alpha val="18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184961" y="4212431"/>
                <a:ext cx="8876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ƯU TIÊN CAO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81500" y="1285875"/>
              <a:ext cx="3429000" cy="3429000"/>
              <a:chOff x="4381500" y="1285875"/>
              <a:chExt cx="3429000" cy="3429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3815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AF6F0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4660773" y="1624489"/>
                <a:ext cx="155187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NEXT · 1–2 THÁNG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656582" y="2078355"/>
                <a:ext cx="283637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Đóng vòng công việc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4659630" y="2676525"/>
                <a:ext cx="227780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Xử lý Late/Not started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659630" y="3057525"/>
                <a:ext cx="23855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Cập nhật trạng thái MSB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4659630" y="3438525"/>
                <a:ext cx="28689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Weekly planning và review tải</a:t>
                </a: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6672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1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849856" y="4212431"/>
                <a:ext cx="125403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KỶ LUẬT THỰC THI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229600" y="1285875"/>
              <a:ext cx="3617172" cy="3429000"/>
              <a:chOff x="8229600" y="1285875"/>
              <a:chExt cx="3617172" cy="342900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229600" y="1285875"/>
                <a:ext cx="3429000" cy="3429000"/>
              </a:xfrm>
              <a:prstGeom prst="roundRect">
                <a:avLst>
                  <a:gd name="adj" fmla="val 5556"/>
                </a:avLst>
              </a:prstGeom>
              <a:solidFill>
                <a:srgbClr val="EEF3F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508873" y="1624489"/>
                <a:ext cx="165702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SCALE · 2–3 THÁNG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04682" y="2078355"/>
                <a:ext cx="3342090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Chuẩn hóa &amp; tái sử dụng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07730" y="2676525"/>
                <a:ext cx="255629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Thư viện tool và test case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8507730" y="3057525"/>
                <a:ext cx="2535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Template tài liệu/handoff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8507730" y="3438525"/>
                <a:ext cx="247563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Đào tạo ngắn theo module</a:t>
                </a:r>
              </a:p>
            </p:txBody>
          </p:sp>
          <p:sp>
            <p:nvSpPr>
              <p:cNvPr id="28" name="Rectangle 28"/>
              <p:cNvSpPr/>
              <p:nvPr/>
            </p:nvSpPr>
            <p:spPr>
              <a:xfrm>
                <a:off x="8515350" y="4114800"/>
                <a:ext cx="1619250" cy="323850"/>
              </a:xfrm>
              <a:prstGeom prst="roundRect">
                <a:avLst>
                  <a:gd name="adj" fmla="val 50000"/>
                </a:avLst>
              </a:prstGeom>
              <a:solidFill>
                <a:schemeClr val="accent2">
                  <a:alpha val="12000"/>
                </a:schemeClr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717869" y="4212431"/>
                <a:ext cx="121421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20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TÀI SẢN DÙNG LẠI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526923" y="5291614"/>
            <a:ext cx="11131677" cy="766286"/>
            <a:chOff x="526923" y="5291614"/>
            <a:chExt cx="11131677" cy="766286"/>
          </a:xfrm>
        </p:grpSpPr>
        <p:sp>
          <p:nvSpPr>
            <p:cNvPr id="32" name="TextBox 32"/>
            <p:cNvSpPr txBox="1"/>
            <p:nvPr/>
          </p:nvSpPr>
          <p:spPr>
            <a:xfrm>
              <a:off x="526923" y="5291614"/>
              <a:ext cx="14371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CHỈ SỐ THEO DÕI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77107" y="5748814"/>
              <a:ext cx="1684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Task đúng hạn ≥ 95%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33375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829121" y="5748814"/>
              <a:ext cx="15810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 task thiếu owner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134100" y="5600700"/>
              <a:ext cx="25717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09771" y="5748814"/>
              <a:ext cx="20204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100% handoff có tài liệu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934450" y="5600700"/>
              <a:ext cx="2724150" cy="4572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251859" y="5748814"/>
              <a:ext cx="20893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 tài sản dùng lại / tháng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1141640" y="663035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706A"/>
                </a:solidFill>
                <a:latin typeface="+mn-lt"/>
                <a:ea typeface="+mn-ea"/>
                <a:cs typeface="+mn-cs"/>
              </a:rPr>
              <a:t>22 / 23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" y="323850"/>
            <a:ext cx="1562100" cy="4572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1224534" y="3042285"/>
            <a:ext cx="1390802" cy="528066"/>
            <a:chOff x="1224534" y="3042285"/>
            <a:chExt cx="1390802" cy="528066"/>
          </a:xfrm>
        </p:grpSpPr>
        <p:sp>
          <p:nvSpPr>
            <p:cNvPr id="3" name="TextBox 3"/>
            <p:cNvSpPr txBox="1"/>
            <p:nvPr/>
          </p:nvSpPr>
          <p:spPr>
            <a:xfrm>
              <a:off x="1224534" y="3042285"/>
              <a:ext cx="13908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7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CẢM ƠN!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334000" y="476250"/>
            <a:ext cx="5715000" cy="5715000"/>
            <a:chOff x="5334000" y="476250"/>
            <a:chExt cx="5715000" cy="5715000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34000" y="476250"/>
              <a:ext cx="5715000" cy="571500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6572250" y="1238250"/>
            <a:ext cx="3714750" cy="3597213"/>
            <a:chOff x="6572250" y="1238250"/>
            <a:chExt cx="3714750" cy="3597213"/>
          </a:xfrm>
        </p:grpSpPr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2250" y="1736787"/>
              <a:ext cx="1619250" cy="3098676"/>
            </a:xfrm>
            <a:prstGeom prst="rect">
              <a:avLst/>
            </a:prstGeom>
          </p:spPr>
        </p:pic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10500" y="1238250"/>
              <a:ext cx="1619250" cy="3476625"/>
            </a:xfrm>
            <a:prstGeom prst="rect">
              <a:avLst/>
            </a:prstGeom>
          </p:spPr>
        </p:pic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858250" y="1818409"/>
              <a:ext cx="1428750" cy="2840182"/>
            </a:xfrm>
            <a:prstGeom prst="rect">
              <a:avLst/>
            </a:prstGeom>
          </p:spPr>
        </p:pic>
      </p:grpSp>
      <p:sp>
        <p:nvSpPr>
          <p:cNvPr id="11" name="TextBox 11"/>
          <p:cNvSpPr txBox="1"/>
          <p:nvPr/>
        </p:nvSpPr>
        <p:spPr>
          <a:xfrm>
            <a:off x="393954" y="6290310"/>
            <a:ext cx="103799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www.lumi.vn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review_nhan_su_t7_redesign">
  <a:themeElements>
    <a:clrScheme name="review_nhan_su_t7_redesign">
      <a:dk1>
        <a:srgbClr val="1F2329"/>
      </a:dk1>
      <a:lt1>
        <a:srgbClr val="FFFFFF"/>
      </a:lt1>
      <a:dk2>
        <a:srgbClr val="1F497D"/>
      </a:dk2>
      <a:lt2>
        <a:srgbClr val="F4F7F5"/>
      </a:lt2>
      <a:accent1>
        <a:srgbClr val="008C4F"/>
      </a:accent1>
      <a:accent2>
        <a:srgbClr val="1456F0"/>
      </a:accent2>
      <a:accent3>
        <a:srgbClr val="79C6A3"/>
      </a:accent3>
      <a:accent4>
        <a:srgbClr val="008C4F"/>
      </a:accent4>
      <a:accent5>
        <a:srgbClr val="008C4F"/>
      </a:accent5>
      <a:accent6>
        <a:srgbClr val="F79646"/>
      </a:accent6>
      <a:hlink>
        <a:srgbClr val="1456F0"/>
      </a:hlink>
      <a:folHlink>
        <a:srgbClr val="79C6A3"/>
      </a:folHlink>
    </a:clrScheme>
    <a:fontScheme name="review_nhan_su_t7_redesign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view_nhan_su_t7_re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2026-07-24T13:42:39Z</dcterms:created>
  <dcterms:modified xsi:type="dcterms:W3CDTF">2026-07-24T13:42:39Z</dcterms:modified>
  <cp:category/>
  <cp:contentStatus/>
</cp:coreProperties>
</file>
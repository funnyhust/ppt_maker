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Mở đầu kỳ review ngày 23/07/2026, phạm vi đánh giá từ 20/03 đến 22/07/2026.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trình bày giữ nguyên bốn phần của template cũ: dự án, AI, tự đánh giá và mục tiêu.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Trong kỳ có 114 task thuộc 7 nhóm dự án; 102 task đã Done, tương đương 89,5%.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KNX là trọng tâm lớn nhất với 98 task, bao phủ sản phẩm, tool, hệ thống và đào tạo.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Đầu ra KNX đi xuyên suốt từ firmware đến Jig, benchmark, kiểm thử, tài liệu và đào tạo.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tiến bộ chính là tư duy end-to-end và quy trình tái hiện, đo, đối chiếu, xác nhận.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Auto Test đang ở giai đoạn xây nền, đã hoàn thành 4 trên 5 task trong phạm vi review.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Design tập trung chỉnh sửa tool nguồn DC cho flow vận hành thực tế tại nhà máy.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Đóng góp cho IoT gồm loader Luto và phối hợp định hướng Auto Test; cả hai task đã hoàn thành.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LumesV2 đã có tool test nguồn và tool nạp code cho mạch main V2.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MSB tập trung xử lý lỗi đo sai năng lượng và kiểm tra Jig tại nhà máy.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Smart Lighting mới khởi động từ 20/07, đang dựng nền tool test cho Deep Dimming và CCT Tunable.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AI hỗ trợ code, tài liệu và học nhanh; mọi kết luận kỹ thuật vẫn phải được kiểm chứng thực tế.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mạnh là năng lực end-to-end và chủ động; điểm cần cải thiện là ưu tiên và đóng vòng công việc.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học chung là chuẩn hóa interface, logging, acceptance và handoff càng sớm càng tốt.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Mục tiêu tiếp theo là hoàn tất dự án đang chạy, đóng task còn mở và chuẩn hóa tài sản dùng lại.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và sẵn sàng trao đổi thêm.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view_nhan_su_t7_re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view_nhan_su_t7_re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10fcf8f9f909b91.pn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3db7369d2c1e7d49.jp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519313ef59a5f53.pn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ee3708cd69e1814.jp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ebf0602e5ed4ba86.jp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deea19358d7d9df9.jp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ebf0602e5ed4ba86.jp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image" Target="../media/image_cd22578ee1f97165.png"/>
  <Relationship Id="rId5" Type="http://schemas.openxmlformats.org/officeDocument/2006/relationships/image" Target="../media/image_5a1205fbd766d78e.png"/>
  <Relationship Id="rId6" Type="http://schemas.openxmlformats.org/officeDocument/2006/relationships/image" Target="../media/image_3f64fe1646839cff.png"/>
  <Relationship Id="rId7" Type="http://schemas.openxmlformats.org/officeDocument/2006/relationships/notesSlide" Target="../notesSlides/notesSlide1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386334" y="2708910"/>
            <a:ext cx="4090416" cy="1765268"/>
            <a:chOff x="386334" y="2708910"/>
            <a:chExt cx="4090416" cy="1765268"/>
          </a:xfrm>
        </p:grpSpPr>
        <p:sp>
          <p:nvSpPr>
            <p:cNvPr id="3" name="TextBox 3"/>
            <p:cNvSpPr txBox="1"/>
            <p:nvPr/>
          </p:nvSpPr>
          <p:spPr>
            <a:xfrm>
              <a:off x="386334" y="2708910"/>
              <a:ext cx="2773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NHÂN SỰ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92430" y="3362325"/>
              <a:ext cx="2791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Họ và tên: Nguyễn Văn Dương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00050" y="3762375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rgbClr val="FFFFFF">
                  <a:alpha val="45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93573" y="3929539"/>
              <a:ext cx="210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Ngày review: 23/07/2026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3573" y="4224814"/>
              <a:ext cx="3023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Giai đoạn review: 20/03–22/07/2026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81800" y="847725"/>
            <a:ext cx="5143500" cy="5143500"/>
            <a:chOff x="6781800" y="847725"/>
            <a:chExt cx="5143500" cy="5143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800" y="847725"/>
              <a:ext cx="5143500" cy="5143500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41" y="285750"/>
            <a:ext cx="1444792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709026" y="952500"/>
            <a:ext cx="2487198" cy="4953000"/>
            <a:chOff x="709026" y="952500"/>
            <a:chExt cx="2487198" cy="4953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026" y="952500"/>
              <a:ext cx="2487198" cy="4953000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1330361" y="3202305"/>
              <a:ext cx="12445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NỘI DUNG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43325" y="1371600"/>
            <a:ext cx="5849993" cy="3489198"/>
            <a:chOff x="3743325" y="1371600"/>
            <a:chExt cx="5849993" cy="3489198"/>
          </a:xfrm>
        </p:grpSpPr>
        <p:grpSp>
          <p:nvGrpSpPr>
            <p:cNvPr id="12" name="Group 12"/>
            <p:cNvGrpSpPr/>
            <p:nvPr/>
          </p:nvGrpSpPr>
          <p:grpSpPr>
            <a:xfrm>
              <a:off x="3743325" y="1371600"/>
              <a:ext cx="5849993" cy="488823"/>
              <a:chOff x="3743325" y="1371600"/>
              <a:chExt cx="5849993" cy="488823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3743325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3819525" y="159067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000500" y="137160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000625" y="137160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410570" y="146304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61457" y="1449705"/>
                <a:ext cx="403186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Các dự án tham gia và kết quả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43325" y="2371725"/>
              <a:ext cx="5416067" cy="488823"/>
              <a:chOff x="3743325" y="2371725"/>
              <a:chExt cx="5416067" cy="488823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743325" y="25527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819525" y="259080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000500" y="237172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000625" y="237172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10570" y="246316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61457" y="2449830"/>
                <a:ext cx="359793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Sử dụng AI trong công việc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743325" y="3371850"/>
              <a:ext cx="5454120" cy="488823"/>
              <a:chOff x="3743325" y="3371850"/>
              <a:chExt cx="5454120" cy="488823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3743325" y="355282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3819525" y="359092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000500" y="337185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000625" y="337185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10570" y="346329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03.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561457" y="3449955"/>
                <a:ext cx="363598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Tự đánh giá ưu, nhược điểm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743325" y="4371975"/>
              <a:ext cx="4039948" cy="488823"/>
              <a:chOff x="3743325" y="4371975"/>
              <a:chExt cx="4039948" cy="488823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3743325" y="455295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3819525" y="459105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000500" y="437197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000625" y="437197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10570" y="446341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561457" y="4450080"/>
                <a:ext cx="222181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Mục tiêu sắp tới</a:t>
                </a:r>
              </a:p>
            </p:txBody>
          </p:sp>
        </p:grpSp>
      </p:grpSp>
      <p:sp>
        <p:nvSpPr>
          <p:cNvPr id="35" name="Line 35"/>
          <p:cNvSpPr/>
          <p:nvPr/>
        </p:nvSpPr>
        <p:spPr>
          <a:xfrm>
            <a:off x="0" y="65151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DE6E1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02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4416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Các dự án tham gia và kết quả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953500" y="228600"/>
            <a:ext cx="2667000" cy="647700"/>
            <a:chOff x="8953500" y="228600"/>
            <a:chExt cx="2667000" cy="647700"/>
          </a:xfrm>
        </p:grpSpPr>
        <p:sp>
          <p:nvSpPr>
            <p:cNvPr id="4" name="Rectangle 4"/>
            <p:cNvSpPr/>
            <p:nvPr/>
          </p:nvSpPr>
          <p:spPr>
            <a:xfrm>
              <a:off x="8953500" y="228600"/>
              <a:ext cx="1200150" cy="647700"/>
            </a:xfrm>
            <a:prstGeom prst="roundRect">
              <a:avLst>
                <a:gd name="adj" fmla="val 17647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7976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83954" y="66770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267950" y="228600"/>
              <a:ext cx="1352550" cy="647700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7041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53497" y="667702"/>
              <a:ext cx="981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DONE · 89,5%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9130" y="1116806"/>
            <a:ext cx="10586085" cy="4415314"/>
            <a:chOff x="659130" y="1116806"/>
            <a:chExt cx="10586085" cy="4415314"/>
          </a:xfrm>
        </p:grpSpPr>
        <p:sp>
          <p:nvSpPr>
            <p:cNvPr id="11" name="Line 11"/>
            <p:cNvSpPr/>
            <p:nvPr/>
          </p:nvSpPr>
          <p:spPr>
            <a:xfrm>
              <a:off x="2857500" y="138112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9050">
              <a:solidFill>
                <a:srgbClr val="CBD8D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17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20/03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90160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2853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192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1915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22/07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59130" y="1695450"/>
              <a:ext cx="10580370" cy="460534"/>
              <a:chOff x="659130" y="1695450"/>
              <a:chExt cx="10580370" cy="46053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59130" y="1695450"/>
                <a:ext cx="3848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1035" y="1935956"/>
                <a:ext cx="12793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98 task · 91 Done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857500" y="1695450"/>
                <a:ext cx="83820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131100" y="1783556"/>
                <a:ext cx="9236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20/03–22/07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59130" y="2247900"/>
              <a:ext cx="4678128" cy="331470"/>
              <a:chOff x="659130" y="2247900"/>
              <a:chExt cx="4678128" cy="3314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59130" y="2286000"/>
                <a:ext cx="118898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MSB Office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857625" y="2247900"/>
                <a:ext cx="5524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71416" y="23250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07/04–10/04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59130" y="2838450"/>
              <a:ext cx="8392878" cy="331470"/>
              <a:chOff x="659130" y="2838450"/>
              <a:chExt cx="8392878" cy="33147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659130" y="2876550"/>
                <a:ext cx="89014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LumesV2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191250" y="2838450"/>
                <a:ext cx="1905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6166" y="29156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18/05–16/06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9130" y="3429000"/>
              <a:ext cx="7440378" cy="331470"/>
              <a:chOff x="659130" y="3429000"/>
              <a:chExt cx="7440378" cy="33147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59130" y="3467100"/>
                <a:ext cx="1151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Design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477000" y="3429000"/>
                <a:ext cx="6667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45A775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33666" y="35061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21/05–27/05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59130" y="4019550"/>
              <a:ext cx="8659578" cy="331470"/>
              <a:chOff x="659130" y="4019550"/>
              <a:chExt cx="8659578" cy="33147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59130" y="4057650"/>
                <a:ext cx="9056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IoT Team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838950" y="40195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452866" y="40967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26/05–15/06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59130" y="4610100"/>
              <a:ext cx="10580370" cy="331470"/>
              <a:chOff x="659130" y="4610100"/>
              <a:chExt cx="10580370" cy="331470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59130" y="4648200"/>
                <a:ext cx="10258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Auto Test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810750" y="4610100"/>
                <a:ext cx="14287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339061" y="4687252"/>
                <a:ext cx="13817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06/07–25/07 dự kiến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9130" y="5200650"/>
              <a:ext cx="10580370" cy="331470"/>
              <a:chOff x="659130" y="5200650"/>
              <a:chExt cx="10580370" cy="33147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659130" y="5238750"/>
                <a:ext cx="15444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Smart Lighting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11049000" y="5200650"/>
                <a:ext cx="1905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626892" y="5277802"/>
                <a:ext cx="13131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Từ 20/07 · Ongoing</a:t>
                </a:r>
              </a:p>
            </p:txBody>
          </p:sp>
        </p:grpSp>
      </p:grpSp>
      <p:sp>
        <p:nvSpPr>
          <p:cNvPr id="47" name="Rectangle 47"/>
          <p:cNvSpPr/>
          <p:nvPr/>
        </p:nvSpPr>
        <p:spPr>
          <a:xfrm>
            <a:off x="495300" y="5905500"/>
            <a:ext cx="111252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79323" y="6034564"/>
            <a:ext cx="804063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Trọng tâm: KNX xuyên suốt · Mở rộng năng lực sang automation, tool nhà máy và kiểm thử đa hệ.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5769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 Dự án KNX — Tổng quan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33400" y="1190625"/>
            <a:ext cx="4762500" cy="2286000"/>
            <a:chOff x="533400" y="1190625"/>
            <a:chExt cx="4762500" cy="2286000"/>
          </a:xfrm>
        </p:grpSpPr>
        <p:sp>
          <p:nvSpPr>
            <p:cNvPr id="6" name="Rectangle 6"/>
            <p:cNvSpPr/>
            <p:nvPr/>
          </p:nvSpPr>
          <p:spPr>
            <a:xfrm>
              <a:off x="533400" y="1190625"/>
              <a:ext cx="4762500" cy="2286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2673" y="1443514"/>
              <a:ext cx="1542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PHẠM VI ĐÓNG GÓP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0768" y="1793558"/>
              <a:ext cx="2157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Thiết bị &amp; firmware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768" y="2155508"/>
              <a:ext cx="3231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Tool, Jig, loader &amp; benchmark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2517458"/>
              <a:ext cx="3378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Kiểm thử hệ thống &amp; KNX Secure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0768" y="2879408"/>
              <a:ext cx="3134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trình, đào tạo &amp; tài liệu</a:t>
              </a:r>
            </a:p>
          </p:txBody>
        </p:sp>
      </p:grp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656" y="1143000"/>
            <a:ext cx="4167188" cy="238125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533400" y="3762375"/>
            <a:ext cx="11180047" cy="1047750"/>
            <a:chOff x="533400" y="3762375"/>
            <a:chExt cx="11180047" cy="1047750"/>
          </a:xfrm>
        </p:grpSpPr>
        <p:sp>
          <p:nvSpPr>
            <p:cNvPr id="14" name="Rectangle 14"/>
            <p:cNvSpPr/>
            <p:nvPr/>
          </p:nvSpPr>
          <p:spPr>
            <a:xfrm>
              <a:off x="53340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086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2011" y="4122896"/>
              <a:ext cx="827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KNX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3054" y="4461510"/>
              <a:ext cx="2330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86% tổng khối lượng kỳ review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1005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7751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9136" y="4122896"/>
              <a:ext cx="440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Done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9704" y="4461510"/>
              <a:ext cx="24975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Đầu ra đã xác nhận trong dữ liệu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86700" y="3762375"/>
              <a:ext cx="3771900" cy="1047750"/>
            </a:xfrm>
            <a:prstGeom prst="roundRect">
              <a:avLst>
                <a:gd name="adj" fmla="val 145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65211" y="4018121"/>
              <a:ext cx="13091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task còn lại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6354" y="4347210"/>
              <a:ext cx="3547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 Ongoing · 2 Late · 2 Not started · 1 Closed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6923" y="5196364"/>
            <a:ext cx="11131677" cy="899636"/>
            <a:chOff x="526923" y="5196364"/>
            <a:chExt cx="11131677" cy="899636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5196364"/>
              <a:ext cx="1714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7423" y="5710714"/>
              <a:ext cx="2198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Firmware đa dòng thiết bị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1005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94073" y="5710714"/>
              <a:ext cx="2643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Tool/Jig và benchmark hệ thống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86700" y="5486400"/>
              <a:ext cx="37719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70723" y="5710714"/>
              <a:ext cx="2054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 &amp; đào tạo KNX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830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Công việc chính &amp;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33400" y="1143000"/>
            <a:ext cx="11125200" cy="4286250"/>
            <a:chOff x="533400" y="1143000"/>
            <a:chExt cx="11125200" cy="4286250"/>
          </a:xfrm>
        </p:grpSpPr>
        <p:grpSp>
          <p:nvGrpSpPr>
            <p:cNvPr id="14" name="Group 14"/>
            <p:cNvGrpSpPr/>
            <p:nvPr/>
          </p:nvGrpSpPr>
          <p:grpSpPr>
            <a:xfrm>
              <a:off x="533400" y="1143000"/>
              <a:ext cx="3429000" cy="4286250"/>
              <a:chOff x="533400" y="1143000"/>
              <a:chExt cx="3429000" cy="4286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143000"/>
                <a:ext cx="3429000" cy="4286250"/>
              </a:xfrm>
              <a:prstGeom prst="roundRect">
                <a:avLst>
                  <a:gd name="adj" fmla="val 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723900" y="1381125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48473" y="14763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29868" y="1469708"/>
                <a:ext cx="238250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THIẾT BỊ &amp; FIRMWARE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1960721"/>
                <a:ext cx="2773680" cy="926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 marL="153289" indent="-153289">
                  <a:lnSpc>
                    <a:spcPts val="25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Công tắc 2/4 nút</a:t>
                </a:r>
              </a:p>
              <a:p>
                <a:pPr algn="l" marL="153289" indent="-153289">
                  <a:lnSpc>
                    <a:spcPts val="25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Rèm, Actuator, KNOB</a:t>
                </a:r>
              </a:p>
              <a:p>
                <a:pPr algn="l" marL="153289" indent="-153289">
                  <a:lnSpc>
                    <a:spcPts val="25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Cấu hình và đóng gói .knxprod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819150" y="33337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13054" y="3547110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12292" y="3883342"/>
                <a:ext cx="2756916" cy="8164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thiện nhiều luồng firmware, chuẩn hóa cách kiểm thử và đóng gói sản phẩm.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210050" y="1143000"/>
              <a:ext cx="3429000" cy="4286250"/>
              <a:chOff x="4210050" y="1143000"/>
              <a:chExt cx="3429000" cy="42862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210050" y="1143000"/>
                <a:ext cx="3429000" cy="4286250"/>
              </a:xfrm>
              <a:prstGeom prst="roundRect">
                <a:avLst>
                  <a:gd name="adj" fmla="val 5000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4400550" y="1381125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525123" y="14763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906518" y="1469708"/>
                <a:ext cx="19635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TOOL &amp; HỆ THỐNG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488561" y="1960721"/>
                <a:ext cx="2548255" cy="926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 marL="153289" indent="-153289">
                  <a:lnSpc>
                    <a:spcPts val="25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Jig, loader, benchmark</a:t>
                </a:r>
              </a:p>
              <a:p>
                <a:pPr algn="l" marL="153289" indent="-153289">
                  <a:lnSpc>
                    <a:spcPts val="25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delay/miss, Coupler</a:t>
                </a:r>
              </a:p>
              <a:p>
                <a:pPr algn="l" marL="153289" indent="-153289">
                  <a:lnSpc>
                    <a:spcPts val="25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 Secure &amp; download flow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4495800" y="33337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B8D8C7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489704" y="3547110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88942" y="3883342"/>
                <a:ext cx="2173986" cy="8164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Tăng khả năng tái hiện lỗi, đo lường và xác nhận trên hệ thống thực tế.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886700" y="1143000"/>
              <a:ext cx="3771900" cy="4286250"/>
              <a:chOff x="7886700" y="1143000"/>
              <a:chExt cx="3771900" cy="4286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886700" y="1143000"/>
                <a:ext cx="3771900" cy="4286250"/>
              </a:xfrm>
              <a:prstGeom prst="roundRect">
                <a:avLst>
                  <a:gd name="adj" fmla="val 454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8077200" y="1381125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201773" y="14763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83168" y="1469708"/>
                <a:ext cx="218535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TÀI LIỆU &amp; ĐÀO TẠO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65211" y="1960721"/>
                <a:ext cx="2674493" cy="926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 marL="153289" indent="-153289">
                  <a:lnSpc>
                    <a:spcPts val="25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Giáo trình và ETS</a:t>
                </a:r>
              </a:p>
              <a:p>
                <a:pPr algn="l" marL="153289" indent="-153289">
                  <a:lnSpc>
                    <a:spcPts val="25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Quiz, Q&amp;A, Topology</a:t>
                </a:r>
              </a:p>
              <a:p>
                <a:pPr algn="l" marL="153289" indent="-153289">
                  <a:lnSpc>
                    <a:spcPts val="25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Tester/đào tạo nội bộ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8172450" y="3333750"/>
                <a:ext cx="320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00400" h="9525">
                    <a:moveTo>
                      <a:pt x="0" y="0"/>
                    </a:moveTo>
                    <a:lnTo>
                      <a:pt x="32004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166354" y="3547110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65592" y="3883342"/>
                <a:ext cx="2362581" cy="8164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Chuyển kiến thức kỹ thuật thành tài sản có thể dùng lại và bàn giao cho đội ngũ.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662364" y="5734050"/>
            <a:ext cx="8089838" cy="514350"/>
            <a:chOff x="662364" y="5734050"/>
            <a:chExt cx="8089838" cy="5143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364" y="5734050"/>
              <a:ext cx="923171" cy="51435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1898142" y="5874068"/>
              <a:ext cx="68540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Một chuỗi đóng góp end-to-end: thiết bị → tool → hệ thống → tri thức dùng lại.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36237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Năng lực &amp; bài học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33400" y="1123950"/>
            <a:ext cx="11125200" cy="4533900"/>
            <a:chOff x="533400" y="1123950"/>
            <a:chExt cx="11125200" cy="4533900"/>
          </a:xfrm>
        </p:grpSpPr>
        <p:grpSp>
          <p:nvGrpSpPr>
            <p:cNvPr id="9" name="Group 9"/>
            <p:cNvGrpSpPr/>
            <p:nvPr/>
          </p:nvGrpSpPr>
          <p:grpSpPr>
            <a:xfrm>
              <a:off x="533400" y="1123950"/>
              <a:ext cx="3429000" cy="2143125"/>
              <a:chOff x="533400" y="112395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12395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351121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740218"/>
                <a:ext cx="2225421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Firmware · ETS · .knxprod Debug hệ thống và Jig Viết tài liệu &amp; đào tạo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4210050" y="1123950"/>
              <a:ext cx="3429000" cy="2143125"/>
              <a:chOff x="4210050" y="1123950"/>
              <a:chExt cx="3429000" cy="2143125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4210050" y="112395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450461" y="13511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50842" y="1740218"/>
                <a:ext cx="2928366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Nhìn end-to-end thay vì từng lỗi lẻ Ưu tiên bằng chứng đo được Biến tri thức thành quy trình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886700" y="1123950"/>
              <a:ext cx="3771900" cy="2143125"/>
              <a:chOff x="7886700" y="1123950"/>
              <a:chExt cx="3771900" cy="214312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886700" y="112395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127111" y="1351121"/>
                <a:ext cx="72494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27492" y="1740218"/>
                <a:ext cx="2808351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test càng sớm càng tốt Giữ log, benchmark và checklist Handoff cần đủ context kỹ thuật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3514725"/>
              <a:ext cx="3429000" cy="2143125"/>
              <a:chOff x="533400" y="3514725"/>
              <a:chExt cx="34290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51472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3811" y="3741896"/>
                <a:ext cx="89460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4192" y="4130992"/>
                <a:ext cx="2654046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 và lỗi khó tái hiện Secure, Coupler, download flow Nhiều thiết bị và phiên bản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210050" y="3514725"/>
              <a:ext cx="3429000" cy="2143125"/>
              <a:chOff x="4210050" y="3514725"/>
              <a:chExt cx="3429000" cy="2143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210050" y="351472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450461" y="3741896"/>
                <a:ext cx="10748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CÁCH XỬ LÝ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50842" y="4130992"/>
                <a:ext cx="2594038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hiện → đo → đối chiếu Khoanh vùng theo lớp hệ thống Xác nhận lại trên cấu hình thật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86700" y="3514725"/>
              <a:ext cx="3771900" cy="2143125"/>
              <a:chOff x="7886700" y="3514725"/>
              <a:chExt cx="3771900" cy="21431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86700" y="351472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127111" y="3741896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16062" y="4183380"/>
                <a:ext cx="596326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91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945118" y="4336732"/>
                <a:ext cx="106812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127873" y="4958239"/>
                <a:ext cx="328467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Bao phủ thiết bị, tool, test và đào tạo</a:t>
                </a:r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47216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2. Dự án Auto Test</a:t>
            </a:r>
          </a:p>
        </p:txBody>
      </p:sp>
      <p:sp>
        <p:nvSpPr>
          <p:cNvPr id="4" name="Rectangle 4"/>
          <p:cNvSpPr/>
          <p:nvPr/>
        </p:nvSpPr>
        <p:spPr>
          <a:xfrm>
            <a:off x="8858250" y="285750"/>
            <a:ext cx="2762250" cy="40005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18368" y="405289"/>
            <a:ext cx="244201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06/07–25/07/2026 · Dự kiến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9" name="Group 9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954084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cảm biến màu Thiết kế API &amp; luồng Auto Test Controller, servo và sensor module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50842" y="1664018"/>
                <a:ext cx="2525458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4/5 task Done trong kỳ review Có tài liệu API/flow ban đầu 1 task Ongoing đúng kế hoạch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27492" y="1664018"/>
                <a:ext cx="2859786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flow automation Tích hợp sensor/servo/controller Viết API và test scenario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4192" y="4054792"/>
                <a:ext cx="2499741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Modular và API-first Tách phần cứng khỏi test logic Thiết kế để mở rộng về sau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50842" y="4054792"/>
                <a:ext cx="2868358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Khó đồng bộ cơ khí–sensor–code Cần chốt interface trước tích hợp Test sớm từng module độc lập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4/5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13638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127873" y="4815364"/>
                <a:ext cx="26672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Đặt nền kiến trúc cho Auto Test</a:t>
                </a:r>
              </a:p>
            </p:txBody>
          </p:sp>
          <p:pic>
            <p:nvPicPr>
              <p:cNvPr id="31" name="Image 31"/>
              <p:cNvPicPr>
                <a:picLocks noChangeAspect="1"/>
              </p:cNvPicPr>
              <p:nvPr/>
            </p:nvPicPr>
            <p:blipFill>
              <a:blip r:embed="rId3"/>
              <a:srcRect l="0" t="14819" r="0" b="14819"/>
              <a:stretch>
                <a:fillRect/>
              </a:stretch>
            </p:blipFill>
            <p:spPr>
              <a:xfrm>
                <a:off x="10382250" y="4143375"/>
                <a:ext cx="1000125" cy="1190625"/>
              </a:xfrm>
              <a:prstGeom prst="rect">
                <a:avLst/>
              </a:prstGeom>
            </p:spPr>
          </p:pic>
        </p:grpSp>
      </p:grpSp>
      <p:sp>
        <p:nvSpPr>
          <p:cNvPr id="34" name="TextBox 3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07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6970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3. Dự án Tool Design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9" name="Group 9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422588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Chỉnh sửa tool nguồn DC Điều chỉnh theo flow nhà máy Rà soát khả năng vận hành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50842" y="1664018"/>
                <a:ext cx="2302574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Done Hoàn tất hai vòng chỉnh sửa 2 task trống/chưa khởi tạo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27492" y="1664018"/>
                <a:ext cx="2868358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tool phần cứng Thiết kế nguồn và kiểm tra an toàn Trao đổi yêu cầu nhà máy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4192" y="4054792"/>
                <a:ext cx="2542604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ổn định và bảo trì Đơn giản hóa thao tác vận hành Thiết kế theo người sử dụng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50842" y="4054792"/>
                <a:ext cx="2474024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thực địa dễ thay đổi Task mở thiếu mô tả cụ thể Cần checklist acceptance sớm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16062" y="4088130"/>
                <a:ext cx="596326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803005" y="4276725"/>
                <a:ext cx="236772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vòng chỉnh sửa hoàn tất</a:t>
                </a:r>
              </a:p>
            </p:txBody>
          </p:sp>
          <p:pic>
            <p:nvPicPr>
              <p:cNvPr id="30" name="Image 30"/>
              <p:cNvPicPr>
                <a:picLocks noChangeAspect="1"/>
              </p:cNvPicPr>
              <p:nvPr/>
            </p:nvPicPr>
            <p:blipFill>
              <a:blip r:embed="rId3"/>
              <a:srcRect l="23047" t="0" r="23047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33" name="TextBox 3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08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21650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4. Dự án IoT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26/05–15/06/2026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9" name="Group 9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576894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Phát triển code loader Luto Họp định hướng Auto Test Hỗ trợ interface giữa các team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50842" y="1664018"/>
                <a:ext cx="2294001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 Bàn giao loader cho Luto Thống nhất hướng Auto Test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27492" y="1664018"/>
                <a:ext cx="2439734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Loader và quy trình nạp code Làm rõ interface kỹ thuật Phối hợp liên team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4192" y="4054792"/>
                <a:ext cx="2671191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sử dụng tool và pattern cũ Thống nhất contract trước code Bàn giao kèm ngữ cảnh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50842" y="4054792"/>
                <a:ext cx="2585466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Đồng bộ ưu tiên giữa nhiều team Interface mơ hồ tạo vòng lặp Cần decision log ngắn gọn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127873" y="4815364"/>
                <a:ext cx="21784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Loader Luto được bàn giao</a:t>
                </a:r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09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22949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5. Dự án LumesV2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18/05–16/06/2026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9" name="Group 9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268284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test nguồn Tool nạp code mạch main V2 Kiểm tra theo flow nhà máy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50842" y="1664018"/>
                <a:ext cx="2594038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 Có tool cho hai công đoạn chính Sẵn sàng tích hợp vào flow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27492" y="1664018"/>
                <a:ext cx="2345436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nguồn và nạp code Tích hợp với mạch main V2 Chuẩn hóa thao tác vận hành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4192" y="4054792"/>
                <a:ext cx="2714054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rõ test và nạp code Thiết kế theo công đoạn Giảm thao tác thừa của operator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50842" y="4054792"/>
                <a:ext cx="2936938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Tương thích mạch cần xác nhận sớm Flow nhà máy cần rõ acceptance Test fixture trước khi rollout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pic>
            <p:nvPicPr>
              <p:cNvPr id="30" name="Image 30"/>
              <p:cNvPicPr>
                <a:picLocks noChangeAspect="1"/>
              </p:cNvPicPr>
              <p:nvPr/>
            </p:nvPicPr>
            <p:blipFill>
              <a:blip r:embed="rId3"/>
              <a:srcRect l="7605" t="0" r="7605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33" name="TextBox 3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10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7710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6. Dự án MSB Office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07/04–10/04/2026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9" name="Group 9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225421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Fix lỗi đo sai năng lượng Kiểm tra Jig tại nhà máy Đối chiếu dữ liệu đo thực tế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50842" y="1664018"/>
                <a:ext cx="2911221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đo sai đã được xử lý 1 task Done 1 task Ongoing cần đóng trạng thái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27492" y="1664018"/>
                <a:ext cx="2079688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lường và hiệu chuẩn Debug Jig tại thực địa Phân tích sai lệch dữ liệu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4192" y="4054792"/>
                <a:ext cx="2928366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Dựa trên dữ liệu thay vì phỏng đoán So sánh chuẩn–đo–sai lệch Xác nhận tại môi trường thật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50842" y="4054792"/>
                <a:ext cx="2962656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thực địa khó tái hiện trong lab Hiệu chuẩn phải có chuẩn tham chiếu Cần đóng trạng thái sau hỗ trợ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25206" y="4168140"/>
                <a:ext cx="17388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FIX LỖI ĐO SAI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27492" y="4559618"/>
                <a:ext cx="21071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Năng lượng trên Jig MSB</a:t>
                </a:r>
              </a:p>
            </p:txBody>
          </p:sp>
          <p:pic>
            <p:nvPicPr>
              <p:cNvPr id="30" name="Image 30"/>
              <p:cNvPicPr>
                <a:picLocks noChangeAspect="1"/>
              </p:cNvPicPr>
              <p:nvPr/>
            </p:nvPicPr>
            <p:blipFill>
              <a:blip r:embed="rId3"/>
              <a:srcRect l="23047" t="0" r="23047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33" name="TextBox 3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11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4024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7. Dự án Smart Lighting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37908" y="405289"/>
            <a:ext cx="21839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B56A00"/>
                </a:solidFill>
                <a:latin typeface="+mn-lt"/>
                <a:ea typeface="+mn-ea"/>
                <a:cs typeface="+mn-cs"/>
              </a:rPr>
              <a:t>Từ 20/07/2026 · Ongoing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9" name="Group 9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685354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DEV tool test Driver Deep Dimming CCT Tunable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450461" y="1284446"/>
                <a:ext cx="165809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 HIỆN TẠI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50842" y="1664018"/>
                <a:ext cx="2714054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Đã xác định phạm vi test Đang xây dựng nền tool Chưa có mốc kết thúc chính thức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27492" y="1664018"/>
                <a:ext cx="2225421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test theo dải Đo dimming và CCT Xây tool có khả năng lặp lại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4192" y="4054792"/>
                <a:ext cx="3005518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toàn dải, không chỉ điểm chuẩn Thiết kế dữ liệu đo có cấu trúc Tách tiêu chí pass/fail rõ ràng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50842" y="4054792"/>
                <a:ext cx="2971228" cy="85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325"/>
                  </a:lnSpc>
                </a:pP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Dữ liệu đầu vào còn hạn chế Cần thống nhất chuẩn đo và dải test Ưu tiên prototype đo được sớm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127111" y="3675221"/>
                <a:ext cx="195500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BAN ĐẦU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25206" y="4168140"/>
                <a:ext cx="2585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DỰNG NỀN TOOL TEST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27492" y="4569142"/>
                <a:ext cx="27663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Cho Deep Dimming &amp; CCT Tunable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8134350" y="50482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313141" y="5117306"/>
                <a:ext cx="11664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ĐANG TRIỂN KHAI</a:t>
                </a:r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12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8558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Sử dụng AI trong công việc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33400" y="1285875"/>
            <a:ext cx="11125200" cy="3143250"/>
            <a:chOff x="533400" y="1285875"/>
            <a:chExt cx="11125200" cy="3143250"/>
          </a:xfrm>
        </p:grpSpPr>
        <p:grpSp>
          <p:nvGrpSpPr>
            <p:cNvPr id="10" name="Group 10"/>
            <p:cNvGrpSpPr/>
            <p:nvPr/>
          </p:nvGrpSpPr>
          <p:grpSpPr>
            <a:xfrm>
              <a:off x="533400" y="1285875"/>
              <a:ext cx="3429000" cy="3143250"/>
              <a:chOff x="533400" y="1285875"/>
              <a:chExt cx="3429000" cy="31432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429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605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0387" y="2137886"/>
                <a:ext cx="163590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CODE &amp; DEBUG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911" y="2608421"/>
                <a:ext cx="1971167" cy="926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550"/>
                  </a:lnSpc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Gợi ý hướng xử lý lỗi Sinh test case ban đầu Đối chiếu API và flow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3054" y="3870960"/>
                <a:ext cx="21662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Rút ngắn thời gian khám phá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381500" y="1285875"/>
              <a:ext cx="3429000" cy="3143250"/>
              <a:chOff x="4381500" y="1285875"/>
              <a:chExt cx="3429000" cy="31432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43815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45910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7086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658487" y="2137886"/>
                <a:ext cx="95515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TÀI LIỆU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60011" y="2608421"/>
                <a:ext cx="2458085" cy="926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550"/>
                  </a:lnSpc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Tóm tắt tài liệu KNX/ETS Chuẩn hóa Q&amp;A và giáo trình Soạn API/flow dễ bàn giao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61154" y="3870960"/>
                <a:ext cx="21743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Tăng tốc chuẩn hóa tri thức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229600" y="1285875"/>
              <a:ext cx="3429000" cy="3143250"/>
              <a:chOff x="8229600" y="1285875"/>
              <a:chExt cx="3429000" cy="3143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82296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8439150" y="1495425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5567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506587" y="2137886"/>
                <a:ext cx="122488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HỌC NHANH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508111" y="2608421"/>
                <a:ext cx="2476119" cy="926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550"/>
                  </a:lnSpc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công nghệ mới So sánh phương án triển khai Chuẩn bị câu hỏi kỹ thuật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509254" y="3870960"/>
                <a:ext cx="2755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Giảm thời gian tiếp cận lĩnh vực mới</a:t>
                </a: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533400" y="4857750"/>
            <a:ext cx="11519878" cy="1143000"/>
            <a:chOff x="533400" y="4857750"/>
            <a:chExt cx="11519878" cy="1143000"/>
          </a:xfrm>
        </p:grpSpPr>
        <p:sp>
          <p:nvSpPr>
            <p:cNvPr id="26" name="Rectangle 26"/>
            <p:cNvSpPr/>
            <p:nvPr/>
          </p:nvSpPr>
          <p:spPr>
            <a:xfrm>
              <a:off x="533400" y="4857750"/>
              <a:ext cx="11125200" cy="1143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2673" y="5110639"/>
              <a:ext cx="2068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NGUYÊN TẮC KIỂM CHỨNG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0006" y="5463540"/>
              <a:ext cx="11243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hỗ trợ tăng tốc; kết luận kỹ thuật vẫn phải được đo, test và xác nhận trên hệ thống thực tế.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90721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Tự đánh giá ưu, nhược điểm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33400" y="1190625"/>
            <a:ext cx="11125200" cy="4095750"/>
            <a:chOff x="533400" y="1190625"/>
            <a:chExt cx="11125200" cy="409575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190625"/>
              <a:ext cx="5286375" cy="4095750"/>
              <a:chOff x="533400" y="1190625"/>
              <a:chExt cx="5286375" cy="40957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71525" y="14382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04875" y="1581150"/>
                <a:ext cx="2190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71450">
                    <a:moveTo>
                      <a:pt x="0" y="95250"/>
                    </a:moveTo>
                    <a:lnTo>
                      <a:pt x="76200" y="171450"/>
                    </a:lnTo>
                    <a:lnTo>
                      <a:pt x="219075" y="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418844" y="1542098"/>
                <a:ext cx="105370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ƯU ĐIỂM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2171700"/>
                <a:ext cx="4282440" cy="1493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 marL="161925" indent="-161925">
                  <a:lnSpc>
                    <a:spcPts val="31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Năng lực end-to-end: firmware → tool → test</a:t>
                </a:r>
              </a:p>
              <a:p>
                <a:pPr algn="l" marL="161925" indent="-161925">
                  <a:lnSpc>
                    <a:spcPts val="31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Chủ động học nhanh và xử lý vấn đề mới</a:t>
                </a:r>
              </a:p>
              <a:p>
                <a:pPr algn="l" marL="161925" indent="-161925">
                  <a:lnSpc>
                    <a:spcPts val="31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tư duy hệ thống, ưu tiên bằng chứng</a:t>
                </a:r>
              </a:p>
              <a:p>
                <a:pPr algn="l" marL="161925" indent="-161925">
                  <a:lnSpc>
                    <a:spcPts val="31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liệu, đào tạo và phối hợp liên team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819150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03173" y="4558189"/>
                <a:ext cx="363883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Bằng chứng: 102 task Done / 7 nhóm dự án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6372225" y="1190625"/>
              <a:ext cx="5286375" cy="4095750"/>
              <a:chOff x="6372225" y="1190625"/>
              <a:chExt cx="5286375" cy="40957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372225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6610350" y="1438275"/>
                <a:ext cx="476250" cy="476250"/>
              </a:xfrm>
              <a:prstGeom prst="ellipse">
                <a:avLst/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801166" y="1558290"/>
                <a:ext cx="946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!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257669" y="1542098"/>
                <a:ext cx="181091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CẦN CẢI THIỆN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650355" y="2171700"/>
                <a:ext cx="4387215" cy="1493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 marL="161925" indent="-161925">
                  <a:lnSpc>
                    <a:spcPts val="31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Dễ phân tán khi nhiều luồng chạy song song</a:t>
                </a:r>
              </a:p>
              <a:p>
                <a:pPr algn="l" marL="161925" indent="-161925">
                  <a:lnSpc>
                    <a:spcPts val="31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Ước lượng và ưu tiên chưa luôn nhất quán</a:t>
                </a:r>
              </a:p>
              <a:p>
                <a:pPr algn="l" marL="161925" indent="-161925">
                  <a:lnSpc>
                    <a:spcPts val="31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Một số task Late/Not started chưa được đóng</a:t>
                </a:r>
              </a:p>
              <a:p>
                <a:pPr algn="l" marL="161925" indent="-161925">
                  <a:lnSpc>
                    <a:spcPts val="31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cập nhật trạng thái sau hỗ trợ thực địa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6657975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841998" y="4558189"/>
                <a:ext cx="42801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Hành động: weekly planning + acceptance rõ ràng</a:t>
                </a:r>
              </a:p>
            </p:txBody>
          </p:sp>
        </p:grpSp>
      </p:grpSp>
      <p:sp>
        <p:nvSpPr>
          <p:cNvPr id="21" name="Rectangle 21"/>
          <p:cNvSpPr/>
          <p:nvPr/>
        </p:nvSpPr>
        <p:spPr>
          <a:xfrm>
            <a:off x="533400" y="5619750"/>
            <a:ext cx="11125200" cy="476250"/>
          </a:xfrm>
          <a:prstGeom prst="roundRect">
            <a:avLst>
              <a:gd name="adj" fmla="val 24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554648" y="5770721"/>
            <a:ext cx="908270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Tư duy cần duy trì: chủ động, đo được, tài liệu hóa — nhưng tập trung hơn vào ưu tiên và hoàn tất.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5755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Bài học &amp; khó khăn xuyên dự án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33400" y="1143000"/>
            <a:ext cx="11125200" cy="4572000"/>
            <a:chOff x="533400" y="1143000"/>
            <a:chExt cx="11125200" cy="457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143000"/>
              <a:ext cx="11125200" cy="1000125"/>
              <a:chOff x="533400" y="1143000"/>
              <a:chExt cx="11125200" cy="1000125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4300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74573" y="136731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73430" y="1695450"/>
                <a:ext cx="35154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Hệ thống nhiều thiết bị và phiên bản</a:t>
                </a: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5191125" y="163830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057900" y="155257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6429375" y="114300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670548" y="136731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69405" y="1695450"/>
                <a:ext cx="47976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interface, phiên bản và checklist test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2333625"/>
              <a:ext cx="11125200" cy="1000125"/>
              <a:chOff x="533400" y="2333625"/>
              <a:chExt cx="11125200" cy="100012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33362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74573" y="255793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73430" y="2886075"/>
                <a:ext cx="218232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khó tái hiện tại lab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5191125" y="282892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057900" y="274320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6429375" y="233362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670548" y="255793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69405" y="2886075"/>
                <a:ext cx="465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 và mẫu đo chuẩn từ thực địa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3524250"/>
              <a:ext cx="11125200" cy="1000125"/>
              <a:chOff x="533400" y="3524250"/>
              <a:chExt cx="11125200" cy="1000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352425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74573" y="374856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73430" y="4076700"/>
                <a:ext cx="24253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nhà máy thay đổi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5191125" y="401955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057900" y="39338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429375" y="352425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670548" y="374856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69405" y="4076700"/>
                <a:ext cx="49489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Chốt acceptance và kiểm thử fixture trước rollout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33400" y="4714875"/>
              <a:ext cx="11125200" cy="1000125"/>
              <a:chOff x="533400" y="4714875"/>
              <a:chExt cx="11125200" cy="1000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471487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74573" y="493918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3430" y="5267325"/>
                <a:ext cx="29400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nhiều team và ưu tiên</a:t>
                </a: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5191125" y="521017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57900" y="512445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429375" y="471487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670548" y="493918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69405" y="5267325"/>
                <a:ext cx="44444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Decision log, owner rõ và handoff đủ context</a:t>
                </a:r>
              </a:p>
            </p:txBody>
          </p:sp>
        </p:grp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9980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Mục tiêu sắp tới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33400" y="1285875"/>
            <a:ext cx="11313372" cy="3429000"/>
            <a:chOff x="533400" y="1285875"/>
            <a:chExt cx="11313372" cy="3429000"/>
          </a:xfrm>
        </p:grpSpPr>
        <p:grpSp>
          <p:nvGrpSpPr>
            <p:cNvPr id="10" name="Group 10"/>
            <p:cNvGrpSpPr/>
            <p:nvPr/>
          </p:nvGrpSpPr>
          <p:grpSpPr>
            <a:xfrm>
              <a:off x="533400" y="1285875"/>
              <a:ext cx="3429000" cy="3429000"/>
              <a:chOff x="533400" y="1285875"/>
              <a:chExt cx="3429000" cy="3429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12673" y="1624489"/>
                <a:ext cx="141805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NOW · 0–4 TUẦN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808482" y="2078355"/>
                <a:ext cx="276189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Hoàn tất triển khai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1530" y="2676525"/>
                <a:ext cx="2910840" cy="105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3000"/>
                  </a:lnSpc>
                </a:pPr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Auto Test: đóng task còn lại Smart Lighting: prototype tool Xác nhận mốc và tiêu chí Done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8191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184961" y="4212431"/>
                <a:ext cx="8876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ƯU TIÊN CAO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381500" y="1285875"/>
              <a:ext cx="3429000" cy="3429000"/>
              <a:chOff x="4381500" y="1285875"/>
              <a:chExt cx="3429000" cy="3429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43815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660773" y="1624489"/>
                <a:ext cx="155187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NEXT · 1–2 THÁNG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656582" y="2078355"/>
                <a:ext cx="283637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Đóng vòng công việc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659630" y="2676525"/>
                <a:ext cx="2701290" cy="105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3000"/>
                  </a:lnSpc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Xử lý Late/Not started Cập nhật trạng thái MSB Weekly planning và review tải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46672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849856" y="4212431"/>
                <a:ext cx="125403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KỶ LUẬT THỰC THI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229600" y="1285875"/>
              <a:ext cx="3617172" cy="3429000"/>
              <a:chOff x="8229600" y="1285875"/>
              <a:chExt cx="3617172" cy="3429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82296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508873" y="1624489"/>
                <a:ext cx="165702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SCALE · 2–3 THÁNG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504682" y="2078355"/>
                <a:ext cx="334209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Chuẩn hóa &amp; tái sử dụng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507730" y="2676525"/>
                <a:ext cx="2406015" cy="105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3000"/>
                  </a:lnSpc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Thư viện tool và test case Template tài liệu/handoff Đào tạo ngắn theo module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85153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717869" y="4212431"/>
                <a:ext cx="12142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TÀI SẢN DÙNG LẠI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26923" y="5291614"/>
            <a:ext cx="11131677" cy="766286"/>
            <a:chOff x="526923" y="5291614"/>
            <a:chExt cx="11131677" cy="766286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5291614"/>
              <a:ext cx="14371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CHỈ SỐ THEO DÕI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77107" y="5748814"/>
              <a:ext cx="1684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 đúng hạn ≥ 95%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33375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829121" y="574881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task thiếu owner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1341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09771" y="5748814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100% handoff có tài liệu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934450" y="5600700"/>
              <a:ext cx="27241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51859" y="5748814"/>
              <a:ext cx="2089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tài sản dùng lại / tháng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224534" y="3042285"/>
            <a:ext cx="1390802" cy="528066"/>
            <a:chOff x="1224534" y="3042285"/>
            <a:chExt cx="1390802" cy="528066"/>
          </a:xfrm>
        </p:grpSpPr>
        <p:sp>
          <p:nvSpPr>
            <p:cNvPr id="3" name="TextBox 3"/>
            <p:cNvSpPr txBox="1"/>
            <p:nvPr/>
          </p:nvSpPr>
          <p:spPr>
            <a:xfrm>
              <a:off x="1224534" y="3042285"/>
              <a:ext cx="1390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CẢM ƠN!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34000" y="476250"/>
            <a:ext cx="5715000" cy="5715000"/>
            <a:chOff x="5334000" y="476250"/>
            <a:chExt cx="5715000" cy="5715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0" y="476250"/>
              <a:ext cx="5715000" cy="5715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6572250" y="1238250"/>
            <a:ext cx="3714750" cy="3597213"/>
            <a:chOff x="6572250" y="1238250"/>
            <a:chExt cx="3714750" cy="3597213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2250" y="1736787"/>
              <a:ext cx="1619250" cy="3098676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10500" y="1238250"/>
              <a:ext cx="1619250" cy="3476625"/>
            </a:xfrm>
            <a:prstGeom prst="rect">
              <a:avLst/>
            </a:prstGeom>
          </p:spPr>
        </p:pic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8250" y="1818409"/>
              <a:ext cx="1428750" cy="2840182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2026-07-23T14:15:35Z</dcterms:created>
  <dcterms:modified xsi:type="dcterms:W3CDTF">2026-07-23T14:15:35Z</dcterms:modified>
  <cp:category/>
  <cp:contentStatus/>
</cp:coreProperties>
</file>
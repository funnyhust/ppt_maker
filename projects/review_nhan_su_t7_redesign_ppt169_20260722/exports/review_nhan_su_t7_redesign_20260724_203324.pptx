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Default Extension="jpg" ContentType="image/jpeg"/>
  <Default Extension="png" ContentType="image/png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7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  <Override PartName="/ppt/theme/theme2.xml" ContentType="application/vnd.openxmlformats-officedocument.theme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9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  <Relationship Id="rId29" Type="http://schemas.openxmlformats.org/officeDocument/2006/relationships/notesMaster" Target="notesMasters/notesMaster1.xml"/>
</Relationships>
</file>

<file path=ppt/notesMasters/_rels/notesMaster1.xml.rels><?xml version="1.0" encoding="UTF-8" standalone="yes"?>
<Relationships xmlns="http://schemas.openxmlformats.org/package/2006/relationships">
  <Relationship Id="rId1" Type="http://schemas.openxmlformats.org/officeDocument/2006/relationships/theme" Target="../theme/theme2.xml"/>
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/>
  <p:notesStyle>
    <a:lvl1pPr marL="0" algn="l">
      <a:defRPr sz="1200" lang="en-US"/>
    </a:lvl1pPr>
  </p:notesStyle>
</p:notesMaster>
</file>

<file path=ppt/notesSlides/_rels/notesSlide1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1.xml"/>
</Relationships>
</file>

<file path=ppt/notesSlides/_rels/notesSlide2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2.xml"/>
</Relationships>
</file>

<file path=ppt/notesSlides/_rels/notesSlide3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3.xml"/>
</Relationships>
</file>

<file path=ppt/notesSlides/_rels/notesSlide4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4.xml"/>
</Relationships>
</file>

<file path=ppt/notesSlides/_rels/notesSlide5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5.xml"/>
</Relationships>
</file>

<file path=ppt/notesSlides/_rels/notesSlide6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6.xml"/>
</Relationships>
</file>

<file path=ppt/notesSlides/_rels/notesSlide7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7.xml"/>
</Relationships>
</file>

<file path=ppt/notesSlides/_rels/notesSlide8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8.xml"/>
</Relationships>
</file>

<file path=ppt/notesSlides/_rels/notesSlide9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9.xml"/>
</Relationships>
</file>

<file path=ppt/notesSlides/_rels/notesSlide10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10.xml"/>
</Relationships>
</file>

<file path=ppt/notesSlides/_rels/notesSlide11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11.xml"/>
</Relationships>
</file>

<file path=ppt/notesSlides/_rels/notesSlide12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12.xml"/>
</Relationships>
</file>

<file path=ppt/notesSlides/_rels/notesSlide13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13.xml"/>
</Relationships>
</file>

<file path=ppt/notesSlides/_rels/notesSlide14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14.xml"/>
</Relationships>
</file>

<file path=ppt/notesSlides/_rels/notesSlide15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15.xml"/>
</Relationships>
</file>

<file path=ppt/notesSlides/_rels/notesSlide16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16.xml"/>
</Relationships>
</file>

<file path=ppt/notesSlides/_rels/notesSlide17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17.xml"/>
</Relationships>
</file>

<file path=ppt/notesSlides/_rels/notesSlide18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18.xml"/>
</Relationships>
</file>

<file path=ppt/notesSlides/_rels/notesSlide19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19.xml"/>
</Relationships>
</file>

<file path=ppt/notesSlides/_rels/notesSlide20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20.xml"/>
</Relationships>
</file>

<file path=ppt/notesSlides/_rels/notesSlide21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21.xml"/>
</Relationships>
</file>

<file path=ppt/notesSlides/_rels/notesSlide22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22.xml"/>
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en-US" dirty="0"/>
              <a:t>Mở đầu kỳ review ngày 23/07/2026, phạm vi đánh giá từ 20/03 đến 22/07/2026.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en-US" dirty="0"/>
              <a:t>Bài trình bày giữ nguyên bốn phần của template cũ: dự án, AI, tự đánh giá và mục tiêu.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en-US" dirty="0"/>
              <a:t>Trong kỳ có 114 task thuộc 7 nhóm dự án; 102 task đã Done, tương đương 89,5%.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en-US" dirty="0"/>
              <a:t>KNX là trọng tâm lớn nhất với 98 task, bao phủ sản phẩm, tool, hệ thống và đào tạo.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en-US" dirty="0"/>
              <a:t>Đầu ra KNX đi xuyên suốt từ firmware đến Jig, benchmark, kiểm thử, tài liệu và đào tạo.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en-US" dirty="0"/>
              <a:t>Ảnh phóng lớn cho thấy bảng điều khiển tập trung, hỗ trợ theo dõi thiết bị và trạng thái benchmark.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en-US" dirty="0"/>
              <a:t>Giao diện tạo test case chuẩn hóa dữ liệu đầu vào và giảm thao tác rời rạc trong quá trình kiểm thử.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en-US" dirty="0"/>
              <a:t>Báo cáo tổng hợp kết quả pass/fail và bằng chứng test, giúp truy vết và xác nhận đầu ra.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en-US" dirty="0"/>
              <a:t>Điểm tiến bộ chính là tư duy end-to-end và quy trình tái hiện, đo, đối chiếu, xác nhận.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en-US" dirty="0"/>
              <a:t>Tool nạp code gom cấu hình, điều khiển nhiều máy và log vận hành vào một giao diện thống nhất.</a:t>
            </a: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en-US" dirty="0"/>
              <a:t>Auto Test đang ở giai đoạn xây nền, đã hoàn thành 4 trên 5 task trong phạm vi review.</a:t>
            </a: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en-US" dirty="0"/>
              <a:t>Tool Design tập trung chỉnh sửa tool nguồn DC cho flow vận hành thực tế tại nhà máy.</a:t>
            </a: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en-US" dirty="0"/>
              <a:t>Ảnh giao diện phóng lớn minh họa hai vòng chỉnh sửa, ưu tiên độ ổn định, dễ dùng và dễ bảo trì.</a:t>
            </a: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en-US" dirty="0"/>
              <a:t>Đóng góp cho IoT gồm loader Luto và phối hợp định hướng Auto Test; cả hai task đã hoàn thành.</a:t>
            </a: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en-US" dirty="0"/>
              <a:t>LumesV2 đã có tool test nguồn và tool nạp code cho mạch main V2.</a:t>
            </a: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en-US" dirty="0"/>
              <a:t>MSB tập trung xử lý lỗi đo sai năng lượng và kiểm tra Jig tại nhà máy.</a:t>
            </a:r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en-US" dirty="0"/>
              <a:t>Smart Lighting mới khởi động từ 20/07, đang dựng nền tool test cho Deep Dimming và CCT Tunable.</a:t>
            </a:r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en-US" dirty="0"/>
              <a:t>AI hỗ trợ code, tài liệu và học nhanh; mọi kết luận kỹ thuật vẫn phải được kiểm chứng thực tế.</a:t>
            </a:r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en-US" dirty="0"/>
              <a:t>Điểm mạnh là năng lực end-to-end và chủ động; điểm cần cải thiện là ưu tiên và đóng vòng công việc.</a:t>
            </a:r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en-US" dirty="0"/>
              <a:t>Bài học chung là chuẩn hóa interface, logging, acceptance và handoff càng sớm càng tốt.</a:t>
            </a:r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en-US" dirty="0"/>
              <a:t>Mục tiêu tiếp theo là hoàn tất dự án đang chạy, đóng task còn mở và chuẩn hóa tài sản dùng lại.</a:t>
            </a:r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en-US" dirty="0"/>
              <a:t>Cảm ơn và sẵn sàng trao đổi thêm.</a:t>
            </a:r>
          </a:p>
        </p:txBody>
      </p:sp>
    </p:spTree>
  </p:cSld>
  <p:clrMapOvr>
    <a:masterClrMapping/>
  </p:clrMapOvr>
</p:note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7.xml><?xml version="1.0" encoding="utf-8"?>
<p:sldLayout xmlns:a="http://schemas.openxmlformats.org/drawingml/2006/main" xmlns:p="http://schemas.openxmlformats.org/presentationml/2006/main" type="blank" preserve="1">
  <p:cSld name="review_nhan_su_t7_redesign — 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'1.0' encoding='UTF-8' standalone='yes'?>
<Relationships xmlns="http://schemas.openxmlformats.org/package/2006/relationships"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 name="review_nhan_su_t7_redesign — 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5" r:id="rId7"/>
  </p:sldLayoutIdLst>
  <p:txStyles>
    <p:titleStyle>
      <a:lvl1pPr algn="ctr" defTabSz="457200" rtl="0" eaLnBrk="1" latinLnBrk="0" hangingPunct="1">
        <a:spcBef>
          <a:spcPct val="0"/>
        </a:spcBef>
        <a:buNone/>
        <a:defRPr sz="27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165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155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145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125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115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105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95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65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55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45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25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15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05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95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image" Target="../media/image_bb7dad2eee78ee9d.png"/>
  <Relationship Id="rId3" Type="http://schemas.openxmlformats.org/officeDocument/2006/relationships/image" Target="../media/image_b3ef018bf0b10f2b.png"/>
  <Relationship Id="rId4" Type="http://schemas.openxmlformats.org/officeDocument/2006/relationships/notesSlide" Target="../notesSlides/notesSlide1.xml"/>
</Relationships>
</file>

<file path=ppt/slides/_rels/slide2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image" Target="../media/image_8fa7a601c29ca778.png"/>
  <Relationship Id="rId3" Type="http://schemas.openxmlformats.org/officeDocument/2006/relationships/image" Target="../media/image_010fcf8f9f909b91.png"/>
  <Relationship Id="rId4" Type="http://schemas.openxmlformats.org/officeDocument/2006/relationships/notesSlide" Target="../notesSlides/notesSlide2.xml"/>
</Relationships>
</file>

<file path=ppt/slides/_rels/slide3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image" Target="../media/image_8fa7a601c29ca778.png"/>
  <Relationship Id="rId3" Type="http://schemas.openxmlformats.org/officeDocument/2006/relationships/notesSlide" Target="../notesSlides/notesSlide3.xml"/>
</Relationships>
</file>

<file path=ppt/slides/_rels/slide4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image" Target="../media/image_8fa7a601c29ca778.png"/>
  <Relationship Id="rId3" Type="http://schemas.openxmlformats.org/officeDocument/2006/relationships/image" Target="../media/image_3db7369d2c1e7d49.jpg"/>
  <Relationship Id="rId4" Type="http://schemas.openxmlformats.org/officeDocument/2006/relationships/notesSlide" Target="../notesSlides/notesSlide4.xml"/>
</Relationships>
</file>

<file path=ppt/slides/_rels/slide5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image" Target="../media/image_8fa7a601c29ca778.png"/>
  <Relationship Id="rId3" Type="http://schemas.openxmlformats.org/officeDocument/2006/relationships/notesSlide" Target="../notesSlides/notesSlide5.xml"/>
</Relationships>
</file>

<file path=ppt/slides/_rels/slide6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image" Target="../media/image_8fa7a601c29ca778.png"/>
  <Relationship Id="rId3" Type="http://schemas.openxmlformats.org/officeDocument/2006/relationships/image" Target="../media/image_b10707da1aef28a0.png"/>
  <Relationship Id="rId4" Type="http://schemas.openxmlformats.org/officeDocument/2006/relationships/notesSlide" Target="../notesSlides/notesSlide6.xml"/>
</Relationships>
</file>

<file path=ppt/slides/_rels/slide7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image" Target="../media/image_8fa7a601c29ca778.png"/>
  <Relationship Id="rId3" Type="http://schemas.openxmlformats.org/officeDocument/2006/relationships/image" Target="../media/image_fd5d8ea2d71d37bf.png"/>
  <Relationship Id="rId4" Type="http://schemas.openxmlformats.org/officeDocument/2006/relationships/notesSlide" Target="../notesSlides/notesSlide7.xml"/>
</Relationships>
</file>

<file path=ppt/slides/_rels/slide8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image" Target="../media/image_8fa7a601c29ca778.png"/>
  <Relationship Id="rId3" Type="http://schemas.openxmlformats.org/officeDocument/2006/relationships/image" Target="../media/image_b9e63bc5fbef4046.png"/>
  <Relationship Id="rId4" Type="http://schemas.openxmlformats.org/officeDocument/2006/relationships/notesSlide" Target="../notesSlides/notesSlide8.xml"/>
</Relationships>
</file>

<file path=ppt/slides/_rels/slide9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image" Target="../media/image_8fa7a601c29ca778.png"/>
  <Relationship Id="rId3" Type="http://schemas.openxmlformats.org/officeDocument/2006/relationships/image" Target="../media/image_06c42e28fcff89fb.png"/>
  <Relationship Id="rId4" Type="http://schemas.openxmlformats.org/officeDocument/2006/relationships/image" Target="../media/image_1769f417fa58109b.png"/>
  <Relationship Id="rId5" Type="http://schemas.openxmlformats.org/officeDocument/2006/relationships/notesSlide" Target="../notesSlides/notesSlide9.xml"/>
</Relationships>
</file>

<file path=ppt/slides/_rels/slide10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image" Target="../media/image_8fa7a601c29ca778.png"/>
  <Relationship Id="rId3" Type="http://schemas.openxmlformats.org/officeDocument/2006/relationships/image" Target="../media/image_06c42e28fcff89fb.png"/>
  <Relationship Id="rId4" Type="http://schemas.openxmlformats.org/officeDocument/2006/relationships/notesSlide" Target="../notesSlides/notesSlide10.xml"/>
</Relationships>
</file>

<file path=ppt/slides/_rels/slide11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image" Target="../media/image_8fa7a601c29ca778.png"/>
  <Relationship Id="rId3" Type="http://schemas.openxmlformats.org/officeDocument/2006/relationships/image" Target="../media/image_0ee3708cd69e1814.jpg"/>
  <Relationship Id="rId4" Type="http://schemas.openxmlformats.org/officeDocument/2006/relationships/notesSlide" Target="../notesSlides/notesSlide11.xml"/>
</Relationships>
</file>

<file path=ppt/slides/_rels/slide12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image" Target="../media/image_8fa7a601c29ca778.png"/>
  <Relationship Id="rId3" Type="http://schemas.openxmlformats.org/officeDocument/2006/relationships/image" Target="../media/image_69664ee4becf20cb.png"/>
  <Relationship Id="rId4" Type="http://schemas.openxmlformats.org/officeDocument/2006/relationships/notesSlide" Target="../notesSlides/notesSlide12.xml"/>
</Relationships>
</file>

<file path=ppt/slides/_rels/slide13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image" Target="../media/image_8fa7a601c29ca778.png"/>
  <Relationship Id="rId3" Type="http://schemas.openxmlformats.org/officeDocument/2006/relationships/image" Target="../media/image_69664ee4becf20cb.png"/>
  <Relationship Id="rId4" Type="http://schemas.openxmlformats.org/officeDocument/2006/relationships/notesSlide" Target="../notesSlides/notesSlide13.xml"/>
</Relationships>
</file>

<file path=ppt/slides/_rels/slide14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image" Target="../media/image_8fa7a601c29ca778.png"/>
  <Relationship Id="rId3" Type="http://schemas.openxmlformats.org/officeDocument/2006/relationships/notesSlide" Target="../notesSlides/notesSlide14.xml"/>
</Relationships>
</file>

<file path=ppt/slides/_rels/slide15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image" Target="../media/image_8fa7a601c29ca778.png"/>
  <Relationship Id="rId3" Type="http://schemas.openxmlformats.org/officeDocument/2006/relationships/image" Target="../media/image_deea19358d7d9df9.jpg"/>
  <Relationship Id="rId4" Type="http://schemas.openxmlformats.org/officeDocument/2006/relationships/notesSlide" Target="../notesSlides/notesSlide15.xml"/>
</Relationships>
</file>

<file path=ppt/slides/_rels/slide16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image" Target="../media/image_8fa7a601c29ca778.png"/>
  <Relationship Id="rId3" Type="http://schemas.openxmlformats.org/officeDocument/2006/relationships/image" Target="../media/image_ebf0602e5ed4ba86.jpg"/>
  <Relationship Id="rId4" Type="http://schemas.openxmlformats.org/officeDocument/2006/relationships/notesSlide" Target="../notesSlides/notesSlide16.xml"/>
</Relationships>
</file>

<file path=ppt/slides/_rels/slide17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image" Target="../media/image_8fa7a601c29ca778.png"/>
  <Relationship Id="rId3" Type="http://schemas.openxmlformats.org/officeDocument/2006/relationships/notesSlide" Target="../notesSlides/notesSlide17.xml"/>
</Relationships>
</file>

<file path=ppt/slides/_rels/slide18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image" Target="../media/image_8fa7a601c29ca778.png"/>
  <Relationship Id="rId3" Type="http://schemas.openxmlformats.org/officeDocument/2006/relationships/notesSlide" Target="../notesSlides/notesSlide18.xml"/>
</Relationships>
</file>

<file path=ppt/slides/_rels/slide19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image" Target="../media/image_8fa7a601c29ca778.png"/>
  <Relationship Id="rId3" Type="http://schemas.openxmlformats.org/officeDocument/2006/relationships/notesSlide" Target="../notesSlides/notesSlide19.xml"/>
</Relationships>
</file>

<file path=ppt/slides/_rels/slide20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image" Target="../media/image_8fa7a601c29ca778.png"/>
  <Relationship Id="rId3" Type="http://schemas.openxmlformats.org/officeDocument/2006/relationships/notesSlide" Target="../notesSlides/notesSlide20.xml"/>
</Relationships>
</file>

<file path=ppt/slides/_rels/slide21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image" Target="../media/image_8fa7a601c29ca778.png"/>
  <Relationship Id="rId3" Type="http://schemas.openxmlformats.org/officeDocument/2006/relationships/notesSlide" Target="../notesSlides/notesSlide21.xml"/>
</Relationships>
</file>

<file path=ppt/slides/_rels/slide22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image" Target="../media/image_bb7dad2eee78ee9d.png"/>
  <Relationship Id="rId3" Type="http://schemas.openxmlformats.org/officeDocument/2006/relationships/image" Target="../media/image_b3ef018bf0b10f2b.png"/>
  <Relationship Id="rId4" Type="http://schemas.openxmlformats.org/officeDocument/2006/relationships/image" Target="../media/image_cd22578ee1f97165.png"/>
  <Relationship Id="rId5" Type="http://schemas.openxmlformats.org/officeDocument/2006/relationships/image" Target="../media/image_5a1205fbd766d78e.png"/>
  <Relationship Id="rId6" Type="http://schemas.openxmlformats.org/officeDocument/2006/relationships/image" Target="../media/image_3f64fe1646839cff.png"/>
  <Relationship Id="rId7" Type="http://schemas.openxmlformats.org/officeDocument/2006/relationships/notesSlide" Target="../notesSlides/notesSlide22.xml"/>
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0050" y="323850"/>
            <a:ext cx="1562100" cy="457200"/>
          </a:xfrm>
          <a:prstGeom prst="rect">
            <a:avLst/>
          </a:prstGeom>
        </p:spPr>
      </p:pic>
      <p:grpSp>
        <p:nvGrpSpPr>
          <p:cNvPr id="8" name="Group 8"/>
          <p:cNvGrpSpPr/>
          <p:nvPr/>
        </p:nvGrpSpPr>
        <p:grpSpPr>
          <a:xfrm>
            <a:off x="386334" y="2708910"/>
            <a:ext cx="4090416" cy="1765268"/>
            <a:chOff x="386334" y="2708910"/>
            <a:chExt cx="4090416" cy="1765268"/>
          </a:xfrm>
        </p:grpSpPr>
        <p:sp>
          <p:nvSpPr>
            <p:cNvPr id="3" name="TextBox 3"/>
            <p:cNvSpPr txBox="1"/>
            <p:nvPr/>
          </p:nvSpPr>
          <p:spPr>
            <a:xfrm>
              <a:off x="386334" y="2708910"/>
              <a:ext cx="2773375" cy="52806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27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REVIEW NHÂN SỰ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392430" y="3362325"/>
              <a:ext cx="2791097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5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Họ và tên: Nguyễn Văn Dương</a:t>
              </a:r>
            </a:p>
          </p:txBody>
        </p:sp>
        <p:sp>
          <p:nvSpPr>
            <p:cNvPr id="5" name="Line 5"/>
            <p:cNvSpPr/>
            <p:nvPr/>
          </p:nvSpPr>
          <p:spPr>
            <a:xfrm>
              <a:off x="400050" y="3762375"/>
              <a:ext cx="4076700" cy="9525"/>
            </a:xfrm>
            <a:custGeom>
              <a:avLst/>
              <a:gdLst/>
              <a:ahLst/>
              <a:cxnLst/>
              <a:rect l="l" t="t" r="r" b="b"/>
              <a:pathLst>
                <a:path w="4076700" h="9525">
                  <a:moveTo>
                    <a:pt x="0" y="0"/>
                  </a:moveTo>
                  <a:lnTo>
                    <a:pt x="4076700" y="0"/>
                  </a:lnTo>
                </a:path>
              </a:pathLst>
            </a:custGeom>
            <a:noFill/>
            <a:ln w="9525">
              <a:solidFill>
                <a:srgbClr val="FFFFFF">
                  <a:alpha val="45000"/>
                </a:srgbClr>
              </a:solidFill>
            </a:ln>
          </p:spPr>
        </p:sp>
        <p:sp>
          <p:nvSpPr>
            <p:cNvPr id="6" name="TextBox 6"/>
            <p:cNvSpPr txBox="1"/>
            <p:nvPr/>
          </p:nvSpPr>
          <p:spPr>
            <a:xfrm>
              <a:off x="393573" y="3929539"/>
              <a:ext cx="2109750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8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Ngày review: 23/07/2026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393573" y="4224814"/>
              <a:ext cx="3023333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8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Giai đoạn review: 20/03–22/07/2026</a:t>
              </a:r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6781800" y="847725"/>
            <a:ext cx="5143500" cy="5143500"/>
            <a:chOff x="6781800" y="847725"/>
            <a:chExt cx="5143500" cy="5143500"/>
          </a:xfrm>
        </p:grpSpPr>
        <p:pic>
          <p:nvPicPr>
            <p:cNvPr id="9" name="Image 9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6781800" y="847725"/>
              <a:ext cx="5143500" cy="5143500"/>
            </a:xfrm>
            <a:prstGeom prst="rect">
              <a:avLst/>
            </a:prstGeom>
          </p:spPr>
        </p:pic>
      </p:grpSp>
      <p:sp>
        <p:nvSpPr>
          <p:cNvPr id="11" name="TextBox 11"/>
          <p:cNvSpPr txBox="1"/>
          <p:nvPr/>
        </p:nvSpPr>
        <p:spPr>
          <a:xfrm>
            <a:off x="393954" y="6290310"/>
            <a:ext cx="1037996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200" dirty="0">
                <a:solidFill>
                  <a:srgbClr val="FFFFFF"/>
                </a:solidFill>
                <a:latin typeface="+mn-lt"/>
                <a:ea typeface="+mn-ea"/>
                <a:cs typeface="+mn-cs"/>
              </a:rPr>
              <a:t>www.lumi.vn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7741" y="285750"/>
            <a:ext cx="1444792" cy="419100"/>
          </a:xfrm>
          <a:prstGeom prst="rect">
            <a:avLst/>
          </a:prstGeom>
        </p:spPr>
      </p:pic>
      <p:grpSp>
        <p:nvGrpSpPr>
          <p:cNvPr id="5" name="Group 5"/>
          <p:cNvGrpSpPr/>
          <p:nvPr/>
        </p:nvGrpSpPr>
        <p:grpSpPr>
          <a:xfrm>
            <a:off x="709026" y="952500"/>
            <a:ext cx="2487198" cy="4953000"/>
            <a:chOff x="709026" y="952500"/>
            <a:chExt cx="2487198" cy="4953000"/>
          </a:xfrm>
        </p:grpSpPr>
        <p:pic>
          <p:nvPicPr>
            <p:cNvPr id="3" name="Image 3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709026" y="952500"/>
              <a:ext cx="2487198" cy="4953000"/>
            </a:xfrm>
            <a:prstGeom prst="rect">
              <a:avLst/>
            </a:prstGeom>
          </p:spPr>
        </p:pic>
        <p:sp>
          <p:nvSpPr>
            <p:cNvPr id="4" name="TextBox 4"/>
            <p:cNvSpPr txBox="1"/>
            <p:nvPr/>
          </p:nvSpPr>
          <p:spPr>
            <a:xfrm>
              <a:off x="1330361" y="3202305"/>
              <a:ext cx="1244529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21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NỘI DUNG</a:t>
              </a:r>
            </a:p>
          </p:txBody>
        </p:sp>
      </p:grpSp>
      <p:grpSp>
        <p:nvGrpSpPr>
          <p:cNvPr id="34" name="Group 34"/>
          <p:cNvGrpSpPr/>
          <p:nvPr/>
        </p:nvGrpSpPr>
        <p:grpSpPr>
          <a:xfrm>
            <a:off x="3743325" y="1371600"/>
            <a:ext cx="5849993" cy="3489198"/>
            <a:chOff x="3743325" y="1371600"/>
            <a:chExt cx="5849993" cy="3489198"/>
          </a:xfrm>
        </p:grpSpPr>
        <p:grpSp>
          <p:nvGrpSpPr>
            <p:cNvPr id="12" name="Group 12"/>
            <p:cNvGrpSpPr/>
            <p:nvPr/>
          </p:nvGrpSpPr>
          <p:grpSpPr>
            <a:xfrm>
              <a:off x="3743325" y="1371600"/>
              <a:ext cx="5849993" cy="488823"/>
              <a:chOff x="3743325" y="1371600"/>
              <a:chExt cx="5849993" cy="488823"/>
            </a:xfrm>
          </p:grpSpPr>
          <p:sp>
            <p:nvSpPr>
              <p:cNvPr id="6" name="Ellipse 6"/>
              <p:cNvSpPr/>
              <p:nvPr/>
            </p:nvSpPr>
            <p:spPr>
              <a:xfrm>
                <a:off x="3743325" y="1552575"/>
                <a:ext cx="76200" cy="76200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</p:sp>
          <p:sp>
            <p:nvSpPr>
              <p:cNvPr id="7" name="Line 7"/>
              <p:cNvSpPr/>
              <p:nvPr/>
            </p:nvSpPr>
            <p:spPr>
              <a:xfrm>
                <a:off x="3819525" y="1590675"/>
                <a:ext cx="18097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180975" h="9525">
                    <a:moveTo>
                      <a:pt x="0" y="0"/>
                    </a:moveTo>
                    <a:lnTo>
                      <a:pt x="180975" y="0"/>
                    </a:lnTo>
                  </a:path>
                </a:pathLst>
              </a:custGeom>
              <a:noFill/>
              <a:ln w="19050">
                <a:solidFill>
                  <a:schemeClr val="accent1"/>
                </a:solidFill>
              </a:ln>
            </p:spPr>
          </p:sp>
          <p:sp>
            <p:nvSpPr>
              <p:cNvPr id="8" name="Freeform 8"/>
              <p:cNvSpPr/>
              <p:nvPr/>
            </p:nvSpPr>
            <p:spPr>
              <a:xfrm>
                <a:off x="4000500" y="1371600"/>
                <a:ext cx="1238250" cy="438150"/>
              </a:xfrm>
              <a:custGeom>
                <a:avLst/>
                <a:gdLst/>
                <a:ahLst/>
                <a:cxnLst/>
                <a:rect l="l" t="t" r="r" b="b"/>
                <a:pathLst>
                  <a:path w="1238250" h="438150">
                    <a:moveTo>
                      <a:pt x="95250" y="0"/>
                    </a:moveTo>
                    <a:lnTo>
                      <a:pt x="1143000" y="0"/>
                    </a:lnTo>
                    <a:lnTo>
                      <a:pt x="1238250" y="95250"/>
                    </a:lnTo>
                    <a:lnTo>
                      <a:pt x="1238250" y="342900"/>
                    </a:lnTo>
                    <a:lnTo>
                      <a:pt x="1143000" y="438150"/>
                    </a:lnTo>
                    <a:lnTo>
                      <a:pt x="95250" y="438150"/>
                    </a:lnTo>
                    <a:lnTo>
                      <a:pt x="0" y="342900"/>
                    </a:lnTo>
                    <a:lnTo>
                      <a:pt x="0" y="95250"/>
                    </a:lnTo>
                    <a:close/>
                  </a:path>
                </a:pathLst>
              </a:custGeom>
              <a:solidFill>
                <a:schemeClr val="lt1"/>
              </a:solidFill>
              <a:ln w="19050">
                <a:solidFill>
                  <a:schemeClr val="accent3"/>
                </a:solidFill>
              </a:ln>
            </p:spPr>
          </p:sp>
          <p:sp>
            <p:nvSpPr>
              <p:cNvPr id="9" name="Freeform 9"/>
              <p:cNvSpPr/>
              <p:nvPr/>
            </p:nvSpPr>
            <p:spPr>
              <a:xfrm>
                <a:off x="5000625" y="1371600"/>
                <a:ext cx="161925" cy="438150"/>
              </a:xfrm>
              <a:custGeom>
                <a:avLst/>
                <a:gdLst/>
                <a:ahLst/>
                <a:cxnLst/>
                <a:rect l="l" t="t" r="r" b="b"/>
                <a:pathLst>
                  <a:path w="161925" h="438150">
                    <a:moveTo>
                      <a:pt x="0" y="0"/>
                    </a:moveTo>
                    <a:lnTo>
                      <a:pt x="76200" y="76200"/>
                    </a:lnTo>
                    <a:moveTo>
                      <a:pt x="85725" y="0"/>
                    </a:moveTo>
                    <a:lnTo>
                      <a:pt x="161925" y="76200"/>
                    </a:lnTo>
                    <a:moveTo>
                      <a:pt x="0" y="438150"/>
                    </a:moveTo>
                    <a:lnTo>
                      <a:pt x="76200" y="361950"/>
                    </a:lnTo>
                    <a:moveTo>
                      <a:pt x="85725" y="438150"/>
                    </a:moveTo>
                    <a:lnTo>
                      <a:pt x="161925" y="361950"/>
                    </a:lnTo>
                  </a:path>
                </a:pathLst>
              </a:custGeom>
              <a:solidFill>
                <a:schemeClr val="accent1"/>
              </a:solidFill>
              <a:ln w="19050">
                <a:solidFill>
                  <a:schemeClr val="accent1"/>
                </a:solidFill>
              </a:ln>
            </p:spPr>
          </p:sp>
          <p:sp>
            <p:nvSpPr>
              <p:cNvPr id="10" name="TextBox 10"/>
              <p:cNvSpPr txBox="1"/>
              <p:nvPr/>
            </p:nvSpPr>
            <p:spPr>
              <a:xfrm>
                <a:off x="4410570" y="1463040"/>
                <a:ext cx="418109" cy="35204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-US" sz="1800" dirty="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rPr>
                  <a:t>01.</a:t>
                </a:r>
              </a:p>
            </p:txBody>
          </p:sp>
          <p:sp>
            <p:nvSpPr>
              <p:cNvPr id="11" name="TextBox 11"/>
              <p:cNvSpPr txBox="1"/>
              <p:nvPr/>
            </p:nvSpPr>
            <p:spPr>
              <a:xfrm>
                <a:off x="5561457" y="1449705"/>
                <a:ext cx="4031861" cy="41071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2100" dirty="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rPr>
                  <a:t>Các dự án tham gia và kết quả</a:t>
                </a:r>
              </a:p>
            </p:txBody>
          </p:sp>
        </p:grpSp>
        <p:grpSp>
          <p:nvGrpSpPr>
            <p:cNvPr id="19" name="Group 19"/>
            <p:cNvGrpSpPr/>
            <p:nvPr/>
          </p:nvGrpSpPr>
          <p:grpSpPr>
            <a:xfrm>
              <a:off x="3743325" y="2371725"/>
              <a:ext cx="5416067" cy="488823"/>
              <a:chOff x="3743325" y="2371725"/>
              <a:chExt cx="5416067" cy="488823"/>
            </a:xfrm>
          </p:grpSpPr>
          <p:sp>
            <p:nvSpPr>
              <p:cNvPr id="13" name="Ellipse 13"/>
              <p:cNvSpPr/>
              <p:nvPr/>
            </p:nvSpPr>
            <p:spPr>
              <a:xfrm>
                <a:off x="3743325" y="2552700"/>
                <a:ext cx="76200" cy="76200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</p:sp>
          <p:sp>
            <p:nvSpPr>
              <p:cNvPr id="14" name="Line 14"/>
              <p:cNvSpPr/>
              <p:nvPr/>
            </p:nvSpPr>
            <p:spPr>
              <a:xfrm>
                <a:off x="3819525" y="2590800"/>
                <a:ext cx="18097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180975" h="9525">
                    <a:moveTo>
                      <a:pt x="0" y="0"/>
                    </a:moveTo>
                    <a:lnTo>
                      <a:pt x="180975" y="0"/>
                    </a:lnTo>
                  </a:path>
                </a:pathLst>
              </a:custGeom>
              <a:noFill/>
              <a:ln w="19050">
                <a:solidFill>
                  <a:schemeClr val="accent1"/>
                </a:solidFill>
              </a:ln>
            </p:spPr>
          </p:sp>
          <p:sp>
            <p:nvSpPr>
              <p:cNvPr id="15" name="Freeform 15"/>
              <p:cNvSpPr/>
              <p:nvPr/>
            </p:nvSpPr>
            <p:spPr>
              <a:xfrm>
                <a:off x="4000500" y="2371725"/>
                <a:ext cx="1238250" cy="438150"/>
              </a:xfrm>
              <a:custGeom>
                <a:avLst/>
                <a:gdLst/>
                <a:ahLst/>
                <a:cxnLst/>
                <a:rect l="l" t="t" r="r" b="b"/>
                <a:pathLst>
                  <a:path w="1238250" h="438150">
                    <a:moveTo>
                      <a:pt x="95250" y="0"/>
                    </a:moveTo>
                    <a:lnTo>
                      <a:pt x="1143000" y="0"/>
                    </a:lnTo>
                    <a:lnTo>
                      <a:pt x="1238250" y="95250"/>
                    </a:lnTo>
                    <a:lnTo>
                      <a:pt x="1238250" y="342900"/>
                    </a:lnTo>
                    <a:lnTo>
                      <a:pt x="1143000" y="438150"/>
                    </a:lnTo>
                    <a:lnTo>
                      <a:pt x="95250" y="438150"/>
                    </a:lnTo>
                    <a:lnTo>
                      <a:pt x="0" y="342900"/>
                    </a:lnTo>
                    <a:lnTo>
                      <a:pt x="0" y="95250"/>
                    </a:lnTo>
                    <a:close/>
                  </a:path>
                </a:pathLst>
              </a:custGeom>
              <a:solidFill>
                <a:schemeClr val="lt1"/>
              </a:solidFill>
              <a:ln w="19050">
                <a:solidFill>
                  <a:schemeClr val="accent3"/>
                </a:solidFill>
              </a:ln>
            </p:spPr>
          </p:sp>
          <p:sp>
            <p:nvSpPr>
              <p:cNvPr id="16" name="Freeform 16"/>
              <p:cNvSpPr/>
              <p:nvPr/>
            </p:nvSpPr>
            <p:spPr>
              <a:xfrm>
                <a:off x="5000625" y="2371725"/>
                <a:ext cx="161925" cy="438150"/>
              </a:xfrm>
              <a:custGeom>
                <a:avLst/>
                <a:gdLst/>
                <a:ahLst/>
                <a:cxnLst/>
                <a:rect l="l" t="t" r="r" b="b"/>
                <a:pathLst>
                  <a:path w="161925" h="438150">
                    <a:moveTo>
                      <a:pt x="0" y="0"/>
                    </a:moveTo>
                    <a:lnTo>
                      <a:pt x="76200" y="76200"/>
                    </a:lnTo>
                    <a:moveTo>
                      <a:pt x="85725" y="0"/>
                    </a:moveTo>
                    <a:lnTo>
                      <a:pt x="161925" y="76200"/>
                    </a:lnTo>
                    <a:moveTo>
                      <a:pt x="0" y="438150"/>
                    </a:moveTo>
                    <a:lnTo>
                      <a:pt x="76200" y="361950"/>
                    </a:lnTo>
                    <a:moveTo>
                      <a:pt x="85725" y="438150"/>
                    </a:moveTo>
                    <a:lnTo>
                      <a:pt x="161925" y="361950"/>
                    </a:lnTo>
                  </a:path>
                </a:pathLst>
              </a:custGeom>
              <a:solidFill>
                <a:schemeClr val="accent1"/>
              </a:solidFill>
              <a:ln w="19050">
                <a:solidFill>
                  <a:schemeClr val="accent1"/>
                </a:solidFill>
              </a:ln>
            </p:spPr>
          </p:sp>
          <p:sp>
            <p:nvSpPr>
              <p:cNvPr id="17" name="TextBox 17"/>
              <p:cNvSpPr txBox="1"/>
              <p:nvPr/>
            </p:nvSpPr>
            <p:spPr>
              <a:xfrm>
                <a:off x="4410570" y="2463165"/>
                <a:ext cx="418109" cy="35204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-US" sz="1800" dirty="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rPr>
                  <a:t>02.</a:t>
                </a:r>
              </a:p>
            </p:txBody>
          </p:sp>
          <p:sp>
            <p:nvSpPr>
              <p:cNvPr id="18" name="TextBox 18"/>
              <p:cNvSpPr txBox="1"/>
              <p:nvPr/>
            </p:nvSpPr>
            <p:spPr>
              <a:xfrm>
                <a:off x="5561457" y="2449830"/>
                <a:ext cx="3597935" cy="41071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2100" dirty="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rPr>
                  <a:t>Sử dụng AI trong công việc</a:t>
                </a:r>
              </a:p>
            </p:txBody>
          </p:sp>
        </p:grpSp>
        <p:grpSp>
          <p:nvGrpSpPr>
            <p:cNvPr id="26" name="Group 26"/>
            <p:cNvGrpSpPr/>
            <p:nvPr/>
          </p:nvGrpSpPr>
          <p:grpSpPr>
            <a:xfrm>
              <a:off x="3743325" y="3371850"/>
              <a:ext cx="5454120" cy="488823"/>
              <a:chOff x="3743325" y="3371850"/>
              <a:chExt cx="5454120" cy="488823"/>
            </a:xfrm>
          </p:grpSpPr>
          <p:sp>
            <p:nvSpPr>
              <p:cNvPr id="20" name="Ellipse 20"/>
              <p:cNvSpPr/>
              <p:nvPr/>
            </p:nvSpPr>
            <p:spPr>
              <a:xfrm>
                <a:off x="3743325" y="3552825"/>
                <a:ext cx="76200" cy="76200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</p:sp>
          <p:sp>
            <p:nvSpPr>
              <p:cNvPr id="21" name="Line 21"/>
              <p:cNvSpPr/>
              <p:nvPr/>
            </p:nvSpPr>
            <p:spPr>
              <a:xfrm>
                <a:off x="3819525" y="3590925"/>
                <a:ext cx="18097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180975" h="9525">
                    <a:moveTo>
                      <a:pt x="0" y="0"/>
                    </a:moveTo>
                    <a:lnTo>
                      <a:pt x="180975" y="0"/>
                    </a:lnTo>
                  </a:path>
                </a:pathLst>
              </a:custGeom>
              <a:noFill/>
              <a:ln w="19050">
                <a:solidFill>
                  <a:schemeClr val="accent1"/>
                </a:solidFill>
              </a:ln>
            </p:spPr>
          </p:sp>
          <p:sp>
            <p:nvSpPr>
              <p:cNvPr id="22" name="Freeform 22"/>
              <p:cNvSpPr/>
              <p:nvPr/>
            </p:nvSpPr>
            <p:spPr>
              <a:xfrm>
                <a:off x="4000500" y="3371850"/>
                <a:ext cx="1238250" cy="438150"/>
              </a:xfrm>
              <a:custGeom>
                <a:avLst/>
                <a:gdLst/>
                <a:ahLst/>
                <a:cxnLst/>
                <a:rect l="l" t="t" r="r" b="b"/>
                <a:pathLst>
                  <a:path w="1238250" h="438150">
                    <a:moveTo>
                      <a:pt x="95250" y="0"/>
                    </a:moveTo>
                    <a:lnTo>
                      <a:pt x="1143000" y="0"/>
                    </a:lnTo>
                    <a:lnTo>
                      <a:pt x="1238250" y="95250"/>
                    </a:lnTo>
                    <a:lnTo>
                      <a:pt x="1238250" y="342900"/>
                    </a:lnTo>
                    <a:lnTo>
                      <a:pt x="1143000" y="438150"/>
                    </a:lnTo>
                    <a:lnTo>
                      <a:pt x="95250" y="438150"/>
                    </a:lnTo>
                    <a:lnTo>
                      <a:pt x="0" y="342900"/>
                    </a:lnTo>
                    <a:lnTo>
                      <a:pt x="0" y="95250"/>
                    </a:lnTo>
                    <a:close/>
                  </a:path>
                </a:pathLst>
              </a:custGeom>
              <a:solidFill>
                <a:schemeClr val="lt1"/>
              </a:solidFill>
              <a:ln w="19050">
                <a:solidFill>
                  <a:schemeClr val="accent3"/>
                </a:solidFill>
              </a:ln>
            </p:spPr>
          </p:sp>
          <p:sp>
            <p:nvSpPr>
              <p:cNvPr id="23" name="Freeform 23"/>
              <p:cNvSpPr/>
              <p:nvPr/>
            </p:nvSpPr>
            <p:spPr>
              <a:xfrm>
                <a:off x="5000625" y="3371850"/>
                <a:ext cx="161925" cy="438150"/>
              </a:xfrm>
              <a:custGeom>
                <a:avLst/>
                <a:gdLst/>
                <a:ahLst/>
                <a:cxnLst/>
                <a:rect l="l" t="t" r="r" b="b"/>
                <a:pathLst>
                  <a:path w="161925" h="438150">
                    <a:moveTo>
                      <a:pt x="0" y="0"/>
                    </a:moveTo>
                    <a:lnTo>
                      <a:pt x="76200" y="76200"/>
                    </a:lnTo>
                    <a:moveTo>
                      <a:pt x="85725" y="0"/>
                    </a:moveTo>
                    <a:lnTo>
                      <a:pt x="161925" y="76200"/>
                    </a:lnTo>
                    <a:moveTo>
                      <a:pt x="0" y="438150"/>
                    </a:moveTo>
                    <a:lnTo>
                      <a:pt x="76200" y="361950"/>
                    </a:lnTo>
                    <a:moveTo>
                      <a:pt x="85725" y="438150"/>
                    </a:moveTo>
                    <a:lnTo>
                      <a:pt x="161925" y="361950"/>
                    </a:lnTo>
                  </a:path>
                </a:pathLst>
              </a:custGeom>
              <a:solidFill>
                <a:schemeClr val="accent1"/>
              </a:solidFill>
              <a:ln w="19050">
                <a:solidFill>
                  <a:schemeClr val="accent1"/>
                </a:solidFill>
              </a:ln>
            </p:spPr>
          </p:sp>
          <p:sp>
            <p:nvSpPr>
              <p:cNvPr id="24" name="TextBox 24"/>
              <p:cNvSpPr txBox="1"/>
              <p:nvPr/>
            </p:nvSpPr>
            <p:spPr>
              <a:xfrm>
                <a:off x="4410570" y="3463290"/>
                <a:ext cx="418109" cy="35204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-US" sz="1800" dirty="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rPr>
                  <a:t>03.</a:t>
                </a:r>
              </a:p>
            </p:txBody>
          </p:sp>
          <p:sp>
            <p:nvSpPr>
              <p:cNvPr id="25" name="TextBox 25"/>
              <p:cNvSpPr txBox="1"/>
              <p:nvPr/>
            </p:nvSpPr>
            <p:spPr>
              <a:xfrm>
                <a:off x="5561457" y="3449955"/>
                <a:ext cx="3635988" cy="41071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2100" dirty="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rPr>
                  <a:t>Tự đánh giá ưu, nhược điểm</a:t>
                </a:r>
              </a:p>
            </p:txBody>
          </p:sp>
        </p:grpSp>
        <p:grpSp>
          <p:nvGrpSpPr>
            <p:cNvPr id="33" name="Group 33"/>
            <p:cNvGrpSpPr/>
            <p:nvPr/>
          </p:nvGrpSpPr>
          <p:grpSpPr>
            <a:xfrm>
              <a:off x="3743325" y="4371975"/>
              <a:ext cx="4039948" cy="488823"/>
              <a:chOff x="3743325" y="4371975"/>
              <a:chExt cx="4039948" cy="488823"/>
            </a:xfrm>
          </p:grpSpPr>
          <p:sp>
            <p:nvSpPr>
              <p:cNvPr id="27" name="Ellipse 27"/>
              <p:cNvSpPr/>
              <p:nvPr/>
            </p:nvSpPr>
            <p:spPr>
              <a:xfrm>
                <a:off x="3743325" y="4552950"/>
                <a:ext cx="76200" cy="76200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</p:sp>
          <p:sp>
            <p:nvSpPr>
              <p:cNvPr id="28" name="Line 28"/>
              <p:cNvSpPr/>
              <p:nvPr/>
            </p:nvSpPr>
            <p:spPr>
              <a:xfrm>
                <a:off x="3819525" y="4591050"/>
                <a:ext cx="18097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180975" h="9525">
                    <a:moveTo>
                      <a:pt x="0" y="0"/>
                    </a:moveTo>
                    <a:lnTo>
                      <a:pt x="180975" y="0"/>
                    </a:lnTo>
                  </a:path>
                </a:pathLst>
              </a:custGeom>
              <a:noFill/>
              <a:ln w="19050">
                <a:solidFill>
                  <a:schemeClr val="accent1"/>
                </a:solidFill>
              </a:ln>
            </p:spPr>
          </p:sp>
          <p:sp>
            <p:nvSpPr>
              <p:cNvPr id="29" name="Freeform 29"/>
              <p:cNvSpPr/>
              <p:nvPr/>
            </p:nvSpPr>
            <p:spPr>
              <a:xfrm>
                <a:off x="4000500" y="4371975"/>
                <a:ext cx="1238250" cy="438150"/>
              </a:xfrm>
              <a:custGeom>
                <a:avLst/>
                <a:gdLst/>
                <a:ahLst/>
                <a:cxnLst/>
                <a:rect l="l" t="t" r="r" b="b"/>
                <a:pathLst>
                  <a:path w="1238250" h="438150">
                    <a:moveTo>
                      <a:pt x="95250" y="0"/>
                    </a:moveTo>
                    <a:lnTo>
                      <a:pt x="1143000" y="0"/>
                    </a:lnTo>
                    <a:lnTo>
                      <a:pt x="1238250" y="95250"/>
                    </a:lnTo>
                    <a:lnTo>
                      <a:pt x="1238250" y="342900"/>
                    </a:lnTo>
                    <a:lnTo>
                      <a:pt x="1143000" y="438150"/>
                    </a:lnTo>
                    <a:lnTo>
                      <a:pt x="95250" y="438150"/>
                    </a:lnTo>
                    <a:lnTo>
                      <a:pt x="0" y="342900"/>
                    </a:lnTo>
                    <a:lnTo>
                      <a:pt x="0" y="95250"/>
                    </a:lnTo>
                    <a:close/>
                  </a:path>
                </a:pathLst>
              </a:custGeom>
              <a:solidFill>
                <a:schemeClr val="lt1"/>
              </a:solidFill>
              <a:ln w="19050">
                <a:solidFill>
                  <a:schemeClr val="accent3"/>
                </a:solidFill>
              </a:ln>
            </p:spPr>
          </p:sp>
          <p:sp>
            <p:nvSpPr>
              <p:cNvPr id="30" name="Freeform 30"/>
              <p:cNvSpPr/>
              <p:nvPr/>
            </p:nvSpPr>
            <p:spPr>
              <a:xfrm>
                <a:off x="5000625" y="4371975"/>
                <a:ext cx="161925" cy="438150"/>
              </a:xfrm>
              <a:custGeom>
                <a:avLst/>
                <a:gdLst/>
                <a:ahLst/>
                <a:cxnLst/>
                <a:rect l="l" t="t" r="r" b="b"/>
                <a:pathLst>
                  <a:path w="161925" h="438150">
                    <a:moveTo>
                      <a:pt x="0" y="0"/>
                    </a:moveTo>
                    <a:lnTo>
                      <a:pt x="76200" y="76200"/>
                    </a:lnTo>
                    <a:moveTo>
                      <a:pt x="85725" y="0"/>
                    </a:moveTo>
                    <a:lnTo>
                      <a:pt x="161925" y="76200"/>
                    </a:lnTo>
                    <a:moveTo>
                      <a:pt x="0" y="438150"/>
                    </a:moveTo>
                    <a:lnTo>
                      <a:pt x="76200" y="361950"/>
                    </a:lnTo>
                    <a:moveTo>
                      <a:pt x="85725" y="438150"/>
                    </a:moveTo>
                    <a:lnTo>
                      <a:pt x="161925" y="361950"/>
                    </a:lnTo>
                  </a:path>
                </a:pathLst>
              </a:custGeom>
              <a:solidFill>
                <a:schemeClr val="accent1"/>
              </a:solidFill>
              <a:ln w="19050">
                <a:solidFill>
                  <a:schemeClr val="accent1"/>
                </a:solidFill>
              </a:ln>
            </p:spPr>
          </p:sp>
          <p:sp>
            <p:nvSpPr>
              <p:cNvPr id="31" name="TextBox 31"/>
              <p:cNvSpPr txBox="1"/>
              <p:nvPr/>
            </p:nvSpPr>
            <p:spPr>
              <a:xfrm>
                <a:off x="4410570" y="4463415"/>
                <a:ext cx="418109" cy="35204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-US" sz="1800" dirty="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rPr>
                  <a:t>04.</a:t>
                </a:r>
              </a:p>
            </p:txBody>
          </p:sp>
          <p:sp>
            <p:nvSpPr>
              <p:cNvPr id="32" name="TextBox 32"/>
              <p:cNvSpPr txBox="1"/>
              <p:nvPr/>
            </p:nvSpPr>
            <p:spPr>
              <a:xfrm>
                <a:off x="5561457" y="4450080"/>
                <a:ext cx="2221816" cy="41071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2100" dirty="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rPr>
                  <a:t>Mục tiêu sắp tới</a:t>
                </a:r>
              </a:p>
            </p:txBody>
          </p:sp>
        </p:grpSp>
      </p:grpSp>
      <p:sp>
        <p:nvSpPr>
          <p:cNvPr id="35" name="Line 35"/>
          <p:cNvSpPr/>
          <p:nvPr/>
        </p:nvSpPr>
        <p:spPr>
          <a:xfrm>
            <a:off x="0" y="6515100"/>
            <a:ext cx="12192000" cy="9525"/>
          </a:xfrm>
          <a:custGeom>
            <a:avLst/>
            <a:gdLst/>
            <a:ahLst/>
            <a:cxnLst/>
            <a:rect l="l" t="t" r="r" b="b"/>
            <a:pathLst>
              <a:path w="12192000" h="9525">
                <a:moveTo>
                  <a:pt x="0" y="0"/>
                </a:moveTo>
                <a:lnTo>
                  <a:pt x="12192000" y="0"/>
                </a:lnTo>
              </a:path>
            </a:pathLst>
          </a:custGeom>
          <a:noFill/>
          <a:ln w="9525">
            <a:solidFill>
              <a:srgbClr val="DDE6E1"/>
            </a:solidFill>
          </a:ln>
        </p:spPr>
      </p:sp>
      <p:sp>
        <p:nvSpPr>
          <p:cNvPr id="36" name="TextBox 36"/>
          <p:cNvSpPr txBox="1"/>
          <p:nvPr/>
        </p:nvSpPr>
        <p:spPr>
          <a:xfrm>
            <a:off x="11141640" y="6630352"/>
            <a:ext cx="484194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en-US" sz="1050" dirty="0">
                <a:solidFill>
                  <a:srgbClr val="66706A"/>
                </a:solidFill>
                <a:latin typeface="+mn-lt"/>
                <a:ea typeface="+mn-ea"/>
                <a:cs typeface="+mn-cs"/>
              </a:rPr>
              <a:t>02 / 22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6276" y="266700"/>
            <a:ext cx="1313447" cy="381000"/>
          </a:xfrm>
          <a:prstGeom prst="rect">
            <a:avLst/>
          </a:prstGeom>
        </p:spPr>
      </p:pic>
      <p:sp>
        <p:nvSpPr>
          <p:cNvPr id="3" name="TextBox 3"/>
          <p:cNvSpPr txBox="1"/>
          <p:nvPr/>
        </p:nvSpPr>
        <p:spPr>
          <a:xfrm>
            <a:off x="2462784" y="356235"/>
            <a:ext cx="5441641" cy="52806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2700" b="1" dirty="0">
                <a:solidFill>
                  <a:schemeClr val="accent1"/>
                </a:solidFill>
                <a:latin typeface="+mn-lt"/>
                <a:ea typeface="+mn-ea"/>
                <a:cs typeface="+mn-cs"/>
              </a:rPr>
              <a:t>Các dự án tham gia và kết quả</a:t>
            </a:r>
          </a:p>
        </p:txBody>
      </p:sp>
      <p:grpSp>
        <p:nvGrpSpPr>
          <p:cNvPr id="10" name="Group 10"/>
          <p:cNvGrpSpPr/>
          <p:nvPr/>
        </p:nvGrpSpPr>
        <p:grpSpPr>
          <a:xfrm>
            <a:off x="8953500" y="228600"/>
            <a:ext cx="2667000" cy="647700"/>
            <a:chOff x="8953500" y="228600"/>
            <a:chExt cx="2667000" cy="647700"/>
          </a:xfrm>
        </p:grpSpPr>
        <p:sp>
          <p:nvSpPr>
            <p:cNvPr id="4" name="Rectangle 4"/>
            <p:cNvSpPr/>
            <p:nvPr/>
          </p:nvSpPr>
          <p:spPr>
            <a:xfrm>
              <a:off x="8953500" y="228600"/>
              <a:ext cx="1200150" cy="647700"/>
            </a:xfrm>
            <a:prstGeom prst="roundRect">
              <a:avLst>
                <a:gd name="adj" fmla="val 17647"/>
              </a:avLst>
            </a:prstGeom>
            <a:solidFill>
              <a:srgbClr val="EAF6F0"/>
            </a:solidFill>
            <a:ln>
              <a:noFill/>
            </a:ln>
          </p:spPr>
        </p:sp>
        <p:sp>
          <p:nvSpPr>
            <p:cNvPr id="5" name="TextBox 5"/>
            <p:cNvSpPr txBox="1"/>
            <p:nvPr/>
          </p:nvSpPr>
          <p:spPr>
            <a:xfrm>
              <a:off x="9279762" y="347662"/>
              <a:ext cx="547626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22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114</a:t>
              </a:r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9383954" y="667702"/>
              <a:ext cx="33924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TASK</a:t>
              </a:r>
            </a:p>
          </p:txBody>
        </p:sp>
        <p:sp>
          <p:nvSpPr>
            <p:cNvPr id="7" name="Rectangle 7"/>
            <p:cNvSpPr/>
            <p:nvPr/>
          </p:nvSpPr>
          <p:spPr>
            <a:xfrm>
              <a:off x="10267950" y="228600"/>
              <a:ext cx="1352550" cy="647700"/>
            </a:xfrm>
            <a:prstGeom prst="roundRect">
              <a:avLst>
                <a:gd name="adj" fmla="val 17647"/>
              </a:avLst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10670412" y="347662"/>
              <a:ext cx="547626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22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102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10453497" y="667702"/>
              <a:ext cx="981456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DONE · 89,5%</a:t>
              </a:r>
            </a:p>
          </p:txBody>
        </p:sp>
      </p:grpSp>
      <p:grpSp>
        <p:nvGrpSpPr>
          <p:cNvPr id="46" name="Group 46"/>
          <p:cNvGrpSpPr/>
          <p:nvPr/>
        </p:nvGrpSpPr>
        <p:grpSpPr>
          <a:xfrm>
            <a:off x="659130" y="1116806"/>
            <a:ext cx="10586085" cy="4415314"/>
            <a:chOff x="659130" y="1116806"/>
            <a:chExt cx="10586085" cy="4415314"/>
          </a:xfrm>
        </p:grpSpPr>
        <p:sp>
          <p:nvSpPr>
            <p:cNvPr id="11" name="Line 11"/>
            <p:cNvSpPr/>
            <p:nvPr/>
          </p:nvSpPr>
          <p:spPr>
            <a:xfrm>
              <a:off x="2857500" y="1381125"/>
              <a:ext cx="8382000" cy="9525"/>
            </a:xfrm>
            <a:custGeom>
              <a:avLst/>
              <a:gdLst/>
              <a:ahLst/>
              <a:cxnLst/>
              <a:rect l="l" t="t" r="r" b="b"/>
              <a:pathLst>
                <a:path w="8382000" h="9525">
                  <a:moveTo>
                    <a:pt x="0" y="0"/>
                  </a:moveTo>
                  <a:lnTo>
                    <a:pt x="8382000" y="0"/>
                  </a:lnTo>
                </a:path>
              </a:pathLst>
            </a:custGeom>
            <a:noFill/>
            <a:ln w="19050">
              <a:solidFill>
                <a:srgbClr val="CBD8D1"/>
              </a:solidFill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2851785" y="1116806"/>
              <a:ext cx="42606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dirty="0">
                  <a:solidFill>
                    <a:srgbClr val="66706A"/>
                  </a:solidFill>
                  <a:latin typeface="+mn-lt"/>
                  <a:ea typeface="+mn-ea"/>
                  <a:cs typeface="+mn-cs"/>
                </a:rPr>
                <a:t>20/03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5090160" y="1116806"/>
              <a:ext cx="42606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dirty="0">
                  <a:solidFill>
                    <a:srgbClr val="66706A"/>
                  </a:solidFill>
                  <a:latin typeface="+mn-lt"/>
                  <a:ea typeface="+mn-ea"/>
                  <a:cs typeface="+mn-cs"/>
                </a:rPr>
                <a:t>01/05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7328535" y="1116806"/>
              <a:ext cx="42606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dirty="0">
                  <a:solidFill>
                    <a:srgbClr val="66706A"/>
                  </a:solidFill>
                  <a:latin typeface="+mn-lt"/>
                  <a:ea typeface="+mn-ea"/>
                  <a:cs typeface="+mn-cs"/>
                </a:rPr>
                <a:t>01/06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9519285" y="1116806"/>
              <a:ext cx="42606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dirty="0">
                  <a:solidFill>
                    <a:srgbClr val="66706A"/>
                  </a:solidFill>
                  <a:latin typeface="+mn-lt"/>
                  <a:ea typeface="+mn-ea"/>
                  <a:cs typeface="+mn-cs"/>
                </a:rPr>
                <a:t>01/07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10819155" y="1116806"/>
              <a:ext cx="42606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1120" dirty="0">
                  <a:solidFill>
                    <a:srgbClr val="66706A"/>
                  </a:solidFill>
                  <a:latin typeface="+mn-lt"/>
                  <a:ea typeface="+mn-ea"/>
                  <a:cs typeface="+mn-cs"/>
                </a:rPr>
                <a:t>22/07</a:t>
              </a:r>
            </a:p>
          </p:txBody>
        </p:sp>
        <p:grpSp>
          <p:nvGrpSpPr>
            <p:cNvPr id="21" name="Group 21"/>
            <p:cNvGrpSpPr/>
            <p:nvPr/>
          </p:nvGrpSpPr>
          <p:grpSpPr>
            <a:xfrm>
              <a:off x="659130" y="1695450"/>
              <a:ext cx="10580370" cy="460534"/>
              <a:chOff x="659130" y="1695450"/>
              <a:chExt cx="10580370" cy="460534"/>
            </a:xfrm>
          </p:grpSpPr>
          <p:sp>
            <p:nvSpPr>
              <p:cNvPr id="17" name="TextBox 17"/>
              <p:cNvSpPr txBox="1"/>
              <p:nvPr/>
            </p:nvSpPr>
            <p:spPr>
              <a:xfrm>
                <a:off x="659130" y="1695450"/>
                <a:ext cx="384886" cy="29337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500" b="1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KNX</a:t>
                </a:r>
              </a:p>
            </p:txBody>
          </p:sp>
          <p:sp>
            <p:nvSpPr>
              <p:cNvPr id="18" name="TextBox 18"/>
              <p:cNvSpPr txBox="1"/>
              <p:nvPr/>
            </p:nvSpPr>
            <p:spPr>
              <a:xfrm>
                <a:off x="661035" y="1935956"/>
                <a:ext cx="1279304" cy="22002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120" dirty="0">
                    <a:solidFill>
                      <a:srgbClr val="66706A"/>
                    </a:solidFill>
                    <a:latin typeface="+mn-lt"/>
                    <a:ea typeface="+mn-ea"/>
                    <a:cs typeface="+mn-cs"/>
                  </a:rPr>
                  <a:t>98 task · 91 Done</a:t>
                </a:r>
              </a:p>
            </p:txBody>
          </p:sp>
          <p:sp>
            <p:nvSpPr>
              <p:cNvPr id="19" name="Rectangle 19"/>
              <p:cNvSpPr/>
              <p:nvPr/>
            </p:nvSpPr>
            <p:spPr>
              <a:xfrm>
                <a:off x="2857500" y="1695450"/>
                <a:ext cx="8382000" cy="304800"/>
              </a:xfrm>
              <a:prstGeom prst="roundRect">
                <a:avLst>
                  <a:gd name="adj" fmla="val 50000"/>
                </a:avLst>
              </a:prstGeom>
              <a:solidFill>
                <a:schemeClr val="accent1"/>
              </a:solidFill>
              <a:ln>
                <a:noFill/>
              </a:ln>
            </p:spPr>
          </p:sp>
          <p:sp>
            <p:nvSpPr>
              <p:cNvPr id="20" name="TextBox 20"/>
              <p:cNvSpPr txBox="1"/>
              <p:nvPr/>
            </p:nvSpPr>
            <p:spPr>
              <a:xfrm>
                <a:off x="10131100" y="1783556"/>
                <a:ext cx="923615" cy="22002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r"/>
                <a:r>
                  <a:rPr lang="en-US" sz="1120" dirty="0">
                    <a:solidFill>
                      <a:srgbClr val="FFFFFF"/>
                    </a:solidFill>
                    <a:latin typeface="+mn-lt"/>
                    <a:ea typeface="+mn-ea"/>
                    <a:cs typeface="+mn-cs"/>
                  </a:rPr>
                  <a:t>20/03–22/07</a:t>
                </a:r>
              </a:p>
            </p:txBody>
          </p:sp>
        </p:grpSp>
        <p:grpSp>
          <p:nvGrpSpPr>
            <p:cNvPr id="25" name="Group 25"/>
            <p:cNvGrpSpPr/>
            <p:nvPr/>
          </p:nvGrpSpPr>
          <p:grpSpPr>
            <a:xfrm>
              <a:off x="659130" y="2247900"/>
              <a:ext cx="4678128" cy="331470"/>
              <a:chOff x="659130" y="2247900"/>
              <a:chExt cx="4678128" cy="331470"/>
            </a:xfrm>
          </p:grpSpPr>
          <p:sp>
            <p:nvSpPr>
              <p:cNvPr id="22" name="TextBox 22"/>
              <p:cNvSpPr txBox="1"/>
              <p:nvPr/>
            </p:nvSpPr>
            <p:spPr>
              <a:xfrm>
                <a:off x="659130" y="2286000"/>
                <a:ext cx="1188987" cy="29337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500" b="1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MSB Office</a:t>
                </a:r>
              </a:p>
            </p:txBody>
          </p:sp>
          <p:sp>
            <p:nvSpPr>
              <p:cNvPr id="23" name="Rectangle 23"/>
              <p:cNvSpPr/>
              <p:nvPr/>
            </p:nvSpPr>
            <p:spPr>
              <a:xfrm>
                <a:off x="3857625" y="2247900"/>
                <a:ext cx="552450" cy="266700"/>
              </a:xfrm>
              <a:prstGeom prst="roundRect">
                <a:avLst>
                  <a:gd name="adj" fmla="val 50000"/>
                </a:avLst>
              </a:prstGeom>
              <a:solidFill>
                <a:schemeClr val="accent3"/>
              </a:solidFill>
              <a:ln>
                <a:noFill/>
              </a:ln>
            </p:spPr>
          </p:sp>
          <p:sp>
            <p:nvSpPr>
              <p:cNvPr id="24" name="TextBox 24"/>
              <p:cNvSpPr txBox="1"/>
              <p:nvPr/>
            </p:nvSpPr>
            <p:spPr>
              <a:xfrm>
                <a:off x="4471416" y="2325052"/>
                <a:ext cx="865842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050" dirty="0">
                    <a:solidFill>
                      <a:srgbClr val="66706A"/>
                    </a:solidFill>
                    <a:latin typeface="+mn-lt"/>
                    <a:ea typeface="+mn-ea"/>
                    <a:cs typeface="+mn-cs"/>
                  </a:rPr>
                  <a:t>07/04–10/04</a:t>
                </a:r>
              </a:p>
            </p:txBody>
          </p:sp>
        </p:grpSp>
        <p:grpSp>
          <p:nvGrpSpPr>
            <p:cNvPr id="29" name="Group 29"/>
            <p:cNvGrpSpPr/>
            <p:nvPr/>
          </p:nvGrpSpPr>
          <p:grpSpPr>
            <a:xfrm>
              <a:off x="659130" y="2838450"/>
              <a:ext cx="8392878" cy="331470"/>
              <a:chOff x="659130" y="2838450"/>
              <a:chExt cx="8392878" cy="331470"/>
            </a:xfrm>
          </p:grpSpPr>
          <p:sp>
            <p:nvSpPr>
              <p:cNvPr id="26" name="TextBox 26"/>
              <p:cNvSpPr txBox="1"/>
              <p:nvPr/>
            </p:nvSpPr>
            <p:spPr>
              <a:xfrm>
                <a:off x="659130" y="2876550"/>
                <a:ext cx="890149" cy="29337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500" b="1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LumesV2</a:t>
                </a:r>
              </a:p>
            </p:txBody>
          </p:sp>
          <p:sp>
            <p:nvSpPr>
              <p:cNvPr id="27" name="Rectangle 27"/>
              <p:cNvSpPr/>
              <p:nvPr/>
            </p:nvSpPr>
            <p:spPr>
              <a:xfrm>
                <a:off x="6191250" y="2838450"/>
                <a:ext cx="1905000" cy="266700"/>
              </a:xfrm>
              <a:prstGeom prst="roundRect">
                <a:avLst>
                  <a:gd name="adj" fmla="val 50000"/>
                </a:avLst>
              </a:prstGeom>
              <a:solidFill>
                <a:schemeClr val="accent2"/>
              </a:solidFill>
              <a:ln>
                <a:noFill/>
              </a:ln>
            </p:spPr>
          </p:sp>
          <p:sp>
            <p:nvSpPr>
              <p:cNvPr id="28" name="TextBox 28"/>
              <p:cNvSpPr txBox="1"/>
              <p:nvPr/>
            </p:nvSpPr>
            <p:spPr>
              <a:xfrm>
                <a:off x="8186166" y="2915602"/>
                <a:ext cx="865842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050" dirty="0">
                    <a:solidFill>
                      <a:srgbClr val="66706A"/>
                    </a:solidFill>
                    <a:latin typeface="+mn-lt"/>
                    <a:ea typeface="+mn-ea"/>
                    <a:cs typeface="+mn-cs"/>
                  </a:rPr>
                  <a:t>18/05–16/06</a:t>
                </a:r>
              </a:p>
            </p:txBody>
          </p:sp>
        </p:grpSp>
        <p:grpSp>
          <p:nvGrpSpPr>
            <p:cNvPr id="33" name="Group 33"/>
            <p:cNvGrpSpPr/>
            <p:nvPr/>
          </p:nvGrpSpPr>
          <p:grpSpPr>
            <a:xfrm>
              <a:off x="659130" y="3429000"/>
              <a:ext cx="7440378" cy="331470"/>
              <a:chOff x="659130" y="3429000"/>
              <a:chExt cx="7440378" cy="331470"/>
            </a:xfrm>
          </p:grpSpPr>
          <p:sp>
            <p:nvSpPr>
              <p:cNvPr id="30" name="TextBox 30"/>
              <p:cNvSpPr txBox="1"/>
              <p:nvPr/>
            </p:nvSpPr>
            <p:spPr>
              <a:xfrm>
                <a:off x="659130" y="3467100"/>
                <a:ext cx="1151702" cy="29337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500" b="1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Tool Design</a:t>
                </a:r>
              </a:p>
            </p:txBody>
          </p:sp>
          <p:sp>
            <p:nvSpPr>
              <p:cNvPr id="31" name="Rectangle 31"/>
              <p:cNvSpPr/>
              <p:nvPr/>
            </p:nvSpPr>
            <p:spPr>
              <a:xfrm>
                <a:off x="6477000" y="3429000"/>
                <a:ext cx="666750" cy="266700"/>
              </a:xfrm>
              <a:prstGeom prst="roundRect">
                <a:avLst>
                  <a:gd name="adj" fmla="val 50000"/>
                </a:avLst>
              </a:prstGeom>
              <a:solidFill>
                <a:srgbClr val="45A775"/>
              </a:solidFill>
              <a:ln>
                <a:noFill/>
              </a:ln>
            </p:spPr>
          </p:sp>
          <p:sp>
            <p:nvSpPr>
              <p:cNvPr id="32" name="TextBox 32"/>
              <p:cNvSpPr txBox="1"/>
              <p:nvPr/>
            </p:nvSpPr>
            <p:spPr>
              <a:xfrm>
                <a:off x="7233666" y="3506152"/>
                <a:ext cx="865842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050" dirty="0">
                    <a:solidFill>
                      <a:srgbClr val="66706A"/>
                    </a:solidFill>
                    <a:latin typeface="+mn-lt"/>
                    <a:ea typeface="+mn-ea"/>
                    <a:cs typeface="+mn-cs"/>
                  </a:rPr>
                  <a:t>21/05–27/05</a:t>
                </a:r>
              </a:p>
            </p:txBody>
          </p:sp>
        </p:grpSp>
        <p:grpSp>
          <p:nvGrpSpPr>
            <p:cNvPr id="37" name="Group 37"/>
            <p:cNvGrpSpPr/>
            <p:nvPr/>
          </p:nvGrpSpPr>
          <p:grpSpPr>
            <a:xfrm>
              <a:off x="659130" y="4019550"/>
              <a:ext cx="8659578" cy="331470"/>
              <a:chOff x="659130" y="4019550"/>
              <a:chExt cx="8659578" cy="331470"/>
            </a:xfrm>
          </p:grpSpPr>
          <p:sp>
            <p:nvSpPr>
              <p:cNvPr id="34" name="TextBox 34"/>
              <p:cNvSpPr txBox="1"/>
              <p:nvPr/>
            </p:nvSpPr>
            <p:spPr>
              <a:xfrm>
                <a:off x="659130" y="4057650"/>
                <a:ext cx="905637" cy="29337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500" b="1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IoT Team</a:t>
                </a:r>
              </a:p>
            </p:txBody>
          </p:sp>
          <p:sp>
            <p:nvSpPr>
              <p:cNvPr id="35" name="Rectangle 35"/>
              <p:cNvSpPr/>
              <p:nvPr/>
            </p:nvSpPr>
            <p:spPr>
              <a:xfrm>
                <a:off x="6838950" y="4019550"/>
                <a:ext cx="1524000" cy="266700"/>
              </a:xfrm>
              <a:prstGeom prst="roundRect">
                <a:avLst>
                  <a:gd name="adj" fmla="val 50000"/>
                </a:avLst>
              </a:prstGeom>
              <a:solidFill>
                <a:schemeClr val="accent3"/>
              </a:solidFill>
              <a:ln>
                <a:noFill/>
              </a:ln>
            </p:spPr>
          </p:sp>
          <p:sp>
            <p:nvSpPr>
              <p:cNvPr id="36" name="TextBox 36"/>
              <p:cNvSpPr txBox="1"/>
              <p:nvPr/>
            </p:nvSpPr>
            <p:spPr>
              <a:xfrm>
                <a:off x="8452866" y="4096702"/>
                <a:ext cx="865842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050" dirty="0">
                    <a:solidFill>
                      <a:srgbClr val="66706A"/>
                    </a:solidFill>
                    <a:latin typeface="+mn-lt"/>
                    <a:ea typeface="+mn-ea"/>
                    <a:cs typeface="+mn-cs"/>
                  </a:rPr>
                  <a:t>26/05–15/06</a:t>
                </a:r>
              </a:p>
            </p:txBody>
          </p:sp>
        </p:grpSp>
        <p:grpSp>
          <p:nvGrpSpPr>
            <p:cNvPr id="41" name="Group 41"/>
            <p:cNvGrpSpPr/>
            <p:nvPr/>
          </p:nvGrpSpPr>
          <p:grpSpPr>
            <a:xfrm>
              <a:off x="659130" y="4610100"/>
              <a:ext cx="10580370" cy="331470"/>
              <a:chOff x="659130" y="4610100"/>
              <a:chExt cx="10580370" cy="331470"/>
            </a:xfrm>
          </p:grpSpPr>
          <p:sp>
            <p:nvSpPr>
              <p:cNvPr id="38" name="TextBox 38"/>
              <p:cNvSpPr txBox="1"/>
              <p:nvPr/>
            </p:nvSpPr>
            <p:spPr>
              <a:xfrm>
                <a:off x="659130" y="4648200"/>
                <a:ext cx="1025866" cy="29337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500" b="1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Auto Test</a:t>
                </a:r>
              </a:p>
            </p:txBody>
          </p:sp>
          <p:sp>
            <p:nvSpPr>
              <p:cNvPr id="39" name="Rectangle 39"/>
              <p:cNvSpPr/>
              <p:nvPr/>
            </p:nvSpPr>
            <p:spPr>
              <a:xfrm>
                <a:off x="9810750" y="4610100"/>
                <a:ext cx="1428750" cy="266700"/>
              </a:xfrm>
              <a:prstGeom prst="roundRect">
                <a:avLst>
                  <a:gd name="adj" fmla="val 50000"/>
                </a:avLst>
              </a:prstGeom>
              <a:solidFill>
                <a:schemeClr val="accent2"/>
              </a:solidFill>
              <a:ln>
                <a:noFill/>
              </a:ln>
            </p:spPr>
          </p:sp>
          <p:sp>
            <p:nvSpPr>
              <p:cNvPr id="40" name="TextBox 40"/>
              <p:cNvSpPr txBox="1"/>
              <p:nvPr/>
            </p:nvSpPr>
            <p:spPr>
              <a:xfrm>
                <a:off x="8339061" y="4687252"/>
                <a:ext cx="1381773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r"/>
                <a:r>
                  <a:rPr lang="en-US" sz="1050" dirty="0">
                    <a:solidFill>
                      <a:srgbClr val="66706A"/>
                    </a:solidFill>
                    <a:latin typeface="+mn-lt"/>
                    <a:ea typeface="+mn-ea"/>
                    <a:cs typeface="+mn-cs"/>
                  </a:rPr>
                  <a:t>06/07–25/07 dự kiến</a:t>
                </a:r>
              </a:p>
            </p:txBody>
          </p:sp>
        </p:grpSp>
        <p:grpSp>
          <p:nvGrpSpPr>
            <p:cNvPr id="45" name="Group 45"/>
            <p:cNvGrpSpPr/>
            <p:nvPr/>
          </p:nvGrpSpPr>
          <p:grpSpPr>
            <a:xfrm>
              <a:off x="659130" y="5200650"/>
              <a:ext cx="10580370" cy="331470"/>
              <a:chOff x="659130" y="5200650"/>
              <a:chExt cx="10580370" cy="331470"/>
            </a:xfrm>
          </p:grpSpPr>
          <p:sp>
            <p:nvSpPr>
              <p:cNvPr id="42" name="TextBox 42"/>
              <p:cNvSpPr txBox="1"/>
              <p:nvPr/>
            </p:nvSpPr>
            <p:spPr>
              <a:xfrm>
                <a:off x="659130" y="5238750"/>
                <a:ext cx="1544431" cy="29337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500" b="1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Smart Lighting</a:t>
                </a:r>
              </a:p>
            </p:txBody>
          </p:sp>
          <p:sp>
            <p:nvSpPr>
              <p:cNvPr id="43" name="Rectangle 43"/>
              <p:cNvSpPr/>
              <p:nvPr/>
            </p:nvSpPr>
            <p:spPr>
              <a:xfrm>
                <a:off x="11049000" y="5200650"/>
                <a:ext cx="190500" cy="266700"/>
              </a:xfrm>
              <a:prstGeom prst="roundRect">
                <a:avLst>
                  <a:gd name="adj" fmla="val 50000"/>
                </a:avLst>
              </a:prstGeom>
              <a:solidFill>
                <a:srgbClr val="F5A623"/>
              </a:solidFill>
              <a:ln>
                <a:noFill/>
              </a:ln>
            </p:spPr>
          </p:sp>
          <p:sp>
            <p:nvSpPr>
              <p:cNvPr id="44" name="TextBox 44"/>
              <p:cNvSpPr txBox="1"/>
              <p:nvPr/>
            </p:nvSpPr>
            <p:spPr>
              <a:xfrm>
                <a:off x="9626892" y="5277802"/>
                <a:ext cx="1313142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r"/>
                <a:r>
                  <a:rPr lang="en-US" sz="1050" dirty="0">
                    <a:solidFill>
                      <a:srgbClr val="66706A"/>
                    </a:solidFill>
                    <a:latin typeface="+mn-lt"/>
                    <a:ea typeface="+mn-ea"/>
                    <a:cs typeface="+mn-cs"/>
                  </a:rPr>
                  <a:t>Từ 20/07 · Ongoing</a:t>
                </a:r>
              </a:p>
            </p:txBody>
          </p:sp>
        </p:grpSp>
      </p:grpSp>
      <p:sp>
        <p:nvSpPr>
          <p:cNvPr id="47" name="Rectangle 47"/>
          <p:cNvSpPr/>
          <p:nvPr/>
        </p:nvSpPr>
        <p:spPr>
          <a:xfrm>
            <a:off x="495300" y="5905500"/>
            <a:ext cx="11125200" cy="419100"/>
          </a:xfrm>
          <a:prstGeom prst="roundRect">
            <a:avLst>
              <a:gd name="adj" fmla="val 22727"/>
            </a:avLst>
          </a:prstGeom>
          <a:solidFill>
            <a:schemeClr val="lt2"/>
          </a:solidFill>
          <a:ln>
            <a:noFill/>
          </a:ln>
        </p:spPr>
      </p:sp>
      <p:sp>
        <p:nvSpPr>
          <p:cNvPr id="48" name="TextBox 48"/>
          <p:cNvSpPr txBox="1"/>
          <p:nvPr/>
        </p:nvSpPr>
        <p:spPr>
          <a:xfrm>
            <a:off x="679323" y="6034564"/>
            <a:ext cx="8040631" cy="24936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280" dirty="0">
                <a:solidFill>
                  <a:schemeClr val="dk1"/>
                </a:solidFill>
                <a:latin typeface="+mn-lt"/>
                <a:ea typeface="+mn-ea"/>
                <a:cs typeface="+mn-cs"/>
              </a:rPr>
              <a:t>Trọng tâm: KNX xuyên suốt · Mở rộng năng lực sang automation, tool nhà máy và kiểm thử đa hệ.</a:t>
            </a:r>
          </a:p>
        </p:txBody>
      </p:sp>
      <p:sp>
        <p:nvSpPr>
          <p:cNvPr id="49" name="TextBox 49"/>
          <p:cNvSpPr txBox="1"/>
          <p:nvPr/>
        </p:nvSpPr>
        <p:spPr>
          <a:xfrm>
            <a:off x="11141640" y="6630352"/>
            <a:ext cx="484194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en-US" sz="1050" dirty="0">
                <a:solidFill>
                  <a:srgbClr val="66706A"/>
                </a:solidFill>
                <a:latin typeface="+mn-lt"/>
                <a:ea typeface="+mn-ea"/>
                <a:cs typeface="+mn-cs"/>
              </a:rPr>
              <a:t>03 / 22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6276" y="266700"/>
            <a:ext cx="1313447" cy="381000"/>
          </a:xfrm>
          <a:prstGeom prst="rect">
            <a:avLst/>
          </a:prstGeom>
        </p:spPr>
      </p:pic>
      <p:sp>
        <p:nvSpPr>
          <p:cNvPr id="3" name="TextBox 3"/>
          <p:cNvSpPr txBox="1"/>
          <p:nvPr/>
        </p:nvSpPr>
        <p:spPr>
          <a:xfrm>
            <a:off x="2462784" y="356235"/>
            <a:ext cx="4576961" cy="52806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2700" b="1" dirty="0">
                <a:solidFill>
                  <a:schemeClr val="accent1"/>
                </a:solidFill>
                <a:latin typeface="+mn-lt"/>
                <a:ea typeface="+mn-ea"/>
                <a:cs typeface="+mn-cs"/>
              </a:rPr>
              <a:t>1. Dự án KNX — Tổng quan</a:t>
            </a:r>
          </a:p>
        </p:txBody>
      </p:sp>
      <p:sp>
        <p:nvSpPr>
          <p:cNvPr id="4" name="Rectangle 4"/>
          <p:cNvSpPr/>
          <p:nvPr/>
        </p:nvSpPr>
        <p:spPr>
          <a:xfrm>
            <a:off x="9239250" y="285750"/>
            <a:ext cx="2381250" cy="400050"/>
          </a:xfrm>
          <a:prstGeom prst="roundRect">
            <a:avLst>
              <a:gd name="adj" fmla="val 50000"/>
            </a:avLst>
          </a:prstGeom>
          <a:solidFill>
            <a:srgbClr val="EAF6F0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9627309" y="405289"/>
            <a:ext cx="1605132" cy="24936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280" b="1" dirty="0">
                <a:solidFill>
                  <a:schemeClr val="accent1"/>
                </a:solidFill>
                <a:latin typeface="+mn-lt"/>
                <a:ea typeface="+mn-ea"/>
                <a:cs typeface="+mn-cs"/>
              </a:rPr>
              <a:t>20/03–22/07/2026</a:t>
            </a:r>
          </a:p>
        </p:txBody>
      </p:sp>
      <p:grpSp>
        <p:nvGrpSpPr>
          <p:cNvPr id="12" name="Group 12"/>
          <p:cNvGrpSpPr/>
          <p:nvPr/>
        </p:nvGrpSpPr>
        <p:grpSpPr>
          <a:xfrm>
            <a:off x="533400" y="1190625"/>
            <a:ext cx="4762500" cy="2286000"/>
            <a:chOff x="533400" y="1190625"/>
            <a:chExt cx="4762500" cy="2286000"/>
          </a:xfrm>
        </p:grpSpPr>
        <p:sp>
          <p:nvSpPr>
            <p:cNvPr id="6" name="Rectangle 6"/>
            <p:cNvSpPr/>
            <p:nvPr/>
          </p:nvSpPr>
          <p:spPr>
            <a:xfrm>
              <a:off x="533400" y="1190625"/>
              <a:ext cx="4762500" cy="2286000"/>
            </a:xfrm>
            <a:prstGeom prst="roundRect">
              <a:avLst>
                <a:gd name="adj" fmla="val 7500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812673" y="1443514"/>
              <a:ext cx="154231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8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PHẠM VI ĐÓNG GÓP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810768" y="1793558"/>
              <a:ext cx="2157192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6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Thiết bị &amp; firmware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810768" y="2155508"/>
              <a:ext cx="3231794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6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Tool, Jig, loader &amp; benchmark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810768" y="2517458"/>
              <a:ext cx="3378365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6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Kiểm thử hệ thống &amp; KNX Secure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810768" y="2879408"/>
              <a:ext cx="3134487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6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Giáo trình, đào tạo &amp; tài liệu</a:t>
              </a:r>
            </a:p>
          </p:txBody>
        </p:sp>
      </p:grpSp>
      <p:pic>
        <p:nvPicPr>
          <p:cNvPr id="13" name="Image 1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93656" y="1143000"/>
            <a:ext cx="4167188" cy="2381250"/>
          </a:xfrm>
          <a:prstGeom prst="rect">
            <a:avLst/>
          </a:prstGeom>
        </p:spPr>
      </p:pic>
      <p:grpSp>
        <p:nvGrpSpPr>
          <p:cNvPr id="25" name="Group 25"/>
          <p:cNvGrpSpPr/>
          <p:nvPr/>
        </p:nvGrpSpPr>
        <p:grpSpPr>
          <a:xfrm>
            <a:off x="533400" y="3762375"/>
            <a:ext cx="11180047" cy="1047750"/>
            <a:chOff x="533400" y="3762375"/>
            <a:chExt cx="11180047" cy="1047750"/>
          </a:xfrm>
        </p:grpSpPr>
        <p:sp>
          <p:nvSpPr>
            <p:cNvPr id="14" name="Rectangle 14"/>
            <p:cNvSpPr/>
            <p:nvPr/>
          </p:nvSpPr>
          <p:spPr>
            <a:xfrm>
              <a:off x="533400" y="3762375"/>
              <a:ext cx="3429000" cy="1047750"/>
            </a:xfrm>
            <a:prstGeom prst="roundRect">
              <a:avLst>
                <a:gd name="adj" fmla="val 14545"/>
              </a:avLst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800862" y="3888105"/>
              <a:ext cx="596326" cy="70408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36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98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1612011" y="4122896"/>
              <a:ext cx="827039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42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task KNX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813054" y="4461510"/>
              <a:ext cx="233034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86% tổng khối lượng kỳ review</a:t>
              </a:r>
            </a:p>
          </p:txBody>
        </p:sp>
        <p:sp>
          <p:nvSpPr>
            <p:cNvPr id="18" name="Rectangle 18"/>
            <p:cNvSpPr/>
            <p:nvPr/>
          </p:nvSpPr>
          <p:spPr>
            <a:xfrm>
              <a:off x="4210050" y="3762375"/>
              <a:ext cx="3429000" cy="1047750"/>
            </a:xfrm>
            <a:prstGeom prst="roundRect">
              <a:avLst>
                <a:gd name="adj" fmla="val 14545"/>
              </a:avLst>
            </a:prstGeom>
            <a:solidFill>
              <a:srgbClr val="EAF6F0"/>
            </a:solidFill>
            <a:ln>
              <a:noFill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4477512" y="3888105"/>
              <a:ext cx="596326" cy="70408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36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91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5279136" y="4122896"/>
              <a:ext cx="440982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42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Done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4489704" y="4461510"/>
              <a:ext cx="2497507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dirty="0">
                  <a:solidFill>
                    <a:srgbClr val="66706A"/>
                  </a:solidFill>
                  <a:latin typeface="+mn-lt"/>
                  <a:ea typeface="+mn-ea"/>
                  <a:cs typeface="+mn-cs"/>
                </a:rPr>
                <a:t>Đầu ra đã xác nhận trong dữ liệu</a:t>
              </a:r>
            </a:p>
          </p:txBody>
        </p:sp>
        <p:sp>
          <p:nvSpPr>
            <p:cNvPr id="22" name="Rectangle 22"/>
            <p:cNvSpPr/>
            <p:nvPr/>
          </p:nvSpPr>
          <p:spPr>
            <a:xfrm>
              <a:off x="7886700" y="3762375"/>
              <a:ext cx="3771900" cy="1047750"/>
            </a:xfrm>
            <a:prstGeom prst="roundRect">
              <a:avLst>
                <a:gd name="adj" fmla="val 14545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8165211" y="4018121"/>
              <a:ext cx="1309112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42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7 task còn lại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8166354" y="4347210"/>
              <a:ext cx="3547093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dirty="0">
                  <a:solidFill>
                    <a:srgbClr val="66706A"/>
                  </a:solidFill>
                  <a:latin typeface="+mn-lt"/>
                  <a:ea typeface="+mn-ea"/>
                  <a:cs typeface="+mn-cs"/>
                </a:rPr>
                <a:t>2 Ongoing · 2 Late · 2 Not started · 1 Closed</a:t>
              </a:r>
            </a:p>
          </p:txBody>
        </p:sp>
      </p:grpSp>
      <p:grpSp>
        <p:nvGrpSpPr>
          <p:cNvPr id="33" name="Group 33"/>
          <p:cNvGrpSpPr/>
          <p:nvPr/>
        </p:nvGrpSpPr>
        <p:grpSpPr>
          <a:xfrm>
            <a:off x="526923" y="5196364"/>
            <a:ext cx="11131677" cy="899636"/>
            <a:chOff x="526923" y="5196364"/>
            <a:chExt cx="11131677" cy="899636"/>
          </a:xfrm>
        </p:grpSpPr>
        <p:sp>
          <p:nvSpPr>
            <p:cNvPr id="26" name="TextBox 26"/>
            <p:cNvSpPr txBox="1"/>
            <p:nvPr/>
          </p:nvSpPr>
          <p:spPr>
            <a:xfrm>
              <a:off x="526923" y="5196364"/>
              <a:ext cx="1714372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8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THÀNH TÍCH NỔI BẬT</a:t>
              </a:r>
            </a:p>
          </p:txBody>
        </p:sp>
        <p:sp>
          <p:nvSpPr>
            <p:cNvPr id="27" name="Rectangle 27"/>
            <p:cNvSpPr/>
            <p:nvPr/>
          </p:nvSpPr>
          <p:spPr>
            <a:xfrm>
              <a:off x="533400" y="5486400"/>
              <a:ext cx="3429000" cy="609600"/>
            </a:xfrm>
            <a:prstGeom prst="roundRect">
              <a:avLst>
                <a:gd name="adj" fmla="val 18750"/>
              </a:avLst>
            </a:prstGeom>
            <a:solidFill>
              <a:schemeClr val="lt1"/>
            </a:solidFill>
            <a:ln w="9525">
              <a:solidFill>
                <a:srgbClr val="CFE0D7"/>
              </a:solidFill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717423" y="5710714"/>
              <a:ext cx="219859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8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Firmware đa dòng thiết bị</a:t>
              </a:r>
            </a:p>
          </p:txBody>
        </p:sp>
        <p:sp>
          <p:nvSpPr>
            <p:cNvPr id="29" name="Rectangle 29"/>
            <p:cNvSpPr/>
            <p:nvPr/>
          </p:nvSpPr>
          <p:spPr>
            <a:xfrm>
              <a:off x="4210050" y="5486400"/>
              <a:ext cx="3429000" cy="609600"/>
            </a:xfrm>
            <a:prstGeom prst="roundRect">
              <a:avLst>
                <a:gd name="adj" fmla="val 18750"/>
              </a:avLst>
            </a:prstGeom>
            <a:solidFill>
              <a:schemeClr val="lt1"/>
            </a:solidFill>
            <a:ln w="9525">
              <a:solidFill>
                <a:srgbClr val="CFE0D7"/>
              </a:solidFill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4394073" y="5710714"/>
              <a:ext cx="264398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8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Tool/Jig và benchmark hệ thống</a:t>
              </a:r>
            </a:p>
          </p:txBody>
        </p:sp>
        <p:sp>
          <p:nvSpPr>
            <p:cNvPr id="31" name="Rectangle 31"/>
            <p:cNvSpPr/>
            <p:nvPr/>
          </p:nvSpPr>
          <p:spPr>
            <a:xfrm>
              <a:off x="7886700" y="5486400"/>
              <a:ext cx="3771900" cy="609600"/>
            </a:xfrm>
            <a:prstGeom prst="roundRect">
              <a:avLst>
                <a:gd name="adj" fmla="val 18750"/>
              </a:avLst>
            </a:prstGeom>
            <a:solidFill>
              <a:schemeClr val="lt1"/>
            </a:solidFill>
            <a:ln w="9525">
              <a:solidFill>
                <a:srgbClr val="CFE0D7"/>
              </a:solidFill>
            </a:ln>
          </p:spPr>
        </p:sp>
        <p:sp>
          <p:nvSpPr>
            <p:cNvPr id="32" name="TextBox 32"/>
            <p:cNvSpPr txBox="1"/>
            <p:nvPr/>
          </p:nvSpPr>
          <p:spPr>
            <a:xfrm>
              <a:off x="8070723" y="5710714"/>
              <a:ext cx="2054382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8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Giáo trình &amp; đào tạo KNX</a:t>
              </a:r>
            </a:p>
          </p:txBody>
        </p:sp>
      </p:grpSp>
      <p:sp>
        <p:nvSpPr>
          <p:cNvPr id="34" name="TextBox 34"/>
          <p:cNvSpPr txBox="1"/>
          <p:nvPr/>
        </p:nvSpPr>
        <p:spPr>
          <a:xfrm>
            <a:off x="11141640" y="6630352"/>
            <a:ext cx="484194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en-US" sz="1050" dirty="0">
                <a:solidFill>
                  <a:srgbClr val="66706A"/>
                </a:solidFill>
                <a:latin typeface="+mn-lt"/>
                <a:ea typeface="+mn-ea"/>
                <a:cs typeface="+mn-cs"/>
              </a:rPr>
              <a:t>04 / 22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6276" y="266700"/>
            <a:ext cx="1313447" cy="381000"/>
          </a:xfrm>
          <a:prstGeom prst="rect">
            <a:avLst/>
          </a:prstGeom>
        </p:spPr>
      </p:pic>
      <p:sp>
        <p:nvSpPr>
          <p:cNvPr id="3" name="TextBox 3"/>
          <p:cNvSpPr txBox="1"/>
          <p:nvPr/>
        </p:nvSpPr>
        <p:spPr>
          <a:xfrm>
            <a:off x="2462784" y="356235"/>
            <a:ext cx="5830343" cy="52806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2700" b="1" dirty="0">
                <a:solidFill>
                  <a:schemeClr val="accent1"/>
                </a:solidFill>
                <a:latin typeface="+mn-lt"/>
                <a:ea typeface="+mn-ea"/>
                <a:cs typeface="+mn-cs"/>
              </a:rPr>
              <a:t>KNX — Công việc chính &amp; kết quả</a:t>
            </a:r>
          </a:p>
        </p:txBody>
      </p:sp>
      <p:sp>
        <p:nvSpPr>
          <p:cNvPr id="4" name="Rectangle 4"/>
          <p:cNvSpPr/>
          <p:nvPr/>
        </p:nvSpPr>
        <p:spPr>
          <a:xfrm>
            <a:off x="9239250" y="285750"/>
            <a:ext cx="2381250" cy="400050"/>
          </a:xfrm>
          <a:prstGeom prst="roundRect">
            <a:avLst>
              <a:gd name="adj" fmla="val 50000"/>
            </a:avLst>
          </a:prstGeom>
          <a:solidFill>
            <a:srgbClr val="EAF6F0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9627309" y="405289"/>
            <a:ext cx="1605132" cy="24936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280" b="1" dirty="0">
                <a:solidFill>
                  <a:schemeClr val="accent1"/>
                </a:solidFill>
                <a:latin typeface="+mn-lt"/>
                <a:ea typeface="+mn-ea"/>
                <a:cs typeface="+mn-cs"/>
              </a:rPr>
              <a:t>20/03–22/07/2026</a:t>
            </a:r>
          </a:p>
        </p:txBody>
      </p:sp>
      <p:grpSp>
        <p:nvGrpSpPr>
          <p:cNvPr id="39" name="Group 39"/>
          <p:cNvGrpSpPr/>
          <p:nvPr/>
        </p:nvGrpSpPr>
        <p:grpSpPr>
          <a:xfrm>
            <a:off x="533400" y="1143000"/>
            <a:ext cx="11125200" cy="4095750"/>
            <a:chOff x="533400" y="1143000"/>
            <a:chExt cx="11125200" cy="4095750"/>
          </a:xfrm>
        </p:grpSpPr>
        <p:grpSp>
          <p:nvGrpSpPr>
            <p:cNvPr id="16" name="Group 16"/>
            <p:cNvGrpSpPr/>
            <p:nvPr/>
          </p:nvGrpSpPr>
          <p:grpSpPr>
            <a:xfrm>
              <a:off x="533400" y="1143000"/>
              <a:ext cx="3429000" cy="4095750"/>
              <a:chOff x="533400" y="1143000"/>
              <a:chExt cx="3429000" cy="4095750"/>
            </a:xfrm>
          </p:grpSpPr>
          <p:sp>
            <p:nvSpPr>
              <p:cNvPr id="6" name="Rectangle 6"/>
              <p:cNvSpPr/>
              <p:nvPr/>
            </p:nvSpPr>
            <p:spPr>
              <a:xfrm>
                <a:off x="533400" y="1143000"/>
                <a:ext cx="3429000" cy="4095750"/>
              </a:xfrm>
              <a:prstGeom prst="roundRect">
                <a:avLst>
                  <a:gd name="adj" fmla="val 5000"/>
                </a:avLst>
              </a:prstGeom>
              <a:solidFill>
                <a:schemeClr val="lt2"/>
              </a:solidFill>
              <a:ln>
                <a:noFill/>
              </a:ln>
            </p:spPr>
          </p:sp>
          <p:sp>
            <p:nvSpPr>
              <p:cNvPr id="7" name="Rectangle 7"/>
              <p:cNvSpPr/>
              <p:nvPr/>
            </p:nvSpPr>
            <p:spPr>
              <a:xfrm>
                <a:off x="533400" y="1143000"/>
                <a:ext cx="76200" cy="4095750"/>
              </a:xfrm>
              <a:prstGeom prst="roundRect">
                <a:avLst>
                  <a:gd name="adj" fmla="val 50000"/>
                </a:avLst>
              </a:prstGeom>
              <a:solidFill>
                <a:schemeClr val="accent1"/>
              </a:solidFill>
              <a:ln>
                <a:noFill/>
              </a:ln>
            </p:spPr>
          </p:sp>
          <p:sp>
            <p:nvSpPr>
              <p:cNvPr id="8" name="TextBox 8"/>
              <p:cNvSpPr txBox="1"/>
              <p:nvPr/>
            </p:nvSpPr>
            <p:spPr>
              <a:xfrm>
                <a:off x="811530" y="1409700"/>
                <a:ext cx="2479548" cy="29337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500" b="1" dirty="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rPr>
                  <a:t>01 THIẾT BỊ &amp; FIRMWARE</a:t>
                </a:r>
              </a:p>
            </p:txBody>
          </p:sp>
          <p:sp>
            <p:nvSpPr>
              <p:cNvPr id="9" name="TextBox 9"/>
              <p:cNvSpPr txBox="1"/>
              <p:nvPr/>
            </p:nvSpPr>
            <p:spPr>
              <a:xfrm>
                <a:off x="811911" y="1941671"/>
                <a:ext cx="1715319" cy="27870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 marL="153289" indent="-153289">
                  <a:buClr>
                    <a:schemeClr val="dk1"/>
                  </a:buClr>
                  <a:buSzTx/>
                  <a:buFontTx/>
                  <a:buChar char="•"/>
                </a:pPr>
                <a:r>
                  <a:rPr lang="en-US" sz="142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Công tắc 2/4 nút</a:t>
                </a:r>
              </a:p>
            </p:txBody>
          </p:sp>
          <p:sp>
            <p:nvSpPr>
              <p:cNvPr id="10" name="TextBox 10"/>
              <p:cNvSpPr txBox="1"/>
              <p:nvPr/>
            </p:nvSpPr>
            <p:spPr>
              <a:xfrm>
                <a:off x="811911" y="2284571"/>
                <a:ext cx="2191074" cy="27870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 marL="153289" indent="-153289">
                  <a:buClr>
                    <a:schemeClr val="dk1"/>
                  </a:buClr>
                  <a:buSzTx/>
                  <a:buFontTx/>
                  <a:buChar char="•"/>
                </a:pPr>
                <a:r>
                  <a:rPr lang="en-US" sz="142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Rèm, Actuator, KNOB</a:t>
                </a:r>
              </a:p>
            </p:txBody>
          </p:sp>
          <p:sp>
            <p:nvSpPr>
              <p:cNvPr id="11" name="TextBox 11"/>
              <p:cNvSpPr txBox="1"/>
              <p:nvPr/>
            </p:nvSpPr>
            <p:spPr>
              <a:xfrm>
                <a:off x="811911" y="2627471"/>
                <a:ext cx="2936833" cy="27870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 marL="153289" indent="-153289">
                  <a:buClr>
                    <a:schemeClr val="dk1"/>
                  </a:buClr>
                  <a:buSzTx/>
                  <a:buFontTx/>
                  <a:buChar char="•"/>
                </a:pPr>
                <a:r>
                  <a:rPr lang="en-US" sz="142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Cấu hình và đóng gói .knxprod</a:t>
                </a:r>
              </a:p>
            </p:txBody>
          </p:sp>
          <p:sp>
            <p:nvSpPr>
              <p:cNvPr id="12" name="Line 12"/>
              <p:cNvSpPr/>
              <p:nvPr/>
            </p:nvSpPr>
            <p:spPr>
              <a:xfrm>
                <a:off x="819150" y="3476625"/>
                <a:ext cx="285750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2857500" h="9525">
                    <a:moveTo>
                      <a:pt x="0" y="0"/>
                    </a:moveTo>
                    <a:lnTo>
                      <a:pt x="2857500" y="0"/>
                    </a:lnTo>
                  </a:path>
                </a:pathLst>
              </a:custGeom>
              <a:noFill/>
              <a:ln w="9525">
                <a:solidFill>
                  <a:srgbClr val="C8D8D0"/>
                </a:solidFill>
              </a:ln>
            </p:spPr>
          </p:sp>
          <p:sp>
            <p:nvSpPr>
              <p:cNvPr id="13" name="TextBox 13"/>
              <p:cNvSpPr txBox="1"/>
              <p:nvPr/>
            </p:nvSpPr>
            <p:spPr>
              <a:xfrm>
                <a:off x="813054" y="3728085"/>
                <a:ext cx="693237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200" b="1" dirty="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rPr>
                  <a:t>KẾT QUẢ</a:t>
                </a:r>
              </a:p>
            </p:txBody>
          </p:sp>
          <p:sp>
            <p:nvSpPr>
              <p:cNvPr id="14" name="TextBox 14"/>
              <p:cNvSpPr txBox="1"/>
              <p:nvPr/>
            </p:nvSpPr>
            <p:spPr>
              <a:xfrm>
                <a:off x="812292" y="4092892"/>
                <a:ext cx="2827439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35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Hoàn thiện nhiều luồng firmware</a:t>
                </a:r>
              </a:p>
            </p:txBody>
          </p:sp>
          <p:sp>
            <p:nvSpPr>
              <p:cNvPr id="15" name="TextBox 15"/>
              <p:cNvSpPr txBox="1"/>
              <p:nvPr/>
            </p:nvSpPr>
            <p:spPr>
              <a:xfrm>
                <a:off x="812292" y="4388168"/>
                <a:ext cx="2476252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35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và chuẩn hóa cách kiểm thử.</a:t>
                </a:r>
              </a:p>
            </p:txBody>
          </p:sp>
        </p:grpSp>
        <p:grpSp>
          <p:nvGrpSpPr>
            <p:cNvPr id="27" name="Group 27"/>
            <p:cNvGrpSpPr/>
            <p:nvPr/>
          </p:nvGrpSpPr>
          <p:grpSpPr>
            <a:xfrm>
              <a:off x="4210050" y="1143000"/>
              <a:ext cx="3429000" cy="4095750"/>
              <a:chOff x="4210050" y="1143000"/>
              <a:chExt cx="3429000" cy="4095750"/>
            </a:xfrm>
          </p:grpSpPr>
          <p:sp>
            <p:nvSpPr>
              <p:cNvPr id="17" name="Rectangle 17"/>
              <p:cNvSpPr/>
              <p:nvPr/>
            </p:nvSpPr>
            <p:spPr>
              <a:xfrm>
                <a:off x="4210050" y="1143000"/>
                <a:ext cx="3429000" cy="4095750"/>
              </a:xfrm>
              <a:prstGeom prst="roundRect">
                <a:avLst>
                  <a:gd name="adj" fmla="val 5000"/>
                </a:avLst>
              </a:prstGeom>
              <a:solidFill>
                <a:srgbClr val="EAF6F0"/>
              </a:solidFill>
              <a:ln>
                <a:noFill/>
              </a:ln>
            </p:spPr>
          </p:sp>
          <p:sp>
            <p:nvSpPr>
              <p:cNvPr id="18" name="Rectangle 18"/>
              <p:cNvSpPr/>
              <p:nvPr/>
            </p:nvSpPr>
            <p:spPr>
              <a:xfrm>
                <a:off x="4210050" y="1143000"/>
                <a:ext cx="76200" cy="4095750"/>
              </a:xfrm>
              <a:prstGeom prst="roundRect">
                <a:avLst>
                  <a:gd name="adj" fmla="val 50000"/>
                </a:avLst>
              </a:prstGeom>
              <a:solidFill>
                <a:schemeClr val="accent1"/>
              </a:solidFill>
              <a:ln>
                <a:noFill/>
              </a:ln>
            </p:spPr>
          </p:sp>
          <p:sp>
            <p:nvSpPr>
              <p:cNvPr id="19" name="TextBox 19"/>
              <p:cNvSpPr txBox="1"/>
              <p:nvPr/>
            </p:nvSpPr>
            <p:spPr>
              <a:xfrm>
                <a:off x="4488180" y="1409700"/>
                <a:ext cx="2098700" cy="29337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500" b="1" dirty="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rPr>
                  <a:t>02 TOOL &amp; HỆ THỐNG</a:t>
                </a:r>
              </a:p>
            </p:txBody>
          </p:sp>
          <p:sp>
            <p:nvSpPr>
              <p:cNvPr id="20" name="TextBox 20"/>
              <p:cNvSpPr txBox="1"/>
              <p:nvPr/>
            </p:nvSpPr>
            <p:spPr>
              <a:xfrm>
                <a:off x="4488561" y="1941671"/>
                <a:ext cx="2334672" cy="27870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 marL="153289" indent="-153289">
                  <a:buClr>
                    <a:schemeClr val="dk1"/>
                  </a:buClr>
                  <a:buSzTx/>
                  <a:buFontTx/>
                  <a:buChar char="•"/>
                </a:pPr>
                <a:r>
                  <a:rPr lang="en-US" sz="142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Jig, loader, benchmark</a:t>
                </a:r>
              </a:p>
            </p:txBody>
          </p:sp>
          <p:sp>
            <p:nvSpPr>
              <p:cNvPr id="21" name="TextBox 21"/>
              <p:cNvSpPr txBox="1"/>
              <p:nvPr/>
            </p:nvSpPr>
            <p:spPr>
              <a:xfrm>
                <a:off x="4488561" y="2284571"/>
                <a:ext cx="2300017" cy="27870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 marL="153289" indent="-153289">
                  <a:buClr>
                    <a:schemeClr val="dk1"/>
                  </a:buClr>
                  <a:buSzTx/>
                  <a:buFontTx/>
                  <a:buChar char="•"/>
                </a:pPr>
                <a:r>
                  <a:rPr lang="en-US" sz="142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GA delay/miss, Coupler</a:t>
                </a:r>
              </a:p>
            </p:txBody>
          </p:sp>
          <p:sp>
            <p:nvSpPr>
              <p:cNvPr id="22" name="TextBox 22"/>
              <p:cNvSpPr txBox="1"/>
              <p:nvPr/>
            </p:nvSpPr>
            <p:spPr>
              <a:xfrm>
                <a:off x="4488561" y="2627471"/>
                <a:ext cx="2718290" cy="27870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 marL="153289" indent="-153289">
                  <a:buClr>
                    <a:schemeClr val="dk1"/>
                  </a:buClr>
                  <a:buSzTx/>
                  <a:buFontTx/>
                  <a:buChar char="•"/>
                </a:pPr>
                <a:r>
                  <a:rPr lang="en-US" sz="142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KNX Secure &amp; download flow</a:t>
                </a:r>
              </a:p>
            </p:txBody>
          </p:sp>
          <p:sp>
            <p:nvSpPr>
              <p:cNvPr id="23" name="Line 23"/>
              <p:cNvSpPr/>
              <p:nvPr/>
            </p:nvSpPr>
            <p:spPr>
              <a:xfrm>
                <a:off x="4495800" y="3476625"/>
                <a:ext cx="285750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2857500" h="9525">
                    <a:moveTo>
                      <a:pt x="0" y="0"/>
                    </a:moveTo>
                    <a:lnTo>
                      <a:pt x="2857500" y="0"/>
                    </a:lnTo>
                  </a:path>
                </a:pathLst>
              </a:custGeom>
              <a:noFill/>
              <a:ln w="9525">
                <a:solidFill>
                  <a:srgbClr val="B8D8C7"/>
                </a:solidFill>
              </a:ln>
            </p:spPr>
          </p:sp>
          <p:sp>
            <p:nvSpPr>
              <p:cNvPr id="24" name="TextBox 24"/>
              <p:cNvSpPr txBox="1"/>
              <p:nvPr/>
            </p:nvSpPr>
            <p:spPr>
              <a:xfrm>
                <a:off x="4489704" y="3728085"/>
                <a:ext cx="693237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200" b="1" dirty="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rPr>
                  <a:t>KẾT QUẢ</a:t>
                </a:r>
              </a:p>
            </p:txBody>
          </p:sp>
          <p:sp>
            <p:nvSpPr>
              <p:cNvPr id="25" name="TextBox 25"/>
              <p:cNvSpPr txBox="1"/>
              <p:nvPr/>
            </p:nvSpPr>
            <p:spPr>
              <a:xfrm>
                <a:off x="4488942" y="4092892"/>
                <a:ext cx="2300970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35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Tăng khả năng tái hiện, đo</a:t>
                </a:r>
              </a:p>
            </p:txBody>
          </p:sp>
          <p:sp>
            <p:nvSpPr>
              <p:cNvPr id="26" name="TextBox 26"/>
              <p:cNvSpPr txBox="1"/>
              <p:nvPr/>
            </p:nvSpPr>
            <p:spPr>
              <a:xfrm>
                <a:off x="4488942" y="4388168"/>
                <a:ext cx="2194560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35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và xác nhận lỗi hệ thống.</a:t>
                </a:r>
              </a:p>
            </p:txBody>
          </p:sp>
        </p:grpSp>
        <p:grpSp>
          <p:nvGrpSpPr>
            <p:cNvPr id="38" name="Group 38"/>
            <p:cNvGrpSpPr/>
            <p:nvPr/>
          </p:nvGrpSpPr>
          <p:grpSpPr>
            <a:xfrm>
              <a:off x="7886700" y="1143000"/>
              <a:ext cx="3771900" cy="4095750"/>
              <a:chOff x="7886700" y="1143000"/>
              <a:chExt cx="3771900" cy="4095750"/>
            </a:xfrm>
          </p:grpSpPr>
          <p:sp>
            <p:nvSpPr>
              <p:cNvPr id="28" name="Rectangle 28"/>
              <p:cNvSpPr/>
              <p:nvPr/>
            </p:nvSpPr>
            <p:spPr>
              <a:xfrm>
                <a:off x="7886700" y="1143000"/>
                <a:ext cx="3771900" cy="4095750"/>
              </a:xfrm>
              <a:prstGeom prst="roundRect">
                <a:avLst>
                  <a:gd name="adj" fmla="val 4545"/>
                </a:avLst>
              </a:prstGeom>
              <a:solidFill>
                <a:schemeClr val="lt2"/>
              </a:solidFill>
              <a:ln>
                <a:noFill/>
              </a:ln>
            </p:spPr>
          </p:sp>
          <p:sp>
            <p:nvSpPr>
              <p:cNvPr id="29" name="Rectangle 29"/>
              <p:cNvSpPr/>
              <p:nvPr/>
            </p:nvSpPr>
            <p:spPr>
              <a:xfrm>
                <a:off x="7886700" y="1143000"/>
                <a:ext cx="76200" cy="4095750"/>
              </a:xfrm>
              <a:prstGeom prst="roundRect">
                <a:avLst>
                  <a:gd name="adj" fmla="val 50000"/>
                </a:avLst>
              </a:prstGeom>
              <a:solidFill>
                <a:schemeClr val="accent1"/>
              </a:solidFill>
              <a:ln>
                <a:noFill/>
              </a:ln>
            </p:spPr>
          </p:sp>
          <p:sp>
            <p:nvSpPr>
              <p:cNvPr id="30" name="TextBox 30"/>
              <p:cNvSpPr txBox="1"/>
              <p:nvPr/>
            </p:nvSpPr>
            <p:spPr>
              <a:xfrm>
                <a:off x="8164830" y="1409700"/>
                <a:ext cx="2300326" cy="29337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500" b="1" dirty="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rPr>
                  <a:t>03 TÀI LIỆU &amp; ĐÀO TẠO</a:t>
                </a:r>
              </a:p>
            </p:txBody>
          </p:sp>
          <p:sp>
            <p:nvSpPr>
              <p:cNvPr id="31" name="TextBox 31"/>
              <p:cNvSpPr txBox="1"/>
              <p:nvPr/>
            </p:nvSpPr>
            <p:spPr>
              <a:xfrm>
                <a:off x="8165211" y="1941671"/>
                <a:ext cx="1789771" cy="27870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 marL="153289" indent="-153289">
                  <a:buClr>
                    <a:schemeClr val="dk1"/>
                  </a:buClr>
                  <a:buSzTx/>
                  <a:buFontTx/>
                  <a:buChar char="•"/>
                </a:pPr>
                <a:r>
                  <a:rPr lang="en-US" sz="142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Giáo trình và ETS</a:t>
                </a:r>
              </a:p>
            </p:txBody>
          </p:sp>
          <p:sp>
            <p:nvSpPr>
              <p:cNvPr id="32" name="TextBox 32"/>
              <p:cNvSpPr txBox="1"/>
              <p:nvPr/>
            </p:nvSpPr>
            <p:spPr>
              <a:xfrm>
                <a:off x="8165211" y="2284571"/>
                <a:ext cx="2081149" cy="27870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 marL="153289" indent="-153289">
                  <a:buClr>
                    <a:schemeClr val="dk1"/>
                  </a:buClr>
                  <a:buSzTx/>
                  <a:buFontTx/>
                  <a:buChar char="•"/>
                </a:pPr>
                <a:r>
                  <a:rPr lang="en-US" sz="142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Quiz, Q&amp;A, Topology</a:t>
                </a:r>
              </a:p>
            </p:txBody>
          </p:sp>
          <p:sp>
            <p:nvSpPr>
              <p:cNvPr id="33" name="TextBox 33"/>
              <p:cNvSpPr txBox="1"/>
              <p:nvPr/>
            </p:nvSpPr>
            <p:spPr>
              <a:xfrm>
                <a:off x="8165211" y="2627471"/>
                <a:ext cx="3058302" cy="27870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 marL="153289" indent="-153289">
                  <a:buClr>
                    <a:schemeClr val="dk1"/>
                  </a:buClr>
                  <a:buSzTx/>
                  <a:buFontTx/>
                  <a:buChar char="•"/>
                </a:pPr>
                <a:r>
                  <a:rPr lang="en-US" sz="142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Hỗ trợ Tester và đào tạo nội bộ</a:t>
                </a:r>
              </a:p>
            </p:txBody>
          </p:sp>
          <p:sp>
            <p:nvSpPr>
              <p:cNvPr id="34" name="Line 34"/>
              <p:cNvSpPr/>
              <p:nvPr/>
            </p:nvSpPr>
            <p:spPr>
              <a:xfrm>
                <a:off x="8172450" y="3476625"/>
                <a:ext cx="320040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3200400" h="9525">
                    <a:moveTo>
                      <a:pt x="0" y="0"/>
                    </a:moveTo>
                    <a:lnTo>
                      <a:pt x="3200400" y="0"/>
                    </a:lnTo>
                  </a:path>
                </a:pathLst>
              </a:custGeom>
              <a:noFill/>
              <a:ln w="9525">
                <a:solidFill>
                  <a:srgbClr val="C8D8D0"/>
                </a:solidFill>
              </a:ln>
            </p:spPr>
          </p:sp>
          <p:sp>
            <p:nvSpPr>
              <p:cNvPr id="35" name="TextBox 35"/>
              <p:cNvSpPr txBox="1"/>
              <p:nvPr/>
            </p:nvSpPr>
            <p:spPr>
              <a:xfrm>
                <a:off x="8166354" y="3728085"/>
                <a:ext cx="693237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200" b="1" dirty="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rPr>
                  <a:t>KẾT QUẢ</a:t>
                </a:r>
              </a:p>
            </p:txBody>
          </p:sp>
          <p:sp>
            <p:nvSpPr>
              <p:cNvPr id="36" name="TextBox 36"/>
              <p:cNvSpPr txBox="1"/>
              <p:nvPr/>
            </p:nvSpPr>
            <p:spPr>
              <a:xfrm>
                <a:off x="8165592" y="4092892"/>
                <a:ext cx="2745943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35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Chuyển tri thức kỹ thuật thành</a:t>
                </a:r>
              </a:p>
            </p:txBody>
          </p:sp>
          <p:sp>
            <p:nvSpPr>
              <p:cNvPr id="37" name="TextBox 37"/>
              <p:cNvSpPr txBox="1"/>
              <p:nvPr/>
            </p:nvSpPr>
            <p:spPr>
              <a:xfrm>
                <a:off x="8165592" y="4388168"/>
                <a:ext cx="2049170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35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tài sản có thể dùng lại.</a:t>
                </a:r>
              </a:p>
            </p:txBody>
          </p:sp>
        </p:grpSp>
      </p:grpSp>
      <p:sp>
        <p:nvSpPr>
          <p:cNvPr id="40" name="Rectangle 40"/>
          <p:cNvSpPr/>
          <p:nvPr/>
        </p:nvSpPr>
        <p:spPr>
          <a:xfrm>
            <a:off x="533400" y="5524500"/>
            <a:ext cx="11125200" cy="609600"/>
          </a:xfrm>
          <a:prstGeom prst="roundRect">
            <a:avLst>
              <a:gd name="adj" fmla="val 25000"/>
            </a:avLst>
          </a:prstGeom>
          <a:solidFill>
            <a:schemeClr val="accent1"/>
          </a:solidFill>
          <a:ln>
            <a:noFill/>
          </a:ln>
        </p:spPr>
      </p:sp>
      <p:sp>
        <p:nvSpPr>
          <p:cNvPr id="41" name="TextBox 41"/>
          <p:cNvSpPr txBox="1"/>
          <p:nvPr/>
        </p:nvSpPr>
        <p:spPr>
          <a:xfrm>
            <a:off x="852438" y="5735479"/>
            <a:ext cx="10487124" cy="30803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580" b="1" dirty="0">
                <a:solidFill>
                  <a:srgbClr val="FFFFFF"/>
                </a:solidFill>
                <a:latin typeface="+mn-lt"/>
                <a:ea typeface="+mn-ea"/>
                <a:cs typeface="+mn-cs"/>
              </a:rPr>
              <a:t>Các trang tiếp theo phóng lớn từng bằng chứng benchmark để có thể đọc trực tiếp trên màn hình.</a:t>
            </a:r>
          </a:p>
        </p:txBody>
      </p:sp>
      <p:sp>
        <p:nvSpPr>
          <p:cNvPr id="42" name="TextBox 42"/>
          <p:cNvSpPr txBox="1"/>
          <p:nvPr/>
        </p:nvSpPr>
        <p:spPr>
          <a:xfrm>
            <a:off x="11141640" y="6630352"/>
            <a:ext cx="484194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en-US" sz="1050" dirty="0">
                <a:solidFill>
                  <a:srgbClr val="66706A"/>
                </a:solidFill>
                <a:latin typeface="+mn-lt"/>
                <a:ea typeface="+mn-ea"/>
                <a:cs typeface="+mn-cs"/>
              </a:rPr>
              <a:t>05 / 22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6250" y="228600"/>
            <a:ext cx="1238250" cy="361950"/>
          </a:xfrm>
          <a:prstGeom prst="rect">
            <a:avLst/>
          </a:prstGeom>
        </p:spPr>
      </p:pic>
      <p:sp>
        <p:nvSpPr>
          <p:cNvPr id="3" name="TextBox 3"/>
          <p:cNvSpPr txBox="1"/>
          <p:nvPr/>
        </p:nvSpPr>
        <p:spPr>
          <a:xfrm>
            <a:off x="2083308" y="331470"/>
            <a:ext cx="5342169" cy="46939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2400" b="1" dirty="0">
                <a:solidFill>
                  <a:schemeClr val="accent1"/>
                </a:solidFill>
                <a:latin typeface="+mn-lt"/>
                <a:ea typeface="+mn-ea"/>
                <a:cs typeface="+mn-cs"/>
              </a:rPr>
              <a:t>KNX Benchmark — Bảng điều khiển</a:t>
            </a:r>
          </a:p>
        </p:txBody>
      </p:sp>
      <p:sp>
        <p:nvSpPr>
          <p:cNvPr id="4" name="Rectangle 4"/>
          <p:cNvSpPr/>
          <p:nvPr/>
        </p:nvSpPr>
        <p:spPr>
          <a:xfrm>
            <a:off x="9810750" y="247650"/>
            <a:ext cx="1809750" cy="361950"/>
          </a:xfrm>
          <a:prstGeom prst="roundRect">
            <a:avLst>
              <a:gd name="adj" fmla="val 50000"/>
            </a:avLst>
          </a:prstGeom>
          <a:solidFill>
            <a:srgbClr val="EAF6F0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9965540" y="364331"/>
            <a:ext cx="1500171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120" b="1" dirty="0">
                <a:solidFill>
                  <a:schemeClr val="accent1"/>
                </a:solidFill>
                <a:latin typeface="+mn-lt"/>
                <a:ea typeface="+mn-ea"/>
                <a:cs typeface="+mn-cs"/>
              </a:rPr>
              <a:t>BẰNG CHỨNG 01 / 03</a:t>
            </a:r>
          </a:p>
        </p:txBody>
      </p:sp>
      <p:grpSp>
        <p:nvGrpSpPr>
          <p:cNvPr id="10" name="Group 10"/>
          <p:cNvGrpSpPr/>
          <p:nvPr/>
        </p:nvGrpSpPr>
        <p:grpSpPr>
          <a:xfrm>
            <a:off x="533400" y="876300"/>
            <a:ext cx="11125200" cy="5429250"/>
            <a:chOff x="533400" y="876300"/>
            <a:chExt cx="11125200" cy="5429250"/>
          </a:xfrm>
        </p:grpSpPr>
        <p:sp>
          <p:nvSpPr>
            <p:cNvPr id="6" name="Rectangle 6"/>
            <p:cNvSpPr/>
            <p:nvPr/>
          </p:nvSpPr>
          <p:spPr>
            <a:xfrm>
              <a:off x="533400" y="876300"/>
              <a:ext cx="11125200" cy="5429250"/>
            </a:xfrm>
            <a:prstGeom prst="roundRect">
              <a:avLst>
                <a:gd name="adj" fmla="val 3158"/>
              </a:avLst>
            </a:prstGeom>
            <a:solidFill>
              <a:schemeClr val="lt2"/>
            </a:solidFill>
            <a:ln w="19050">
              <a:solidFill>
                <a:srgbClr val="B8D8C7"/>
              </a:solidFill>
            </a:ln>
          </p:spPr>
        </p:sp>
        <p:pic>
          <p:nvPicPr>
            <p:cNvPr id="7" name="Image 7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140139" y="1009650"/>
              <a:ext cx="9911721" cy="4762500"/>
            </a:xfrm>
            <a:prstGeom prst="rect">
              <a:avLst/>
            </a:prstGeom>
          </p:spPr>
        </p:pic>
        <p:sp>
          <p:nvSpPr>
            <p:cNvPr id="8" name="Rectangle 8"/>
            <p:cNvSpPr/>
            <p:nvPr/>
          </p:nvSpPr>
          <p:spPr>
            <a:xfrm>
              <a:off x="666750" y="5829300"/>
              <a:ext cx="10858500" cy="361950"/>
            </a:xfrm>
            <a:prstGeom prst="roundRect">
              <a:avLst>
                <a:gd name="adj" fmla="val 26316"/>
              </a:avLst>
            </a:prstGeom>
            <a:solidFill>
              <a:schemeClr val="lt1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850773" y="5929789"/>
              <a:ext cx="717196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8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MỤC ĐÍCH</a:t>
              </a:r>
              <a:r>
                <a:rPr lang="en-US" sz="128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Theo dõi thiết bị, trạng thái test và điều khiển luồng benchmark tập trung.</a:t>
              </a:r>
            </a:p>
          </p:txBody>
        </p:sp>
      </p:grpSp>
      <p:sp>
        <p:nvSpPr>
          <p:cNvPr id="11" name="TextBox 11"/>
          <p:cNvSpPr txBox="1"/>
          <p:nvPr/>
        </p:nvSpPr>
        <p:spPr>
          <a:xfrm>
            <a:off x="11141640" y="6630352"/>
            <a:ext cx="484194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en-US" sz="1050" dirty="0">
                <a:solidFill>
                  <a:srgbClr val="66706A"/>
                </a:solidFill>
                <a:latin typeface="+mn-lt"/>
                <a:ea typeface="+mn-ea"/>
                <a:cs typeface="+mn-cs"/>
              </a:rPr>
              <a:t>06 / 22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6250" y="228600"/>
            <a:ext cx="1238250" cy="361950"/>
          </a:xfrm>
          <a:prstGeom prst="rect">
            <a:avLst/>
          </a:prstGeom>
        </p:spPr>
      </p:pic>
      <p:sp>
        <p:nvSpPr>
          <p:cNvPr id="3" name="TextBox 3"/>
          <p:cNvSpPr txBox="1"/>
          <p:nvPr/>
        </p:nvSpPr>
        <p:spPr>
          <a:xfrm>
            <a:off x="2083308" y="331470"/>
            <a:ext cx="5141295" cy="46939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2400" b="1" dirty="0">
                <a:solidFill>
                  <a:schemeClr val="accent1"/>
                </a:solidFill>
                <a:latin typeface="+mn-lt"/>
                <a:ea typeface="+mn-ea"/>
                <a:cs typeface="+mn-cs"/>
              </a:rPr>
              <a:t>KNX Benchmark — Tạo test case</a:t>
            </a:r>
          </a:p>
        </p:txBody>
      </p:sp>
      <p:sp>
        <p:nvSpPr>
          <p:cNvPr id="4" name="Rectangle 4"/>
          <p:cNvSpPr/>
          <p:nvPr/>
        </p:nvSpPr>
        <p:spPr>
          <a:xfrm>
            <a:off x="9810750" y="247650"/>
            <a:ext cx="1809750" cy="361950"/>
          </a:xfrm>
          <a:prstGeom prst="roundRect">
            <a:avLst>
              <a:gd name="adj" fmla="val 50000"/>
            </a:avLst>
          </a:prstGeom>
          <a:solidFill>
            <a:srgbClr val="EAF6F0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9965540" y="364331"/>
            <a:ext cx="1500171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120" b="1" dirty="0">
                <a:solidFill>
                  <a:schemeClr val="accent1"/>
                </a:solidFill>
                <a:latin typeface="+mn-lt"/>
                <a:ea typeface="+mn-ea"/>
                <a:cs typeface="+mn-cs"/>
              </a:rPr>
              <a:t>BẰNG CHỨNG 02 / 03</a:t>
            </a:r>
          </a:p>
        </p:txBody>
      </p:sp>
      <p:grpSp>
        <p:nvGrpSpPr>
          <p:cNvPr id="10" name="Group 10"/>
          <p:cNvGrpSpPr/>
          <p:nvPr/>
        </p:nvGrpSpPr>
        <p:grpSpPr>
          <a:xfrm>
            <a:off x="533400" y="876300"/>
            <a:ext cx="11125200" cy="5429250"/>
            <a:chOff x="533400" y="876300"/>
            <a:chExt cx="11125200" cy="5429250"/>
          </a:xfrm>
        </p:grpSpPr>
        <p:sp>
          <p:nvSpPr>
            <p:cNvPr id="6" name="Rectangle 6"/>
            <p:cNvSpPr/>
            <p:nvPr/>
          </p:nvSpPr>
          <p:spPr>
            <a:xfrm>
              <a:off x="533400" y="876300"/>
              <a:ext cx="11125200" cy="5429250"/>
            </a:xfrm>
            <a:prstGeom prst="roundRect">
              <a:avLst>
                <a:gd name="adj" fmla="val 3158"/>
              </a:avLst>
            </a:prstGeom>
            <a:solidFill>
              <a:schemeClr val="lt2"/>
            </a:solidFill>
            <a:ln w="19050">
              <a:solidFill>
                <a:srgbClr val="B8D8C7"/>
              </a:solidFill>
            </a:ln>
          </p:spPr>
        </p:sp>
        <p:pic>
          <p:nvPicPr>
            <p:cNvPr id="7" name="Image 7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076725" y="1009650"/>
              <a:ext cx="10038550" cy="4762500"/>
            </a:xfrm>
            <a:prstGeom prst="rect">
              <a:avLst/>
            </a:prstGeom>
          </p:spPr>
        </p:pic>
        <p:sp>
          <p:nvSpPr>
            <p:cNvPr id="8" name="Rectangle 8"/>
            <p:cNvSpPr/>
            <p:nvPr/>
          </p:nvSpPr>
          <p:spPr>
            <a:xfrm>
              <a:off x="666750" y="5829300"/>
              <a:ext cx="10858500" cy="361950"/>
            </a:xfrm>
            <a:prstGeom prst="roundRect">
              <a:avLst>
                <a:gd name="adj" fmla="val 26316"/>
              </a:avLst>
            </a:prstGeom>
            <a:solidFill>
              <a:schemeClr val="lt1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850773" y="5929789"/>
              <a:ext cx="7585202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8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KẾT QUẢ</a:t>
              </a:r>
              <a:r>
                <a:rPr lang="en-US" sz="128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Chuẩn hóa dữ liệu đầu vào, thao tác tạo và quản lý test case trong cùng một flow.</a:t>
              </a:r>
            </a:p>
          </p:txBody>
        </p:sp>
      </p:grpSp>
      <p:sp>
        <p:nvSpPr>
          <p:cNvPr id="11" name="TextBox 11"/>
          <p:cNvSpPr txBox="1"/>
          <p:nvPr/>
        </p:nvSpPr>
        <p:spPr>
          <a:xfrm>
            <a:off x="11141640" y="6630352"/>
            <a:ext cx="484194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en-US" sz="1050" dirty="0">
                <a:solidFill>
                  <a:srgbClr val="66706A"/>
                </a:solidFill>
                <a:latin typeface="+mn-lt"/>
                <a:ea typeface="+mn-ea"/>
                <a:cs typeface="+mn-cs"/>
              </a:rPr>
              <a:t>07 / 22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6250" y="228600"/>
            <a:ext cx="1238250" cy="361950"/>
          </a:xfrm>
          <a:prstGeom prst="rect">
            <a:avLst/>
          </a:prstGeom>
        </p:spPr>
      </p:pic>
      <p:sp>
        <p:nvSpPr>
          <p:cNvPr id="3" name="TextBox 3"/>
          <p:cNvSpPr txBox="1"/>
          <p:nvPr/>
        </p:nvSpPr>
        <p:spPr>
          <a:xfrm>
            <a:off x="2083308" y="331470"/>
            <a:ext cx="5430460" cy="46939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2400" b="1" dirty="0">
                <a:solidFill>
                  <a:schemeClr val="accent1"/>
                </a:solidFill>
                <a:latin typeface="+mn-lt"/>
                <a:ea typeface="+mn-ea"/>
                <a:cs typeface="+mn-cs"/>
              </a:rPr>
              <a:t>KNX Benchmark — Báo cáo kết quả</a:t>
            </a:r>
          </a:p>
        </p:txBody>
      </p:sp>
      <p:sp>
        <p:nvSpPr>
          <p:cNvPr id="4" name="Rectangle 4"/>
          <p:cNvSpPr/>
          <p:nvPr/>
        </p:nvSpPr>
        <p:spPr>
          <a:xfrm>
            <a:off x="9810750" y="247650"/>
            <a:ext cx="1809750" cy="361950"/>
          </a:xfrm>
          <a:prstGeom prst="roundRect">
            <a:avLst>
              <a:gd name="adj" fmla="val 50000"/>
            </a:avLst>
          </a:prstGeom>
          <a:solidFill>
            <a:srgbClr val="EAF6F0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9965540" y="364331"/>
            <a:ext cx="1500171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120" b="1" dirty="0">
                <a:solidFill>
                  <a:schemeClr val="accent1"/>
                </a:solidFill>
                <a:latin typeface="+mn-lt"/>
                <a:ea typeface="+mn-ea"/>
                <a:cs typeface="+mn-cs"/>
              </a:rPr>
              <a:t>BẰNG CHỨNG 03 / 03</a:t>
            </a:r>
          </a:p>
        </p:txBody>
      </p:sp>
      <p:grpSp>
        <p:nvGrpSpPr>
          <p:cNvPr id="10" name="Group 10"/>
          <p:cNvGrpSpPr/>
          <p:nvPr/>
        </p:nvGrpSpPr>
        <p:grpSpPr>
          <a:xfrm>
            <a:off x="533400" y="876300"/>
            <a:ext cx="11125200" cy="5429250"/>
            <a:chOff x="533400" y="876300"/>
            <a:chExt cx="11125200" cy="5429250"/>
          </a:xfrm>
        </p:grpSpPr>
        <p:sp>
          <p:nvSpPr>
            <p:cNvPr id="6" name="Rectangle 6"/>
            <p:cNvSpPr/>
            <p:nvPr/>
          </p:nvSpPr>
          <p:spPr>
            <a:xfrm>
              <a:off x="533400" y="876300"/>
              <a:ext cx="11125200" cy="5429250"/>
            </a:xfrm>
            <a:prstGeom prst="roundRect">
              <a:avLst>
                <a:gd name="adj" fmla="val 3158"/>
              </a:avLst>
            </a:prstGeom>
            <a:solidFill>
              <a:schemeClr val="lt2"/>
            </a:solidFill>
            <a:ln w="19050">
              <a:solidFill>
                <a:srgbClr val="B8D8C7"/>
              </a:solidFill>
            </a:ln>
          </p:spPr>
        </p:sp>
        <p:pic>
          <p:nvPicPr>
            <p:cNvPr id="7" name="Image 7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020811" y="1009650"/>
              <a:ext cx="10150379" cy="4762500"/>
            </a:xfrm>
            <a:prstGeom prst="rect">
              <a:avLst/>
            </a:prstGeom>
          </p:spPr>
        </p:pic>
        <p:sp>
          <p:nvSpPr>
            <p:cNvPr id="8" name="Rectangle 8"/>
            <p:cNvSpPr/>
            <p:nvPr/>
          </p:nvSpPr>
          <p:spPr>
            <a:xfrm>
              <a:off x="666750" y="5829300"/>
              <a:ext cx="10858500" cy="361950"/>
            </a:xfrm>
            <a:prstGeom prst="roundRect">
              <a:avLst>
                <a:gd name="adj" fmla="val 26316"/>
              </a:avLst>
            </a:prstGeom>
            <a:solidFill>
              <a:schemeClr val="lt1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850773" y="5929789"/>
              <a:ext cx="6874384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8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ĐẦU RA</a:t>
              </a:r>
              <a:r>
                <a:rPr lang="en-US" sz="128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Tổng hợp trạng thái, kết quả pass/fail và bằng chứng kiểm thử để truy vết.</a:t>
              </a:r>
            </a:p>
          </p:txBody>
        </p:sp>
      </p:grpSp>
      <p:sp>
        <p:nvSpPr>
          <p:cNvPr id="11" name="TextBox 11"/>
          <p:cNvSpPr txBox="1"/>
          <p:nvPr/>
        </p:nvSpPr>
        <p:spPr>
          <a:xfrm>
            <a:off x="11141640" y="6630352"/>
            <a:ext cx="484194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en-US" sz="1050" dirty="0">
                <a:solidFill>
                  <a:srgbClr val="66706A"/>
                </a:solidFill>
                <a:latin typeface="+mn-lt"/>
                <a:ea typeface="+mn-ea"/>
                <a:cs typeface="+mn-cs"/>
              </a:rPr>
              <a:t>08 / 22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6276" y="266700"/>
            <a:ext cx="1313447" cy="381000"/>
          </a:xfrm>
          <a:prstGeom prst="rect">
            <a:avLst/>
          </a:prstGeom>
        </p:spPr>
      </p:pic>
      <p:sp>
        <p:nvSpPr>
          <p:cNvPr id="3" name="TextBox 3"/>
          <p:cNvSpPr txBox="1"/>
          <p:nvPr/>
        </p:nvSpPr>
        <p:spPr>
          <a:xfrm>
            <a:off x="2462784" y="356235"/>
            <a:ext cx="4246259" cy="52806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2700" b="1" dirty="0">
                <a:solidFill>
                  <a:schemeClr val="accent1"/>
                </a:solidFill>
                <a:latin typeface="+mn-lt"/>
                <a:ea typeface="+mn-ea"/>
                <a:cs typeface="+mn-cs"/>
              </a:rPr>
              <a:t>KNX: Năng lực &amp; bài học</a:t>
            </a:r>
          </a:p>
        </p:txBody>
      </p:sp>
      <p:sp>
        <p:nvSpPr>
          <p:cNvPr id="4" name="Rectangle 4"/>
          <p:cNvSpPr/>
          <p:nvPr/>
        </p:nvSpPr>
        <p:spPr>
          <a:xfrm>
            <a:off x="9239250" y="285750"/>
            <a:ext cx="2381250" cy="400050"/>
          </a:xfrm>
          <a:prstGeom prst="roundRect">
            <a:avLst>
              <a:gd name="adj" fmla="val 50000"/>
            </a:avLst>
          </a:prstGeom>
          <a:solidFill>
            <a:srgbClr val="EAF6F0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9627309" y="405289"/>
            <a:ext cx="1605132" cy="24936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280" b="1" dirty="0">
                <a:solidFill>
                  <a:schemeClr val="accent1"/>
                </a:solidFill>
                <a:latin typeface="+mn-lt"/>
                <a:ea typeface="+mn-ea"/>
                <a:cs typeface="+mn-cs"/>
              </a:rPr>
              <a:t>20/03–22/07/2026</a:t>
            </a:r>
          </a:p>
        </p:txBody>
      </p:sp>
      <p:grpSp>
        <p:nvGrpSpPr>
          <p:cNvPr id="30" name="Group 30"/>
          <p:cNvGrpSpPr/>
          <p:nvPr/>
        </p:nvGrpSpPr>
        <p:grpSpPr>
          <a:xfrm>
            <a:off x="533400" y="1066800"/>
            <a:ext cx="6896100" cy="4343400"/>
            <a:chOff x="533400" y="1066800"/>
            <a:chExt cx="6896100" cy="4343400"/>
          </a:xfrm>
        </p:grpSpPr>
        <p:grpSp>
          <p:nvGrpSpPr>
            <p:cNvPr id="11" name="Group 11"/>
            <p:cNvGrpSpPr/>
            <p:nvPr/>
          </p:nvGrpSpPr>
          <p:grpSpPr>
            <a:xfrm>
              <a:off x="533400" y="1066800"/>
              <a:ext cx="3333750" cy="2057400"/>
              <a:chOff x="533400" y="1066800"/>
              <a:chExt cx="3333750" cy="2057400"/>
            </a:xfrm>
          </p:grpSpPr>
          <p:sp>
            <p:nvSpPr>
              <p:cNvPr id="6" name="Rectangle 6"/>
              <p:cNvSpPr/>
              <p:nvPr/>
            </p:nvSpPr>
            <p:spPr>
              <a:xfrm>
                <a:off x="533400" y="1066800"/>
                <a:ext cx="3333750" cy="2057400"/>
              </a:xfrm>
              <a:prstGeom prst="roundRect">
                <a:avLst>
                  <a:gd name="adj" fmla="val 7407"/>
                </a:avLst>
              </a:prstGeom>
              <a:solidFill>
                <a:schemeClr val="lt2"/>
              </a:solidFill>
              <a:ln>
                <a:noFill/>
              </a:ln>
            </p:spPr>
          </p:sp>
          <p:sp>
            <p:nvSpPr>
              <p:cNvPr id="7" name="TextBox 7"/>
              <p:cNvSpPr txBox="1"/>
              <p:nvPr/>
            </p:nvSpPr>
            <p:spPr>
              <a:xfrm>
                <a:off x="774192" y="1292542"/>
                <a:ext cx="739567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350" b="1" dirty="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rPr>
                  <a:t>KỸ NĂNG</a:t>
                </a:r>
              </a:p>
            </p:txBody>
          </p:sp>
          <p:sp>
            <p:nvSpPr>
              <p:cNvPr id="8" name="TextBox 8"/>
              <p:cNvSpPr txBox="1"/>
              <p:nvPr/>
            </p:nvSpPr>
            <p:spPr>
              <a:xfrm>
                <a:off x="774573" y="1672114"/>
                <a:ext cx="2263760" cy="24936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28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Firmware · ETS · .knxprod</a:t>
                </a:r>
              </a:p>
            </p:txBody>
          </p:sp>
          <p:sp>
            <p:nvSpPr>
              <p:cNvPr id="9" name="TextBox 9"/>
              <p:cNvSpPr txBox="1"/>
              <p:nvPr/>
            </p:nvSpPr>
            <p:spPr>
              <a:xfrm>
                <a:off x="774573" y="1957864"/>
                <a:ext cx="1799603" cy="24936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28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Debug hệ thống và Jig</a:t>
                </a:r>
              </a:p>
            </p:txBody>
          </p:sp>
          <p:sp>
            <p:nvSpPr>
              <p:cNvPr id="10" name="TextBox 10"/>
              <p:cNvSpPr txBox="1"/>
              <p:nvPr/>
            </p:nvSpPr>
            <p:spPr>
              <a:xfrm>
                <a:off x="774573" y="2243614"/>
                <a:ext cx="1810982" cy="24936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28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Viết tài liệu &amp; đào tạo</a:t>
                </a:r>
              </a:p>
            </p:txBody>
          </p:sp>
        </p:grpSp>
        <p:grpSp>
          <p:nvGrpSpPr>
            <p:cNvPr id="17" name="Group 17"/>
            <p:cNvGrpSpPr/>
            <p:nvPr/>
          </p:nvGrpSpPr>
          <p:grpSpPr>
            <a:xfrm>
              <a:off x="4095750" y="1066800"/>
              <a:ext cx="3333750" cy="2057400"/>
              <a:chOff x="4095750" y="1066800"/>
              <a:chExt cx="3333750" cy="2057400"/>
            </a:xfrm>
          </p:grpSpPr>
          <p:sp>
            <p:nvSpPr>
              <p:cNvPr id="12" name="Rectangle 12"/>
              <p:cNvSpPr/>
              <p:nvPr/>
            </p:nvSpPr>
            <p:spPr>
              <a:xfrm>
                <a:off x="4095750" y="1066800"/>
                <a:ext cx="3333750" cy="2057400"/>
              </a:xfrm>
              <a:prstGeom prst="roundRect">
                <a:avLst>
                  <a:gd name="adj" fmla="val 7407"/>
                </a:avLst>
              </a:prstGeom>
              <a:solidFill>
                <a:srgbClr val="EAF6F0"/>
              </a:solidFill>
              <a:ln>
                <a:noFill/>
              </a:ln>
            </p:spPr>
          </p:sp>
          <p:sp>
            <p:nvSpPr>
              <p:cNvPr id="13" name="TextBox 13"/>
              <p:cNvSpPr txBox="1"/>
              <p:nvPr/>
            </p:nvSpPr>
            <p:spPr>
              <a:xfrm>
                <a:off x="4336542" y="1292542"/>
                <a:ext cx="628673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350" b="1" dirty="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rPr>
                  <a:t>TƯ DUY</a:t>
                </a:r>
              </a:p>
            </p:txBody>
          </p:sp>
          <p:sp>
            <p:nvSpPr>
              <p:cNvPr id="14" name="TextBox 14"/>
              <p:cNvSpPr txBox="1"/>
              <p:nvPr/>
            </p:nvSpPr>
            <p:spPr>
              <a:xfrm>
                <a:off x="4336923" y="1672114"/>
                <a:ext cx="2896856" cy="24936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28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Nhìn end-to-end, không tách lỗi lẻ</a:t>
                </a:r>
              </a:p>
            </p:txBody>
          </p:sp>
          <p:sp>
            <p:nvSpPr>
              <p:cNvPr id="15" name="TextBox 15"/>
              <p:cNvSpPr txBox="1"/>
              <p:nvPr/>
            </p:nvSpPr>
            <p:spPr>
              <a:xfrm>
                <a:off x="4336923" y="1957864"/>
                <a:ext cx="2224513" cy="24936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28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Ưu tiên bằng chứng đo được</a:t>
                </a:r>
              </a:p>
            </p:txBody>
          </p:sp>
          <p:sp>
            <p:nvSpPr>
              <p:cNvPr id="16" name="TextBox 16"/>
              <p:cNvSpPr txBox="1"/>
              <p:nvPr/>
            </p:nvSpPr>
            <p:spPr>
              <a:xfrm>
                <a:off x="4336923" y="2243614"/>
                <a:ext cx="2465578" cy="24936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28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Biến tri thức thành quy trình</a:t>
                </a:r>
              </a:p>
            </p:txBody>
          </p:sp>
        </p:grpSp>
        <p:grpSp>
          <p:nvGrpSpPr>
            <p:cNvPr id="23" name="Group 23"/>
            <p:cNvGrpSpPr/>
            <p:nvPr/>
          </p:nvGrpSpPr>
          <p:grpSpPr>
            <a:xfrm>
              <a:off x="533400" y="3352800"/>
              <a:ext cx="3333750" cy="2057400"/>
              <a:chOff x="533400" y="3352800"/>
              <a:chExt cx="3333750" cy="2057400"/>
            </a:xfrm>
          </p:grpSpPr>
          <p:sp>
            <p:nvSpPr>
              <p:cNvPr id="18" name="Rectangle 18"/>
              <p:cNvSpPr/>
              <p:nvPr/>
            </p:nvSpPr>
            <p:spPr>
              <a:xfrm>
                <a:off x="533400" y="3352800"/>
                <a:ext cx="3333750" cy="2057400"/>
              </a:xfrm>
              <a:prstGeom prst="roundRect">
                <a:avLst>
                  <a:gd name="adj" fmla="val 7407"/>
                </a:avLst>
              </a:prstGeom>
              <a:solidFill>
                <a:srgbClr val="EEF3FF"/>
              </a:solidFill>
              <a:ln>
                <a:noFill/>
              </a:ln>
            </p:spPr>
          </p:sp>
          <p:sp>
            <p:nvSpPr>
              <p:cNvPr id="19" name="TextBox 19"/>
              <p:cNvSpPr txBox="1"/>
              <p:nvPr/>
            </p:nvSpPr>
            <p:spPr>
              <a:xfrm>
                <a:off x="774192" y="3578542"/>
                <a:ext cx="689160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350" b="1" dirty="0">
                    <a:solidFill>
                      <a:schemeClr val="accent2"/>
                    </a:solidFill>
                    <a:latin typeface="+mn-lt"/>
                    <a:ea typeface="+mn-ea"/>
                    <a:cs typeface="+mn-cs"/>
                  </a:rPr>
                  <a:t>BÀI HỌC</a:t>
                </a:r>
              </a:p>
            </p:txBody>
          </p:sp>
          <p:sp>
            <p:nvSpPr>
              <p:cNvPr id="20" name="TextBox 20"/>
              <p:cNvSpPr txBox="1"/>
              <p:nvPr/>
            </p:nvSpPr>
            <p:spPr>
              <a:xfrm>
                <a:off x="774573" y="3958114"/>
                <a:ext cx="1871493" cy="24936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28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Chuẩn hóa test từ sớm</a:t>
                </a:r>
              </a:p>
            </p:txBody>
          </p:sp>
          <p:sp>
            <p:nvSpPr>
              <p:cNvPr id="21" name="TextBox 21"/>
              <p:cNvSpPr txBox="1"/>
              <p:nvPr/>
            </p:nvSpPr>
            <p:spPr>
              <a:xfrm>
                <a:off x="774573" y="4243864"/>
                <a:ext cx="2500122" cy="24936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28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Giữ log, benchmark, checklist</a:t>
                </a:r>
              </a:p>
            </p:txBody>
          </p:sp>
          <p:sp>
            <p:nvSpPr>
              <p:cNvPr id="22" name="TextBox 22"/>
              <p:cNvSpPr txBox="1"/>
              <p:nvPr/>
            </p:nvSpPr>
            <p:spPr>
              <a:xfrm>
                <a:off x="774573" y="4529614"/>
                <a:ext cx="2405371" cy="24936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28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Handoff đủ context kỹ thuật</a:t>
                </a:r>
              </a:p>
            </p:txBody>
          </p:sp>
        </p:grpSp>
        <p:grpSp>
          <p:nvGrpSpPr>
            <p:cNvPr id="29" name="Group 29"/>
            <p:cNvGrpSpPr/>
            <p:nvPr/>
          </p:nvGrpSpPr>
          <p:grpSpPr>
            <a:xfrm>
              <a:off x="4095750" y="3352800"/>
              <a:ext cx="3333750" cy="2057400"/>
              <a:chOff x="4095750" y="3352800"/>
              <a:chExt cx="3333750" cy="2057400"/>
            </a:xfrm>
          </p:grpSpPr>
          <p:sp>
            <p:nvSpPr>
              <p:cNvPr id="24" name="Rectangle 24"/>
              <p:cNvSpPr/>
              <p:nvPr/>
            </p:nvSpPr>
            <p:spPr>
              <a:xfrm>
                <a:off x="4095750" y="3352800"/>
                <a:ext cx="3333750" cy="2057400"/>
              </a:xfrm>
              <a:prstGeom prst="roundRect">
                <a:avLst>
                  <a:gd name="adj" fmla="val 7407"/>
                </a:avLst>
              </a:prstGeom>
              <a:solidFill>
                <a:srgbClr val="FFF7E8"/>
              </a:solidFill>
              <a:ln>
                <a:noFill/>
              </a:ln>
            </p:spPr>
          </p:sp>
          <p:sp>
            <p:nvSpPr>
              <p:cNvPr id="25" name="TextBox 25"/>
              <p:cNvSpPr txBox="1"/>
              <p:nvPr/>
            </p:nvSpPr>
            <p:spPr>
              <a:xfrm>
                <a:off x="4336542" y="3578542"/>
                <a:ext cx="2090456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350" b="1" dirty="0">
                    <a:solidFill>
                      <a:srgbClr val="B56A00"/>
                    </a:solidFill>
                    <a:latin typeface="+mn-lt"/>
                    <a:ea typeface="+mn-ea"/>
                    <a:cs typeface="+mn-cs"/>
                  </a:rPr>
                  <a:t>KHÓ KHĂN &amp; CÁCH XỬ LÝ</a:t>
                </a:r>
              </a:p>
            </p:txBody>
          </p:sp>
          <p:sp>
            <p:nvSpPr>
              <p:cNvPr id="26" name="TextBox 26"/>
              <p:cNvSpPr txBox="1"/>
              <p:nvPr/>
            </p:nvSpPr>
            <p:spPr>
              <a:xfrm>
                <a:off x="4336923" y="3958114"/>
                <a:ext cx="2761193" cy="24936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28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GA delay/miss · Secure · Coupler</a:t>
                </a:r>
              </a:p>
            </p:txBody>
          </p:sp>
          <p:sp>
            <p:nvSpPr>
              <p:cNvPr id="27" name="TextBox 27"/>
              <p:cNvSpPr txBox="1"/>
              <p:nvPr/>
            </p:nvSpPr>
            <p:spPr>
              <a:xfrm>
                <a:off x="4336923" y="4243864"/>
                <a:ext cx="1957937" cy="24936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28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Tái hiện → đo → đối chiếu</a:t>
                </a:r>
              </a:p>
            </p:txBody>
          </p:sp>
          <p:sp>
            <p:nvSpPr>
              <p:cNvPr id="28" name="TextBox 28"/>
              <p:cNvSpPr txBox="1"/>
              <p:nvPr/>
            </p:nvSpPr>
            <p:spPr>
              <a:xfrm>
                <a:off x="4336923" y="4529614"/>
                <a:ext cx="2612145" cy="24936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28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Xác nhận lại trên cấu hình thật</a:t>
                </a:r>
              </a:p>
            </p:txBody>
          </p:sp>
        </p:grpSp>
      </p:grpSp>
      <p:grpSp>
        <p:nvGrpSpPr>
          <p:cNvPr id="44" name="Group 44"/>
          <p:cNvGrpSpPr/>
          <p:nvPr/>
        </p:nvGrpSpPr>
        <p:grpSpPr>
          <a:xfrm>
            <a:off x="7658100" y="1066800"/>
            <a:ext cx="4000500" cy="4343400"/>
            <a:chOff x="7658100" y="1066800"/>
            <a:chExt cx="4000500" cy="4343400"/>
          </a:xfrm>
        </p:grpSpPr>
        <p:sp>
          <p:nvSpPr>
            <p:cNvPr id="31" name="Rectangle 31"/>
            <p:cNvSpPr/>
            <p:nvPr/>
          </p:nvSpPr>
          <p:spPr>
            <a:xfrm>
              <a:off x="7658100" y="1066800"/>
              <a:ext cx="4000500" cy="2571750"/>
            </a:xfrm>
            <a:prstGeom prst="roundRect">
              <a:avLst>
                <a:gd name="adj" fmla="val 5926"/>
              </a:avLst>
            </a:prstGeom>
            <a:solidFill>
              <a:schemeClr val="lt1"/>
            </a:solidFill>
            <a:ln w="19050">
              <a:solidFill>
                <a:srgbClr val="B8D8C7"/>
              </a:solidFill>
            </a:ln>
          </p:spPr>
        </p:sp>
        <p:sp>
          <p:nvSpPr>
            <p:cNvPr id="32" name="TextBox 32"/>
            <p:cNvSpPr txBox="1"/>
            <p:nvPr/>
          </p:nvSpPr>
          <p:spPr>
            <a:xfrm>
              <a:off x="7880985" y="1269206"/>
              <a:ext cx="177896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b="1" spc="98" dirty="0">
                  <a:solidFill>
                    <a:srgbClr val="66706A"/>
                  </a:solidFill>
                  <a:latin typeface="+mn-lt"/>
                  <a:ea typeface="+mn-ea"/>
                  <a:cs typeface="+mn-cs"/>
                </a:rPr>
                <a:t>BẰNG CHỨNG THỰC TẾ</a:t>
              </a:r>
            </a:p>
          </p:txBody>
        </p:sp>
        <p:sp>
          <p:nvSpPr>
            <p:cNvPr id="33" name="Rectangle 33"/>
            <p:cNvSpPr/>
            <p:nvPr/>
          </p:nvSpPr>
          <p:spPr>
            <a:xfrm>
              <a:off x="7886700" y="1543050"/>
              <a:ext cx="3543300" cy="1695450"/>
            </a:xfrm>
            <a:prstGeom prst="roundRect">
              <a:avLst>
                <a:gd name="adj" fmla="val 4494"/>
              </a:avLst>
            </a:prstGeom>
            <a:solidFill>
              <a:schemeClr val="lt2"/>
            </a:solidFill>
            <a:ln>
              <a:noFill/>
            </a:ln>
          </p:spPr>
        </p:sp>
        <p:pic>
          <p:nvPicPr>
            <p:cNvPr id="34" name="Image 34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8048778" y="1543050"/>
              <a:ext cx="3219144" cy="1695450"/>
            </a:xfrm>
            <a:prstGeom prst="rect">
              <a:avLst/>
            </a:prstGeom>
          </p:spPr>
        </p:pic>
        <p:sp>
          <p:nvSpPr>
            <p:cNvPr id="35" name="TextBox 35"/>
            <p:cNvSpPr txBox="1"/>
            <p:nvPr/>
          </p:nvSpPr>
          <p:spPr>
            <a:xfrm>
              <a:off x="7880604" y="3347085"/>
              <a:ext cx="3114853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Tool nạp code KNX · giao diện vận hành</a:t>
              </a:r>
            </a:p>
          </p:txBody>
        </p:sp>
        <p:sp>
          <p:nvSpPr>
            <p:cNvPr id="36" name="Rectangle 36"/>
            <p:cNvSpPr/>
            <p:nvPr/>
          </p:nvSpPr>
          <p:spPr>
            <a:xfrm>
              <a:off x="7658100" y="3867150"/>
              <a:ext cx="4000500" cy="1543050"/>
            </a:xfrm>
            <a:prstGeom prst="roundRect">
              <a:avLst>
                <a:gd name="adj" fmla="val 9877"/>
              </a:avLst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37" name="TextBox 37"/>
            <p:cNvSpPr txBox="1"/>
            <p:nvPr/>
          </p:nvSpPr>
          <p:spPr>
            <a:xfrm>
              <a:off x="7880985" y="4060031"/>
              <a:ext cx="171779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b="1" spc="9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THÀNH TÍCH NỔI BẬT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7868412" y="4383405"/>
              <a:ext cx="596326" cy="70408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36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91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8622411" y="4541996"/>
              <a:ext cx="964529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4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task Done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8624316" y="4858702"/>
              <a:ext cx="143698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dirty="0">
                  <a:solidFill>
                    <a:srgbClr val="DDF3E8"/>
                  </a:solidFill>
                  <a:latin typeface="+mn-lt"/>
                  <a:ea typeface="+mn-ea"/>
                  <a:cs typeface="+mn-cs"/>
                </a:rPr>
                <a:t>Tool · test · đào tạo</a:t>
              </a:r>
            </a:p>
          </p:txBody>
        </p:sp>
        <p:sp>
          <p:nvSpPr>
            <p:cNvPr id="41" name="Rectangle 41"/>
            <p:cNvSpPr/>
            <p:nvPr/>
          </p:nvSpPr>
          <p:spPr>
            <a:xfrm>
              <a:off x="10001250" y="4171950"/>
              <a:ext cx="1428750" cy="914400"/>
            </a:xfrm>
            <a:prstGeom prst="roundRect">
              <a:avLst>
                <a:gd name="adj" fmla="val 6250"/>
              </a:avLst>
            </a:prstGeom>
            <a:solidFill>
              <a:schemeClr val="lt1"/>
            </a:solidFill>
            <a:ln>
              <a:noFill/>
            </a:ln>
          </p:spPr>
        </p:sp>
        <p:pic>
          <p:nvPicPr>
            <p:cNvPr id="42" name="Image 42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10001250" y="4171950"/>
              <a:ext cx="1428750" cy="914400"/>
            </a:xfrm>
            <a:prstGeom prst="rect">
              <a:avLst/>
            </a:prstGeom>
          </p:spPr>
        </p:pic>
        <p:sp>
          <p:nvSpPr>
            <p:cNvPr id="43" name="TextBox 43"/>
            <p:cNvSpPr txBox="1"/>
            <p:nvPr/>
          </p:nvSpPr>
          <p:spPr>
            <a:xfrm>
              <a:off x="9995916" y="5153978"/>
              <a:ext cx="139432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KNX Basic · 91 điểm</a:t>
              </a:r>
            </a:p>
          </p:txBody>
        </p:sp>
      </p:grpSp>
      <p:sp>
        <p:nvSpPr>
          <p:cNvPr id="45" name="TextBox 45"/>
          <p:cNvSpPr txBox="1"/>
          <p:nvPr/>
        </p:nvSpPr>
        <p:spPr>
          <a:xfrm>
            <a:off x="11141640" y="6630352"/>
            <a:ext cx="484194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en-US" sz="1050" dirty="0">
                <a:solidFill>
                  <a:srgbClr val="66706A"/>
                </a:solidFill>
                <a:latin typeface="+mn-lt"/>
                <a:ea typeface="+mn-ea"/>
                <a:cs typeface="+mn-cs"/>
              </a:rPr>
              <a:t>09 / 22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6250" y="228600"/>
            <a:ext cx="1238250" cy="361950"/>
          </a:xfrm>
          <a:prstGeom prst="rect">
            <a:avLst/>
          </a:prstGeom>
        </p:spPr>
      </p:pic>
      <p:sp>
        <p:nvSpPr>
          <p:cNvPr id="3" name="TextBox 3"/>
          <p:cNvSpPr txBox="1"/>
          <p:nvPr/>
        </p:nvSpPr>
        <p:spPr>
          <a:xfrm>
            <a:off x="2083308" y="331470"/>
            <a:ext cx="3195889" cy="46939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2400" b="1" dirty="0">
                <a:solidFill>
                  <a:schemeClr val="accent1"/>
                </a:solidFill>
                <a:latin typeface="+mn-lt"/>
                <a:ea typeface="+mn-ea"/>
                <a:cs typeface="+mn-cs"/>
              </a:rPr>
              <a:t>KNX — Tool nạp code</a:t>
            </a:r>
          </a:p>
        </p:txBody>
      </p:sp>
      <p:sp>
        <p:nvSpPr>
          <p:cNvPr id="4" name="Rectangle 4"/>
          <p:cNvSpPr/>
          <p:nvPr/>
        </p:nvSpPr>
        <p:spPr>
          <a:xfrm>
            <a:off x="9810750" y="247650"/>
            <a:ext cx="1809750" cy="361950"/>
          </a:xfrm>
          <a:prstGeom prst="roundRect">
            <a:avLst>
              <a:gd name="adj" fmla="val 50000"/>
            </a:avLst>
          </a:prstGeom>
          <a:solidFill>
            <a:srgbClr val="EAF6F0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10028267" y="364331"/>
            <a:ext cx="1374715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120" b="1" dirty="0">
                <a:solidFill>
                  <a:schemeClr val="accent1"/>
                </a:solidFill>
                <a:latin typeface="+mn-lt"/>
                <a:ea typeface="+mn-ea"/>
                <a:cs typeface="+mn-cs"/>
              </a:rPr>
              <a:t>BẰNG CHỨNG TOOL</a:t>
            </a:r>
          </a:p>
        </p:txBody>
      </p:sp>
      <p:grpSp>
        <p:nvGrpSpPr>
          <p:cNvPr id="10" name="Group 10"/>
          <p:cNvGrpSpPr/>
          <p:nvPr/>
        </p:nvGrpSpPr>
        <p:grpSpPr>
          <a:xfrm>
            <a:off x="533400" y="876300"/>
            <a:ext cx="11125200" cy="5429250"/>
            <a:chOff x="533400" y="876300"/>
            <a:chExt cx="11125200" cy="5429250"/>
          </a:xfrm>
        </p:grpSpPr>
        <p:sp>
          <p:nvSpPr>
            <p:cNvPr id="6" name="Rectangle 6"/>
            <p:cNvSpPr/>
            <p:nvPr/>
          </p:nvSpPr>
          <p:spPr>
            <a:xfrm>
              <a:off x="533400" y="876300"/>
              <a:ext cx="11125200" cy="5429250"/>
            </a:xfrm>
            <a:prstGeom prst="roundRect">
              <a:avLst>
                <a:gd name="adj" fmla="val 3158"/>
              </a:avLst>
            </a:prstGeom>
            <a:solidFill>
              <a:schemeClr val="lt2"/>
            </a:solidFill>
            <a:ln w="19050">
              <a:solidFill>
                <a:srgbClr val="B8D8C7"/>
              </a:solidFill>
            </a:ln>
          </p:spPr>
        </p:sp>
        <p:pic>
          <p:nvPicPr>
            <p:cNvPr id="7" name="Image 7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574730" y="1009650"/>
              <a:ext cx="9042540" cy="4762500"/>
            </a:xfrm>
            <a:prstGeom prst="rect">
              <a:avLst/>
            </a:prstGeom>
          </p:spPr>
        </p:pic>
        <p:sp>
          <p:nvSpPr>
            <p:cNvPr id="8" name="Rectangle 8"/>
            <p:cNvSpPr/>
            <p:nvPr/>
          </p:nvSpPr>
          <p:spPr>
            <a:xfrm>
              <a:off x="666750" y="5829300"/>
              <a:ext cx="10858500" cy="361950"/>
            </a:xfrm>
            <a:prstGeom prst="roundRect">
              <a:avLst>
                <a:gd name="adj" fmla="val 26316"/>
              </a:avLst>
            </a:prstGeom>
            <a:solidFill>
              <a:schemeClr val="lt1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850773" y="5929789"/>
              <a:ext cx="739931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8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GIÁ TRỊ</a:t>
              </a:r>
              <a:r>
                <a:rPr lang="en-US" sz="128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Gom cấu hình, điều khiển nhiều máy và log vận hành vào một giao diện thống nhất.</a:t>
              </a:r>
            </a:p>
          </p:txBody>
        </p:sp>
      </p:grpSp>
      <p:sp>
        <p:nvSpPr>
          <p:cNvPr id="11" name="TextBox 11"/>
          <p:cNvSpPr txBox="1"/>
          <p:nvPr/>
        </p:nvSpPr>
        <p:spPr>
          <a:xfrm>
            <a:off x="11141640" y="6630352"/>
            <a:ext cx="484194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en-US" sz="1050" dirty="0">
                <a:solidFill>
                  <a:srgbClr val="66706A"/>
                </a:solidFill>
                <a:latin typeface="+mn-lt"/>
                <a:ea typeface="+mn-ea"/>
                <a:cs typeface="+mn-cs"/>
              </a:rPr>
              <a:t>10 / 22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6276" y="266700"/>
            <a:ext cx="1313447" cy="381000"/>
          </a:xfrm>
          <a:prstGeom prst="rect">
            <a:avLst/>
          </a:prstGeom>
        </p:spPr>
      </p:pic>
      <p:sp>
        <p:nvSpPr>
          <p:cNvPr id="3" name="TextBox 3"/>
          <p:cNvSpPr txBox="1"/>
          <p:nvPr/>
        </p:nvSpPr>
        <p:spPr>
          <a:xfrm>
            <a:off x="2462784" y="356235"/>
            <a:ext cx="3472163" cy="52806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2700" b="1" dirty="0">
                <a:solidFill>
                  <a:schemeClr val="accent1"/>
                </a:solidFill>
                <a:latin typeface="+mn-lt"/>
                <a:ea typeface="+mn-ea"/>
                <a:cs typeface="+mn-cs"/>
              </a:rPr>
              <a:t>2. Dự án Auto Test</a:t>
            </a:r>
          </a:p>
        </p:txBody>
      </p:sp>
      <p:sp>
        <p:nvSpPr>
          <p:cNvPr id="4" name="Rectangle 4"/>
          <p:cNvSpPr/>
          <p:nvPr/>
        </p:nvSpPr>
        <p:spPr>
          <a:xfrm>
            <a:off x="8858250" y="285750"/>
            <a:ext cx="2762250" cy="400050"/>
          </a:xfrm>
          <a:prstGeom prst="roundRect">
            <a:avLst>
              <a:gd name="adj" fmla="val 50000"/>
            </a:avLst>
          </a:prstGeom>
          <a:solidFill>
            <a:srgbClr val="EEF3FF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9018368" y="405289"/>
            <a:ext cx="2442015" cy="24936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280" b="1" dirty="0">
                <a:solidFill>
                  <a:schemeClr val="accent2"/>
                </a:solidFill>
                <a:latin typeface="+mn-lt"/>
                <a:ea typeface="+mn-ea"/>
                <a:cs typeface="+mn-cs"/>
              </a:rPr>
              <a:t>06/07–25/07/2026 · Dự kiến</a:t>
            </a:r>
          </a:p>
        </p:txBody>
      </p:sp>
      <p:grpSp>
        <p:nvGrpSpPr>
          <p:cNvPr id="43" name="Group 43"/>
          <p:cNvGrpSpPr/>
          <p:nvPr/>
        </p:nvGrpSpPr>
        <p:grpSpPr>
          <a:xfrm>
            <a:off x="533400" y="1066800"/>
            <a:ext cx="11125200" cy="4533900"/>
            <a:chOff x="533400" y="1066800"/>
            <a:chExt cx="11125200" cy="4533900"/>
          </a:xfrm>
        </p:grpSpPr>
        <p:grpSp>
          <p:nvGrpSpPr>
            <p:cNvPr id="11" name="Group 11"/>
            <p:cNvGrpSpPr/>
            <p:nvPr/>
          </p:nvGrpSpPr>
          <p:grpSpPr>
            <a:xfrm>
              <a:off x="533400" y="1066800"/>
              <a:ext cx="3429000" cy="2143125"/>
              <a:chOff x="533400" y="1066800"/>
              <a:chExt cx="3429000" cy="2143125"/>
            </a:xfrm>
          </p:grpSpPr>
          <p:sp>
            <p:nvSpPr>
              <p:cNvPr id="6" name="Rectangle 6"/>
              <p:cNvSpPr/>
              <p:nvPr/>
            </p:nvSpPr>
            <p:spPr>
              <a:xfrm>
                <a:off x="533400" y="1066800"/>
                <a:ext cx="3429000" cy="2143125"/>
              </a:xfrm>
              <a:prstGeom prst="roundRect">
                <a:avLst>
                  <a:gd name="adj" fmla="val 7111"/>
                </a:avLst>
              </a:prstGeom>
              <a:solidFill>
                <a:schemeClr val="lt2"/>
              </a:solidFill>
              <a:ln>
                <a:noFill/>
              </a:ln>
            </p:spPr>
          </p:sp>
          <p:sp>
            <p:nvSpPr>
              <p:cNvPr id="7" name="TextBox 7"/>
              <p:cNvSpPr txBox="1"/>
              <p:nvPr/>
            </p:nvSpPr>
            <p:spPr>
              <a:xfrm>
                <a:off x="773811" y="1284446"/>
                <a:ext cx="1605077" cy="27870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420" b="1" dirty="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rPr>
                  <a:t>CÔNG VIỆC CHÍNH</a:t>
                </a:r>
              </a:p>
            </p:txBody>
          </p:sp>
          <p:sp>
            <p:nvSpPr>
              <p:cNvPr id="8" name="TextBox 8"/>
              <p:cNvSpPr txBox="1"/>
              <p:nvPr/>
            </p:nvSpPr>
            <p:spPr>
              <a:xfrm>
                <a:off x="774192" y="1664018"/>
                <a:ext cx="1964777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35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Khảo sát cảm biến màu</a:t>
                </a:r>
              </a:p>
            </p:txBody>
          </p:sp>
          <p:sp>
            <p:nvSpPr>
              <p:cNvPr id="9" name="TextBox 9"/>
              <p:cNvSpPr txBox="1"/>
              <p:nvPr/>
            </p:nvSpPr>
            <p:spPr>
              <a:xfrm>
                <a:off x="774192" y="1959292"/>
                <a:ext cx="2641709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35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Thiết kế API &amp; luồng Auto Test</a:t>
                </a:r>
              </a:p>
            </p:txBody>
          </p:sp>
          <p:sp>
            <p:nvSpPr>
              <p:cNvPr id="10" name="TextBox 10"/>
              <p:cNvSpPr txBox="1"/>
              <p:nvPr/>
            </p:nvSpPr>
            <p:spPr>
              <a:xfrm>
                <a:off x="774192" y="2254568"/>
                <a:ext cx="3136589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35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Controller, servo và sensor module</a:t>
                </a:r>
              </a:p>
            </p:txBody>
          </p:sp>
        </p:grpSp>
        <p:grpSp>
          <p:nvGrpSpPr>
            <p:cNvPr id="17" name="Group 17"/>
            <p:cNvGrpSpPr/>
            <p:nvPr/>
          </p:nvGrpSpPr>
          <p:grpSpPr>
            <a:xfrm>
              <a:off x="4210050" y="1066800"/>
              <a:ext cx="3429000" cy="2143125"/>
              <a:chOff x="4210050" y="1066800"/>
              <a:chExt cx="3429000" cy="2143125"/>
            </a:xfrm>
          </p:grpSpPr>
          <p:sp>
            <p:nvSpPr>
              <p:cNvPr id="12" name="Rectangle 12"/>
              <p:cNvSpPr/>
              <p:nvPr/>
            </p:nvSpPr>
            <p:spPr>
              <a:xfrm>
                <a:off x="4210050" y="1066800"/>
                <a:ext cx="3429000" cy="2143125"/>
              </a:xfrm>
              <a:prstGeom prst="roundRect">
                <a:avLst>
                  <a:gd name="adj" fmla="val 7111"/>
                </a:avLst>
              </a:prstGeom>
              <a:solidFill>
                <a:srgbClr val="EAF6F0"/>
              </a:solidFill>
              <a:ln>
                <a:noFill/>
              </a:ln>
            </p:spPr>
          </p:sp>
          <p:sp>
            <p:nvSpPr>
              <p:cNvPr id="13" name="TextBox 13"/>
              <p:cNvSpPr txBox="1"/>
              <p:nvPr/>
            </p:nvSpPr>
            <p:spPr>
              <a:xfrm>
                <a:off x="4450461" y="1284446"/>
                <a:ext cx="820381" cy="27870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420" b="1" dirty="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rPr>
                  <a:t>KẾT QUẢ</a:t>
                </a:r>
              </a:p>
            </p:txBody>
          </p:sp>
          <p:sp>
            <p:nvSpPr>
              <p:cNvPr id="14" name="TextBox 14"/>
              <p:cNvSpPr txBox="1"/>
              <p:nvPr/>
            </p:nvSpPr>
            <p:spPr>
              <a:xfrm>
                <a:off x="4450842" y="1664018"/>
                <a:ext cx="2683339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35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4/5 task Done trong kỳ review</a:t>
                </a:r>
              </a:p>
            </p:txBody>
          </p:sp>
          <p:sp>
            <p:nvSpPr>
              <p:cNvPr id="15" name="TextBox 15"/>
              <p:cNvSpPr txBox="1"/>
              <p:nvPr/>
            </p:nvSpPr>
            <p:spPr>
              <a:xfrm>
                <a:off x="4450842" y="1959292"/>
                <a:ext cx="2418972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35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Có tài liệu API/flow ban đầu</a:t>
                </a:r>
              </a:p>
            </p:txBody>
          </p:sp>
          <p:sp>
            <p:nvSpPr>
              <p:cNvPr id="16" name="TextBox 16"/>
              <p:cNvSpPr txBox="1"/>
              <p:nvPr/>
            </p:nvSpPr>
            <p:spPr>
              <a:xfrm>
                <a:off x="4450842" y="2254568"/>
                <a:ext cx="2582801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35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1 task Ongoing đúng kế hoạch</a:t>
                </a:r>
              </a:p>
            </p:txBody>
          </p:sp>
        </p:grpSp>
        <p:grpSp>
          <p:nvGrpSpPr>
            <p:cNvPr id="23" name="Group 23"/>
            <p:cNvGrpSpPr/>
            <p:nvPr/>
          </p:nvGrpSpPr>
          <p:grpSpPr>
            <a:xfrm>
              <a:off x="7886700" y="1066800"/>
              <a:ext cx="3771900" cy="2143125"/>
              <a:chOff x="7886700" y="1066800"/>
              <a:chExt cx="3771900" cy="2143125"/>
            </a:xfrm>
          </p:grpSpPr>
          <p:sp>
            <p:nvSpPr>
              <p:cNvPr id="18" name="Rectangle 18"/>
              <p:cNvSpPr/>
              <p:nvPr/>
            </p:nvSpPr>
            <p:spPr>
              <a:xfrm>
                <a:off x="7886700" y="1066800"/>
                <a:ext cx="3771900" cy="2143125"/>
              </a:xfrm>
              <a:prstGeom prst="roundRect">
                <a:avLst>
                  <a:gd name="adj" fmla="val 7111"/>
                </a:avLst>
              </a:prstGeom>
              <a:solidFill>
                <a:schemeClr val="lt2"/>
              </a:solidFill>
              <a:ln>
                <a:noFill/>
              </a:ln>
            </p:spPr>
          </p:sp>
          <p:sp>
            <p:nvSpPr>
              <p:cNvPr id="19" name="TextBox 19"/>
              <p:cNvSpPr txBox="1"/>
              <p:nvPr/>
            </p:nvSpPr>
            <p:spPr>
              <a:xfrm>
                <a:off x="8127111" y="1284446"/>
                <a:ext cx="777965" cy="27870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420" b="1" dirty="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rPr>
                  <a:t>KỸ NĂNG</a:t>
                </a:r>
              </a:p>
            </p:txBody>
          </p:sp>
          <p:sp>
            <p:nvSpPr>
              <p:cNvPr id="20" name="TextBox 20"/>
              <p:cNvSpPr txBox="1"/>
              <p:nvPr/>
            </p:nvSpPr>
            <p:spPr>
              <a:xfrm>
                <a:off x="8127492" y="1664018"/>
                <a:ext cx="2218661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35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Thiết kế flow automation</a:t>
                </a:r>
              </a:p>
            </p:txBody>
          </p:sp>
          <p:sp>
            <p:nvSpPr>
              <p:cNvPr id="21" name="TextBox 21"/>
              <p:cNvSpPr txBox="1"/>
              <p:nvPr/>
            </p:nvSpPr>
            <p:spPr>
              <a:xfrm>
                <a:off x="8127492" y="1959292"/>
                <a:ext cx="3036649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35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Tích hợp sensor/servo/controller</a:t>
                </a:r>
              </a:p>
            </p:txBody>
          </p:sp>
          <p:sp>
            <p:nvSpPr>
              <p:cNvPr id="22" name="TextBox 22"/>
              <p:cNvSpPr txBox="1"/>
              <p:nvPr/>
            </p:nvSpPr>
            <p:spPr>
              <a:xfrm>
                <a:off x="8127492" y="2254568"/>
                <a:ext cx="2218073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35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Viết API và test scenario</a:t>
                </a:r>
              </a:p>
            </p:txBody>
          </p:sp>
        </p:grpSp>
        <p:grpSp>
          <p:nvGrpSpPr>
            <p:cNvPr id="29" name="Group 29"/>
            <p:cNvGrpSpPr/>
            <p:nvPr/>
          </p:nvGrpSpPr>
          <p:grpSpPr>
            <a:xfrm>
              <a:off x="533400" y="3457575"/>
              <a:ext cx="3429000" cy="2143125"/>
              <a:chOff x="533400" y="3457575"/>
              <a:chExt cx="3429000" cy="2143125"/>
            </a:xfrm>
          </p:grpSpPr>
          <p:sp>
            <p:nvSpPr>
              <p:cNvPr id="24" name="Rectangle 24"/>
              <p:cNvSpPr/>
              <p:nvPr/>
            </p:nvSpPr>
            <p:spPr>
              <a:xfrm>
                <a:off x="533400" y="3457575"/>
                <a:ext cx="3429000" cy="2143125"/>
              </a:xfrm>
              <a:prstGeom prst="roundRect">
                <a:avLst>
                  <a:gd name="adj" fmla="val 7111"/>
                </a:avLst>
              </a:prstGeom>
              <a:solidFill>
                <a:srgbClr val="EEF3FF"/>
              </a:solidFill>
              <a:ln>
                <a:noFill/>
              </a:ln>
            </p:spPr>
          </p:sp>
          <p:sp>
            <p:nvSpPr>
              <p:cNvPr id="25" name="TextBox 25"/>
              <p:cNvSpPr txBox="1"/>
              <p:nvPr/>
            </p:nvSpPr>
            <p:spPr>
              <a:xfrm>
                <a:off x="773811" y="3675221"/>
                <a:ext cx="661322" cy="27870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420" b="1" dirty="0">
                    <a:solidFill>
                      <a:schemeClr val="accent2"/>
                    </a:solidFill>
                    <a:latin typeface="+mn-lt"/>
                    <a:ea typeface="+mn-ea"/>
                    <a:cs typeface="+mn-cs"/>
                  </a:rPr>
                  <a:t>TƯ DUY</a:t>
                </a:r>
              </a:p>
            </p:txBody>
          </p:sp>
          <p:sp>
            <p:nvSpPr>
              <p:cNvPr id="26" name="TextBox 26"/>
              <p:cNvSpPr txBox="1"/>
              <p:nvPr/>
            </p:nvSpPr>
            <p:spPr>
              <a:xfrm>
                <a:off x="774192" y="4054792"/>
                <a:ext cx="1846083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35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Modular và API-first</a:t>
                </a:r>
              </a:p>
            </p:txBody>
          </p:sp>
          <p:sp>
            <p:nvSpPr>
              <p:cNvPr id="27" name="TextBox 27"/>
              <p:cNvSpPr txBox="1"/>
              <p:nvPr/>
            </p:nvSpPr>
            <p:spPr>
              <a:xfrm>
                <a:off x="774192" y="4350068"/>
                <a:ext cx="2654869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35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Tách phần cứng khỏi test logic</a:t>
                </a:r>
              </a:p>
            </p:txBody>
          </p:sp>
          <p:sp>
            <p:nvSpPr>
              <p:cNvPr id="28" name="TextBox 28"/>
              <p:cNvSpPr txBox="1"/>
              <p:nvPr/>
            </p:nvSpPr>
            <p:spPr>
              <a:xfrm>
                <a:off x="774192" y="4645342"/>
                <a:ext cx="2337421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35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Thiết kế để mở rộng về sau</a:t>
                </a:r>
              </a:p>
            </p:txBody>
          </p:sp>
        </p:grpSp>
        <p:grpSp>
          <p:nvGrpSpPr>
            <p:cNvPr id="35" name="Group 35"/>
            <p:cNvGrpSpPr/>
            <p:nvPr/>
          </p:nvGrpSpPr>
          <p:grpSpPr>
            <a:xfrm>
              <a:off x="4210050" y="3457575"/>
              <a:ext cx="3429000" cy="2143125"/>
              <a:chOff x="4210050" y="3457575"/>
              <a:chExt cx="3429000" cy="2143125"/>
            </a:xfrm>
          </p:grpSpPr>
          <p:sp>
            <p:nvSpPr>
              <p:cNvPr id="30" name="Rectangle 30"/>
              <p:cNvSpPr/>
              <p:nvPr/>
            </p:nvSpPr>
            <p:spPr>
              <a:xfrm>
                <a:off x="4210050" y="3457575"/>
                <a:ext cx="3429000" cy="2143125"/>
              </a:xfrm>
              <a:prstGeom prst="roundRect">
                <a:avLst>
                  <a:gd name="adj" fmla="val 7111"/>
                </a:avLst>
              </a:prstGeom>
              <a:solidFill>
                <a:srgbClr val="FFF7E8"/>
              </a:solidFill>
              <a:ln>
                <a:noFill/>
              </a:ln>
            </p:spPr>
          </p:sp>
          <p:sp>
            <p:nvSpPr>
              <p:cNvPr id="31" name="TextBox 31"/>
              <p:cNvSpPr txBox="1"/>
              <p:nvPr/>
            </p:nvSpPr>
            <p:spPr>
              <a:xfrm>
                <a:off x="4450461" y="3675221"/>
                <a:ext cx="1848969" cy="27870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420" b="1" dirty="0">
                    <a:solidFill>
                      <a:srgbClr val="B56A00"/>
                    </a:solidFill>
                    <a:latin typeface="+mn-lt"/>
                    <a:ea typeface="+mn-ea"/>
                    <a:cs typeface="+mn-cs"/>
                  </a:rPr>
                  <a:t>BÀI HỌC &amp; KHÓ KHĂN</a:t>
                </a:r>
              </a:p>
            </p:txBody>
          </p:sp>
          <p:sp>
            <p:nvSpPr>
              <p:cNvPr id="32" name="TextBox 32"/>
              <p:cNvSpPr txBox="1"/>
              <p:nvPr/>
            </p:nvSpPr>
            <p:spPr>
              <a:xfrm>
                <a:off x="4450842" y="4054792"/>
                <a:ext cx="2837283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35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Khó đồng bộ cơ khí–sensor–code</a:t>
                </a:r>
              </a:p>
            </p:txBody>
          </p:sp>
          <p:sp>
            <p:nvSpPr>
              <p:cNvPr id="33" name="TextBox 33"/>
              <p:cNvSpPr txBox="1"/>
              <p:nvPr/>
            </p:nvSpPr>
            <p:spPr>
              <a:xfrm>
                <a:off x="4450842" y="4350068"/>
                <a:ext cx="3045754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35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Cần chốt interface trước tích hợp</a:t>
                </a:r>
              </a:p>
            </p:txBody>
          </p:sp>
          <p:sp>
            <p:nvSpPr>
              <p:cNvPr id="34" name="TextBox 34"/>
              <p:cNvSpPr txBox="1"/>
              <p:nvPr/>
            </p:nvSpPr>
            <p:spPr>
              <a:xfrm>
                <a:off x="4450842" y="4645342"/>
                <a:ext cx="2573405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35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Test sớm từng module độc lập</a:t>
                </a:r>
              </a:p>
            </p:txBody>
          </p:sp>
        </p:grpSp>
        <p:grpSp>
          <p:nvGrpSpPr>
            <p:cNvPr id="42" name="Group 42"/>
            <p:cNvGrpSpPr/>
            <p:nvPr/>
          </p:nvGrpSpPr>
          <p:grpSpPr>
            <a:xfrm>
              <a:off x="7886700" y="3457575"/>
              <a:ext cx="3771900" cy="2143125"/>
              <a:chOff x="7886700" y="3457575"/>
              <a:chExt cx="3771900" cy="2143125"/>
            </a:xfrm>
          </p:grpSpPr>
          <p:sp>
            <p:nvSpPr>
              <p:cNvPr id="36" name="Rectangle 36"/>
              <p:cNvSpPr/>
              <p:nvPr/>
            </p:nvSpPr>
            <p:spPr>
              <a:xfrm>
                <a:off x="7886700" y="3457575"/>
                <a:ext cx="3771900" cy="2143125"/>
              </a:xfrm>
              <a:prstGeom prst="roundRect">
                <a:avLst>
                  <a:gd name="adj" fmla="val 7111"/>
                </a:avLst>
              </a:prstGeom>
              <a:solidFill>
                <a:schemeClr val="accent1"/>
              </a:solidFill>
              <a:ln>
                <a:noFill/>
              </a:ln>
            </p:spPr>
          </p:sp>
          <p:sp>
            <p:nvSpPr>
              <p:cNvPr id="37" name="TextBox 37"/>
              <p:cNvSpPr txBox="1"/>
              <p:nvPr/>
            </p:nvSpPr>
            <p:spPr>
              <a:xfrm>
                <a:off x="8127111" y="3675221"/>
                <a:ext cx="1901989" cy="27870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420" b="1" dirty="0">
                    <a:solidFill>
                      <a:srgbClr val="FFFFFF"/>
                    </a:solidFill>
                    <a:latin typeface="+mn-lt"/>
                    <a:ea typeface="+mn-ea"/>
                    <a:cs typeface="+mn-cs"/>
                  </a:rPr>
                  <a:t>THÀNH TÍCH NỔI BẬT</a:t>
                </a:r>
              </a:p>
            </p:txBody>
          </p:sp>
          <p:sp>
            <p:nvSpPr>
              <p:cNvPr id="38" name="TextBox 38"/>
              <p:cNvSpPr txBox="1"/>
              <p:nvPr/>
            </p:nvSpPr>
            <p:spPr>
              <a:xfrm>
                <a:off x="8116062" y="4088130"/>
                <a:ext cx="876201" cy="70408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3600" b="1" dirty="0">
                    <a:solidFill>
                      <a:srgbClr val="FFFFFF"/>
                    </a:solidFill>
                    <a:latin typeface="+mn-lt"/>
                    <a:ea typeface="+mn-ea"/>
                    <a:cs typeface="+mn-cs"/>
                  </a:rPr>
                  <a:t>4/5</a:t>
                </a:r>
              </a:p>
            </p:txBody>
          </p:sp>
          <p:sp>
            <p:nvSpPr>
              <p:cNvPr id="39" name="TextBox 39"/>
              <p:cNvSpPr txBox="1"/>
              <p:nvPr/>
            </p:nvSpPr>
            <p:spPr>
              <a:xfrm>
                <a:off x="9136380" y="4276725"/>
                <a:ext cx="971026" cy="29337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500" dirty="0">
                    <a:solidFill>
                      <a:srgbClr val="FFFFFF"/>
                    </a:solidFill>
                    <a:latin typeface="+mn-lt"/>
                    <a:ea typeface="+mn-ea"/>
                    <a:cs typeface="+mn-cs"/>
                  </a:rPr>
                  <a:t>task Done</a:t>
                </a:r>
              </a:p>
            </p:txBody>
          </p:sp>
          <p:sp>
            <p:nvSpPr>
              <p:cNvPr id="40" name="TextBox 40"/>
              <p:cNvSpPr txBox="1"/>
              <p:nvPr/>
            </p:nvSpPr>
            <p:spPr>
              <a:xfrm>
                <a:off x="8127873" y="4815364"/>
                <a:ext cx="2667260" cy="24936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280" dirty="0">
                    <a:solidFill>
                      <a:srgbClr val="FFFFFF"/>
                    </a:solidFill>
                    <a:latin typeface="+mn-lt"/>
                    <a:ea typeface="+mn-ea"/>
                    <a:cs typeface="+mn-cs"/>
                  </a:rPr>
                  <a:t>Đặt nền kiến trúc cho Auto Test</a:t>
                </a:r>
              </a:p>
            </p:txBody>
          </p:sp>
          <p:pic>
            <p:nvPicPr>
              <p:cNvPr id="41" name="Image 41"/>
              <p:cNvPicPr>
                <a:picLocks noChangeAspect="1"/>
              </p:cNvPicPr>
              <p:nvPr/>
            </p:nvPicPr>
            <p:blipFill>
              <a:blip r:embed="rId3"/>
              <a:srcRect l="0" t="14819" r="0" b="14819"/>
              <a:stretch>
                <a:fillRect/>
              </a:stretch>
            </p:blipFill>
            <p:spPr>
              <a:xfrm>
                <a:off x="10382250" y="4143375"/>
                <a:ext cx="1000125" cy="1190625"/>
              </a:xfrm>
              <a:prstGeom prst="rect">
                <a:avLst/>
              </a:prstGeom>
            </p:spPr>
          </p:pic>
        </p:grpSp>
      </p:grpSp>
      <p:sp>
        <p:nvSpPr>
          <p:cNvPr id="44" name="TextBox 44"/>
          <p:cNvSpPr txBox="1"/>
          <p:nvPr/>
        </p:nvSpPr>
        <p:spPr>
          <a:xfrm>
            <a:off x="11141640" y="6630352"/>
            <a:ext cx="484194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en-US" sz="1050" dirty="0">
                <a:solidFill>
                  <a:srgbClr val="66706A"/>
                </a:solidFill>
                <a:latin typeface="+mn-lt"/>
                <a:ea typeface="+mn-ea"/>
                <a:cs typeface="+mn-cs"/>
              </a:rPr>
              <a:t>11 / 22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6276" y="266700"/>
            <a:ext cx="1313447" cy="381000"/>
          </a:xfrm>
          <a:prstGeom prst="rect">
            <a:avLst/>
          </a:prstGeom>
        </p:spPr>
      </p:pic>
      <p:sp>
        <p:nvSpPr>
          <p:cNvPr id="3" name="TextBox 3"/>
          <p:cNvSpPr txBox="1"/>
          <p:nvPr/>
        </p:nvSpPr>
        <p:spPr>
          <a:xfrm>
            <a:off x="2462784" y="356235"/>
            <a:ext cx="3697062" cy="52806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2700" b="1" dirty="0">
                <a:solidFill>
                  <a:schemeClr val="accent1"/>
                </a:solidFill>
                <a:latin typeface="+mn-lt"/>
                <a:ea typeface="+mn-ea"/>
                <a:cs typeface="+mn-cs"/>
              </a:rPr>
              <a:t>3. Dự án Tool Design</a:t>
            </a:r>
          </a:p>
        </p:txBody>
      </p:sp>
      <p:sp>
        <p:nvSpPr>
          <p:cNvPr id="4" name="Rectangle 4"/>
          <p:cNvSpPr/>
          <p:nvPr/>
        </p:nvSpPr>
        <p:spPr>
          <a:xfrm>
            <a:off x="9239250" y="285750"/>
            <a:ext cx="2381250" cy="400050"/>
          </a:xfrm>
          <a:prstGeom prst="roundRect">
            <a:avLst>
              <a:gd name="adj" fmla="val 50000"/>
            </a:avLst>
          </a:prstGeom>
          <a:solidFill>
            <a:srgbClr val="EAF6F0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9627309" y="405289"/>
            <a:ext cx="1605132" cy="24936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280" b="1" dirty="0">
                <a:solidFill>
                  <a:schemeClr val="accent1"/>
                </a:solidFill>
                <a:latin typeface="+mn-lt"/>
                <a:ea typeface="+mn-ea"/>
                <a:cs typeface="+mn-cs"/>
              </a:rPr>
              <a:t>21/05–27/05/2026</a:t>
            </a:r>
          </a:p>
        </p:txBody>
      </p:sp>
      <p:grpSp>
        <p:nvGrpSpPr>
          <p:cNvPr id="30" name="Group 30"/>
          <p:cNvGrpSpPr/>
          <p:nvPr/>
        </p:nvGrpSpPr>
        <p:grpSpPr>
          <a:xfrm>
            <a:off x="533400" y="1066800"/>
            <a:ext cx="5334000" cy="4191000"/>
            <a:chOff x="533400" y="1066800"/>
            <a:chExt cx="5334000" cy="4191000"/>
          </a:xfrm>
        </p:grpSpPr>
        <p:grpSp>
          <p:nvGrpSpPr>
            <p:cNvPr id="11" name="Group 11"/>
            <p:cNvGrpSpPr/>
            <p:nvPr/>
          </p:nvGrpSpPr>
          <p:grpSpPr>
            <a:xfrm>
              <a:off x="533400" y="1066800"/>
              <a:ext cx="2571750" cy="2000250"/>
              <a:chOff x="533400" y="1066800"/>
              <a:chExt cx="2571750" cy="2000250"/>
            </a:xfrm>
          </p:grpSpPr>
          <p:sp>
            <p:nvSpPr>
              <p:cNvPr id="6" name="Rectangle 6"/>
              <p:cNvSpPr/>
              <p:nvPr/>
            </p:nvSpPr>
            <p:spPr>
              <a:xfrm>
                <a:off x="533400" y="1066800"/>
                <a:ext cx="2571750" cy="2000250"/>
              </a:xfrm>
              <a:prstGeom prst="roundRect">
                <a:avLst>
                  <a:gd name="adj" fmla="val 7619"/>
                </a:avLst>
              </a:prstGeom>
              <a:solidFill>
                <a:schemeClr val="lt2"/>
              </a:solidFill>
              <a:ln>
                <a:noFill/>
              </a:ln>
            </p:spPr>
          </p:sp>
          <p:sp>
            <p:nvSpPr>
              <p:cNvPr id="7" name="TextBox 7"/>
              <p:cNvSpPr txBox="1"/>
              <p:nvPr/>
            </p:nvSpPr>
            <p:spPr>
              <a:xfrm>
                <a:off x="755523" y="1291114"/>
                <a:ext cx="1446733" cy="24936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280" b="1" dirty="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rPr>
                  <a:t>CÔNG VIỆC CHÍNH</a:t>
                </a:r>
              </a:p>
            </p:txBody>
          </p:sp>
          <p:sp>
            <p:nvSpPr>
              <p:cNvPr id="8" name="TextBox 8"/>
              <p:cNvSpPr txBox="1"/>
              <p:nvPr/>
            </p:nvSpPr>
            <p:spPr>
              <a:xfrm>
                <a:off x="755904" y="1661160"/>
                <a:ext cx="1870253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20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Chỉnh sửa tool nguồn DC</a:t>
                </a:r>
              </a:p>
            </p:txBody>
          </p:sp>
          <p:sp>
            <p:nvSpPr>
              <p:cNvPr id="9" name="TextBox 9"/>
              <p:cNvSpPr txBox="1"/>
              <p:nvPr/>
            </p:nvSpPr>
            <p:spPr>
              <a:xfrm>
                <a:off x="755904" y="1927860"/>
                <a:ext cx="1883584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20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Điều chỉnh flow nhà máy</a:t>
                </a:r>
              </a:p>
            </p:txBody>
          </p:sp>
          <p:sp>
            <p:nvSpPr>
              <p:cNvPr id="10" name="TextBox 10"/>
              <p:cNvSpPr txBox="1"/>
              <p:nvPr/>
            </p:nvSpPr>
            <p:spPr>
              <a:xfrm>
                <a:off x="755904" y="2194560"/>
                <a:ext cx="1318283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20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Rà soát vận hành</a:t>
                </a:r>
              </a:p>
            </p:txBody>
          </p:sp>
        </p:grpSp>
        <p:grpSp>
          <p:nvGrpSpPr>
            <p:cNvPr id="17" name="Group 17"/>
            <p:cNvGrpSpPr/>
            <p:nvPr/>
          </p:nvGrpSpPr>
          <p:grpSpPr>
            <a:xfrm>
              <a:off x="3295650" y="1066800"/>
              <a:ext cx="2571750" cy="2000250"/>
              <a:chOff x="3295650" y="1066800"/>
              <a:chExt cx="2571750" cy="2000250"/>
            </a:xfrm>
          </p:grpSpPr>
          <p:sp>
            <p:nvSpPr>
              <p:cNvPr id="12" name="Rectangle 12"/>
              <p:cNvSpPr/>
              <p:nvPr/>
            </p:nvSpPr>
            <p:spPr>
              <a:xfrm>
                <a:off x="3295650" y="1066800"/>
                <a:ext cx="2571750" cy="2000250"/>
              </a:xfrm>
              <a:prstGeom prst="roundRect">
                <a:avLst>
                  <a:gd name="adj" fmla="val 7619"/>
                </a:avLst>
              </a:prstGeom>
              <a:solidFill>
                <a:srgbClr val="EAF6F0"/>
              </a:solidFill>
              <a:ln>
                <a:noFill/>
              </a:ln>
            </p:spPr>
          </p:sp>
          <p:sp>
            <p:nvSpPr>
              <p:cNvPr id="13" name="TextBox 13"/>
              <p:cNvSpPr txBox="1"/>
              <p:nvPr/>
            </p:nvSpPr>
            <p:spPr>
              <a:xfrm>
                <a:off x="3517773" y="1291114"/>
                <a:ext cx="739402" cy="24936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280" b="1" dirty="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rPr>
                  <a:t>KẾT QUẢ</a:t>
                </a:r>
              </a:p>
            </p:txBody>
          </p:sp>
          <p:sp>
            <p:nvSpPr>
              <p:cNvPr id="14" name="TextBox 14"/>
              <p:cNvSpPr txBox="1"/>
              <p:nvPr/>
            </p:nvSpPr>
            <p:spPr>
              <a:xfrm>
                <a:off x="3518154" y="1661160"/>
                <a:ext cx="915105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20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2 task Done</a:t>
                </a:r>
              </a:p>
            </p:txBody>
          </p:sp>
          <p:sp>
            <p:nvSpPr>
              <p:cNvPr id="15" name="TextBox 15"/>
              <p:cNvSpPr txBox="1"/>
              <p:nvPr/>
            </p:nvSpPr>
            <p:spPr>
              <a:xfrm>
                <a:off x="3518154" y="1927860"/>
                <a:ext cx="2037508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20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Hoàn tất 2 vòng chỉnh sửa</a:t>
                </a:r>
              </a:p>
            </p:txBody>
          </p:sp>
          <p:sp>
            <p:nvSpPr>
              <p:cNvPr id="16" name="TextBox 16"/>
              <p:cNvSpPr txBox="1"/>
              <p:nvPr/>
            </p:nvSpPr>
            <p:spPr>
              <a:xfrm>
                <a:off x="3518154" y="2194560"/>
                <a:ext cx="1587246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20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2 task chưa khởi tạo</a:t>
                </a:r>
              </a:p>
            </p:txBody>
          </p:sp>
        </p:grpSp>
        <p:grpSp>
          <p:nvGrpSpPr>
            <p:cNvPr id="23" name="Group 23"/>
            <p:cNvGrpSpPr/>
            <p:nvPr/>
          </p:nvGrpSpPr>
          <p:grpSpPr>
            <a:xfrm>
              <a:off x="533400" y="3257550"/>
              <a:ext cx="2571750" cy="2000250"/>
              <a:chOff x="533400" y="3257550"/>
              <a:chExt cx="2571750" cy="2000250"/>
            </a:xfrm>
          </p:grpSpPr>
          <p:sp>
            <p:nvSpPr>
              <p:cNvPr id="18" name="Rectangle 18"/>
              <p:cNvSpPr/>
              <p:nvPr/>
            </p:nvSpPr>
            <p:spPr>
              <a:xfrm>
                <a:off x="533400" y="3257550"/>
                <a:ext cx="2571750" cy="2000250"/>
              </a:xfrm>
              <a:prstGeom prst="roundRect">
                <a:avLst>
                  <a:gd name="adj" fmla="val 7619"/>
                </a:avLst>
              </a:prstGeom>
              <a:solidFill>
                <a:srgbClr val="EEF3FF"/>
              </a:solidFill>
              <a:ln>
                <a:noFill/>
              </a:ln>
            </p:spPr>
          </p:sp>
          <p:sp>
            <p:nvSpPr>
              <p:cNvPr id="19" name="TextBox 19"/>
              <p:cNvSpPr txBox="1"/>
              <p:nvPr/>
            </p:nvSpPr>
            <p:spPr>
              <a:xfrm>
                <a:off x="755523" y="3481864"/>
                <a:ext cx="1504084" cy="24936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280" b="1" dirty="0">
                    <a:solidFill>
                      <a:schemeClr val="accent2"/>
                    </a:solidFill>
                    <a:latin typeface="+mn-lt"/>
                    <a:ea typeface="+mn-ea"/>
                    <a:cs typeface="+mn-cs"/>
                  </a:rPr>
                  <a:t>KỸ NĂNG &amp; TƯ DUY</a:t>
                </a:r>
              </a:p>
            </p:txBody>
          </p:sp>
          <p:sp>
            <p:nvSpPr>
              <p:cNvPr id="20" name="TextBox 20"/>
              <p:cNvSpPr txBox="1"/>
              <p:nvPr/>
            </p:nvSpPr>
            <p:spPr>
              <a:xfrm>
                <a:off x="755904" y="3851910"/>
                <a:ext cx="1948106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20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Phân tích tool phần cứng</a:t>
                </a:r>
              </a:p>
            </p:txBody>
          </p:sp>
          <p:sp>
            <p:nvSpPr>
              <p:cNvPr id="21" name="TextBox 21"/>
              <p:cNvSpPr txBox="1"/>
              <p:nvPr/>
            </p:nvSpPr>
            <p:spPr>
              <a:xfrm>
                <a:off x="755904" y="4118610"/>
                <a:ext cx="1908200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20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Ưu tiên ổn định, bảo trì</a:t>
                </a:r>
              </a:p>
            </p:txBody>
          </p:sp>
          <p:sp>
            <p:nvSpPr>
              <p:cNvPr id="22" name="TextBox 22"/>
              <p:cNvSpPr txBox="1"/>
              <p:nvPr/>
            </p:nvSpPr>
            <p:spPr>
              <a:xfrm>
                <a:off x="755904" y="4385310"/>
                <a:ext cx="1907606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20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Thiết kế theo người dùng</a:t>
                </a:r>
              </a:p>
            </p:txBody>
          </p:sp>
        </p:grpSp>
        <p:grpSp>
          <p:nvGrpSpPr>
            <p:cNvPr id="29" name="Group 29"/>
            <p:cNvGrpSpPr/>
            <p:nvPr/>
          </p:nvGrpSpPr>
          <p:grpSpPr>
            <a:xfrm>
              <a:off x="3295650" y="3257550"/>
              <a:ext cx="2571750" cy="2000250"/>
              <a:chOff x="3295650" y="3257550"/>
              <a:chExt cx="2571750" cy="2000250"/>
            </a:xfrm>
          </p:grpSpPr>
          <p:sp>
            <p:nvSpPr>
              <p:cNvPr id="24" name="Rectangle 24"/>
              <p:cNvSpPr/>
              <p:nvPr/>
            </p:nvSpPr>
            <p:spPr>
              <a:xfrm>
                <a:off x="3295650" y="3257550"/>
                <a:ext cx="2571750" cy="2000250"/>
              </a:xfrm>
              <a:prstGeom prst="roundRect">
                <a:avLst>
                  <a:gd name="adj" fmla="val 7619"/>
                </a:avLst>
              </a:prstGeom>
              <a:solidFill>
                <a:srgbClr val="FFF7E8"/>
              </a:solidFill>
              <a:ln>
                <a:noFill/>
              </a:ln>
            </p:spPr>
          </p:sp>
          <p:sp>
            <p:nvSpPr>
              <p:cNvPr id="25" name="TextBox 25"/>
              <p:cNvSpPr txBox="1"/>
              <p:nvPr/>
            </p:nvSpPr>
            <p:spPr>
              <a:xfrm>
                <a:off x="3517773" y="3481864"/>
                <a:ext cx="1666579" cy="24936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280" b="1" dirty="0">
                    <a:solidFill>
                      <a:srgbClr val="B56A00"/>
                    </a:solidFill>
                    <a:latin typeface="+mn-lt"/>
                    <a:ea typeface="+mn-ea"/>
                    <a:cs typeface="+mn-cs"/>
                  </a:rPr>
                  <a:t>BÀI HỌC &amp; KHÓ KHĂN</a:t>
                </a:r>
              </a:p>
            </p:txBody>
          </p:sp>
          <p:sp>
            <p:nvSpPr>
              <p:cNvPr id="26" name="TextBox 26"/>
              <p:cNvSpPr txBox="1"/>
              <p:nvPr/>
            </p:nvSpPr>
            <p:spPr>
              <a:xfrm>
                <a:off x="3518154" y="3851910"/>
                <a:ext cx="1996707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20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Yêu cầu thực địa thay đổi</a:t>
                </a:r>
              </a:p>
            </p:txBody>
          </p:sp>
          <p:sp>
            <p:nvSpPr>
              <p:cNvPr id="27" name="TextBox 27"/>
              <p:cNvSpPr txBox="1"/>
              <p:nvPr/>
            </p:nvSpPr>
            <p:spPr>
              <a:xfrm>
                <a:off x="3518154" y="4118610"/>
                <a:ext cx="1568867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20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Task mở thiếu mô tả</a:t>
                </a:r>
              </a:p>
            </p:txBody>
          </p:sp>
          <p:sp>
            <p:nvSpPr>
              <p:cNvPr id="28" name="TextBox 28"/>
              <p:cNvSpPr txBox="1"/>
              <p:nvPr/>
            </p:nvSpPr>
            <p:spPr>
              <a:xfrm>
                <a:off x="3518154" y="4385310"/>
                <a:ext cx="2335597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20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Cần checklist acceptance sớm</a:t>
                </a:r>
              </a:p>
            </p:txBody>
          </p:sp>
        </p:grpSp>
      </p:grpSp>
      <p:grpSp>
        <p:nvGrpSpPr>
          <p:cNvPr id="40" name="Group 40"/>
          <p:cNvGrpSpPr/>
          <p:nvPr/>
        </p:nvGrpSpPr>
        <p:grpSpPr>
          <a:xfrm>
            <a:off x="6153150" y="1066800"/>
            <a:ext cx="5505450" cy="4343400"/>
            <a:chOff x="6153150" y="1066800"/>
            <a:chExt cx="5505450" cy="4343400"/>
          </a:xfrm>
        </p:grpSpPr>
        <p:sp>
          <p:nvSpPr>
            <p:cNvPr id="31" name="Rectangle 31"/>
            <p:cNvSpPr/>
            <p:nvPr/>
          </p:nvSpPr>
          <p:spPr>
            <a:xfrm>
              <a:off x="6153150" y="1066800"/>
              <a:ext cx="5505450" cy="4343400"/>
            </a:xfrm>
            <a:prstGeom prst="roundRect">
              <a:avLst>
                <a:gd name="adj" fmla="val 3947"/>
              </a:avLst>
            </a:prstGeom>
            <a:solidFill>
              <a:schemeClr val="lt1"/>
            </a:solidFill>
            <a:ln w="19050">
              <a:solidFill>
                <a:srgbClr val="B8D8C7"/>
              </a:solidFill>
            </a:ln>
          </p:spPr>
        </p:sp>
        <p:sp>
          <p:nvSpPr>
            <p:cNvPr id="32" name="TextBox 32"/>
            <p:cNvSpPr txBox="1"/>
            <p:nvPr/>
          </p:nvSpPr>
          <p:spPr>
            <a:xfrm>
              <a:off x="6395085" y="1307306"/>
              <a:ext cx="343995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b="1" spc="105" dirty="0">
                  <a:solidFill>
                    <a:srgbClr val="66706A"/>
                  </a:solidFill>
                  <a:latin typeface="+mn-lt"/>
                  <a:ea typeface="+mn-ea"/>
                  <a:cs typeface="+mn-cs"/>
                </a:rPr>
                <a:t>BẰNG CHỨNG THỰC TẾ · TOOL NẠP CODE</a:t>
              </a:r>
            </a:p>
          </p:txBody>
        </p:sp>
        <p:sp>
          <p:nvSpPr>
            <p:cNvPr id="33" name="Rectangle 33"/>
            <p:cNvSpPr/>
            <p:nvPr/>
          </p:nvSpPr>
          <p:spPr>
            <a:xfrm>
              <a:off x="6400800" y="1600200"/>
              <a:ext cx="5010150" cy="2590800"/>
            </a:xfrm>
            <a:prstGeom prst="roundRect">
              <a:avLst>
                <a:gd name="adj" fmla="val 3676"/>
              </a:avLst>
            </a:prstGeom>
            <a:solidFill>
              <a:schemeClr val="lt2"/>
            </a:solidFill>
            <a:ln>
              <a:noFill/>
            </a:ln>
          </p:spPr>
        </p:sp>
        <p:pic>
          <p:nvPicPr>
            <p:cNvPr id="34" name="Image 34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6400800" y="1600200"/>
              <a:ext cx="5010150" cy="2590800"/>
            </a:xfrm>
            <a:prstGeom prst="rect">
              <a:avLst/>
            </a:prstGeom>
          </p:spPr>
        </p:pic>
        <p:sp>
          <p:nvSpPr>
            <p:cNvPr id="35" name="Line 35"/>
            <p:cNvSpPr/>
            <p:nvPr/>
          </p:nvSpPr>
          <p:spPr>
            <a:xfrm>
              <a:off x="6400800" y="4419600"/>
              <a:ext cx="5010150" cy="9525"/>
            </a:xfrm>
            <a:custGeom>
              <a:avLst/>
              <a:gdLst/>
              <a:ahLst/>
              <a:cxnLst/>
              <a:rect l="l" t="t" r="r" b="b"/>
              <a:pathLst>
                <a:path w="5010150" h="9525">
                  <a:moveTo>
                    <a:pt x="0" y="0"/>
                  </a:moveTo>
                  <a:lnTo>
                    <a:pt x="5010150" y="0"/>
                  </a:lnTo>
                </a:path>
              </a:pathLst>
            </a:custGeom>
            <a:noFill/>
            <a:ln w="9525">
              <a:solidFill>
                <a:srgbClr val="D7E4DD"/>
              </a:solidFill>
            </a:ln>
          </p:spPr>
        </p:sp>
        <p:sp>
          <p:nvSpPr>
            <p:cNvPr id="36" name="TextBox 36"/>
            <p:cNvSpPr txBox="1"/>
            <p:nvPr/>
          </p:nvSpPr>
          <p:spPr>
            <a:xfrm>
              <a:off x="6394323" y="4596289"/>
              <a:ext cx="463286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8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Giao diện vận hành được điều chỉnh theo flow nhà máy</a:t>
              </a:r>
            </a:p>
          </p:txBody>
        </p:sp>
        <p:sp>
          <p:nvSpPr>
            <p:cNvPr id="37" name="Rectangle 37"/>
            <p:cNvSpPr/>
            <p:nvPr/>
          </p:nvSpPr>
          <p:spPr>
            <a:xfrm>
              <a:off x="6400800" y="4914900"/>
              <a:ext cx="1866900" cy="323850"/>
            </a:xfrm>
            <a:prstGeom prst="roundRect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38" name="TextBox 38"/>
            <p:cNvSpPr txBox="1"/>
            <p:nvPr/>
          </p:nvSpPr>
          <p:spPr>
            <a:xfrm>
              <a:off x="6638529" y="5012531"/>
              <a:ext cx="139144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02 VÒNG HOÀN TẤT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8471535" y="5012531"/>
              <a:ext cx="275394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dirty="0">
                  <a:solidFill>
                    <a:srgbClr val="66706A"/>
                  </a:solidFill>
                  <a:latin typeface="+mn-lt"/>
                  <a:ea typeface="+mn-ea"/>
                  <a:cs typeface="+mn-cs"/>
                </a:rPr>
                <a:t>Ưu tiên ổn định · dễ dùng · dễ bảo trì</a:t>
              </a:r>
            </a:p>
          </p:txBody>
        </p:sp>
      </p:grpSp>
      <p:sp>
        <p:nvSpPr>
          <p:cNvPr id="41" name="TextBox 41"/>
          <p:cNvSpPr txBox="1"/>
          <p:nvPr/>
        </p:nvSpPr>
        <p:spPr>
          <a:xfrm>
            <a:off x="11141640" y="6630352"/>
            <a:ext cx="484194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en-US" sz="1050" dirty="0">
                <a:solidFill>
                  <a:srgbClr val="66706A"/>
                </a:solidFill>
                <a:latin typeface="+mn-lt"/>
                <a:ea typeface="+mn-ea"/>
                <a:cs typeface="+mn-cs"/>
              </a:rPr>
              <a:t>12 / 22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6250" y="228600"/>
            <a:ext cx="1238250" cy="361950"/>
          </a:xfrm>
          <a:prstGeom prst="rect">
            <a:avLst/>
          </a:prstGeom>
        </p:spPr>
      </p:pic>
      <p:sp>
        <p:nvSpPr>
          <p:cNvPr id="3" name="TextBox 3"/>
          <p:cNvSpPr txBox="1"/>
          <p:nvPr/>
        </p:nvSpPr>
        <p:spPr>
          <a:xfrm>
            <a:off x="2083308" y="331470"/>
            <a:ext cx="5181739" cy="46939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2400" b="1" dirty="0">
                <a:solidFill>
                  <a:schemeClr val="accent1"/>
                </a:solidFill>
                <a:latin typeface="+mn-lt"/>
                <a:ea typeface="+mn-ea"/>
                <a:cs typeface="+mn-cs"/>
              </a:rPr>
              <a:t>Tool Design — Giao diện vận hành</a:t>
            </a:r>
          </a:p>
        </p:txBody>
      </p:sp>
      <p:sp>
        <p:nvSpPr>
          <p:cNvPr id="4" name="Rectangle 4"/>
          <p:cNvSpPr/>
          <p:nvPr/>
        </p:nvSpPr>
        <p:spPr>
          <a:xfrm>
            <a:off x="9810750" y="247650"/>
            <a:ext cx="1809750" cy="361950"/>
          </a:xfrm>
          <a:prstGeom prst="roundRect">
            <a:avLst>
              <a:gd name="adj" fmla="val 50000"/>
            </a:avLst>
          </a:prstGeom>
          <a:solidFill>
            <a:srgbClr val="EAF6F0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10013332" y="364331"/>
            <a:ext cx="1404585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120" b="1" dirty="0">
                <a:solidFill>
                  <a:schemeClr val="accent1"/>
                </a:solidFill>
                <a:latin typeface="+mn-lt"/>
                <a:ea typeface="+mn-ea"/>
                <a:cs typeface="+mn-cs"/>
              </a:rPr>
              <a:t>21/05–27/05/2026</a:t>
            </a:r>
          </a:p>
        </p:txBody>
      </p:sp>
      <p:grpSp>
        <p:nvGrpSpPr>
          <p:cNvPr id="10" name="Group 10"/>
          <p:cNvGrpSpPr/>
          <p:nvPr/>
        </p:nvGrpSpPr>
        <p:grpSpPr>
          <a:xfrm>
            <a:off x="533400" y="876300"/>
            <a:ext cx="11125200" cy="5429250"/>
            <a:chOff x="533400" y="876300"/>
            <a:chExt cx="11125200" cy="5429250"/>
          </a:xfrm>
        </p:grpSpPr>
        <p:sp>
          <p:nvSpPr>
            <p:cNvPr id="6" name="Rectangle 6"/>
            <p:cNvSpPr/>
            <p:nvPr/>
          </p:nvSpPr>
          <p:spPr>
            <a:xfrm>
              <a:off x="533400" y="876300"/>
              <a:ext cx="11125200" cy="5429250"/>
            </a:xfrm>
            <a:prstGeom prst="roundRect">
              <a:avLst>
                <a:gd name="adj" fmla="val 3158"/>
              </a:avLst>
            </a:prstGeom>
            <a:solidFill>
              <a:schemeClr val="lt2"/>
            </a:solidFill>
            <a:ln w="19050">
              <a:solidFill>
                <a:srgbClr val="B8D8C7"/>
              </a:solidFill>
            </a:ln>
          </p:spPr>
        </p:sp>
        <p:pic>
          <p:nvPicPr>
            <p:cNvPr id="7" name="Image 7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493543" y="1009650"/>
              <a:ext cx="9204913" cy="4762500"/>
            </a:xfrm>
            <a:prstGeom prst="rect">
              <a:avLst/>
            </a:prstGeom>
          </p:spPr>
        </p:pic>
        <p:sp>
          <p:nvSpPr>
            <p:cNvPr id="8" name="Rectangle 8"/>
            <p:cNvSpPr/>
            <p:nvPr/>
          </p:nvSpPr>
          <p:spPr>
            <a:xfrm>
              <a:off x="666750" y="5829300"/>
              <a:ext cx="10858500" cy="361950"/>
            </a:xfrm>
            <a:prstGeom prst="roundRect">
              <a:avLst>
                <a:gd name="adj" fmla="val 26316"/>
              </a:avLst>
            </a:prstGeom>
            <a:solidFill>
              <a:schemeClr val="lt1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850773" y="5929789"/>
              <a:ext cx="830689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8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THÀNH TÍCH</a:t>
              </a:r>
              <a:r>
                <a:rPr lang="en-US" sz="128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Hoàn tất hai vòng chỉnh sửa, ưu tiên thao tác nhà máy, độ ổn định và khả năng bảo trì.</a:t>
              </a:r>
            </a:p>
          </p:txBody>
        </p:sp>
      </p:grpSp>
      <p:sp>
        <p:nvSpPr>
          <p:cNvPr id="11" name="TextBox 11"/>
          <p:cNvSpPr txBox="1"/>
          <p:nvPr/>
        </p:nvSpPr>
        <p:spPr>
          <a:xfrm>
            <a:off x="11141640" y="6630352"/>
            <a:ext cx="484194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en-US" sz="1050" dirty="0">
                <a:solidFill>
                  <a:srgbClr val="66706A"/>
                </a:solidFill>
                <a:latin typeface="+mn-lt"/>
                <a:ea typeface="+mn-ea"/>
                <a:cs typeface="+mn-cs"/>
              </a:rPr>
              <a:t>13 / 22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6276" y="266700"/>
            <a:ext cx="1313447" cy="381000"/>
          </a:xfrm>
          <a:prstGeom prst="rect">
            <a:avLst/>
          </a:prstGeom>
        </p:spPr>
      </p:pic>
      <p:sp>
        <p:nvSpPr>
          <p:cNvPr id="3" name="TextBox 3"/>
          <p:cNvSpPr txBox="1"/>
          <p:nvPr/>
        </p:nvSpPr>
        <p:spPr>
          <a:xfrm>
            <a:off x="2462784" y="356235"/>
            <a:ext cx="2216506" cy="52806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2700" b="1" dirty="0">
                <a:solidFill>
                  <a:schemeClr val="accent1"/>
                </a:solidFill>
                <a:latin typeface="+mn-lt"/>
                <a:ea typeface="+mn-ea"/>
                <a:cs typeface="+mn-cs"/>
              </a:rPr>
              <a:t>4. Dự án IoT</a:t>
            </a:r>
          </a:p>
        </p:txBody>
      </p:sp>
      <p:sp>
        <p:nvSpPr>
          <p:cNvPr id="4" name="Rectangle 4"/>
          <p:cNvSpPr/>
          <p:nvPr/>
        </p:nvSpPr>
        <p:spPr>
          <a:xfrm>
            <a:off x="9239250" y="285750"/>
            <a:ext cx="2381250" cy="400050"/>
          </a:xfrm>
          <a:prstGeom prst="roundRect">
            <a:avLst>
              <a:gd name="adj" fmla="val 50000"/>
            </a:avLst>
          </a:prstGeom>
          <a:solidFill>
            <a:srgbClr val="EAF6F0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9627309" y="405289"/>
            <a:ext cx="1605132" cy="24936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280" b="1" dirty="0">
                <a:solidFill>
                  <a:schemeClr val="accent1"/>
                </a:solidFill>
                <a:latin typeface="+mn-lt"/>
                <a:ea typeface="+mn-ea"/>
                <a:cs typeface="+mn-cs"/>
              </a:rPr>
              <a:t>26/05–15/06/2026</a:t>
            </a:r>
          </a:p>
        </p:txBody>
      </p:sp>
      <p:grpSp>
        <p:nvGrpSpPr>
          <p:cNvPr id="42" name="Group 42"/>
          <p:cNvGrpSpPr/>
          <p:nvPr/>
        </p:nvGrpSpPr>
        <p:grpSpPr>
          <a:xfrm>
            <a:off x="533400" y="1066800"/>
            <a:ext cx="11125200" cy="4533900"/>
            <a:chOff x="533400" y="1066800"/>
            <a:chExt cx="11125200" cy="4533900"/>
          </a:xfrm>
        </p:grpSpPr>
        <p:grpSp>
          <p:nvGrpSpPr>
            <p:cNvPr id="11" name="Group 11"/>
            <p:cNvGrpSpPr/>
            <p:nvPr/>
          </p:nvGrpSpPr>
          <p:grpSpPr>
            <a:xfrm>
              <a:off x="533400" y="1066800"/>
              <a:ext cx="3429000" cy="2143125"/>
              <a:chOff x="533400" y="1066800"/>
              <a:chExt cx="3429000" cy="2143125"/>
            </a:xfrm>
          </p:grpSpPr>
          <p:sp>
            <p:nvSpPr>
              <p:cNvPr id="6" name="Rectangle 6"/>
              <p:cNvSpPr/>
              <p:nvPr/>
            </p:nvSpPr>
            <p:spPr>
              <a:xfrm>
                <a:off x="533400" y="1066800"/>
                <a:ext cx="3429000" cy="2143125"/>
              </a:xfrm>
              <a:prstGeom prst="roundRect">
                <a:avLst>
                  <a:gd name="adj" fmla="val 7111"/>
                </a:avLst>
              </a:prstGeom>
              <a:solidFill>
                <a:schemeClr val="lt2"/>
              </a:solidFill>
              <a:ln>
                <a:noFill/>
              </a:ln>
            </p:spPr>
          </p:sp>
          <p:sp>
            <p:nvSpPr>
              <p:cNvPr id="7" name="TextBox 7"/>
              <p:cNvSpPr txBox="1"/>
              <p:nvPr/>
            </p:nvSpPr>
            <p:spPr>
              <a:xfrm>
                <a:off x="773811" y="1284446"/>
                <a:ext cx="1605077" cy="27870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420" b="1" dirty="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rPr>
                  <a:t>CÔNG VIỆC CHÍNH</a:t>
                </a:r>
              </a:p>
            </p:txBody>
          </p:sp>
          <p:sp>
            <p:nvSpPr>
              <p:cNvPr id="8" name="TextBox 8"/>
              <p:cNvSpPr txBox="1"/>
              <p:nvPr/>
            </p:nvSpPr>
            <p:spPr>
              <a:xfrm>
                <a:off x="774192" y="1664018"/>
                <a:ext cx="2451847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35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Phát triển code loader Luto</a:t>
                </a:r>
              </a:p>
            </p:txBody>
          </p:sp>
          <p:sp>
            <p:nvSpPr>
              <p:cNvPr id="9" name="TextBox 9"/>
              <p:cNvSpPr txBox="1"/>
              <p:nvPr/>
            </p:nvSpPr>
            <p:spPr>
              <a:xfrm>
                <a:off x="774192" y="1959292"/>
                <a:ext cx="2249733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35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Họp định hướng Auto Test</a:t>
                </a:r>
              </a:p>
            </p:txBody>
          </p:sp>
          <p:sp>
            <p:nvSpPr>
              <p:cNvPr id="10" name="TextBox 10"/>
              <p:cNvSpPr txBox="1"/>
              <p:nvPr/>
            </p:nvSpPr>
            <p:spPr>
              <a:xfrm>
                <a:off x="774192" y="2254568"/>
                <a:ext cx="2736836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35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Hỗ trợ interface giữa các team</a:t>
                </a:r>
              </a:p>
            </p:txBody>
          </p:sp>
        </p:grpSp>
        <p:grpSp>
          <p:nvGrpSpPr>
            <p:cNvPr id="17" name="Group 17"/>
            <p:cNvGrpSpPr/>
            <p:nvPr/>
          </p:nvGrpSpPr>
          <p:grpSpPr>
            <a:xfrm>
              <a:off x="4210050" y="1066800"/>
              <a:ext cx="3429000" cy="2143125"/>
              <a:chOff x="4210050" y="1066800"/>
              <a:chExt cx="3429000" cy="2143125"/>
            </a:xfrm>
          </p:grpSpPr>
          <p:sp>
            <p:nvSpPr>
              <p:cNvPr id="12" name="Rectangle 12"/>
              <p:cNvSpPr/>
              <p:nvPr/>
            </p:nvSpPr>
            <p:spPr>
              <a:xfrm>
                <a:off x="4210050" y="1066800"/>
                <a:ext cx="3429000" cy="2143125"/>
              </a:xfrm>
              <a:prstGeom prst="roundRect">
                <a:avLst>
                  <a:gd name="adj" fmla="val 7111"/>
                </a:avLst>
              </a:prstGeom>
              <a:solidFill>
                <a:srgbClr val="EAF6F0"/>
              </a:solidFill>
              <a:ln>
                <a:noFill/>
              </a:ln>
            </p:spPr>
          </p:sp>
          <p:sp>
            <p:nvSpPr>
              <p:cNvPr id="13" name="TextBox 13"/>
              <p:cNvSpPr txBox="1"/>
              <p:nvPr/>
            </p:nvSpPr>
            <p:spPr>
              <a:xfrm>
                <a:off x="4450461" y="1284446"/>
                <a:ext cx="820381" cy="27870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420" b="1" dirty="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rPr>
                  <a:t>KẾT QUẢ</a:t>
                </a:r>
              </a:p>
            </p:txBody>
          </p:sp>
          <p:sp>
            <p:nvSpPr>
              <p:cNvPr id="14" name="TextBox 14"/>
              <p:cNvSpPr txBox="1"/>
              <p:nvPr/>
            </p:nvSpPr>
            <p:spPr>
              <a:xfrm>
                <a:off x="4450842" y="1664018"/>
                <a:ext cx="1230818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35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2/2 task Done</a:t>
                </a:r>
              </a:p>
            </p:txBody>
          </p:sp>
          <p:sp>
            <p:nvSpPr>
              <p:cNvPr id="15" name="TextBox 15"/>
              <p:cNvSpPr txBox="1"/>
              <p:nvPr/>
            </p:nvSpPr>
            <p:spPr>
              <a:xfrm>
                <a:off x="4450842" y="1959292"/>
                <a:ext cx="2152075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35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Bàn giao loader cho Luto</a:t>
                </a:r>
              </a:p>
            </p:txBody>
          </p:sp>
          <p:sp>
            <p:nvSpPr>
              <p:cNvPr id="16" name="TextBox 16"/>
              <p:cNvSpPr txBox="1"/>
              <p:nvPr/>
            </p:nvSpPr>
            <p:spPr>
              <a:xfrm>
                <a:off x="4450842" y="2254568"/>
                <a:ext cx="2449475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35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Thống nhất hướng Auto Test</a:t>
                </a:r>
              </a:p>
            </p:txBody>
          </p:sp>
        </p:grpSp>
        <p:grpSp>
          <p:nvGrpSpPr>
            <p:cNvPr id="23" name="Group 23"/>
            <p:cNvGrpSpPr/>
            <p:nvPr/>
          </p:nvGrpSpPr>
          <p:grpSpPr>
            <a:xfrm>
              <a:off x="7886700" y="1066800"/>
              <a:ext cx="3771900" cy="2143125"/>
              <a:chOff x="7886700" y="1066800"/>
              <a:chExt cx="3771900" cy="2143125"/>
            </a:xfrm>
          </p:grpSpPr>
          <p:sp>
            <p:nvSpPr>
              <p:cNvPr id="18" name="Rectangle 18"/>
              <p:cNvSpPr/>
              <p:nvPr/>
            </p:nvSpPr>
            <p:spPr>
              <a:xfrm>
                <a:off x="7886700" y="1066800"/>
                <a:ext cx="3771900" cy="2143125"/>
              </a:xfrm>
              <a:prstGeom prst="roundRect">
                <a:avLst>
                  <a:gd name="adj" fmla="val 7111"/>
                </a:avLst>
              </a:prstGeom>
              <a:solidFill>
                <a:schemeClr val="lt2"/>
              </a:solidFill>
              <a:ln>
                <a:noFill/>
              </a:ln>
            </p:spPr>
          </p:sp>
          <p:sp>
            <p:nvSpPr>
              <p:cNvPr id="19" name="TextBox 19"/>
              <p:cNvSpPr txBox="1"/>
              <p:nvPr/>
            </p:nvSpPr>
            <p:spPr>
              <a:xfrm>
                <a:off x="8127111" y="1284446"/>
                <a:ext cx="777965" cy="27870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420" b="1" dirty="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rPr>
                  <a:t>KỸ NĂNG</a:t>
                </a:r>
              </a:p>
            </p:txBody>
          </p:sp>
          <p:sp>
            <p:nvSpPr>
              <p:cNvPr id="20" name="TextBox 20"/>
              <p:cNvSpPr txBox="1"/>
              <p:nvPr/>
            </p:nvSpPr>
            <p:spPr>
              <a:xfrm>
                <a:off x="8127492" y="1664018"/>
                <a:ext cx="2591623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35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Loader và quy trình nạp code</a:t>
                </a:r>
              </a:p>
            </p:txBody>
          </p:sp>
          <p:sp>
            <p:nvSpPr>
              <p:cNvPr id="21" name="TextBox 21"/>
              <p:cNvSpPr txBox="1"/>
              <p:nvPr/>
            </p:nvSpPr>
            <p:spPr>
              <a:xfrm>
                <a:off x="8127492" y="1959292"/>
                <a:ext cx="2327997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35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Làm rõ interface kỹ thuật</a:t>
                </a:r>
              </a:p>
            </p:txBody>
          </p:sp>
          <p:sp>
            <p:nvSpPr>
              <p:cNvPr id="22" name="TextBox 22"/>
              <p:cNvSpPr txBox="1"/>
              <p:nvPr/>
            </p:nvSpPr>
            <p:spPr>
              <a:xfrm>
                <a:off x="8127492" y="2254568"/>
                <a:ext cx="1582552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35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Phối hợp liên team</a:t>
                </a:r>
              </a:p>
            </p:txBody>
          </p:sp>
        </p:grpSp>
        <p:grpSp>
          <p:nvGrpSpPr>
            <p:cNvPr id="29" name="Group 29"/>
            <p:cNvGrpSpPr/>
            <p:nvPr/>
          </p:nvGrpSpPr>
          <p:grpSpPr>
            <a:xfrm>
              <a:off x="533400" y="3457575"/>
              <a:ext cx="3429000" cy="2143125"/>
              <a:chOff x="533400" y="3457575"/>
              <a:chExt cx="3429000" cy="2143125"/>
            </a:xfrm>
          </p:grpSpPr>
          <p:sp>
            <p:nvSpPr>
              <p:cNvPr id="24" name="Rectangle 24"/>
              <p:cNvSpPr/>
              <p:nvPr/>
            </p:nvSpPr>
            <p:spPr>
              <a:xfrm>
                <a:off x="533400" y="3457575"/>
                <a:ext cx="3429000" cy="2143125"/>
              </a:xfrm>
              <a:prstGeom prst="roundRect">
                <a:avLst>
                  <a:gd name="adj" fmla="val 7111"/>
                </a:avLst>
              </a:prstGeom>
              <a:solidFill>
                <a:srgbClr val="EEF3FF"/>
              </a:solidFill>
              <a:ln>
                <a:noFill/>
              </a:ln>
            </p:spPr>
          </p:sp>
          <p:sp>
            <p:nvSpPr>
              <p:cNvPr id="25" name="TextBox 25"/>
              <p:cNvSpPr txBox="1"/>
              <p:nvPr/>
            </p:nvSpPr>
            <p:spPr>
              <a:xfrm>
                <a:off x="773811" y="3675221"/>
                <a:ext cx="661322" cy="27870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420" b="1" dirty="0">
                    <a:solidFill>
                      <a:schemeClr val="accent2"/>
                    </a:solidFill>
                    <a:latin typeface="+mn-lt"/>
                    <a:ea typeface="+mn-ea"/>
                    <a:cs typeface="+mn-cs"/>
                  </a:rPr>
                  <a:t>TƯ DUY</a:t>
                </a:r>
              </a:p>
            </p:txBody>
          </p:sp>
          <p:sp>
            <p:nvSpPr>
              <p:cNvPr id="26" name="TextBox 26"/>
              <p:cNvSpPr txBox="1"/>
              <p:nvPr/>
            </p:nvSpPr>
            <p:spPr>
              <a:xfrm>
                <a:off x="774192" y="4054792"/>
                <a:ext cx="2655118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35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Tái sử dụng tool và pattern cũ</a:t>
                </a:r>
              </a:p>
            </p:txBody>
          </p:sp>
          <p:sp>
            <p:nvSpPr>
              <p:cNvPr id="27" name="TextBox 27"/>
              <p:cNvSpPr txBox="1"/>
              <p:nvPr/>
            </p:nvSpPr>
            <p:spPr>
              <a:xfrm>
                <a:off x="774192" y="4350068"/>
                <a:ext cx="2836772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35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Thống nhất contract trước code</a:t>
                </a:r>
              </a:p>
            </p:txBody>
          </p:sp>
          <p:sp>
            <p:nvSpPr>
              <p:cNvPr id="28" name="TextBox 28"/>
              <p:cNvSpPr txBox="1"/>
              <p:nvPr/>
            </p:nvSpPr>
            <p:spPr>
              <a:xfrm>
                <a:off x="774192" y="4645342"/>
                <a:ext cx="1928308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35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Bàn giao kèm ngữ cảnh</a:t>
                </a:r>
              </a:p>
            </p:txBody>
          </p:sp>
        </p:grpSp>
        <p:grpSp>
          <p:nvGrpSpPr>
            <p:cNvPr id="35" name="Group 35"/>
            <p:cNvGrpSpPr/>
            <p:nvPr/>
          </p:nvGrpSpPr>
          <p:grpSpPr>
            <a:xfrm>
              <a:off x="4210050" y="3457575"/>
              <a:ext cx="3429000" cy="2143125"/>
              <a:chOff x="4210050" y="3457575"/>
              <a:chExt cx="3429000" cy="2143125"/>
            </a:xfrm>
          </p:grpSpPr>
          <p:sp>
            <p:nvSpPr>
              <p:cNvPr id="30" name="Rectangle 30"/>
              <p:cNvSpPr/>
              <p:nvPr/>
            </p:nvSpPr>
            <p:spPr>
              <a:xfrm>
                <a:off x="4210050" y="3457575"/>
                <a:ext cx="3429000" cy="2143125"/>
              </a:xfrm>
              <a:prstGeom prst="roundRect">
                <a:avLst>
                  <a:gd name="adj" fmla="val 7111"/>
                </a:avLst>
              </a:prstGeom>
              <a:solidFill>
                <a:srgbClr val="FFF7E8"/>
              </a:solidFill>
              <a:ln>
                <a:noFill/>
              </a:ln>
            </p:spPr>
          </p:sp>
          <p:sp>
            <p:nvSpPr>
              <p:cNvPr id="31" name="TextBox 31"/>
              <p:cNvSpPr txBox="1"/>
              <p:nvPr/>
            </p:nvSpPr>
            <p:spPr>
              <a:xfrm>
                <a:off x="4450461" y="3675221"/>
                <a:ext cx="1848969" cy="27870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420" b="1" dirty="0">
                    <a:solidFill>
                      <a:srgbClr val="B56A00"/>
                    </a:solidFill>
                    <a:latin typeface="+mn-lt"/>
                    <a:ea typeface="+mn-ea"/>
                    <a:cs typeface="+mn-cs"/>
                  </a:rPr>
                  <a:t>BÀI HỌC &amp; KHÓ KHĂN</a:t>
                </a:r>
              </a:p>
            </p:txBody>
          </p:sp>
          <p:sp>
            <p:nvSpPr>
              <p:cNvPr id="32" name="TextBox 32"/>
              <p:cNvSpPr txBox="1"/>
              <p:nvPr/>
            </p:nvSpPr>
            <p:spPr>
              <a:xfrm>
                <a:off x="4450842" y="4054792"/>
                <a:ext cx="2745943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35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Đồng bộ ưu tiên giữa nhiều team</a:t>
                </a:r>
              </a:p>
            </p:txBody>
          </p:sp>
          <p:sp>
            <p:nvSpPr>
              <p:cNvPr id="33" name="TextBox 33"/>
              <p:cNvSpPr txBox="1"/>
              <p:nvPr/>
            </p:nvSpPr>
            <p:spPr>
              <a:xfrm>
                <a:off x="4450842" y="4350068"/>
                <a:ext cx="2536968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35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Interface mơ hồ tạo vòng lặp</a:t>
                </a:r>
              </a:p>
            </p:txBody>
          </p:sp>
          <p:sp>
            <p:nvSpPr>
              <p:cNvPr id="34" name="TextBox 34"/>
              <p:cNvSpPr txBox="1"/>
              <p:nvPr/>
            </p:nvSpPr>
            <p:spPr>
              <a:xfrm>
                <a:off x="4450842" y="4645342"/>
                <a:ext cx="2200438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35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Cần decision log ngắn gọn</a:t>
                </a:r>
              </a:p>
            </p:txBody>
          </p:sp>
        </p:grpSp>
        <p:grpSp>
          <p:nvGrpSpPr>
            <p:cNvPr id="41" name="Group 41"/>
            <p:cNvGrpSpPr/>
            <p:nvPr/>
          </p:nvGrpSpPr>
          <p:grpSpPr>
            <a:xfrm>
              <a:off x="7886700" y="3457575"/>
              <a:ext cx="3771900" cy="2143125"/>
              <a:chOff x="7886700" y="3457575"/>
              <a:chExt cx="3771900" cy="2143125"/>
            </a:xfrm>
          </p:grpSpPr>
          <p:sp>
            <p:nvSpPr>
              <p:cNvPr id="36" name="Rectangle 36"/>
              <p:cNvSpPr/>
              <p:nvPr/>
            </p:nvSpPr>
            <p:spPr>
              <a:xfrm>
                <a:off x="7886700" y="3457575"/>
                <a:ext cx="3771900" cy="2143125"/>
              </a:xfrm>
              <a:prstGeom prst="roundRect">
                <a:avLst>
                  <a:gd name="adj" fmla="val 7111"/>
                </a:avLst>
              </a:prstGeom>
              <a:solidFill>
                <a:schemeClr val="accent1"/>
              </a:solidFill>
              <a:ln>
                <a:noFill/>
              </a:ln>
            </p:spPr>
          </p:sp>
          <p:sp>
            <p:nvSpPr>
              <p:cNvPr id="37" name="TextBox 37"/>
              <p:cNvSpPr txBox="1"/>
              <p:nvPr/>
            </p:nvSpPr>
            <p:spPr>
              <a:xfrm>
                <a:off x="8127111" y="3675221"/>
                <a:ext cx="1901989" cy="27870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420" b="1" dirty="0">
                    <a:solidFill>
                      <a:srgbClr val="FFFFFF"/>
                    </a:solidFill>
                    <a:latin typeface="+mn-lt"/>
                    <a:ea typeface="+mn-ea"/>
                    <a:cs typeface="+mn-cs"/>
                  </a:rPr>
                  <a:t>THÀNH TÍCH NỔI BẬT</a:t>
                </a:r>
              </a:p>
            </p:txBody>
          </p:sp>
          <p:sp>
            <p:nvSpPr>
              <p:cNvPr id="38" name="TextBox 38"/>
              <p:cNvSpPr txBox="1"/>
              <p:nvPr/>
            </p:nvSpPr>
            <p:spPr>
              <a:xfrm>
                <a:off x="8116062" y="4088130"/>
                <a:ext cx="876201" cy="70408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3600" b="1" dirty="0">
                    <a:solidFill>
                      <a:srgbClr val="FFFFFF"/>
                    </a:solidFill>
                    <a:latin typeface="+mn-lt"/>
                    <a:ea typeface="+mn-ea"/>
                    <a:cs typeface="+mn-cs"/>
                  </a:rPr>
                  <a:t>2/2</a:t>
                </a:r>
              </a:p>
            </p:txBody>
          </p:sp>
          <p:sp>
            <p:nvSpPr>
              <p:cNvPr id="39" name="TextBox 39"/>
              <p:cNvSpPr txBox="1"/>
              <p:nvPr/>
            </p:nvSpPr>
            <p:spPr>
              <a:xfrm>
                <a:off x="9079230" y="4276725"/>
                <a:ext cx="971026" cy="29337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500" dirty="0">
                    <a:solidFill>
                      <a:srgbClr val="FFFFFF"/>
                    </a:solidFill>
                    <a:latin typeface="+mn-lt"/>
                    <a:ea typeface="+mn-ea"/>
                    <a:cs typeface="+mn-cs"/>
                  </a:rPr>
                  <a:t>task Done</a:t>
                </a:r>
              </a:p>
            </p:txBody>
          </p:sp>
          <p:sp>
            <p:nvSpPr>
              <p:cNvPr id="40" name="TextBox 40"/>
              <p:cNvSpPr txBox="1"/>
              <p:nvPr/>
            </p:nvSpPr>
            <p:spPr>
              <a:xfrm>
                <a:off x="8127873" y="4815364"/>
                <a:ext cx="2178485" cy="24936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280" dirty="0">
                    <a:solidFill>
                      <a:srgbClr val="FFFFFF"/>
                    </a:solidFill>
                    <a:latin typeface="+mn-lt"/>
                    <a:ea typeface="+mn-ea"/>
                    <a:cs typeface="+mn-cs"/>
                  </a:rPr>
                  <a:t>Loader Luto được bàn giao</a:t>
                </a:r>
              </a:p>
            </p:txBody>
          </p:sp>
        </p:grpSp>
      </p:grpSp>
      <p:sp>
        <p:nvSpPr>
          <p:cNvPr id="43" name="TextBox 43"/>
          <p:cNvSpPr txBox="1"/>
          <p:nvPr/>
        </p:nvSpPr>
        <p:spPr>
          <a:xfrm>
            <a:off x="11141640" y="6630352"/>
            <a:ext cx="484194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en-US" sz="1050" dirty="0">
                <a:solidFill>
                  <a:srgbClr val="66706A"/>
                </a:solidFill>
                <a:latin typeface="+mn-lt"/>
                <a:ea typeface="+mn-ea"/>
                <a:cs typeface="+mn-cs"/>
              </a:rPr>
              <a:t>14 / 22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6276" y="266700"/>
            <a:ext cx="1313447" cy="381000"/>
          </a:xfrm>
          <a:prstGeom prst="rect">
            <a:avLst/>
          </a:prstGeom>
        </p:spPr>
      </p:pic>
      <p:sp>
        <p:nvSpPr>
          <p:cNvPr id="3" name="TextBox 3"/>
          <p:cNvSpPr txBox="1"/>
          <p:nvPr/>
        </p:nvSpPr>
        <p:spPr>
          <a:xfrm>
            <a:off x="2462784" y="356235"/>
            <a:ext cx="3229492" cy="52806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2700" b="1" dirty="0">
                <a:solidFill>
                  <a:schemeClr val="accent1"/>
                </a:solidFill>
                <a:latin typeface="+mn-lt"/>
                <a:ea typeface="+mn-ea"/>
                <a:cs typeface="+mn-cs"/>
              </a:rPr>
              <a:t>5. Dự án LumesV2</a:t>
            </a:r>
          </a:p>
        </p:txBody>
      </p:sp>
      <p:sp>
        <p:nvSpPr>
          <p:cNvPr id="4" name="Rectangle 4"/>
          <p:cNvSpPr/>
          <p:nvPr/>
        </p:nvSpPr>
        <p:spPr>
          <a:xfrm>
            <a:off x="9239250" y="285750"/>
            <a:ext cx="2381250" cy="400050"/>
          </a:xfrm>
          <a:prstGeom prst="roundRect">
            <a:avLst>
              <a:gd name="adj" fmla="val 50000"/>
            </a:avLst>
          </a:prstGeom>
          <a:solidFill>
            <a:srgbClr val="EAF6F0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9627309" y="405289"/>
            <a:ext cx="1605132" cy="24936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280" b="1" dirty="0">
                <a:solidFill>
                  <a:schemeClr val="accent1"/>
                </a:solidFill>
                <a:latin typeface="+mn-lt"/>
                <a:ea typeface="+mn-ea"/>
                <a:cs typeface="+mn-cs"/>
              </a:rPr>
              <a:t>18/05–16/06/2026</a:t>
            </a:r>
          </a:p>
        </p:txBody>
      </p:sp>
      <p:grpSp>
        <p:nvGrpSpPr>
          <p:cNvPr id="42" name="Group 42"/>
          <p:cNvGrpSpPr/>
          <p:nvPr/>
        </p:nvGrpSpPr>
        <p:grpSpPr>
          <a:xfrm>
            <a:off x="533400" y="1066800"/>
            <a:ext cx="11125200" cy="4533900"/>
            <a:chOff x="533400" y="1066800"/>
            <a:chExt cx="11125200" cy="4533900"/>
          </a:xfrm>
        </p:grpSpPr>
        <p:grpSp>
          <p:nvGrpSpPr>
            <p:cNvPr id="11" name="Group 11"/>
            <p:cNvGrpSpPr/>
            <p:nvPr/>
          </p:nvGrpSpPr>
          <p:grpSpPr>
            <a:xfrm>
              <a:off x="533400" y="1066800"/>
              <a:ext cx="3429000" cy="2143125"/>
              <a:chOff x="533400" y="1066800"/>
              <a:chExt cx="3429000" cy="2143125"/>
            </a:xfrm>
          </p:grpSpPr>
          <p:sp>
            <p:nvSpPr>
              <p:cNvPr id="6" name="Rectangle 6"/>
              <p:cNvSpPr/>
              <p:nvPr/>
            </p:nvSpPr>
            <p:spPr>
              <a:xfrm>
                <a:off x="533400" y="1066800"/>
                <a:ext cx="3429000" cy="2143125"/>
              </a:xfrm>
              <a:prstGeom prst="roundRect">
                <a:avLst>
                  <a:gd name="adj" fmla="val 7111"/>
                </a:avLst>
              </a:prstGeom>
              <a:solidFill>
                <a:schemeClr val="lt2"/>
              </a:solidFill>
              <a:ln>
                <a:noFill/>
              </a:ln>
            </p:spPr>
          </p:sp>
          <p:sp>
            <p:nvSpPr>
              <p:cNvPr id="7" name="TextBox 7"/>
              <p:cNvSpPr txBox="1"/>
              <p:nvPr/>
            </p:nvSpPr>
            <p:spPr>
              <a:xfrm>
                <a:off x="773811" y="1284446"/>
                <a:ext cx="1605077" cy="27870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420" b="1" dirty="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rPr>
                  <a:t>CÔNG VIỆC CHÍNH</a:t>
                </a:r>
              </a:p>
            </p:txBody>
          </p:sp>
          <p:sp>
            <p:nvSpPr>
              <p:cNvPr id="8" name="TextBox 8"/>
              <p:cNvSpPr txBox="1"/>
              <p:nvPr/>
            </p:nvSpPr>
            <p:spPr>
              <a:xfrm>
                <a:off x="774192" y="1664018"/>
                <a:ext cx="1382678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35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Tool test nguồn</a:t>
                </a:r>
              </a:p>
            </p:txBody>
          </p:sp>
          <p:sp>
            <p:nvSpPr>
              <p:cNvPr id="9" name="TextBox 9"/>
              <p:cNvSpPr txBox="1"/>
              <p:nvPr/>
            </p:nvSpPr>
            <p:spPr>
              <a:xfrm>
                <a:off x="774192" y="1959292"/>
                <a:ext cx="2380532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35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Tool nạp code mạch main V2</a:t>
                </a:r>
              </a:p>
            </p:txBody>
          </p:sp>
          <p:sp>
            <p:nvSpPr>
              <p:cNvPr id="10" name="TextBox 10"/>
              <p:cNvSpPr txBox="1"/>
              <p:nvPr/>
            </p:nvSpPr>
            <p:spPr>
              <a:xfrm>
                <a:off x="774192" y="2254568"/>
                <a:ext cx="2409999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35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Kiểm tra theo flow nhà máy</a:t>
                </a:r>
              </a:p>
            </p:txBody>
          </p:sp>
        </p:grpSp>
        <p:grpSp>
          <p:nvGrpSpPr>
            <p:cNvPr id="17" name="Group 17"/>
            <p:cNvGrpSpPr/>
            <p:nvPr/>
          </p:nvGrpSpPr>
          <p:grpSpPr>
            <a:xfrm>
              <a:off x="4210050" y="1066800"/>
              <a:ext cx="3429000" cy="2143125"/>
              <a:chOff x="4210050" y="1066800"/>
              <a:chExt cx="3429000" cy="2143125"/>
            </a:xfrm>
          </p:grpSpPr>
          <p:sp>
            <p:nvSpPr>
              <p:cNvPr id="12" name="Rectangle 12"/>
              <p:cNvSpPr/>
              <p:nvPr/>
            </p:nvSpPr>
            <p:spPr>
              <a:xfrm>
                <a:off x="4210050" y="1066800"/>
                <a:ext cx="3429000" cy="2143125"/>
              </a:xfrm>
              <a:prstGeom prst="roundRect">
                <a:avLst>
                  <a:gd name="adj" fmla="val 7111"/>
                </a:avLst>
              </a:prstGeom>
              <a:solidFill>
                <a:srgbClr val="EAF6F0"/>
              </a:solidFill>
              <a:ln>
                <a:noFill/>
              </a:ln>
            </p:spPr>
          </p:sp>
          <p:sp>
            <p:nvSpPr>
              <p:cNvPr id="13" name="TextBox 13"/>
              <p:cNvSpPr txBox="1"/>
              <p:nvPr/>
            </p:nvSpPr>
            <p:spPr>
              <a:xfrm>
                <a:off x="4450461" y="1284446"/>
                <a:ext cx="820381" cy="27870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420" b="1" dirty="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rPr>
                  <a:t>KẾT QUẢ</a:t>
                </a:r>
              </a:p>
            </p:txBody>
          </p:sp>
          <p:sp>
            <p:nvSpPr>
              <p:cNvPr id="14" name="TextBox 14"/>
              <p:cNvSpPr txBox="1"/>
              <p:nvPr/>
            </p:nvSpPr>
            <p:spPr>
              <a:xfrm>
                <a:off x="4450842" y="1664018"/>
                <a:ext cx="1230818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35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2/2 task Done</a:t>
                </a:r>
              </a:p>
            </p:txBody>
          </p:sp>
          <p:sp>
            <p:nvSpPr>
              <p:cNvPr id="15" name="TextBox 15"/>
              <p:cNvSpPr txBox="1"/>
              <p:nvPr/>
            </p:nvSpPr>
            <p:spPr>
              <a:xfrm>
                <a:off x="4450842" y="1959292"/>
                <a:ext cx="2755051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35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Có tool cho hai công đoạn chính</a:t>
                </a:r>
              </a:p>
            </p:txBody>
          </p:sp>
          <p:sp>
            <p:nvSpPr>
              <p:cNvPr id="16" name="TextBox 16"/>
              <p:cNvSpPr txBox="1"/>
              <p:nvPr/>
            </p:nvSpPr>
            <p:spPr>
              <a:xfrm>
                <a:off x="4450842" y="2254568"/>
                <a:ext cx="2382665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35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Sẵn sàng tích hợp vào flow</a:t>
                </a:r>
              </a:p>
            </p:txBody>
          </p:sp>
        </p:grpSp>
        <p:grpSp>
          <p:nvGrpSpPr>
            <p:cNvPr id="23" name="Group 23"/>
            <p:cNvGrpSpPr/>
            <p:nvPr/>
          </p:nvGrpSpPr>
          <p:grpSpPr>
            <a:xfrm>
              <a:off x="7886700" y="1066800"/>
              <a:ext cx="3771900" cy="2143125"/>
              <a:chOff x="7886700" y="1066800"/>
              <a:chExt cx="3771900" cy="2143125"/>
            </a:xfrm>
          </p:grpSpPr>
          <p:sp>
            <p:nvSpPr>
              <p:cNvPr id="18" name="Rectangle 18"/>
              <p:cNvSpPr/>
              <p:nvPr/>
            </p:nvSpPr>
            <p:spPr>
              <a:xfrm>
                <a:off x="7886700" y="1066800"/>
                <a:ext cx="3771900" cy="2143125"/>
              </a:xfrm>
              <a:prstGeom prst="roundRect">
                <a:avLst>
                  <a:gd name="adj" fmla="val 7111"/>
                </a:avLst>
              </a:prstGeom>
              <a:solidFill>
                <a:schemeClr val="lt2"/>
              </a:solidFill>
              <a:ln>
                <a:noFill/>
              </a:ln>
            </p:spPr>
          </p:sp>
          <p:sp>
            <p:nvSpPr>
              <p:cNvPr id="19" name="TextBox 19"/>
              <p:cNvSpPr txBox="1"/>
              <p:nvPr/>
            </p:nvSpPr>
            <p:spPr>
              <a:xfrm>
                <a:off x="8127111" y="1284446"/>
                <a:ext cx="777965" cy="27870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420" b="1" dirty="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rPr>
                  <a:t>KỸ NĂNG</a:t>
                </a:r>
              </a:p>
            </p:txBody>
          </p:sp>
          <p:sp>
            <p:nvSpPr>
              <p:cNvPr id="20" name="TextBox 20"/>
              <p:cNvSpPr txBox="1"/>
              <p:nvPr/>
            </p:nvSpPr>
            <p:spPr>
              <a:xfrm>
                <a:off x="8127492" y="1664018"/>
                <a:ext cx="2037340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35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Test nguồn và nạp code</a:t>
                </a:r>
              </a:p>
            </p:txBody>
          </p:sp>
          <p:sp>
            <p:nvSpPr>
              <p:cNvPr id="21" name="TextBox 21"/>
              <p:cNvSpPr txBox="1"/>
              <p:nvPr/>
            </p:nvSpPr>
            <p:spPr>
              <a:xfrm>
                <a:off x="8127492" y="1959292"/>
                <a:ext cx="2280682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35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Tích hợp với mạch main V2</a:t>
                </a:r>
              </a:p>
            </p:txBody>
          </p:sp>
          <p:sp>
            <p:nvSpPr>
              <p:cNvPr id="22" name="TextBox 22"/>
              <p:cNvSpPr txBox="1"/>
              <p:nvPr/>
            </p:nvSpPr>
            <p:spPr>
              <a:xfrm>
                <a:off x="8127492" y="2254568"/>
                <a:ext cx="2491698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35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Chuẩn hóa thao tác vận hành</a:t>
                </a:r>
              </a:p>
            </p:txBody>
          </p:sp>
        </p:grpSp>
        <p:grpSp>
          <p:nvGrpSpPr>
            <p:cNvPr id="29" name="Group 29"/>
            <p:cNvGrpSpPr/>
            <p:nvPr/>
          </p:nvGrpSpPr>
          <p:grpSpPr>
            <a:xfrm>
              <a:off x="533400" y="3457575"/>
              <a:ext cx="3429000" cy="2143125"/>
              <a:chOff x="533400" y="3457575"/>
              <a:chExt cx="3429000" cy="2143125"/>
            </a:xfrm>
          </p:grpSpPr>
          <p:sp>
            <p:nvSpPr>
              <p:cNvPr id="24" name="Rectangle 24"/>
              <p:cNvSpPr/>
              <p:nvPr/>
            </p:nvSpPr>
            <p:spPr>
              <a:xfrm>
                <a:off x="533400" y="3457575"/>
                <a:ext cx="3429000" cy="2143125"/>
              </a:xfrm>
              <a:prstGeom prst="roundRect">
                <a:avLst>
                  <a:gd name="adj" fmla="val 7111"/>
                </a:avLst>
              </a:prstGeom>
              <a:solidFill>
                <a:srgbClr val="EEF3FF"/>
              </a:solidFill>
              <a:ln>
                <a:noFill/>
              </a:ln>
            </p:spPr>
          </p:sp>
          <p:sp>
            <p:nvSpPr>
              <p:cNvPr id="25" name="TextBox 25"/>
              <p:cNvSpPr txBox="1"/>
              <p:nvPr/>
            </p:nvSpPr>
            <p:spPr>
              <a:xfrm>
                <a:off x="773811" y="3675221"/>
                <a:ext cx="661322" cy="27870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420" b="1" dirty="0">
                    <a:solidFill>
                      <a:schemeClr val="accent2"/>
                    </a:solidFill>
                    <a:latin typeface="+mn-lt"/>
                    <a:ea typeface="+mn-ea"/>
                    <a:cs typeface="+mn-cs"/>
                  </a:rPr>
                  <a:t>TƯ DUY</a:t>
                </a:r>
              </a:p>
            </p:txBody>
          </p:sp>
          <p:sp>
            <p:nvSpPr>
              <p:cNvPr id="26" name="TextBox 26"/>
              <p:cNvSpPr txBox="1"/>
              <p:nvPr/>
            </p:nvSpPr>
            <p:spPr>
              <a:xfrm>
                <a:off x="774192" y="4054792"/>
                <a:ext cx="2191943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35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Tách rõ test và nạp code</a:t>
                </a:r>
              </a:p>
            </p:txBody>
          </p:sp>
          <p:sp>
            <p:nvSpPr>
              <p:cNvPr id="27" name="TextBox 27"/>
              <p:cNvSpPr txBox="1"/>
              <p:nvPr/>
            </p:nvSpPr>
            <p:spPr>
              <a:xfrm>
                <a:off x="774192" y="4350068"/>
                <a:ext cx="2091690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35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Thiết kế theo công đoạn</a:t>
                </a:r>
              </a:p>
            </p:txBody>
          </p:sp>
          <p:sp>
            <p:nvSpPr>
              <p:cNvPr id="28" name="TextBox 28"/>
              <p:cNvSpPr txBox="1"/>
              <p:nvPr/>
            </p:nvSpPr>
            <p:spPr>
              <a:xfrm>
                <a:off x="774192" y="4645342"/>
                <a:ext cx="2882305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35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Giảm thao tác thừa của operator</a:t>
                </a:r>
              </a:p>
            </p:txBody>
          </p:sp>
        </p:grpSp>
        <p:grpSp>
          <p:nvGrpSpPr>
            <p:cNvPr id="35" name="Group 35"/>
            <p:cNvGrpSpPr/>
            <p:nvPr/>
          </p:nvGrpSpPr>
          <p:grpSpPr>
            <a:xfrm>
              <a:off x="4210050" y="3457575"/>
              <a:ext cx="3429000" cy="2143125"/>
              <a:chOff x="4210050" y="3457575"/>
              <a:chExt cx="3429000" cy="2143125"/>
            </a:xfrm>
          </p:grpSpPr>
          <p:sp>
            <p:nvSpPr>
              <p:cNvPr id="30" name="Rectangle 30"/>
              <p:cNvSpPr/>
              <p:nvPr/>
            </p:nvSpPr>
            <p:spPr>
              <a:xfrm>
                <a:off x="4210050" y="3457575"/>
                <a:ext cx="3429000" cy="2143125"/>
              </a:xfrm>
              <a:prstGeom prst="roundRect">
                <a:avLst>
                  <a:gd name="adj" fmla="val 7111"/>
                </a:avLst>
              </a:prstGeom>
              <a:solidFill>
                <a:srgbClr val="FFF7E8"/>
              </a:solidFill>
              <a:ln>
                <a:noFill/>
              </a:ln>
            </p:spPr>
          </p:sp>
          <p:sp>
            <p:nvSpPr>
              <p:cNvPr id="31" name="TextBox 31"/>
              <p:cNvSpPr txBox="1"/>
              <p:nvPr/>
            </p:nvSpPr>
            <p:spPr>
              <a:xfrm>
                <a:off x="4450461" y="3675221"/>
                <a:ext cx="1848969" cy="27870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420" b="1" dirty="0">
                    <a:solidFill>
                      <a:srgbClr val="B56A00"/>
                    </a:solidFill>
                    <a:latin typeface="+mn-lt"/>
                    <a:ea typeface="+mn-ea"/>
                    <a:cs typeface="+mn-cs"/>
                  </a:rPr>
                  <a:t>BÀI HỌC &amp; KHÓ KHĂN</a:t>
                </a:r>
              </a:p>
            </p:txBody>
          </p:sp>
          <p:sp>
            <p:nvSpPr>
              <p:cNvPr id="32" name="TextBox 32"/>
              <p:cNvSpPr txBox="1"/>
              <p:nvPr/>
            </p:nvSpPr>
            <p:spPr>
              <a:xfrm>
                <a:off x="4450842" y="4054792"/>
                <a:ext cx="3118828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35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Tương thích mạch cần xác nhận sớm</a:t>
                </a:r>
              </a:p>
            </p:txBody>
          </p:sp>
          <p:sp>
            <p:nvSpPr>
              <p:cNvPr id="33" name="TextBox 33"/>
              <p:cNvSpPr txBox="1"/>
              <p:nvPr/>
            </p:nvSpPr>
            <p:spPr>
              <a:xfrm>
                <a:off x="4450842" y="4350068"/>
                <a:ext cx="2818803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35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Flow nhà máy cần rõ acceptance</a:t>
                </a:r>
              </a:p>
            </p:txBody>
          </p:sp>
          <p:sp>
            <p:nvSpPr>
              <p:cNvPr id="34" name="TextBox 34"/>
              <p:cNvSpPr txBox="1"/>
              <p:nvPr/>
            </p:nvSpPr>
            <p:spPr>
              <a:xfrm>
                <a:off x="4450842" y="4645342"/>
                <a:ext cx="2654639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35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Test fixture trước khi rollout</a:t>
                </a:r>
              </a:p>
            </p:txBody>
          </p:sp>
        </p:grpSp>
        <p:grpSp>
          <p:nvGrpSpPr>
            <p:cNvPr id="41" name="Group 41"/>
            <p:cNvGrpSpPr/>
            <p:nvPr/>
          </p:nvGrpSpPr>
          <p:grpSpPr>
            <a:xfrm>
              <a:off x="7886700" y="3457575"/>
              <a:ext cx="3771900" cy="2143125"/>
              <a:chOff x="7886700" y="3457575"/>
              <a:chExt cx="3771900" cy="2143125"/>
            </a:xfrm>
          </p:grpSpPr>
          <p:sp>
            <p:nvSpPr>
              <p:cNvPr id="36" name="Rectangle 36"/>
              <p:cNvSpPr/>
              <p:nvPr/>
            </p:nvSpPr>
            <p:spPr>
              <a:xfrm>
                <a:off x="7886700" y="3457575"/>
                <a:ext cx="3771900" cy="2143125"/>
              </a:xfrm>
              <a:prstGeom prst="roundRect">
                <a:avLst>
                  <a:gd name="adj" fmla="val 7111"/>
                </a:avLst>
              </a:prstGeom>
              <a:solidFill>
                <a:schemeClr val="accent1"/>
              </a:solidFill>
              <a:ln>
                <a:noFill/>
              </a:ln>
            </p:spPr>
          </p:sp>
          <p:sp>
            <p:nvSpPr>
              <p:cNvPr id="37" name="TextBox 37"/>
              <p:cNvSpPr txBox="1"/>
              <p:nvPr/>
            </p:nvSpPr>
            <p:spPr>
              <a:xfrm>
                <a:off x="8127111" y="3675221"/>
                <a:ext cx="1901989" cy="27870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420" b="1" dirty="0">
                    <a:solidFill>
                      <a:srgbClr val="FFFFFF"/>
                    </a:solidFill>
                    <a:latin typeface="+mn-lt"/>
                    <a:ea typeface="+mn-ea"/>
                    <a:cs typeface="+mn-cs"/>
                  </a:rPr>
                  <a:t>THÀNH TÍCH NỔI BẬT</a:t>
                </a:r>
              </a:p>
            </p:txBody>
          </p:sp>
          <p:sp>
            <p:nvSpPr>
              <p:cNvPr id="38" name="TextBox 38"/>
              <p:cNvSpPr txBox="1"/>
              <p:nvPr/>
            </p:nvSpPr>
            <p:spPr>
              <a:xfrm>
                <a:off x="8116062" y="4088130"/>
                <a:ext cx="876201" cy="70408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3600" b="1" dirty="0">
                    <a:solidFill>
                      <a:srgbClr val="FFFFFF"/>
                    </a:solidFill>
                    <a:latin typeface="+mn-lt"/>
                    <a:ea typeface="+mn-ea"/>
                    <a:cs typeface="+mn-cs"/>
                  </a:rPr>
                  <a:t>2/2</a:t>
                </a:r>
              </a:p>
            </p:txBody>
          </p:sp>
          <p:sp>
            <p:nvSpPr>
              <p:cNvPr id="39" name="TextBox 39"/>
              <p:cNvSpPr txBox="1"/>
              <p:nvPr/>
            </p:nvSpPr>
            <p:spPr>
              <a:xfrm>
                <a:off x="9079230" y="4276725"/>
                <a:ext cx="971026" cy="29337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500" dirty="0">
                    <a:solidFill>
                      <a:srgbClr val="FFFFFF"/>
                    </a:solidFill>
                    <a:latin typeface="+mn-lt"/>
                    <a:ea typeface="+mn-ea"/>
                    <a:cs typeface="+mn-cs"/>
                  </a:rPr>
                  <a:t>task Done</a:t>
                </a:r>
              </a:p>
            </p:txBody>
          </p:sp>
          <p:pic>
            <p:nvPicPr>
              <p:cNvPr id="40" name="Image 40"/>
              <p:cNvPicPr>
                <a:picLocks noChangeAspect="1"/>
              </p:cNvPicPr>
              <p:nvPr/>
            </p:nvPicPr>
            <p:blipFill>
              <a:blip r:embed="rId3"/>
              <a:srcRect l="7605" t="0" r="7605" b="0"/>
              <a:stretch>
                <a:fillRect/>
              </a:stretch>
            </p:blipFill>
            <p:spPr>
              <a:xfrm>
                <a:off x="10287000" y="4171950"/>
                <a:ext cx="1095375" cy="1143000"/>
              </a:xfrm>
              <a:prstGeom prst="rect">
                <a:avLst/>
              </a:prstGeom>
            </p:spPr>
          </p:pic>
        </p:grpSp>
      </p:grpSp>
      <p:sp>
        <p:nvSpPr>
          <p:cNvPr id="43" name="TextBox 43"/>
          <p:cNvSpPr txBox="1"/>
          <p:nvPr/>
        </p:nvSpPr>
        <p:spPr>
          <a:xfrm>
            <a:off x="11141640" y="6630352"/>
            <a:ext cx="484194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en-US" sz="1050" dirty="0">
                <a:solidFill>
                  <a:srgbClr val="66706A"/>
                </a:solidFill>
                <a:latin typeface="+mn-lt"/>
                <a:ea typeface="+mn-ea"/>
                <a:cs typeface="+mn-cs"/>
              </a:rPr>
              <a:t>15 / 22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6276" y="266700"/>
            <a:ext cx="1313447" cy="381000"/>
          </a:xfrm>
          <a:prstGeom prst="rect">
            <a:avLst/>
          </a:prstGeom>
        </p:spPr>
      </p:pic>
      <p:sp>
        <p:nvSpPr>
          <p:cNvPr id="3" name="TextBox 3"/>
          <p:cNvSpPr txBox="1"/>
          <p:nvPr/>
        </p:nvSpPr>
        <p:spPr>
          <a:xfrm>
            <a:off x="2462784" y="356235"/>
            <a:ext cx="3771014" cy="52806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2700" b="1" dirty="0">
                <a:solidFill>
                  <a:schemeClr val="accent1"/>
                </a:solidFill>
                <a:latin typeface="+mn-lt"/>
                <a:ea typeface="+mn-ea"/>
                <a:cs typeface="+mn-cs"/>
              </a:rPr>
              <a:t>6. Dự án MSB Office</a:t>
            </a:r>
          </a:p>
        </p:txBody>
      </p:sp>
      <p:sp>
        <p:nvSpPr>
          <p:cNvPr id="4" name="Rectangle 4"/>
          <p:cNvSpPr/>
          <p:nvPr/>
        </p:nvSpPr>
        <p:spPr>
          <a:xfrm>
            <a:off x="9239250" y="285750"/>
            <a:ext cx="2381250" cy="400050"/>
          </a:xfrm>
          <a:prstGeom prst="roundRect">
            <a:avLst>
              <a:gd name="adj" fmla="val 50000"/>
            </a:avLst>
          </a:prstGeom>
          <a:solidFill>
            <a:srgbClr val="EAF6F0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9627309" y="405289"/>
            <a:ext cx="1605132" cy="24936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280" b="1" dirty="0">
                <a:solidFill>
                  <a:schemeClr val="accent1"/>
                </a:solidFill>
                <a:latin typeface="+mn-lt"/>
                <a:ea typeface="+mn-ea"/>
                <a:cs typeface="+mn-cs"/>
              </a:rPr>
              <a:t>07/04–10/04/2026</a:t>
            </a:r>
          </a:p>
        </p:txBody>
      </p:sp>
      <p:grpSp>
        <p:nvGrpSpPr>
          <p:cNvPr id="42" name="Group 42"/>
          <p:cNvGrpSpPr/>
          <p:nvPr/>
        </p:nvGrpSpPr>
        <p:grpSpPr>
          <a:xfrm>
            <a:off x="533400" y="1066800"/>
            <a:ext cx="11125200" cy="4533900"/>
            <a:chOff x="533400" y="1066800"/>
            <a:chExt cx="11125200" cy="4533900"/>
          </a:xfrm>
        </p:grpSpPr>
        <p:grpSp>
          <p:nvGrpSpPr>
            <p:cNvPr id="11" name="Group 11"/>
            <p:cNvGrpSpPr/>
            <p:nvPr/>
          </p:nvGrpSpPr>
          <p:grpSpPr>
            <a:xfrm>
              <a:off x="533400" y="1066800"/>
              <a:ext cx="3429000" cy="2143125"/>
              <a:chOff x="533400" y="1066800"/>
              <a:chExt cx="3429000" cy="2143125"/>
            </a:xfrm>
          </p:grpSpPr>
          <p:sp>
            <p:nvSpPr>
              <p:cNvPr id="6" name="Rectangle 6"/>
              <p:cNvSpPr/>
              <p:nvPr/>
            </p:nvSpPr>
            <p:spPr>
              <a:xfrm>
                <a:off x="533400" y="1066800"/>
                <a:ext cx="3429000" cy="2143125"/>
              </a:xfrm>
              <a:prstGeom prst="roundRect">
                <a:avLst>
                  <a:gd name="adj" fmla="val 7111"/>
                </a:avLst>
              </a:prstGeom>
              <a:solidFill>
                <a:schemeClr val="lt2"/>
              </a:solidFill>
              <a:ln>
                <a:noFill/>
              </a:ln>
            </p:spPr>
          </p:sp>
          <p:sp>
            <p:nvSpPr>
              <p:cNvPr id="7" name="TextBox 7"/>
              <p:cNvSpPr txBox="1"/>
              <p:nvPr/>
            </p:nvSpPr>
            <p:spPr>
              <a:xfrm>
                <a:off x="773811" y="1284446"/>
                <a:ext cx="1605077" cy="27870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420" b="1" dirty="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rPr>
                  <a:t>CÔNG VIỆC CHÍNH</a:t>
                </a:r>
              </a:p>
            </p:txBody>
          </p:sp>
          <p:sp>
            <p:nvSpPr>
              <p:cNvPr id="8" name="TextBox 8"/>
              <p:cNvSpPr txBox="1"/>
              <p:nvPr/>
            </p:nvSpPr>
            <p:spPr>
              <a:xfrm>
                <a:off x="774192" y="1664018"/>
                <a:ext cx="2064044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35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Fix lỗi đo sai năng lượng</a:t>
                </a:r>
              </a:p>
            </p:txBody>
          </p:sp>
          <p:sp>
            <p:nvSpPr>
              <p:cNvPr id="9" name="TextBox 9"/>
              <p:cNvSpPr txBox="1"/>
              <p:nvPr/>
            </p:nvSpPr>
            <p:spPr>
              <a:xfrm>
                <a:off x="774192" y="1959292"/>
                <a:ext cx="2134426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35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Kiểm tra Jig tại nhà máy</a:t>
                </a:r>
              </a:p>
            </p:txBody>
          </p:sp>
          <p:sp>
            <p:nvSpPr>
              <p:cNvPr id="10" name="TextBox 10"/>
              <p:cNvSpPr txBox="1"/>
              <p:nvPr/>
            </p:nvSpPr>
            <p:spPr>
              <a:xfrm>
                <a:off x="774192" y="2254568"/>
                <a:ext cx="2364155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35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Đối chiếu dữ liệu đo thực tế</a:t>
                </a:r>
              </a:p>
            </p:txBody>
          </p:sp>
        </p:grpSp>
        <p:grpSp>
          <p:nvGrpSpPr>
            <p:cNvPr id="17" name="Group 17"/>
            <p:cNvGrpSpPr/>
            <p:nvPr/>
          </p:nvGrpSpPr>
          <p:grpSpPr>
            <a:xfrm>
              <a:off x="4210050" y="1066800"/>
              <a:ext cx="3429000" cy="2143125"/>
              <a:chOff x="4210050" y="1066800"/>
              <a:chExt cx="3429000" cy="2143125"/>
            </a:xfrm>
          </p:grpSpPr>
          <p:sp>
            <p:nvSpPr>
              <p:cNvPr id="12" name="Rectangle 12"/>
              <p:cNvSpPr/>
              <p:nvPr/>
            </p:nvSpPr>
            <p:spPr>
              <a:xfrm>
                <a:off x="4210050" y="1066800"/>
                <a:ext cx="3429000" cy="2143125"/>
              </a:xfrm>
              <a:prstGeom prst="roundRect">
                <a:avLst>
                  <a:gd name="adj" fmla="val 7111"/>
                </a:avLst>
              </a:prstGeom>
              <a:solidFill>
                <a:srgbClr val="EAF6F0"/>
              </a:solidFill>
              <a:ln>
                <a:noFill/>
              </a:ln>
            </p:spPr>
          </p:sp>
          <p:sp>
            <p:nvSpPr>
              <p:cNvPr id="13" name="TextBox 13"/>
              <p:cNvSpPr txBox="1"/>
              <p:nvPr/>
            </p:nvSpPr>
            <p:spPr>
              <a:xfrm>
                <a:off x="4450461" y="1284446"/>
                <a:ext cx="820381" cy="27870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420" b="1" dirty="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rPr>
                  <a:t>KẾT QUẢ</a:t>
                </a:r>
              </a:p>
            </p:txBody>
          </p:sp>
          <p:sp>
            <p:nvSpPr>
              <p:cNvPr id="14" name="TextBox 14"/>
              <p:cNvSpPr txBox="1"/>
              <p:nvPr/>
            </p:nvSpPr>
            <p:spPr>
              <a:xfrm>
                <a:off x="4450842" y="1664018"/>
                <a:ext cx="2009994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35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Lỗi đo sai đã được xử lý</a:t>
                </a:r>
              </a:p>
            </p:txBody>
          </p:sp>
          <p:sp>
            <p:nvSpPr>
              <p:cNvPr id="15" name="TextBox 15"/>
              <p:cNvSpPr txBox="1"/>
              <p:nvPr/>
            </p:nvSpPr>
            <p:spPr>
              <a:xfrm>
                <a:off x="4450842" y="1959292"/>
                <a:ext cx="1029493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35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1 task Done</a:t>
                </a:r>
              </a:p>
            </p:txBody>
          </p:sp>
          <p:sp>
            <p:nvSpPr>
              <p:cNvPr id="16" name="TextBox 16"/>
              <p:cNvSpPr txBox="1"/>
              <p:nvPr/>
            </p:nvSpPr>
            <p:spPr>
              <a:xfrm>
                <a:off x="4450842" y="2254568"/>
                <a:ext cx="3091510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35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1 task Ongoing cần đóng trạng thái</a:t>
                </a:r>
              </a:p>
            </p:txBody>
          </p:sp>
        </p:grpSp>
        <p:grpSp>
          <p:nvGrpSpPr>
            <p:cNvPr id="23" name="Group 23"/>
            <p:cNvGrpSpPr/>
            <p:nvPr/>
          </p:nvGrpSpPr>
          <p:grpSpPr>
            <a:xfrm>
              <a:off x="7886700" y="1066800"/>
              <a:ext cx="3771900" cy="2143125"/>
              <a:chOff x="7886700" y="1066800"/>
              <a:chExt cx="3771900" cy="2143125"/>
            </a:xfrm>
          </p:grpSpPr>
          <p:sp>
            <p:nvSpPr>
              <p:cNvPr id="18" name="Rectangle 18"/>
              <p:cNvSpPr/>
              <p:nvPr/>
            </p:nvSpPr>
            <p:spPr>
              <a:xfrm>
                <a:off x="7886700" y="1066800"/>
                <a:ext cx="3771900" cy="2143125"/>
              </a:xfrm>
              <a:prstGeom prst="roundRect">
                <a:avLst>
                  <a:gd name="adj" fmla="val 7111"/>
                </a:avLst>
              </a:prstGeom>
              <a:solidFill>
                <a:schemeClr val="lt2"/>
              </a:solidFill>
              <a:ln>
                <a:noFill/>
              </a:ln>
            </p:spPr>
          </p:sp>
          <p:sp>
            <p:nvSpPr>
              <p:cNvPr id="19" name="TextBox 19"/>
              <p:cNvSpPr txBox="1"/>
              <p:nvPr/>
            </p:nvSpPr>
            <p:spPr>
              <a:xfrm>
                <a:off x="8127111" y="1284446"/>
                <a:ext cx="777965" cy="27870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420" b="1" dirty="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rPr>
                  <a:t>KỸ NĂNG</a:t>
                </a:r>
              </a:p>
            </p:txBody>
          </p:sp>
          <p:sp>
            <p:nvSpPr>
              <p:cNvPr id="20" name="TextBox 20"/>
              <p:cNvSpPr txBox="1"/>
              <p:nvPr/>
            </p:nvSpPr>
            <p:spPr>
              <a:xfrm>
                <a:off x="8127492" y="1664018"/>
                <a:ext cx="1946186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35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Đo lường và hiệu chuẩn</a:t>
                </a:r>
              </a:p>
            </p:txBody>
          </p:sp>
          <p:sp>
            <p:nvSpPr>
              <p:cNvPr id="21" name="TextBox 21"/>
              <p:cNvSpPr txBox="1"/>
              <p:nvPr/>
            </p:nvSpPr>
            <p:spPr>
              <a:xfrm>
                <a:off x="8127492" y="1959292"/>
                <a:ext cx="1952244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35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Debug Jig tại thực địa</a:t>
                </a:r>
              </a:p>
            </p:txBody>
          </p:sp>
          <p:sp>
            <p:nvSpPr>
              <p:cNvPr id="22" name="TextBox 22"/>
              <p:cNvSpPr txBox="1"/>
              <p:nvPr/>
            </p:nvSpPr>
            <p:spPr>
              <a:xfrm>
                <a:off x="8127492" y="2254568"/>
                <a:ext cx="2209550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35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Phân tích sai lệch dữ liệu</a:t>
                </a:r>
              </a:p>
            </p:txBody>
          </p:sp>
        </p:grpSp>
        <p:grpSp>
          <p:nvGrpSpPr>
            <p:cNvPr id="29" name="Group 29"/>
            <p:cNvGrpSpPr/>
            <p:nvPr/>
          </p:nvGrpSpPr>
          <p:grpSpPr>
            <a:xfrm>
              <a:off x="533400" y="3457575"/>
              <a:ext cx="3429000" cy="2143125"/>
              <a:chOff x="533400" y="3457575"/>
              <a:chExt cx="3429000" cy="2143125"/>
            </a:xfrm>
          </p:grpSpPr>
          <p:sp>
            <p:nvSpPr>
              <p:cNvPr id="24" name="Rectangle 24"/>
              <p:cNvSpPr/>
              <p:nvPr/>
            </p:nvSpPr>
            <p:spPr>
              <a:xfrm>
                <a:off x="533400" y="3457575"/>
                <a:ext cx="3429000" cy="2143125"/>
              </a:xfrm>
              <a:prstGeom prst="roundRect">
                <a:avLst>
                  <a:gd name="adj" fmla="val 7111"/>
                </a:avLst>
              </a:prstGeom>
              <a:solidFill>
                <a:srgbClr val="EEF3FF"/>
              </a:solidFill>
              <a:ln>
                <a:noFill/>
              </a:ln>
            </p:spPr>
          </p:sp>
          <p:sp>
            <p:nvSpPr>
              <p:cNvPr id="25" name="TextBox 25"/>
              <p:cNvSpPr txBox="1"/>
              <p:nvPr/>
            </p:nvSpPr>
            <p:spPr>
              <a:xfrm>
                <a:off x="773811" y="3675221"/>
                <a:ext cx="661322" cy="27870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420" b="1" dirty="0">
                    <a:solidFill>
                      <a:schemeClr val="accent2"/>
                    </a:solidFill>
                    <a:latin typeface="+mn-lt"/>
                    <a:ea typeface="+mn-ea"/>
                    <a:cs typeface="+mn-cs"/>
                  </a:rPr>
                  <a:t>TƯ DUY</a:t>
                </a:r>
              </a:p>
            </p:txBody>
          </p:sp>
          <p:sp>
            <p:nvSpPr>
              <p:cNvPr id="26" name="TextBox 26"/>
              <p:cNvSpPr txBox="1"/>
              <p:nvPr/>
            </p:nvSpPr>
            <p:spPr>
              <a:xfrm>
                <a:off x="774192" y="4054792"/>
                <a:ext cx="3109491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35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Dựa trên dữ liệu thay vì phỏng đoán</a:t>
                </a:r>
              </a:p>
            </p:txBody>
          </p:sp>
          <p:sp>
            <p:nvSpPr>
              <p:cNvPr id="27" name="TextBox 27"/>
              <p:cNvSpPr txBox="1"/>
              <p:nvPr/>
            </p:nvSpPr>
            <p:spPr>
              <a:xfrm>
                <a:off x="774192" y="4350068"/>
                <a:ext cx="2291858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35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So sánh chuẩn–đo–sai lệch</a:t>
                </a:r>
              </a:p>
            </p:txBody>
          </p:sp>
          <p:sp>
            <p:nvSpPr>
              <p:cNvPr id="28" name="TextBox 28"/>
              <p:cNvSpPr txBox="1"/>
              <p:nvPr/>
            </p:nvSpPr>
            <p:spPr>
              <a:xfrm>
                <a:off x="774192" y="4645342"/>
                <a:ext cx="2536968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35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Xác nhận tại môi trường thật</a:t>
                </a:r>
              </a:p>
            </p:txBody>
          </p:sp>
        </p:grpSp>
        <p:grpSp>
          <p:nvGrpSpPr>
            <p:cNvPr id="35" name="Group 35"/>
            <p:cNvGrpSpPr/>
            <p:nvPr/>
          </p:nvGrpSpPr>
          <p:grpSpPr>
            <a:xfrm>
              <a:off x="4210050" y="3457575"/>
              <a:ext cx="3429000" cy="2143125"/>
              <a:chOff x="4210050" y="3457575"/>
              <a:chExt cx="3429000" cy="2143125"/>
            </a:xfrm>
          </p:grpSpPr>
          <p:sp>
            <p:nvSpPr>
              <p:cNvPr id="30" name="Rectangle 30"/>
              <p:cNvSpPr/>
              <p:nvPr/>
            </p:nvSpPr>
            <p:spPr>
              <a:xfrm>
                <a:off x="4210050" y="3457575"/>
                <a:ext cx="3429000" cy="2143125"/>
              </a:xfrm>
              <a:prstGeom prst="roundRect">
                <a:avLst>
                  <a:gd name="adj" fmla="val 7111"/>
                </a:avLst>
              </a:prstGeom>
              <a:solidFill>
                <a:srgbClr val="FFF7E8"/>
              </a:solidFill>
              <a:ln>
                <a:noFill/>
              </a:ln>
            </p:spPr>
          </p:sp>
          <p:sp>
            <p:nvSpPr>
              <p:cNvPr id="31" name="TextBox 31"/>
              <p:cNvSpPr txBox="1"/>
              <p:nvPr/>
            </p:nvSpPr>
            <p:spPr>
              <a:xfrm>
                <a:off x="4450461" y="3675221"/>
                <a:ext cx="1848969" cy="27870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420" b="1" dirty="0">
                    <a:solidFill>
                      <a:srgbClr val="B56A00"/>
                    </a:solidFill>
                    <a:latin typeface="+mn-lt"/>
                    <a:ea typeface="+mn-ea"/>
                    <a:cs typeface="+mn-cs"/>
                  </a:rPr>
                  <a:t>BÀI HỌC &amp; KHÓ KHĂN</a:t>
                </a:r>
              </a:p>
            </p:txBody>
          </p:sp>
          <p:sp>
            <p:nvSpPr>
              <p:cNvPr id="32" name="TextBox 32"/>
              <p:cNvSpPr txBox="1"/>
              <p:nvPr/>
            </p:nvSpPr>
            <p:spPr>
              <a:xfrm>
                <a:off x="4450842" y="4054792"/>
                <a:ext cx="3018438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35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Lỗi thực địa khó tái hiện trong lab</a:t>
                </a:r>
              </a:p>
            </p:txBody>
          </p:sp>
          <p:sp>
            <p:nvSpPr>
              <p:cNvPr id="33" name="TextBox 33"/>
              <p:cNvSpPr txBox="1"/>
              <p:nvPr/>
            </p:nvSpPr>
            <p:spPr>
              <a:xfrm>
                <a:off x="4450842" y="4350068"/>
                <a:ext cx="3145694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35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Hiệu chuẩn phải có chuẩn tham chiếu</a:t>
                </a:r>
              </a:p>
            </p:txBody>
          </p:sp>
          <p:sp>
            <p:nvSpPr>
              <p:cNvPr id="34" name="TextBox 34"/>
              <p:cNvSpPr txBox="1"/>
              <p:nvPr/>
            </p:nvSpPr>
            <p:spPr>
              <a:xfrm>
                <a:off x="4450842" y="4645342"/>
                <a:ext cx="2700659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35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Cần đóng trạng thái sau hỗ trợ</a:t>
                </a:r>
              </a:p>
            </p:txBody>
          </p:sp>
        </p:grpSp>
        <p:grpSp>
          <p:nvGrpSpPr>
            <p:cNvPr id="41" name="Group 41"/>
            <p:cNvGrpSpPr/>
            <p:nvPr/>
          </p:nvGrpSpPr>
          <p:grpSpPr>
            <a:xfrm>
              <a:off x="7886700" y="3457575"/>
              <a:ext cx="3771900" cy="2143125"/>
              <a:chOff x="7886700" y="3457575"/>
              <a:chExt cx="3771900" cy="2143125"/>
            </a:xfrm>
          </p:grpSpPr>
          <p:sp>
            <p:nvSpPr>
              <p:cNvPr id="36" name="Rectangle 36"/>
              <p:cNvSpPr/>
              <p:nvPr/>
            </p:nvSpPr>
            <p:spPr>
              <a:xfrm>
                <a:off x="7886700" y="3457575"/>
                <a:ext cx="3771900" cy="2143125"/>
              </a:xfrm>
              <a:prstGeom prst="roundRect">
                <a:avLst>
                  <a:gd name="adj" fmla="val 7111"/>
                </a:avLst>
              </a:prstGeom>
              <a:solidFill>
                <a:schemeClr val="accent1"/>
              </a:solidFill>
              <a:ln>
                <a:noFill/>
              </a:ln>
            </p:spPr>
          </p:sp>
          <p:sp>
            <p:nvSpPr>
              <p:cNvPr id="37" name="TextBox 37"/>
              <p:cNvSpPr txBox="1"/>
              <p:nvPr/>
            </p:nvSpPr>
            <p:spPr>
              <a:xfrm>
                <a:off x="8127111" y="3675221"/>
                <a:ext cx="1901989" cy="27870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420" b="1" dirty="0">
                    <a:solidFill>
                      <a:srgbClr val="FFFFFF"/>
                    </a:solidFill>
                    <a:latin typeface="+mn-lt"/>
                    <a:ea typeface="+mn-ea"/>
                    <a:cs typeface="+mn-cs"/>
                  </a:rPr>
                  <a:t>THÀNH TÍCH NỔI BẬT</a:t>
                </a:r>
              </a:p>
            </p:txBody>
          </p:sp>
          <p:sp>
            <p:nvSpPr>
              <p:cNvPr id="38" name="TextBox 38"/>
              <p:cNvSpPr txBox="1"/>
              <p:nvPr/>
            </p:nvSpPr>
            <p:spPr>
              <a:xfrm>
                <a:off x="8125206" y="4168140"/>
                <a:ext cx="1738823" cy="35204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800" b="1" dirty="0">
                    <a:solidFill>
                      <a:srgbClr val="FFFFFF"/>
                    </a:solidFill>
                    <a:latin typeface="+mn-lt"/>
                    <a:ea typeface="+mn-ea"/>
                    <a:cs typeface="+mn-cs"/>
                  </a:rPr>
                  <a:t>FIX LỖI ĐO SAI</a:t>
                </a:r>
              </a:p>
            </p:txBody>
          </p:sp>
          <p:sp>
            <p:nvSpPr>
              <p:cNvPr id="39" name="TextBox 39"/>
              <p:cNvSpPr txBox="1"/>
              <p:nvPr/>
            </p:nvSpPr>
            <p:spPr>
              <a:xfrm>
                <a:off x="8127492" y="4559618"/>
                <a:ext cx="2107157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350" dirty="0">
                    <a:solidFill>
                      <a:srgbClr val="FFFFFF"/>
                    </a:solidFill>
                    <a:latin typeface="+mn-lt"/>
                    <a:ea typeface="+mn-ea"/>
                    <a:cs typeface="+mn-cs"/>
                  </a:rPr>
                  <a:t>Năng lượng trên Jig MSB</a:t>
                </a:r>
              </a:p>
            </p:txBody>
          </p:sp>
          <p:pic>
            <p:nvPicPr>
              <p:cNvPr id="40" name="Image 40"/>
              <p:cNvPicPr>
                <a:picLocks noChangeAspect="1"/>
              </p:cNvPicPr>
              <p:nvPr/>
            </p:nvPicPr>
            <p:blipFill>
              <a:blip r:embed="rId3"/>
              <a:srcRect l="23047" t="0" r="23047" b="0"/>
              <a:stretch>
                <a:fillRect/>
              </a:stretch>
            </p:blipFill>
            <p:spPr>
              <a:xfrm>
                <a:off x="10287000" y="4171950"/>
                <a:ext cx="1095375" cy="1143000"/>
              </a:xfrm>
              <a:prstGeom prst="rect">
                <a:avLst/>
              </a:prstGeom>
            </p:spPr>
          </p:pic>
        </p:grpSp>
      </p:grpSp>
      <p:sp>
        <p:nvSpPr>
          <p:cNvPr id="43" name="TextBox 43"/>
          <p:cNvSpPr txBox="1"/>
          <p:nvPr/>
        </p:nvSpPr>
        <p:spPr>
          <a:xfrm>
            <a:off x="11141640" y="6630352"/>
            <a:ext cx="484194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en-US" sz="1050" dirty="0">
                <a:solidFill>
                  <a:srgbClr val="66706A"/>
                </a:solidFill>
                <a:latin typeface="+mn-lt"/>
                <a:ea typeface="+mn-ea"/>
                <a:cs typeface="+mn-cs"/>
              </a:rPr>
              <a:t>16 / 22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6276" y="266700"/>
            <a:ext cx="1313447" cy="381000"/>
          </a:xfrm>
          <a:prstGeom prst="rect">
            <a:avLst/>
          </a:prstGeom>
        </p:spPr>
      </p:pic>
      <p:sp>
        <p:nvSpPr>
          <p:cNvPr id="3" name="TextBox 3"/>
          <p:cNvSpPr txBox="1"/>
          <p:nvPr/>
        </p:nvSpPr>
        <p:spPr>
          <a:xfrm>
            <a:off x="2462784" y="356235"/>
            <a:ext cx="4402402" cy="52806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2700" b="1" dirty="0">
                <a:solidFill>
                  <a:schemeClr val="accent1"/>
                </a:solidFill>
                <a:latin typeface="+mn-lt"/>
                <a:ea typeface="+mn-ea"/>
                <a:cs typeface="+mn-cs"/>
              </a:rPr>
              <a:t>7. Dự án Smart Lighting</a:t>
            </a:r>
          </a:p>
        </p:txBody>
      </p:sp>
      <p:sp>
        <p:nvSpPr>
          <p:cNvPr id="4" name="Rectangle 4"/>
          <p:cNvSpPr/>
          <p:nvPr/>
        </p:nvSpPr>
        <p:spPr>
          <a:xfrm>
            <a:off x="9239250" y="285750"/>
            <a:ext cx="2381250" cy="400050"/>
          </a:xfrm>
          <a:prstGeom prst="roundRect">
            <a:avLst>
              <a:gd name="adj" fmla="val 50000"/>
            </a:avLst>
          </a:prstGeom>
          <a:solidFill>
            <a:srgbClr val="FFF7E8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9337908" y="405289"/>
            <a:ext cx="2183935" cy="24936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280" b="1" dirty="0">
                <a:solidFill>
                  <a:srgbClr val="B56A00"/>
                </a:solidFill>
                <a:latin typeface="+mn-lt"/>
                <a:ea typeface="+mn-ea"/>
                <a:cs typeface="+mn-cs"/>
              </a:rPr>
              <a:t>Từ 20/07/2026 · Ongoing</a:t>
            </a:r>
          </a:p>
        </p:txBody>
      </p:sp>
      <p:grpSp>
        <p:nvGrpSpPr>
          <p:cNvPr id="43" name="Group 43"/>
          <p:cNvGrpSpPr/>
          <p:nvPr/>
        </p:nvGrpSpPr>
        <p:grpSpPr>
          <a:xfrm>
            <a:off x="533400" y="1066800"/>
            <a:ext cx="11125200" cy="4533900"/>
            <a:chOff x="533400" y="1066800"/>
            <a:chExt cx="11125200" cy="4533900"/>
          </a:xfrm>
        </p:grpSpPr>
        <p:grpSp>
          <p:nvGrpSpPr>
            <p:cNvPr id="11" name="Group 11"/>
            <p:cNvGrpSpPr/>
            <p:nvPr/>
          </p:nvGrpSpPr>
          <p:grpSpPr>
            <a:xfrm>
              <a:off x="533400" y="1066800"/>
              <a:ext cx="3429000" cy="2143125"/>
              <a:chOff x="533400" y="1066800"/>
              <a:chExt cx="3429000" cy="2143125"/>
            </a:xfrm>
          </p:grpSpPr>
          <p:sp>
            <p:nvSpPr>
              <p:cNvPr id="6" name="Rectangle 6"/>
              <p:cNvSpPr/>
              <p:nvPr/>
            </p:nvSpPr>
            <p:spPr>
              <a:xfrm>
                <a:off x="533400" y="1066800"/>
                <a:ext cx="3429000" cy="2143125"/>
              </a:xfrm>
              <a:prstGeom prst="roundRect">
                <a:avLst>
                  <a:gd name="adj" fmla="val 7111"/>
                </a:avLst>
              </a:prstGeom>
              <a:solidFill>
                <a:schemeClr val="lt2"/>
              </a:solidFill>
              <a:ln>
                <a:noFill/>
              </a:ln>
            </p:spPr>
          </p:sp>
          <p:sp>
            <p:nvSpPr>
              <p:cNvPr id="7" name="TextBox 7"/>
              <p:cNvSpPr txBox="1"/>
              <p:nvPr/>
            </p:nvSpPr>
            <p:spPr>
              <a:xfrm>
                <a:off x="773811" y="1284446"/>
                <a:ext cx="1605077" cy="27870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420" b="1" dirty="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rPr>
                  <a:t>CÔNG VIỆC CHÍNH</a:t>
                </a:r>
              </a:p>
            </p:txBody>
          </p:sp>
          <p:sp>
            <p:nvSpPr>
              <p:cNvPr id="8" name="TextBox 8"/>
              <p:cNvSpPr txBox="1"/>
              <p:nvPr/>
            </p:nvSpPr>
            <p:spPr>
              <a:xfrm>
                <a:off x="774192" y="1664018"/>
                <a:ext cx="1809251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35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DEV tool test Driver</a:t>
                </a:r>
              </a:p>
            </p:txBody>
          </p:sp>
          <p:sp>
            <p:nvSpPr>
              <p:cNvPr id="9" name="TextBox 9"/>
              <p:cNvSpPr txBox="1"/>
              <p:nvPr/>
            </p:nvSpPr>
            <p:spPr>
              <a:xfrm>
                <a:off x="774192" y="1959292"/>
                <a:ext cx="1161262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35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Deep Dimming</a:t>
                </a:r>
              </a:p>
            </p:txBody>
          </p:sp>
          <p:sp>
            <p:nvSpPr>
              <p:cNvPr id="10" name="TextBox 10"/>
              <p:cNvSpPr txBox="1"/>
              <p:nvPr/>
            </p:nvSpPr>
            <p:spPr>
              <a:xfrm>
                <a:off x="774192" y="2254568"/>
                <a:ext cx="1045193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35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CCT Tunable</a:t>
                </a:r>
              </a:p>
            </p:txBody>
          </p:sp>
        </p:grpSp>
        <p:grpSp>
          <p:nvGrpSpPr>
            <p:cNvPr id="17" name="Group 17"/>
            <p:cNvGrpSpPr/>
            <p:nvPr/>
          </p:nvGrpSpPr>
          <p:grpSpPr>
            <a:xfrm>
              <a:off x="4210050" y="1066800"/>
              <a:ext cx="3429000" cy="2143125"/>
              <a:chOff x="4210050" y="1066800"/>
              <a:chExt cx="3429000" cy="2143125"/>
            </a:xfrm>
          </p:grpSpPr>
          <p:sp>
            <p:nvSpPr>
              <p:cNvPr id="12" name="Rectangle 12"/>
              <p:cNvSpPr/>
              <p:nvPr/>
            </p:nvSpPr>
            <p:spPr>
              <a:xfrm>
                <a:off x="4210050" y="1066800"/>
                <a:ext cx="3429000" cy="2143125"/>
              </a:xfrm>
              <a:prstGeom prst="roundRect">
                <a:avLst>
                  <a:gd name="adj" fmla="val 7111"/>
                </a:avLst>
              </a:prstGeom>
              <a:solidFill>
                <a:srgbClr val="EAF6F0"/>
              </a:solidFill>
              <a:ln>
                <a:noFill/>
              </a:ln>
            </p:spPr>
          </p:sp>
          <p:sp>
            <p:nvSpPr>
              <p:cNvPr id="13" name="TextBox 13"/>
              <p:cNvSpPr txBox="1"/>
              <p:nvPr/>
            </p:nvSpPr>
            <p:spPr>
              <a:xfrm>
                <a:off x="4450461" y="1284446"/>
                <a:ext cx="1658097" cy="27870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420" b="1" dirty="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rPr>
                  <a:t>KẾT QUẢ HIỆN TẠI</a:t>
                </a:r>
              </a:p>
            </p:txBody>
          </p:sp>
          <p:sp>
            <p:nvSpPr>
              <p:cNvPr id="14" name="TextBox 14"/>
              <p:cNvSpPr txBox="1"/>
              <p:nvPr/>
            </p:nvSpPr>
            <p:spPr>
              <a:xfrm>
                <a:off x="4450842" y="1664018"/>
                <a:ext cx="2182829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35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Đã xác định phạm vi test</a:t>
                </a:r>
              </a:p>
            </p:txBody>
          </p:sp>
          <p:sp>
            <p:nvSpPr>
              <p:cNvPr id="15" name="TextBox 15"/>
              <p:cNvSpPr txBox="1"/>
              <p:nvPr/>
            </p:nvSpPr>
            <p:spPr>
              <a:xfrm>
                <a:off x="4450842" y="1959292"/>
                <a:ext cx="1991763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35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Đang xây dựng nền tool</a:t>
                </a:r>
              </a:p>
            </p:txBody>
          </p:sp>
          <p:sp>
            <p:nvSpPr>
              <p:cNvPr id="16" name="TextBox 16"/>
              <p:cNvSpPr txBox="1"/>
              <p:nvPr/>
            </p:nvSpPr>
            <p:spPr>
              <a:xfrm>
                <a:off x="4450842" y="2254568"/>
                <a:ext cx="2882555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35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Chưa có mốc kết thúc chính thức</a:t>
                </a:r>
              </a:p>
            </p:txBody>
          </p:sp>
        </p:grpSp>
        <p:grpSp>
          <p:nvGrpSpPr>
            <p:cNvPr id="23" name="Group 23"/>
            <p:cNvGrpSpPr/>
            <p:nvPr/>
          </p:nvGrpSpPr>
          <p:grpSpPr>
            <a:xfrm>
              <a:off x="7886700" y="1066800"/>
              <a:ext cx="3771900" cy="2143125"/>
              <a:chOff x="7886700" y="1066800"/>
              <a:chExt cx="3771900" cy="2143125"/>
            </a:xfrm>
          </p:grpSpPr>
          <p:sp>
            <p:nvSpPr>
              <p:cNvPr id="18" name="Rectangle 18"/>
              <p:cNvSpPr/>
              <p:nvPr/>
            </p:nvSpPr>
            <p:spPr>
              <a:xfrm>
                <a:off x="7886700" y="1066800"/>
                <a:ext cx="3771900" cy="2143125"/>
              </a:xfrm>
              <a:prstGeom prst="roundRect">
                <a:avLst>
                  <a:gd name="adj" fmla="val 7111"/>
                </a:avLst>
              </a:prstGeom>
              <a:solidFill>
                <a:schemeClr val="lt2"/>
              </a:solidFill>
              <a:ln>
                <a:noFill/>
              </a:ln>
            </p:spPr>
          </p:sp>
          <p:sp>
            <p:nvSpPr>
              <p:cNvPr id="19" name="TextBox 19"/>
              <p:cNvSpPr txBox="1"/>
              <p:nvPr/>
            </p:nvSpPr>
            <p:spPr>
              <a:xfrm>
                <a:off x="8127111" y="1284446"/>
                <a:ext cx="777965" cy="27870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420" b="1" dirty="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rPr>
                  <a:t>KỸ NĂNG</a:t>
                </a:r>
              </a:p>
            </p:txBody>
          </p:sp>
          <p:sp>
            <p:nvSpPr>
              <p:cNvPr id="20" name="TextBox 20"/>
              <p:cNvSpPr txBox="1"/>
              <p:nvPr/>
            </p:nvSpPr>
            <p:spPr>
              <a:xfrm>
                <a:off x="8127492" y="1664018"/>
                <a:ext cx="1946186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35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Thiết kế test theo dải</a:t>
                </a:r>
              </a:p>
            </p:txBody>
          </p:sp>
          <p:sp>
            <p:nvSpPr>
              <p:cNvPr id="21" name="TextBox 21"/>
              <p:cNvSpPr txBox="1"/>
              <p:nvPr/>
            </p:nvSpPr>
            <p:spPr>
              <a:xfrm>
                <a:off x="8127492" y="1959292"/>
                <a:ext cx="1583463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35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Đo dimming và CCT</a:t>
                </a:r>
              </a:p>
            </p:txBody>
          </p:sp>
          <p:sp>
            <p:nvSpPr>
              <p:cNvPr id="22" name="TextBox 22"/>
              <p:cNvSpPr txBox="1"/>
              <p:nvPr/>
            </p:nvSpPr>
            <p:spPr>
              <a:xfrm>
                <a:off x="8127492" y="2254568"/>
                <a:ext cx="2364155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35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Xây tool có khả năng lặp lại</a:t>
                </a:r>
              </a:p>
            </p:txBody>
          </p:sp>
        </p:grpSp>
        <p:grpSp>
          <p:nvGrpSpPr>
            <p:cNvPr id="29" name="Group 29"/>
            <p:cNvGrpSpPr/>
            <p:nvPr/>
          </p:nvGrpSpPr>
          <p:grpSpPr>
            <a:xfrm>
              <a:off x="533400" y="3457575"/>
              <a:ext cx="3432230" cy="2143125"/>
              <a:chOff x="533400" y="3457575"/>
              <a:chExt cx="3432230" cy="2143125"/>
            </a:xfrm>
          </p:grpSpPr>
          <p:sp>
            <p:nvSpPr>
              <p:cNvPr id="24" name="Rectangle 24"/>
              <p:cNvSpPr/>
              <p:nvPr/>
            </p:nvSpPr>
            <p:spPr>
              <a:xfrm>
                <a:off x="533400" y="3457575"/>
                <a:ext cx="3429000" cy="2143125"/>
              </a:xfrm>
              <a:prstGeom prst="roundRect">
                <a:avLst>
                  <a:gd name="adj" fmla="val 7111"/>
                </a:avLst>
              </a:prstGeom>
              <a:solidFill>
                <a:srgbClr val="EEF3FF"/>
              </a:solidFill>
              <a:ln>
                <a:noFill/>
              </a:ln>
            </p:spPr>
          </p:sp>
          <p:sp>
            <p:nvSpPr>
              <p:cNvPr id="25" name="TextBox 25"/>
              <p:cNvSpPr txBox="1"/>
              <p:nvPr/>
            </p:nvSpPr>
            <p:spPr>
              <a:xfrm>
                <a:off x="773811" y="3675221"/>
                <a:ext cx="661322" cy="27870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420" b="1" dirty="0">
                    <a:solidFill>
                      <a:schemeClr val="accent2"/>
                    </a:solidFill>
                    <a:latin typeface="+mn-lt"/>
                    <a:ea typeface="+mn-ea"/>
                    <a:cs typeface="+mn-cs"/>
                  </a:rPr>
                  <a:t>TƯ DUY</a:t>
                </a:r>
              </a:p>
            </p:txBody>
          </p:sp>
          <p:sp>
            <p:nvSpPr>
              <p:cNvPr id="26" name="TextBox 26"/>
              <p:cNvSpPr txBox="1"/>
              <p:nvPr/>
            </p:nvSpPr>
            <p:spPr>
              <a:xfrm>
                <a:off x="774192" y="4054792"/>
                <a:ext cx="3191438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35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Test toàn dải, không chỉ điểm chuẩn</a:t>
                </a:r>
              </a:p>
            </p:txBody>
          </p:sp>
          <p:sp>
            <p:nvSpPr>
              <p:cNvPr id="27" name="TextBox 27"/>
              <p:cNvSpPr txBox="1"/>
              <p:nvPr/>
            </p:nvSpPr>
            <p:spPr>
              <a:xfrm>
                <a:off x="774192" y="4350068"/>
                <a:ext cx="2664226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35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Thiết kế dữ liệu đo có cấu trúc</a:t>
                </a:r>
              </a:p>
            </p:txBody>
          </p:sp>
          <p:sp>
            <p:nvSpPr>
              <p:cNvPr id="28" name="TextBox 28"/>
              <p:cNvSpPr txBox="1"/>
              <p:nvPr/>
            </p:nvSpPr>
            <p:spPr>
              <a:xfrm>
                <a:off x="774192" y="4645342"/>
                <a:ext cx="2755051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35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Tách tiêu chí pass/fail rõ ràng</a:t>
                </a:r>
              </a:p>
            </p:txBody>
          </p:sp>
        </p:grpSp>
        <p:grpSp>
          <p:nvGrpSpPr>
            <p:cNvPr id="35" name="Group 35"/>
            <p:cNvGrpSpPr/>
            <p:nvPr/>
          </p:nvGrpSpPr>
          <p:grpSpPr>
            <a:xfrm>
              <a:off x="4210050" y="3457575"/>
              <a:ext cx="3429000" cy="2143125"/>
              <a:chOff x="4210050" y="3457575"/>
              <a:chExt cx="3429000" cy="2143125"/>
            </a:xfrm>
          </p:grpSpPr>
          <p:sp>
            <p:nvSpPr>
              <p:cNvPr id="30" name="Rectangle 30"/>
              <p:cNvSpPr/>
              <p:nvPr/>
            </p:nvSpPr>
            <p:spPr>
              <a:xfrm>
                <a:off x="4210050" y="3457575"/>
                <a:ext cx="3429000" cy="2143125"/>
              </a:xfrm>
              <a:prstGeom prst="roundRect">
                <a:avLst>
                  <a:gd name="adj" fmla="val 7111"/>
                </a:avLst>
              </a:prstGeom>
              <a:solidFill>
                <a:srgbClr val="FFF7E8"/>
              </a:solidFill>
              <a:ln>
                <a:noFill/>
              </a:ln>
            </p:spPr>
          </p:sp>
          <p:sp>
            <p:nvSpPr>
              <p:cNvPr id="31" name="TextBox 31"/>
              <p:cNvSpPr txBox="1"/>
              <p:nvPr/>
            </p:nvSpPr>
            <p:spPr>
              <a:xfrm>
                <a:off x="4450461" y="3675221"/>
                <a:ext cx="1848969" cy="27870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420" b="1" dirty="0">
                    <a:solidFill>
                      <a:srgbClr val="B56A00"/>
                    </a:solidFill>
                    <a:latin typeface="+mn-lt"/>
                    <a:ea typeface="+mn-ea"/>
                    <a:cs typeface="+mn-cs"/>
                  </a:rPr>
                  <a:t>BÀI HỌC &amp; KHÓ KHĂN</a:t>
                </a:r>
              </a:p>
            </p:txBody>
          </p:sp>
          <p:sp>
            <p:nvSpPr>
              <p:cNvPr id="32" name="TextBox 32"/>
              <p:cNvSpPr txBox="1"/>
              <p:nvPr/>
            </p:nvSpPr>
            <p:spPr>
              <a:xfrm>
                <a:off x="4450842" y="4054792"/>
                <a:ext cx="2355331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35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Dữ liệu đầu vào còn hạn chế</a:t>
                </a:r>
              </a:p>
            </p:txBody>
          </p:sp>
          <p:sp>
            <p:nvSpPr>
              <p:cNvPr id="33" name="TextBox 33"/>
              <p:cNvSpPr txBox="1"/>
              <p:nvPr/>
            </p:nvSpPr>
            <p:spPr>
              <a:xfrm>
                <a:off x="4450842" y="4350068"/>
                <a:ext cx="3155017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35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Cần thống nhất chuẩn đo và dải test</a:t>
                </a:r>
              </a:p>
            </p:txBody>
          </p:sp>
          <p:sp>
            <p:nvSpPr>
              <p:cNvPr id="34" name="TextBox 34"/>
              <p:cNvSpPr txBox="1"/>
              <p:nvPr/>
            </p:nvSpPr>
            <p:spPr>
              <a:xfrm>
                <a:off x="4450842" y="4645342"/>
                <a:ext cx="2682442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35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Ưu tiên prototype đo được sớm</a:t>
                </a:r>
              </a:p>
            </p:txBody>
          </p:sp>
        </p:grpSp>
        <p:grpSp>
          <p:nvGrpSpPr>
            <p:cNvPr id="42" name="Group 42"/>
            <p:cNvGrpSpPr/>
            <p:nvPr/>
          </p:nvGrpSpPr>
          <p:grpSpPr>
            <a:xfrm>
              <a:off x="7886700" y="3457575"/>
              <a:ext cx="3771900" cy="2143125"/>
              <a:chOff x="7886700" y="3457575"/>
              <a:chExt cx="3771900" cy="2143125"/>
            </a:xfrm>
          </p:grpSpPr>
          <p:sp>
            <p:nvSpPr>
              <p:cNvPr id="36" name="Rectangle 36"/>
              <p:cNvSpPr/>
              <p:nvPr/>
            </p:nvSpPr>
            <p:spPr>
              <a:xfrm>
                <a:off x="7886700" y="3457575"/>
                <a:ext cx="3771900" cy="2143125"/>
              </a:xfrm>
              <a:prstGeom prst="roundRect">
                <a:avLst>
                  <a:gd name="adj" fmla="val 7111"/>
                </a:avLst>
              </a:prstGeom>
              <a:solidFill>
                <a:schemeClr val="accent1"/>
              </a:solidFill>
              <a:ln>
                <a:noFill/>
              </a:ln>
            </p:spPr>
          </p:sp>
          <p:sp>
            <p:nvSpPr>
              <p:cNvPr id="37" name="TextBox 37"/>
              <p:cNvSpPr txBox="1"/>
              <p:nvPr/>
            </p:nvSpPr>
            <p:spPr>
              <a:xfrm>
                <a:off x="8127111" y="3675221"/>
                <a:ext cx="1955009" cy="27870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420" b="1" dirty="0">
                    <a:solidFill>
                      <a:srgbClr val="FFFFFF"/>
                    </a:solidFill>
                    <a:latin typeface="+mn-lt"/>
                    <a:ea typeface="+mn-ea"/>
                    <a:cs typeface="+mn-cs"/>
                  </a:rPr>
                  <a:t>THÀNH TÍCH BAN ĐẦU</a:t>
                </a:r>
              </a:p>
            </p:txBody>
          </p:sp>
          <p:sp>
            <p:nvSpPr>
              <p:cNvPr id="38" name="TextBox 38"/>
              <p:cNvSpPr txBox="1"/>
              <p:nvPr/>
            </p:nvSpPr>
            <p:spPr>
              <a:xfrm>
                <a:off x="8125206" y="4168140"/>
                <a:ext cx="2585649" cy="35204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800" b="1" dirty="0">
                    <a:solidFill>
                      <a:srgbClr val="FFFFFF"/>
                    </a:solidFill>
                    <a:latin typeface="+mn-lt"/>
                    <a:ea typeface="+mn-ea"/>
                    <a:cs typeface="+mn-cs"/>
                  </a:rPr>
                  <a:t>DỰNG NỀN TOOL TEST</a:t>
                </a:r>
              </a:p>
            </p:txBody>
          </p:sp>
          <p:sp>
            <p:nvSpPr>
              <p:cNvPr id="39" name="TextBox 39"/>
              <p:cNvSpPr txBox="1"/>
              <p:nvPr/>
            </p:nvSpPr>
            <p:spPr>
              <a:xfrm>
                <a:off x="8127492" y="4569142"/>
                <a:ext cx="2766303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350" dirty="0">
                    <a:solidFill>
                      <a:srgbClr val="FFFFFF"/>
                    </a:solidFill>
                    <a:latin typeface="+mn-lt"/>
                    <a:ea typeface="+mn-ea"/>
                    <a:cs typeface="+mn-cs"/>
                  </a:rPr>
                  <a:t>Cho Deep Dimming &amp; CCT Tunable</a:t>
                </a:r>
              </a:p>
            </p:txBody>
          </p:sp>
          <p:sp>
            <p:nvSpPr>
              <p:cNvPr id="40" name="Rectangle 40"/>
              <p:cNvSpPr/>
              <p:nvPr/>
            </p:nvSpPr>
            <p:spPr>
              <a:xfrm>
                <a:off x="8134350" y="5048250"/>
                <a:ext cx="1524000" cy="266700"/>
              </a:xfrm>
              <a:prstGeom prst="roundRect">
                <a:avLst>
                  <a:gd name="adj" fmla="val 50000"/>
                </a:avLst>
              </a:prstGeom>
              <a:solidFill>
                <a:schemeClr val="lt1">
                  <a:alpha val="18000"/>
                </a:schemeClr>
              </a:solidFill>
              <a:ln>
                <a:noFill/>
              </a:ln>
            </p:spPr>
          </p:sp>
          <p:sp>
            <p:nvSpPr>
              <p:cNvPr id="41" name="TextBox 41"/>
              <p:cNvSpPr txBox="1"/>
              <p:nvPr/>
            </p:nvSpPr>
            <p:spPr>
              <a:xfrm>
                <a:off x="8313141" y="5117306"/>
                <a:ext cx="1166419" cy="22002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-US" sz="1120" dirty="0">
                    <a:solidFill>
                      <a:srgbClr val="FFFFFF"/>
                    </a:solidFill>
                    <a:latin typeface="+mn-lt"/>
                    <a:ea typeface="+mn-ea"/>
                    <a:cs typeface="+mn-cs"/>
                  </a:rPr>
                  <a:t>ĐANG TRIỂN KHAI</a:t>
                </a:r>
              </a:p>
            </p:txBody>
          </p:sp>
        </p:grpSp>
      </p:grpSp>
      <p:sp>
        <p:nvSpPr>
          <p:cNvPr id="44" name="TextBox 44"/>
          <p:cNvSpPr txBox="1"/>
          <p:nvPr/>
        </p:nvSpPr>
        <p:spPr>
          <a:xfrm>
            <a:off x="11141640" y="6630352"/>
            <a:ext cx="484194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en-US" sz="1050" dirty="0">
                <a:solidFill>
                  <a:srgbClr val="66706A"/>
                </a:solidFill>
                <a:latin typeface="+mn-lt"/>
                <a:ea typeface="+mn-ea"/>
                <a:cs typeface="+mn-cs"/>
              </a:rPr>
              <a:t>17 / 22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6276" y="266700"/>
            <a:ext cx="1313447" cy="381000"/>
          </a:xfrm>
          <a:prstGeom prst="rect">
            <a:avLst/>
          </a:prstGeom>
        </p:spPr>
      </p:pic>
      <p:sp>
        <p:nvSpPr>
          <p:cNvPr id="3" name="TextBox 3"/>
          <p:cNvSpPr txBox="1"/>
          <p:nvPr/>
        </p:nvSpPr>
        <p:spPr>
          <a:xfrm>
            <a:off x="2462784" y="356235"/>
            <a:ext cx="4855841" cy="52806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2700" b="1" dirty="0">
                <a:solidFill>
                  <a:schemeClr val="accent1"/>
                </a:solidFill>
                <a:latin typeface="+mn-lt"/>
                <a:ea typeface="+mn-ea"/>
                <a:cs typeface="+mn-cs"/>
              </a:rPr>
              <a:t>Sử dụng AI trong công việc</a:t>
            </a:r>
          </a:p>
        </p:txBody>
      </p:sp>
      <p:grpSp>
        <p:nvGrpSpPr>
          <p:cNvPr id="31" name="Group 31"/>
          <p:cNvGrpSpPr/>
          <p:nvPr/>
        </p:nvGrpSpPr>
        <p:grpSpPr>
          <a:xfrm>
            <a:off x="533400" y="1285875"/>
            <a:ext cx="11125200" cy="3143250"/>
            <a:chOff x="533400" y="1285875"/>
            <a:chExt cx="11125200" cy="3143250"/>
          </a:xfrm>
        </p:grpSpPr>
        <p:grpSp>
          <p:nvGrpSpPr>
            <p:cNvPr id="12" name="Group 12"/>
            <p:cNvGrpSpPr/>
            <p:nvPr/>
          </p:nvGrpSpPr>
          <p:grpSpPr>
            <a:xfrm>
              <a:off x="533400" y="1285875"/>
              <a:ext cx="3429000" cy="3143250"/>
              <a:chOff x="533400" y="1285875"/>
              <a:chExt cx="3429000" cy="3143250"/>
            </a:xfrm>
          </p:grpSpPr>
          <p:sp>
            <p:nvSpPr>
              <p:cNvPr id="4" name="Rectangle 4"/>
              <p:cNvSpPr/>
              <p:nvPr/>
            </p:nvSpPr>
            <p:spPr>
              <a:xfrm>
                <a:off x="533400" y="1285875"/>
                <a:ext cx="3429000" cy="3143250"/>
              </a:xfrm>
              <a:prstGeom prst="roundRect">
                <a:avLst>
                  <a:gd name="adj" fmla="val 6061"/>
                </a:avLst>
              </a:prstGeom>
              <a:solidFill>
                <a:schemeClr val="lt2"/>
              </a:solidFill>
              <a:ln>
                <a:noFill/>
              </a:ln>
            </p:spPr>
          </p:sp>
          <p:sp>
            <p:nvSpPr>
              <p:cNvPr id="5" name="Ellipse 5"/>
              <p:cNvSpPr/>
              <p:nvPr/>
            </p:nvSpPr>
            <p:spPr>
              <a:xfrm>
                <a:off x="742950" y="1495425"/>
                <a:ext cx="533400" cy="533400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</p:sp>
          <p:sp>
            <p:nvSpPr>
              <p:cNvPr id="6" name="TextBox 6"/>
              <p:cNvSpPr txBox="1"/>
              <p:nvPr/>
            </p:nvSpPr>
            <p:spPr>
              <a:xfrm>
                <a:off x="860569" y="1653540"/>
                <a:ext cx="298163" cy="35204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-US" sz="1800" b="1" dirty="0">
                    <a:solidFill>
                      <a:srgbClr val="FFFFFF"/>
                    </a:solidFill>
                    <a:latin typeface="+mn-lt"/>
                    <a:ea typeface="+mn-ea"/>
                    <a:cs typeface="+mn-cs"/>
                  </a:rPr>
                  <a:t>01</a:t>
                </a:r>
              </a:p>
            </p:txBody>
          </p:sp>
          <p:sp>
            <p:nvSpPr>
              <p:cNvPr id="7" name="TextBox 7"/>
              <p:cNvSpPr txBox="1"/>
              <p:nvPr/>
            </p:nvSpPr>
            <p:spPr>
              <a:xfrm>
                <a:off x="810387" y="2137886"/>
                <a:ext cx="1635904" cy="33737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720" b="1" dirty="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rPr>
                  <a:t>CODE &amp; DEBUG</a:t>
                </a:r>
              </a:p>
            </p:txBody>
          </p:sp>
          <p:sp>
            <p:nvSpPr>
              <p:cNvPr id="8" name="TextBox 8"/>
              <p:cNvSpPr txBox="1"/>
              <p:nvPr/>
            </p:nvSpPr>
            <p:spPr>
              <a:xfrm>
                <a:off x="811911" y="2608421"/>
                <a:ext cx="1798559" cy="27870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42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Gợi ý hướng xử lý lỗi</a:t>
                </a:r>
              </a:p>
            </p:txBody>
          </p:sp>
          <p:sp>
            <p:nvSpPr>
              <p:cNvPr id="9" name="TextBox 9"/>
              <p:cNvSpPr txBox="1"/>
              <p:nvPr/>
            </p:nvSpPr>
            <p:spPr>
              <a:xfrm>
                <a:off x="811911" y="2932271"/>
                <a:ext cx="2095091" cy="27870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42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Sinh test case ban đầu</a:t>
                </a:r>
              </a:p>
            </p:txBody>
          </p:sp>
          <p:sp>
            <p:nvSpPr>
              <p:cNvPr id="10" name="TextBox 10"/>
              <p:cNvSpPr txBox="1"/>
              <p:nvPr/>
            </p:nvSpPr>
            <p:spPr>
              <a:xfrm>
                <a:off x="811911" y="3256121"/>
                <a:ext cx="1903115" cy="27870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42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Đối chiếu API và flow</a:t>
                </a:r>
              </a:p>
            </p:txBody>
          </p:sp>
          <p:sp>
            <p:nvSpPr>
              <p:cNvPr id="11" name="TextBox 11"/>
              <p:cNvSpPr txBox="1"/>
              <p:nvPr/>
            </p:nvSpPr>
            <p:spPr>
              <a:xfrm>
                <a:off x="813054" y="3870960"/>
                <a:ext cx="2166255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200" dirty="0">
                    <a:solidFill>
                      <a:srgbClr val="66706A"/>
                    </a:solidFill>
                    <a:latin typeface="+mn-lt"/>
                    <a:ea typeface="+mn-ea"/>
                    <a:cs typeface="+mn-cs"/>
                  </a:rPr>
                  <a:t>Rút ngắn thời gian khám phá</a:t>
                </a:r>
              </a:p>
            </p:txBody>
          </p:sp>
        </p:grpSp>
        <p:grpSp>
          <p:nvGrpSpPr>
            <p:cNvPr id="21" name="Group 21"/>
            <p:cNvGrpSpPr/>
            <p:nvPr/>
          </p:nvGrpSpPr>
          <p:grpSpPr>
            <a:xfrm>
              <a:off x="4381500" y="1285875"/>
              <a:ext cx="3429000" cy="3143250"/>
              <a:chOff x="4381500" y="1285875"/>
              <a:chExt cx="3429000" cy="3143250"/>
            </a:xfrm>
          </p:grpSpPr>
          <p:sp>
            <p:nvSpPr>
              <p:cNvPr id="13" name="Rectangle 13"/>
              <p:cNvSpPr/>
              <p:nvPr/>
            </p:nvSpPr>
            <p:spPr>
              <a:xfrm>
                <a:off x="4381500" y="1285875"/>
                <a:ext cx="3429000" cy="3143250"/>
              </a:xfrm>
              <a:prstGeom prst="roundRect">
                <a:avLst>
                  <a:gd name="adj" fmla="val 6061"/>
                </a:avLst>
              </a:prstGeom>
              <a:solidFill>
                <a:srgbClr val="EAF6F0"/>
              </a:solidFill>
              <a:ln>
                <a:noFill/>
              </a:ln>
            </p:spPr>
          </p:sp>
          <p:sp>
            <p:nvSpPr>
              <p:cNvPr id="14" name="Ellipse 14"/>
              <p:cNvSpPr/>
              <p:nvPr/>
            </p:nvSpPr>
            <p:spPr>
              <a:xfrm>
                <a:off x="4591050" y="1495425"/>
                <a:ext cx="533400" cy="533400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</p:sp>
          <p:sp>
            <p:nvSpPr>
              <p:cNvPr id="15" name="TextBox 15"/>
              <p:cNvSpPr txBox="1"/>
              <p:nvPr/>
            </p:nvSpPr>
            <p:spPr>
              <a:xfrm>
                <a:off x="4708669" y="1653540"/>
                <a:ext cx="298163" cy="35204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-US" sz="1800" b="1" dirty="0">
                    <a:solidFill>
                      <a:srgbClr val="FFFFFF"/>
                    </a:solidFill>
                    <a:latin typeface="+mn-lt"/>
                    <a:ea typeface="+mn-ea"/>
                    <a:cs typeface="+mn-cs"/>
                  </a:rPr>
                  <a:t>02</a:t>
                </a:r>
              </a:p>
            </p:txBody>
          </p:sp>
          <p:sp>
            <p:nvSpPr>
              <p:cNvPr id="16" name="TextBox 16"/>
              <p:cNvSpPr txBox="1"/>
              <p:nvPr/>
            </p:nvSpPr>
            <p:spPr>
              <a:xfrm>
                <a:off x="4658487" y="2137886"/>
                <a:ext cx="955158" cy="33737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720" b="1" dirty="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rPr>
                  <a:t>TÀI LIỆU</a:t>
                </a:r>
              </a:p>
            </p:txBody>
          </p:sp>
          <p:sp>
            <p:nvSpPr>
              <p:cNvPr id="17" name="TextBox 17"/>
              <p:cNvSpPr txBox="1"/>
              <p:nvPr/>
            </p:nvSpPr>
            <p:spPr>
              <a:xfrm>
                <a:off x="4660011" y="2608421"/>
                <a:ext cx="2287939" cy="27870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42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Tóm tắt tài liệu KNX/ETS</a:t>
                </a:r>
              </a:p>
            </p:txBody>
          </p:sp>
          <p:sp>
            <p:nvSpPr>
              <p:cNvPr id="18" name="TextBox 18"/>
              <p:cNvSpPr txBox="1"/>
              <p:nvPr/>
            </p:nvSpPr>
            <p:spPr>
              <a:xfrm>
                <a:off x="4660011" y="2932271"/>
                <a:ext cx="2625647" cy="27870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42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Chuẩn hóa Q&amp;A và giáo trình</a:t>
                </a:r>
              </a:p>
            </p:txBody>
          </p:sp>
          <p:sp>
            <p:nvSpPr>
              <p:cNvPr id="19" name="TextBox 19"/>
              <p:cNvSpPr txBox="1"/>
              <p:nvPr/>
            </p:nvSpPr>
            <p:spPr>
              <a:xfrm>
                <a:off x="4660011" y="3256121"/>
                <a:ext cx="2373037" cy="27870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42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Soạn API/flow dễ bàn giao</a:t>
                </a:r>
              </a:p>
            </p:txBody>
          </p:sp>
          <p:sp>
            <p:nvSpPr>
              <p:cNvPr id="20" name="TextBox 20"/>
              <p:cNvSpPr txBox="1"/>
              <p:nvPr/>
            </p:nvSpPr>
            <p:spPr>
              <a:xfrm>
                <a:off x="4661154" y="3870960"/>
                <a:ext cx="2174353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200" dirty="0">
                    <a:solidFill>
                      <a:srgbClr val="66706A"/>
                    </a:solidFill>
                    <a:latin typeface="+mn-lt"/>
                    <a:ea typeface="+mn-ea"/>
                    <a:cs typeface="+mn-cs"/>
                  </a:rPr>
                  <a:t>Tăng tốc chuẩn hóa tri thức</a:t>
                </a:r>
              </a:p>
            </p:txBody>
          </p:sp>
        </p:grpSp>
        <p:grpSp>
          <p:nvGrpSpPr>
            <p:cNvPr id="30" name="Group 30"/>
            <p:cNvGrpSpPr/>
            <p:nvPr/>
          </p:nvGrpSpPr>
          <p:grpSpPr>
            <a:xfrm>
              <a:off x="8229600" y="1285875"/>
              <a:ext cx="3429000" cy="3143250"/>
              <a:chOff x="8229600" y="1285875"/>
              <a:chExt cx="3429000" cy="3143250"/>
            </a:xfrm>
          </p:grpSpPr>
          <p:sp>
            <p:nvSpPr>
              <p:cNvPr id="22" name="Rectangle 22"/>
              <p:cNvSpPr/>
              <p:nvPr/>
            </p:nvSpPr>
            <p:spPr>
              <a:xfrm>
                <a:off x="8229600" y="1285875"/>
                <a:ext cx="3429000" cy="3143250"/>
              </a:xfrm>
              <a:prstGeom prst="roundRect">
                <a:avLst>
                  <a:gd name="adj" fmla="val 6061"/>
                </a:avLst>
              </a:prstGeom>
              <a:solidFill>
                <a:srgbClr val="EEF3FF"/>
              </a:solidFill>
              <a:ln>
                <a:noFill/>
              </a:ln>
            </p:spPr>
          </p:sp>
          <p:sp>
            <p:nvSpPr>
              <p:cNvPr id="23" name="Ellipse 23"/>
              <p:cNvSpPr/>
              <p:nvPr/>
            </p:nvSpPr>
            <p:spPr>
              <a:xfrm>
                <a:off x="8439150" y="1495425"/>
                <a:ext cx="533400" cy="5334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</p:sp>
          <p:sp>
            <p:nvSpPr>
              <p:cNvPr id="24" name="TextBox 24"/>
              <p:cNvSpPr txBox="1"/>
              <p:nvPr/>
            </p:nvSpPr>
            <p:spPr>
              <a:xfrm>
                <a:off x="8556769" y="1653540"/>
                <a:ext cx="298163" cy="35204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-US" sz="1800" b="1" dirty="0">
                    <a:solidFill>
                      <a:srgbClr val="FFFFFF"/>
                    </a:solidFill>
                    <a:latin typeface="+mn-lt"/>
                    <a:ea typeface="+mn-ea"/>
                    <a:cs typeface="+mn-cs"/>
                  </a:rPr>
                  <a:t>03</a:t>
                </a:r>
              </a:p>
            </p:txBody>
          </p:sp>
          <p:sp>
            <p:nvSpPr>
              <p:cNvPr id="25" name="TextBox 25"/>
              <p:cNvSpPr txBox="1"/>
              <p:nvPr/>
            </p:nvSpPr>
            <p:spPr>
              <a:xfrm>
                <a:off x="8506587" y="2137886"/>
                <a:ext cx="1224888" cy="33737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720" b="1" dirty="0">
                    <a:solidFill>
                      <a:schemeClr val="accent2"/>
                    </a:solidFill>
                    <a:latin typeface="+mn-lt"/>
                    <a:ea typeface="+mn-ea"/>
                    <a:cs typeface="+mn-cs"/>
                  </a:rPr>
                  <a:t>HỌC NHANH</a:t>
                </a:r>
              </a:p>
            </p:txBody>
          </p:sp>
          <p:sp>
            <p:nvSpPr>
              <p:cNvPr id="26" name="TextBox 26"/>
              <p:cNvSpPr txBox="1"/>
              <p:nvPr/>
            </p:nvSpPr>
            <p:spPr>
              <a:xfrm>
                <a:off x="8508111" y="2608421"/>
                <a:ext cx="2133443" cy="27870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42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Khảo sát công nghệ mới</a:t>
                </a:r>
              </a:p>
            </p:txBody>
          </p:sp>
          <p:sp>
            <p:nvSpPr>
              <p:cNvPr id="27" name="TextBox 27"/>
              <p:cNvSpPr txBox="1"/>
              <p:nvPr/>
            </p:nvSpPr>
            <p:spPr>
              <a:xfrm>
                <a:off x="8508111" y="2932271"/>
                <a:ext cx="2630239" cy="27870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42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So sánh phương án triển khai</a:t>
                </a:r>
              </a:p>
            </p:txBody>
          </p:sp>
          <p:sp>
            <p:nvSpPr>
              <p:cNvPr id="28" name="TextBox 28"/>
              <p:cNvSpPr txBox="1"/>
              <p:nvPr/>
            </p:nvSpPr>
            <p:spPr>
              <a:xfrm>
                <a:off x="8508111" y="3256121"/>
                <a:ext cx="2362820" cy="27870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42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Chuẩn bị câu hỏi kỹ thuật</a:t>
                </a:r>
              </a:p>
            </p:txBody>
          </p:sp>
          <p:sp>
            <p:nvSpPr>
              <p:cNvPr id="29" name="TextBox 29"/>
              <p:cNvSpPr txBox="1"/>
              <p:nvPr/>
            </p:nvSpPr>
            <p:spPr>
              <a:xfrm>
                <a:off x="8509254" y="3870960"/>
                <a:ext cx="2755707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200" dirty="0">
                    <a:solidFill>
                      <a:srgbClr val="66706A"/>
                    </a:solidFill>
                    <a:latin typeface="+mn-lt"/>
                    <a:ea typeface="+mn-ea"/>
                    <a:cs typeface="+mn-cs"/>
                  </a:rPr>
                  <a:t>Giảm thời gian tiếp cận lĩnh vực mới</a:t>
                </a:r>
              </a:p>
            </p:txBody>
          </p:sp>
        </p:grpSp>
      </p:grpSp>
      <p:grpSp>
        <p:nvGrpSpPr>
          <p:cNvPr id="35" name="Group 35"/>
          <p:cNvGrpSpPr/>
          <p:nvPr/>
        </p:nvGrpSpPr>
        <p:grpSpPr>
          <a:xfrm>
            <a:off x="533400" y="4857750"/>
            <a:ext cx="11519878" cy="1143000"/>
            <a:chOff x="533400" y="4857750"/>
            <a:chExt cx="11519878" cy="1143000"/>
          </a:xfrm>
        </p:grpSpPr>
        <p:sp>
          <p:nvSpPr>
            <p:cNvPr id="32" name="Rectangle 32"/>
            <p:cNvSpPr/>
            <p:nvPr/>
          </p:nvSpPr>
          <p:spPr>
            <a:xfrm>
              <a:off x="533400" y="4857750"/>
              <a:ext cx="11125200" cy="1143000"/>
            </a:xfrm>
            <a:prstGeom prst="roundRect">
              <a:avLst>
                <a:gd name="adj" fmla="val 15000"/>
              </a:avLst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812673" y="5110639"/>
              <a:ext cx="206803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NGUYÊN TẮC KIỂM CHỨNG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810006" y="5463540"/>
              <a:ext cx="11243272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8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AI hỗ trợ tăng tốc; kết luận kỹ thuật vẫn phải được đo, test và xác nhận trên hệ thống thực tế.</a:t>
              </a:r>
            </a:p>
          </p:txBody>
        </p:sp>
      </p:grpSp>
      <p:sp>
        <p:nvSpPr>
          <p:cNvPr id="36" name="TextBox 36"/>
          <p:cNvSpPr txBox="1"/>
          <p:nvPr/>
        </p:nvSpPr>
        <p:spPr>
          <a:xfrm>
            <a:off x="11141640" y="6630352"/>
            <a:ext cx="484194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en-US" sz="1050" dirty="0">
                <a:solidFill>
                  <a:srgbClr val="66706A"/>
                </a:solidFill>
                <a:latin typeface="+mn-lt"/>
                <a:ea typeface="+mn-ea"/>
                <a:cs typeface="+mn-cs"/>
              </a:rPr>
              <a:t>18 / 22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6276" y="266700"/>
            <a:ext cx="1313447" cy="381000"/>
          </a:xfrm>
          <a:prstGeom prst="rect">
            <a:avLst/>
          </a:prstGeom>
        </p:spPr>
      </p:pic>
      <p:sp>
        <p:nvSpPr>
          <p:cNvPr id="3" name="TextBox 3"/>
          <p:cNvSpPr txBox="1"/>
          <p:nvPr/>
        </p:nvSpPr>
        <p:spPr>
          <a:xfrm>
            <a:off x="2462784" y="356235"/>
            <a:ext cx="4907212" cy="52806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2700" b="1" dirty="0">
                <a:solidFill>
                  <a:schemeClr val="accent1"/>
                </a:solidFill>
                <a:latin typeface="+mn-lt"/>
                <a:ea typeface="+mn-ea"/>
                <a:cs typeface="+mn-cs"/>
              </a:rPr>
              <a:t>Tự đánh giá ưu, nhược điểm</a:t>
            </a:r>
          </a:p>
        </p:txBody>
      </p:sp>
      <p:grpSp>
        <p:nvGrpSpPr>
          <p:cNvPr id="26" name="Group 26"/>
          <p:cNvGrpSpPr/>
          <p:nvPr/>
        </p:nvGrpSpPr>
        <p:grpSpPr>
          <a:xfrm>
            <a:off x="533400" y="1190625"/>
            <a:ext cx="11125200" cy="4095750"/>
            <a:chOff x="533400" y="1190625"/>
            <a:chExt cx="11125200" cy="4095750"/>
          </a:xfrm>
        </p:grpSpPr>
        <p:grpSp>
          <p:nvGrpSpPr>
            <p:cNvPr id="14" name="Group 14"/>
            <p:cNvGrpSpPr/>
            <p:nvPr/>
          </p:nvGrpSpPr>
          <p:grpSpPr>
            <a:xfrm>
              <a:off x="533400" y="1190625"/>
              <a:ext cx="5286375" cy="4095750"/>
              <a:chOff x="533400" y="1190625"/>
              <a:chExt cx="5286375" cy="4095750"/>
            </a:xfrm>
          </p:grpSpPr>
          <p:sp>
            <p:nvSpPr>
              <p:cNvPr id="4" name="Rectangle 4"/>
              <p:cNvSpPr/>
              <p:nvPr/>
            </p:nvSpPr>
            <p:spPr>
              <a:xfrm>
                <a:off x="533400" y="1190625"/>
                <a:ext cx="5286375" cy="4095750"/>
              </a:xfrm>
              <a:prstGeom prst="roundRect">
                <a:avLst>
                  <a:gd name="adj" fmla="val 4651"/>
                </a:avLst>
              </a:prstGeom>
              <a:solidFill>
                <a:srgbClr val="EAF6F0"/>
              </a:solidFill>
              <a:ln>
                <a:noFill/>
              </a:ln>
            </p:spPr>
          </p:sp>
          <p:sp>
            <p:nvSpPr>
              <p:cNvPr id="5" name="Ellipse 5"/>
              <p:cNvSpPr/>
              <p:nvPr/>
            </p:nvSpPr>
            <p:spPr>
              <a:xfrm>
                <a:off x="771525" y="1438275"/>
                <a:ext cx="476250" cy="476250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</p:sp>
          <p:sp>
            <p:nvSpPr>
              <p:cNvPr id="6" name="Freeform 6"/>
              <p:cNvSpPr/>
              <p:nvPr/>
            </p:nvSpPr>
            <p:spPr>
              <a:xfrm>
                <a:off x="904875" y="1581150"/>
                <a:ext cx="219075" cy="171450"/>
              </a:xfrm>
              <a:custGeom>
                <a:avLst/>
                <a:gdLst/>
                <a:ahLst/>
                <a:cxnLst/>
                <a:rect l="l" t="t" r="r" b="b"/>
                <a:pathLst>
                  <a:path w="219075" h="171450">
                    <a:moveTo>
                      <a:pt x="0" y="95250"/>
                    </a:moveTo>
                    <a:lnTo>
                      <a:pt x="76200" y="171450"/>
                    </a:lnTo>
                    <a:lnTo>
                      <a:pt x="219075" y="0"/>
                    </a:lnTo>
                  </a:path>
                </a:pathLst>
              </a:custGeom>
              <a:noFill/>
              <a:ln w="38100">
                <a:solidFill>
                  <a:srgbClr val="FFFFFF"/>
                </a:solidFill>
              </a:ln>
            </p:spPr>
          </p:sp>
          <p:sp>
            <p:nvSpPr>
              <p:cNvPr id="7" name="TextBox 7"/>
              <p:cNvSpPr txBox="1"/>
              <p:nvPr/>
            </p:nvSpPr>
            <p:spPr>
              <a:xfrm>
                <a:off x="1418844" y="1542098"/>
                <a:ext cx="1053701" cy="38138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950" b="1" dirty="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rPr>
                  <a:t>ƯU ĐIỂM</a:t>
                </a:r>
              </a:p>
            </p:txBody>
          </p:sp>
          <p:sp>
            <p:nvSpPr>
              <p:cNvPr id="8" name="TextBox 8"/>
              <p:cNvSpPr txBox="1"/>
              <p:nvPr/>
            </p:nvSpPr>
            <p:spPr>
              <a:xfrm>
                <a:off x="811530" y="2171700"/>
                <a:ext cx="4536702" cy="29337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 marL="161925" indent="-161925">
                  <a:buClr>
                    <a:schemeClr val="dk1"/>
                  </a:buClr>
                  <a:buSzTx/>
                  <a:buFontTx/>
                  <a:buChar char="•"/>
                </a:pPr>
                <a:r>
                  <a:rPr lang="en-US" sz="150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Năng lực end-to-end: firmware → tool → test</a:t>
                </a:r>
              </a:p>
            </p:txBody>
          </p:sp>
          <p:sp>
            <p:nvSpPr>
              <p:cNvPr id="9" name="TextBox 9"/>
              <p:cNvSpPr txBox="1"/>
              <p:nvPr/>
            </p:nvSpPr>
            <p:spPr>
              <a:xfrm>
                <a:off x="811530" y="2571750"/>
                <a:ext cx="3889813" cy="29337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 marL="161925" indent="-161925">
                  <a:buClr>
                    <a:schemeClr val="dk1"/>
                  </a:buClr>
                  <a:buSzTx/>
                  <a:buFontTx/>
                  <a:buChar char="•"/>
                </a:pPr>
                <a:r>
                  <a:rPr lang="en-US" sz="150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Chủ động học nhanh và xử lý vấn đề mới</a:t>
                </a:r>
              </a:p>
            </p:txBody>
          </p:sp>
          <p:sp>
            <p:nvSpPr>
              <p:cNvPr id="10" name="TextBox 10"/>
              <p:cNvSpPr txBox="1"/>
              <p:nvPr/>
            </p:nvSpPr>
            <p:spPr>
              <a:xfrm>
                <a:off x="811530" y="2971800"/>
                <a:ext cx="3950510" cy="29337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 marL="161925" indent="-161925">
                  <a:buClr>
                    <a:schemeClr val="dk1"/>
                  </a:buClr>
                  <a:buSzTx/>
                  <a:buFontTx/>
                  <a:buChar char="•"/>
                </a:pPr>
                <a:r>
                  <a:rPr lang="en-US" sz="150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Có tư duy hệ thống, ưu tiên bằng chứng</a:t>
                </a:r>
              </a:p>
            </p:txBody>
          </p:sp>
          <p:sp>
            <p:nvSpPr>
              <p:cNvPr id="11" name="TextBox 11"/>
              <p:cNvSpPr txBox="1"/>
              <p:nvPr/>
            </p:nvSpPr>
            <p:spPr>
              <a:xfrm>
                <a:off x="811530" y="3371850"/>
                <a:ext cx="4303395" cy="29337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 marL="161925" indent="-161925">
                  <a:buClr>
                    <a:schemeClr val="dk1"/>
                  </a:buClr>
                  <a:buSzTx/>
                  <a:buFontTx/>
                  <a:buChar char="•"/>
                </a:pPr>
                <a:r>
                  <a:rPr lang="en-US" sz="150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Viết tài liệu, đào tạo và phối hợp liên team</a:t>
                </a:r>
              </a:p>
            </p:txBody>
          </p:sp>
          <p:sp>
            <p:nvSpPr>
              <p:cNvPr id="12" name="Rectangle 12"/>
              <p:cNvSpPr/>
              <p:nvPr/>
            </p:nvSpPr>
            <p:spPr>
              <a:xfrm>
                <a:off x="819150" y="4333875"/>
                <a:ext cx="4524375" cy="590550"/>
              </a:xfrm>
              <a:prstGeom prst="roundRect">
                <a:avLst>
                  <a:gd name="adj" fmla="val 19355"/>
                </a:avLst>
              </a:prstGeom>
              <a:solidFill>
                <a:schemeClr val="lt1"/>
              </a:solidFill>
              <a:ln>
                <a:noFill/>
              </a:ln>
            </p:spPr>
          </p:sp>
          <p:sp>
            <p:nvSpPr>
              <p:cNvPr id="13" name="TextBox 13"/>
              <p:cNvSpPr txBox="1"/>
              <p:nvPr/>
            </p:nvSpPr>
            <p:spPr>
              <a:xfrm>
                <a:off x="1003173" y="4558189"/>
                <a:ext cx="3638838" cy="24936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280" b="1" dirty="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rPr>
                  <a:t>Bằng chứng: 102 task Done / 7 nhóm dự án</a:t>
                </a:r>
              </a:p>
            </p:txBody>
          </p:sp>
        </p:grpSp>
        <p:grpSp>
          <p:nvGrpSpPr>
            <p:cNvPr id="25" name="Group 25"/>
            <p:cNvGrpSpPr/>
            <p:nvPr/>
          </p:nvGrpSpPr>
          <p:grpSpPr>
            <a:xfrm>
              <a:off x="6372225" y="1190625"/>
              <a:ext cx="5286375" cy="4095750"/>
              <a:chOff x="6372225" y="1190625"/>
              <a:chExt cx="5286375" cy="4095750"/>
            </a:xfrm>
          </p:grpSpPr>
          <p:sp>
            <p:nvSpPr>
              <p:cNvPr id="15" name="Rectangle 15"/>
              <p:cNvSpPr/>
              <p:nvPr/>
            </p:nvSpPr>
            <p:spPr>
              <a:xfrm>
                <a:off x="6372225" y="1190625"/>
                <a:ext cx="5286375" cy="4095750"/>
              </a:xfrm>
              <a:prstGeom prst="roundRect">
                <a:avLst>
                  <a:gd name="adj" fmla="val 4651"/>
                </a:avLst>
              </a:prstGeom>
              <a:solidFill>
                <a:srgbClr val="FFF7E8"/>
              </a:solidFill>
              <a:ln>
                <a:noFill/>
              </a:ln>
            </p:spPr>
          </p:sp>
          <p:sp>
            <p:nvSpPr>
              <p:cNvPr id="16" name="Ellipse 16"/>
              <p:cNvSpPr/>
              <p:nvPr/>
            </p:nvSpPr>
            <p:spPr>
              <a:xfrm>
                <a:off x="6610350" y="1438275"/>
                <a:ext cx="476250" cy="476250"/>
              </a:xfrm>
              <a:prstGeom prst="ellipse">
                <a:avLst/>
              </a:prstGeom>
              <a:solidFill>
                <a:srgbClr val="F5A623"/>
              </a:solidFill>
              <a:ln>
                <a:noFill/>
              </a:ln>
            </p:spPr>
          </p:sp>
          <p:sp>
            <p:nvSpPr>
              <p:cNvPr id="17" name="TextBox 17"/>
              <p:cNvSpPr txBox="1"/>
              <p:nvPr/>
            </p:nvSpPr>
            <p:spPr>
              <a:xfrm>
                <a:off x="6801166" y="1558290"/>
                <a:ext cx="94618" cy="35204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-US" sz="1800" b="1" dirty="0">
                    <a:solidFill>
                      <a:srgbClr val="FFFFFF"/>
                    </a:solidFill>
                    <a:latin typeface="+mn-lt"/>
                    <a:ea typeface="+mn-ea"/>
                    <a:cs typeface="+mn-cs"/>
                  </a:rPr>
                  <a:t>!</a:t>
                </a:r>
              </a:p>
            </p:txBody>
          </p:sp>
          <p:sp>
            <p:nvSpPr>
              <p:cNvPr id="18" name="TextBox 18"/>
              <p:cNvSpPr txBox="1"/>
              <p:nvPr/>
            </p:nvSpPr>
            <p:spPr>
              <a:xfrm>
                <a:off x="7257669" y="1542098"/>
                <a:ext cx="1810916" cy="38138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950" b="1" dirty="0">
                    <a:solidFill>
                      <a:srgbClr val="B56A00"/>
                    </a:solidFill>
                    <a:latin typeface="+mn-lt"/>
                    <a:ea typeface="+mn-ea"/>
                    <a:cs typeface="+mn-cs"/>
                  </a:rPr>
                  <a:t>CẦN CẢI THIỆN</a:t>
                </a:r>
              </a:p>
            </p:txBody>
          </p:sp>
          <p:sp>
            <p:nvSpPr>
              <p:cNvPr id="19" name="TextBox 19"/>
              <p:cNvSpPr txBox="1"/>
              <p:nvPr/>
            </p:nvSpPr>
            <p:spPr>
              <a:xfrm>
                <a:off x="6650355" y="2171700"/>
                <a:ext cx="4293282" cy="29337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 marL="161925" indent="-161925">
                  <a:buClr>
                    <a:schemeClr val="dk1"/>
                  </a:buClr>
                  <a:buSzTx/>
                  <a:buFontTx/>
                  <a:buChar char="•"/>
                </a:pPr>
                <a:r>
                  <a:rPr lang="en-US" sz="150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Dễ phân tán khi nhiều luồng chạy song song</a:t>
                </a:r>
              </a:p>
            </p:txBody>
          </p:sp>
          <p:sp>
            <p:nvSpPr>
              <p:cNvPr id="20" name="TextBox 20"/>
              <p:cNvSpPr txBox="1"/>
              <p:nvPr/>
            </p:nvSpPr>
            <p:spPr>
              <a:xfrm>
                <a:off x="6650355" y="2571750"/>
                <a:ext cx="4071193" cy="29337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 marL="161925" indent="-161925">
                  <a:buClr>
                    <a:schemeClr val="dk1"/>
                  </a:buClr>
                  <a:buSzTx/>
                  <a:buFontTx/>
                  <a:buChar char="•"/>
                </a:pPr>
                <a:r>
                  <a:rPr lang="en-US" sz="150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Ước lượng và ưu tiên chưa luôn nhất quán</a:t>
                </a:r>
              </a:p>
            </p:txBody>
          </p:sp>
          <p:sp>
            <p:nvSpPr>
              <p:cNvPr id="21" name="TextBox 21"/>
              <p:cNvSpPr txBox="1"/>
              <p:nvPr/>
            </p:nvSpPr>
            <p:spPr>
              <a:xfrm>
                <a:off x="6650355" y="2971800"/>
                <a:ext cx="4661470" cy="29337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 marL="161925" indent="-161925">
                  <a:buClr>
                    <a:schemeClr val="dk1"/>
                  </a:buClr>
                  <a:buSzTx/>
                  <a:buFontTx/>
                  <a:buChar char="•"/>
                </a:pPr>
                <a:r>
                  <a:rPr lang="en-US" sz="150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Một số task Late/Not started chưa được đóng</a:t>
                </a:r>
              </a:p>
            </p:txBody>
          </p:sp>
          <p:sp>
            <p:nvSpPr>
              <p:cNvPr id="22" name="TextBox 22"/>
              <p:cNvSpPr txBox="1"/>
              <p:nvPr/>
            </p:nvSpPr>
            <p:spPr>
              <a:xfrm>
                <a:off x="6650355" y="3371850"/>
                <a:ext cx="4455095" cy="29337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 marL="161925" indent="-161925">
                  <a:buClr>
                    <a:schemeClr val="dk1"/>
                  </a:buClr>
                  <a:buSzTx/>
                  <a:buFontTx/>
                  <a:buChar char="•"/>
                </a:pPr>
                <a:r>
                  <a:rPr lang="en-US" sz="150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Cần cập nhật trạng thái sau hỗ trợ thực địa</a:t>
                </a:r>
              </a:p>
            </p:txBody>
          </p:sp>
          <p:sp>
            <p:nvSpPr>
              <p:cNvPr id="23" name="Rectangle 23"/>
              <p:cNvSpPr/>
              <p:nvPr/>
            </p:nvSpPr>
            <p:spPr>
              <a:xfrm>
                <a:off x="6657975" y="4333875"/>
                <a:ext cx="4524375" cy="590550"/>
              </a:xfrm>
              <a:prstGeom prst="roundRect">
                <a:avLst>
                  <a:gd name="adj" fmla="val 19355"/>
                </a:avLst>
              </a:prstGeom>
              <a:solidFill>
                <a:schemeClr val="lt1"/>
              </a:solidFill>
              <a:ln>
                <a:noFill/>
              </a:ln>
            </p:spPr>
          </p:sp>
          <p:sp>
            <p:nvSpPr>
              <p:cNvPr id="24" name="TextBox 24"/>
              <p:cNvSpPr txBox="1"/>
              <p:nvPr/>
            </p:nvSpPr>
            <p:spPr>
              <a:xfrm>
                <a:off x="6841998" y="4558189"/>
                <a:ext cx="4280185" cy="24936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280" b="1" dirty="0">
                    <a:solidFill>
                      <a:srgbClr val="B56A00"/>
                    </a:solidFill>
                    <a:latin typeface="+mn-lt"/>
                    <a:ea typeface="+mn-ea"/>
                    <a:cs typeface="+mn-cs"/>
                  </a:rPr>
                  <a:t>Hành động: weekly planning + acceptance rõ ràng</a:t>
                </a:r>
              </a:p>
            </p:txBody>
          </p:sp>
        </p:grpSp>
      </p:grpSp>
      <p:sp>
        <p:nvSpPr>
          <p:cNvPr id="27" name="Rectangle 27"/>
          <p:cNvSpPr/>
          <p:nvPr/>
        </p:nvSpPr>
        <p:spPr>
          <a:xfrm>
            <a:off x="533400" y="5619750"/>
            <a:ext cx="11125200" cy="476250"/>
          </a:xfrm>
          <a:prstGeom prst="roundRect">
            <a:avLst>
              <a:gd name="adj" fmla="val 24000"/>
            </a:avLst>
          </a:prstGeom>
          <a:solidFill>
            <a:schemeClr val="lt2"/>
          </a:solidFill>
          <a:ln>
            <a:noFill/>
          </a:ln>
        </p:spPr>
      </p:sp>
      <p:sp>
        <p:nvSpPr>
          <p:cNvPr id="28" name="TextBox 28"/>
          <p:cNvSpPr txBox="1"/>
          <p:nvPr/>
        </p:nvSpPr>
        <p:spPr>
          <a:xfrm>
            <a:off x="1554648" y="5770721"/>
            <a:ext cx="9082705" cy="27870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420" dirty="0">
                <a:solidFill>
                  <a:schemeClr val="dk1"/>
                </a:solidFill>
                <a:latin typeface="+mn-lt"/>
                <a:ea typeface="+mn-ea"/>
                <a:cs typeface="+mn-cs"/>
              </a:rPr>
              <a:t>Tư duy cần duy trì: chủ động, đo được, tài liệu hóa — nhưng tập trung hơn vào ưu tiên và hoàn tất.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11141640" y="6630352"/>
            <a:ext cx="484194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en-US" sz="1050" dirty="0">
                <a:solidFill>
                  <a:srgbClr val="66706A"/>
                </a:solidFill>
                <a:latin typeface="+mn-lt"/>
                <a:ea typeface="+mn-ea"/>
                <a:cs typeface="+mn-cs"/>
              </a:rPr>
              <a:t>19 / 22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6276" y="266700"/>
            <a:ext cx="1313447" cy="381000"/>
          </a:xfrm>
          <a:prstGeom prst="rect">
            <a:avLst/>
          </a:prstGeom>
        </p:spPr>
      </p:pic>
      <p:sp>
        <p:nvSpPr>
          <p:cNvPr id="3" name="TextBox 3"/>
          <p:cNvSpPr txBox="1"/>
          <p:nvPr/>
        </p:nvSpPr>
        <p:spPr>
          <a:xfrm>
            <a:off x="2462784" y="356235"/>
            <a:ext cx="5575562" cy="52806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2700" b="1" dirty="0">
                <a:solidFill>
                  <a:schemeClr val="accent1"/>
                </a:solidFill>
                <a:latin typeface="+mn-lt"/>
                <a:ea typeface="+mn-ea"/>
                <a:cs typeface="+mn-cs"/>
              </a:rPr>
              <a:t>Bài học &amp; khó khăn xuyên dự án</a:t>
            </a:r>
          </a:p>
        </p:txBody>
      </p:sp>
      <p:grpSp>
        <p:nvGrpSpPr>
          <p:cNvPr id="40" name="Group 40"/>
          <p:cNvGrpSpPr/>
          <p:nvPr/>
        </p:nvGrpSpPr>
        <p:grpSpPr>
          <a:xfrm>
            <a:off x="533400" y="1143000"/>
            <a:ext cx="11125200" cy="4572000"/>
            <a:chOff x="533400" y="1143000"/>
            <a:chExt cx="11125200" cy="4572000"/>
          </a:xfrm>
        </p:grpSpPr>
        <p:grpSp>
          <p:nvGrpSpPr>
            <p:cNvPr id="12" name="Group 12"/>
            <p:cNvGrpSpPr/>
            <p:nvPr/>
          </p:nvGrpSpPr>
          <p:grpSpPr>
            <a:xfrm>
              <a:off x="533400" y="1143000"/>
              <a:ext cx="11125200" cy="1000125"/>
              <a:chOff x="533400" y="1143000"/>
              <a:chExt cx="11125200" cy="1000125"/>
            </a:xfrm>
          </p:grpSpPr>
          <p:sp>
            <p:nvSpPr>
              <p:cNvPr id="4" name="Rectangle 4"/>
              <p:cNvSpPr/>
              <p:nvPr/>
            </p:nvSpPr>
            <p:spPr>
              <a:xfrm>
                <a:off x="533400" y="1143000"/>
                <a:ext cx="4429125" cy="1000125"/>
              </a:xfrm>
              <a:prstGeom prst="roundRect">
                <a:avLst>
                  <a:gd name="adj" fmla="val 15238"/>
                </a:avLst>
              </a:prstGeom>
              <a:solidFill>
                <a:srgbClr val="FFF7E8"/>
              </a:solidFill>
              <a:ln>
                <a:noFill/>
              </a:ln>
            </p:spPr>
          </p:sp>
          <p:sp>
            <p:nvSpPr>
              <p:cNvPr id="5" name="TextBox 5"/>
              <p:cNvSpPr txBox="1"/>
              <p:nvPr/>
            </p:nvSpPr>
            <p:spPr>
              <a:xfrm>
                <a:off x="774573" y="1367314"/>
                <a:ext cx="1073951" cy="24936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280" b="1" dirty="0">
                    <a:solidFill>
                      <a:srgbClr val="B56A00"/>
                    </a:solidFill>
                    <a:latin typeface="+mn-lt"/>
                    <a:ea typeface="+mn-ea"/>
                    <a:cs typeface="+mn-cs"/>
                  </a:rPr>
                  <a:t>KHÓ KHĂN 01</a:t>
                </a:r>
              </a:p>
            </p:txBody>
          </p:sp>
          <p:sp>
            <p:nvSpPr>
              <p:cNvPr id="6" name="TextBox 6"/>
              <p:cNvSpPr txBox="1"/>
              <p:nvPr/>
            </p:nvSpPr>
            <p:spPr>
              <a:xfrm>
                <a:off x="773430" y="1695450"/>
                <a:ext cx="3515448" cy="29337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50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Hệ thống nhiều thiết bị và phiên bản</a:t>
                </a:r>
              </a:p>
            </p:txBody>
          </p:sp>
          <p:sp>
            <p:nvSpPr>
              <p:cNvPr id="7" name="Freeform 7"/>
              <p:cNvSpPr/>
              <p:nvPr/>
            </p:nvSpPr>
            <p:spPr>
              <a:xfrm>
                <a:off x="5191125" y="1638300"/>
                <a:ext cx="10001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1000125" h="9525">
                    <a:moveTo>
                      <a:pt x="0" y="0"/>
                    </a:moveTo>
                    <a:lnTo>
                      <a:pt x="1000125" y="0"/>
                    </a:lnTo>
                  </a:path>
                </a:pathLst>
              </a:custGeom>
              <a:solidFill>
                <a:srgbClr val="000000"/>
              </a:solidFill>
              <a:ln w="38100">
                <a:solidFill>
                  <a:schemeClr val="accent3"/>
                </a:solidFill>
              </a:ln>
            </p:spPr>
          </p:sp>
          <p:sp>
            <p:nvSpPr>
              <p:cNvPr id="8" name="Freeform 8"/>
              <p:cNvSpPr/>
              <p:nvPr/>
            </p:nvSpPr>
            <p:spPr>
              <a:xfrm>
                <a:off x="6057900" y="1552575"/>
                <a:ext cx="133350" cy="171450"/>
              </a:xfrm>
              <a:custGeom>
                <a:avLst/>
                <a:gdLst/>
                <a:ahLst/>
                <a:cxnLst/>
                <a:rect l="l" t="t" r="r" b="b"/>
                <a:pathLst>
                  <a:path w="133350" h="171450">
                    <a:moveTo>
                      <a:pt x="133350" y="85725"/>
                    </a:moveTo>
                    <a:lnTo>
                      <a:pt x="0" y="0"/>
                    </a:lnTo>
                    <a:lnTo>
                      <a:pt x="0" y="17145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</p:sp>
          <p:sp>
            <p:nvSpPr>
              <p:cNvPr id="9" name="Rectangle 9"/>
              <p:cNvSpPr/>
              <p:nvPr/>
            </p:nvSpPr>
            <p:spPr>
              <a:xfrm>
                <a:off x="6429375" y="1143000"/>
                <a:ext cx="5229225" cy="1000125"/>
              </a:xfrm>
              <a:prstGeom prst="roundRect">
                <a:avLst>
                  <a:gd name="adj" fmla="val 15238"/>
                </a:avLst>
              </a:prstGeom>
              <a:solidFill>
                <a:srgbClr val="EAF6F0"/>
              </a:solidFill>
              <a:ln>
                <a:noFill/>
              </a:ln>
            </p:spPr>
          </p:sp>
          <p:sp>
            <p:nvSpPr>
              <p:cNvPr id="10" name="TextBox 10"/>
              <p:cNvSpPr txBox="1"/>
              <p:nvPr/>
            </p:nvSpPr>
            <p:spPr>
              <a:xfrm>
                <a:off x="6670548" y="1367314"/>
                <a:ext cx="653375" cy="24936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280" b="1" dirty="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rPr>
                  <a:t>BÀI HỌC</a:t>
                </a:r>
              </a:p>
            </p:txBody>
          </p:sp>
          <p:sp>
            <p:nvSpPr>
              <p:cNvPr id="11" name="TextBox 11"/>
              <p:cNvSpPr txBox="1"/>
              <p:nvPr/>
            </p:nvSpPr>
            <p:spPr>
              <a:xfrm>
                <a:off x="6669405" y="1695450"/>
                <a:ext cx="4797642" cy="29337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50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Chuẩn hóa interface, phiên bản và checklist test</a:t>
                </a:r>
              </a:p>
            </p:txBody>
          </p:sp>
        </p:grpSp>
        <p:grpSp>
          <p:nvGrpSpPr>
            <p:cNvPr id="21" name="Group 21"/>
            <p:cNvGrpSpPr/>
            <p:nvPr/>
          </p:nvGrpSpPr>
          <p:grpSpPr>
            <a:xfrm>
              <a:off x="533400" y="2333625"/>
              <a:ext cx="11125200" cy="1000125"/>
              <a:chOff x="533400" y="2333625"/>
              <a:chExt cx="11125200" cy="1000125"/>
            </a:xfrm>
          </p:grpSpPr>
          <p:sp>
            <p:nvSpPr>
              <p:cNvPr id="13" name="Rectangle 13"/>
              <p:cNvSpPr/>
              <p:nvPr/>
            </p:nvSpPr>
            <p:spPr>
              <a:xfrm>
                <a:off x="533400" y="2333625"/>
                <a:ext cx="4429125" cy="1000125"/>
              </a:xfrm>
              <a:prstGeom prst="roundRect">
                <a:avLst>
                  <a:gd name="adj" fmla="val 15238"/>
                </a:avLst>
              </a:prstGeom>
              <a:solidFill>
                <a:srgbClr val="FFF7E8"/>
              </a:solidFill>
              <a:ln>
                <a:noFill/>
              </a:ln>
            </p:spPr>
          </p:sp>
          <p:sp>
            <p:nvSpPr>
              <p:cNvPr id="14" name="TextBox 14"/>
              <p:cNvSpPr txBox="1"/>
              <p:nvPr/>
            </p:nvSpPr>
            <p:spPr>
              <a:xfrm>
                <a:off x="774573" y="2557939"/>
                <a:ext cx="1073951" cy="24936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280" b="1" dirty="0">
                    <a:solidFill>
                      <a:srgbClr val="B56A00"/>
                    </a:solidFill>
                    <a:latin typeface="+mn-lt"/>
                    <a:ea typeface="+mn-ea"/>
                    <a:cs typeface="+mn-cs"/>
                  </a:rPr>
                  <a:t>KHÓ KHĂN 02</a:t>
                </a:r>
              </a:p>
            </p:txBody>
          </p:sp>
          <p:sp>
            <p:nvSpPr>
              <p:cNvPr id="15" name="TextBox 15"/>
              <p:cNvSpPr txBox="1"/>
              <p:nvPr/>
            </p:nvSpPr>
            <p:spPr>
              <a:xfrm>
                <a:off x="773430" y="2886075"/>
                <a:ext cx="2182328" cy="29337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50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Lỗi khó tái hiện tại lab</a:t>
                </a:r>
              </a:p>
            </p:txBody>
          </p:sp>
          <p:sp>
            <p:nvSpPr>
              <p:cNvPr id="16" name="Freeform 16"/>
              <p:cNvSpPr/>
              <p:nvPr/>
            </p:nvSpPr>
            <p:spPr>
              <a:xfrm>
                <a:off x="5191125" y="2828925"/>
                <a:ext cx="10001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1000125" h="9525">
                    <a:moveTo>
                      <a:pt x="0" y="0"/>
                    </a:moveTo>
                    <a:lnTo>
                      <a:pt x="1000125" y="0"/>
                    </a:lnTo>
                  </a:path>
                </a:pathLst>
              </a:custGeom>
              <a:solidFill>
                <a:srgbClr val="000000"/>
              </a:solidFill>
              <a:ln w="38100">
                <a:solidFill>
                  <a:schemeClr val="accent3"/>
                </a:solidFill>
              </a:ln>
            </p:spPr>
          </p:sp>
          <p:sp>
            <p:nvSpPr>
              <p:cNvPr id="17" name="Freeform 17"/>
              <p:cNvSpPr/>
              <p:nvPr/>
            </p:nvSpPr>
            <p:spPr>
              <a:xfrm>
                <a:off x="6057900" y="2743200"/>
                <a:ext cx="133350" cy="171450"/>
              </a:xfrm>
              <a:custGeom>
                <a:avLst/>
                <a:gdLst/>
                <a:ahLst/>
                <a:cxnLst/>
                <a:rect l="l" t="t" r="r" b="b"/>
                <a:pathLst>
                  <a:path w="133350" h="171450">
                    <a:moveTo>
                      <a:pt x="133350" y="85725"/>
                    </a:moveTo>
                    <a:lnTo>
                      <a:pt x="0" y="0"/>
                    </a:lnTo>
                    <a:lnTo>
                      <a:pt x="0" y="17145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</p:sp>
          <p:sp>
            <p:nvSpPr>
              <p:cNvPr id="18" name="Rectangle 18"/>
              <p:cNvSpPr/>
              <p:nvPr/>
            </p:nvSpPr>
            <p:spPr>
              <a:xfrm>
                <a:off x="6429375" y="2333625"/>
                <a:ext cx="5229225" cy="1000125"/>
              </a:xfrm>
              <a:prstGeom prst="roundRect">
                <a:avLst>
                  <a:gd name="adj" fmla="val 15238"/>
                </a:avLst>
              </a:prstGeom>
              <a:solidFill>
                <a:srgbClr val="EAF6F0"/>
              </a:solidFill>
              <a:ln>
                <a:noFill/>
              </a:ln>
            </p:spPr>
          </p:sp>
          <p:sp>
            <p:nvSpPr>
              <p:cNvPr id="19" name="TextBox 19"/>
              <p:cNvSpPr txBox="1"/>
              <p:nvPr/>
            </p:nvSpPr>
            <p:spPr>
              <a:xfrm>
                <a:off x="6670548" y="2557939"/>
                <a:ext cx="653375" cy="24936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280" b="1" dirty="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rPr>
                  <a:t>BÀI HỌC</a:t>
                </a:r>
              </a:p>
            </p:txBody>
          </p:sp>
          <p:sp>
            <p:nvSpPr>
              <p:cNvPr id="20" name="TextBox 20"/>
              <p:cNvSpPr txBox="1"/>
              <p:nvPr/>
            </p:nvSpPr>
            <p:spPr>
              <a:xfrm>
                <a:off x="6669405" y="2886075"/>
                <a:ext cx="4656820" cy="29337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50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Giữ log, benchmark và mẫu đo chuẩn từ thực địa</a:t>
                </a:r>
              </a:p>
            </p:txBody>
          </p:sp>
        </p:grpSp>
        <p:grpSp>
          <p:nvGrpSpPr>
            <p:cNvPr id="30" name="Group 30"/>
            <p:cNvGrpSpPr/>
            <p:nvPr/>
          </p:nvGrpSpPr>
          <p:grpSpPr>
            <a:xfrm>
              <a:off x="533400" y="3524250"/>
              <a:ext cx="11125200" cy="1000125"/>
              <a:chOff x="533400" y="3524250"/>
              <a:chExt cx="11125200" cy="1000125"/>
            </a:xfrm>
          </p:grpSpPr>
          <p:sp>
            <p:nvSpPr>
              <p:cNvPr id="22" name="Rectangle 22"/>
              <p:cNvSpPr/>
              <p:nvPr/>
            </p:nvSpPr>
            <p:spPr>
              <a:xfrm>
                <a:off x="533400" y="3524250"/>
                <a:ext cx="4429125" cy="1000125"/>
              </a:xfrm>
              <a:prstGeom prst="roundRect">
                <a:avLst>
                  <a:gd name="adj" fmla="val 15238"/>
                </a:avLst>
              </a:prstGeom>
              <a:solidFill>
                <a:srgbClr val="FFF7E8"/>
              </a:solidFill>
              <a:ln>
                <a:noFill/>
              </a:ln>
            </p:spPr>
          </p:sp>
          <p:sp>
            <p:nvSpPr>
              <p:cNvPr id="23" name="TextBox 23"/>
              <p:cNvSpPr txBox="1"/>
              <p:nvPr/>
            </p:nvSpPr>
            <p:spPr>
              <a:xfrm>
                <a:off x="774573" y="3748564"/>
                <a:ext cx="1073951" cy="24936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280" b="1" dirty="0">
                    <a:solidFill>
                      <a:srgbClr val="B56A00"/>
                    </a:solidFill>
                    <a:latin typeface="+mn-lt"/>
                    <a:ea typeface="+mn-ea"/>
                    <a:cs typeface="+mn-cs"/>
                  </a:rPr>
                  <a:t>KHÓ KHĂN 03</a:t>
                </a:r>
              </a:p>
            </p:txBody>
          </p:sp>
          <p:sp>
            <p:nvSpPr>
              <p:cNvPr id="24" name="TextBox 24"/>
              <p:cNvSpPr txBox="1"/>
              <p:nvPr/>
            </p:nvSpPr>
            <p:spPr>
              <a:xfrm>
                <a:off x="773430" y="4076700"/>
                <a:ext cx="2425366" cy="29337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50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Yêu cầu nhà máy thay đổi</a:t>
                </a:r>
              </a:p>
            </p:txBody>
          </p:sp>
          <p:sp>
            <p:nvSpPr>
              <p:cNvPr id="25" name="Freeform 25"/>
              <p:cNvSpPr/>
              <p:nvPr/>
            </p:nvSpPr>
            <p:spPr>
              <a:xfrm>
                <a:off x="5191125" y="4019550"/>
                <a:ext cx="10001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1000125" h="9525">
                    <a:moveTo>
                      <a:pt x="0" y="0"/>
                    </a:moveTo>
                    <a:lnTo>
                      <a:pt x="1000125" y="0"/>
                    </a:lnTo>
                  </a:path>
                </a:pathLst>
              </a:custGeom>
              <a:solidFill>
                <a:srgbClr val="000000"/>
              </a:solidFill>
              <a:ln w="38100">
                <a:solidFill>
                  <a:schemeClr val="accent3"/>
                </a:solidFill>
              </a:ln>
            </p:spPr>
          </p:sp>
          <p:sp>
            <p:nvSpPr>
              <p:cNvPr id="26" name="Freeform 26"/>
              <p:cNvSpPr/>
              <p:nvPr/>
            </p:nvSpPr>
            <p:spPr>
              <a:xfrm>
                <a:off x="6057900" y="3933825"/>
                <a:ext cx="133350" cy="171450"/>
              </a:xfrm>
              <a:custGeom>
                <a:avLst/>
                <a:gdLst/>
                <a:ahLst/>
                <a:cxnLst/>
                <a:rect l="l" t="t" r="r" b="b"/>
                <a:pathLst>
                  <a:path w="133350" h="171450">
                    <a:moveTo>
                      <a:pt x="133350" y="85725"/>
                    </a:moveTo>
                    <a:lnTo>
                      <a:pt x="0" y="0"/>
                    </a:lnTo>
                    <a:lnTo>
                      <a:pt x="0" y="17145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</p:sp>
          <p:sp>
            <p:nvSpPr>
              <p:cNvPr id="27" name="Rectangle 27"/>
              <p:cNvSpPr/>
              <p:nvPr/>
            </p:nvSpPr>
            <p:spPr>
              <a:xfrm>
                <a:off x="6429375" y="3524250"/>
                <a:ext cx="5229225" cy="1000125"/>
              </a:xfrm>
              <a:prstGeom prst="roundRect">
                <a:avLst>
                  <a:gd name="adj" fmla="val 15238"/>
                </a:avLst>
              </a:prstGeom>
              <a:solidFill>
                <a:srgbClr val="EAF6F0"/>
              </a:solidFill>
              <a:ln>
                <a:noFill/>
              </a:ln>
            </p:spPr>
          </p:sp>
          <p:sp>
            <p:nvSpPr>
              <p:cNvPr id="28" name="TextBox 28"/>
              <p:cNvSpPr txBox="1"/>
              <p:nvPr/>
            </p:nvSpPr>
            <p:spPr>
              <a:xfrm>
                <a:off x="6670548" y="3748564"/>
                <a:ext cx="653375" cy="24936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280" b="1" dirty="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rPr>
                  <a:t>BÀI HỌC</a:t>
                </a:r>
              </a:p>
            </p:txBody>
          </p:sp>
          <p:sp>
            <p:nvSpPr>
              <p:cNvPr id="29" name="TextBox 29"/>
              <p:cNvSpPr txBox="1"/>
              <p:nvPr/>
            </p:nvSpPr>
            <p:spPr>
              <a:xfrm>
                <a:off x="6669405" y="4076700"/>
                <a:ext cx="4948972" cy="29337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50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Chốt acceptance và kiểm thử fixture trước rollout</a:t>
                </a:r>
              </a:p>
            </p:txBody>
          </p:sp>
        </p:grpSp>
        <p:grpSp>
          <p:nvGrpSpPr>
            <p:cNvPr id="39" name="Group 39"/>
            <p:cNvGrpSpPr/>
            <p:nvPr/>
          </p:nvGrpSpPr>
          <p:grpSpPr>
            <a:xfrm>
              <a:off x="533400" y="4714875"/>
              <a:ext cx="11125200" cy="1000125"/>
              <a:chOff x="533400" y="4714875"/>
              <a:chExt cx="11125200" cy="1000125"/>
            </a:xfrm>
          </p:grpSpPr>
          <p:sp>
            <p:nvSpPr>
              <p:cNvPr id="31" name="Rectangle 31"/>
              <p:cNvSpPr/>
              <p:nvPr/>
            </p:nvSpPr>
            <p:spPr>
              <a:xfrm>
                <a:off x="533400" y="4714875"/>
                <a:ext cx="4429125" cy="1000125"/>
              </a:xfrm>
              <a:prstGeom prst="roundRect">
                <a:avLst>
                  <a:gd name="adj" fmla="val 15238"/>
                </a:avLst>
              </a:prstGeom>
              <a:solidFill>
                <a:srgbClr val="FFF7E8"/>
              </a:solidFill>
              <a:ln>
                <a:noFill/>
              </a:ln>
            </p:spPr>
          </p:sp>
          <p:sp>
            <p:nvSpPr>
              <p:cNvPr id="32" name="TextBox 32"/>
              <p:cNvSpPr txBox="1"/>
              <p:nvPr/>
            </p:nvSpPr>
            <p:spPr>
              <a:xfrm>
                <a:off x="774573" y="4939189"/>
                <a:ext cx="1073951" cy="24936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280" b="1" dirty="0">
                    <a:solidFill>
                      <a:srgbClr val="B56A00"/>
                    </a:solidFill>
                    <a:latin typeface="+mn-lt"/>
                    <a:ea typeface="+mn-ea"/>
                    <a:cs typeface="+mn-cs"/>
                  </a:rPr>
                  <a:t>KHÓ KHĂN 04</a:t>
                </a:r>
              </a:p>
            </p:txBody>
          </p:sp>
          <p:sp>
            <p:nvSpPr>
              <p:cNvPr id="33" name="TextBox 33"/>
              <p:cNvSpPr txBox="1"/>
              <p:nvPr/>
            </p:nvSpPr>
            <p:spPr>
              <a:xfrm>
                <a:off x="773430" y="5267325"/>
                <a:ext cx="2940010" cy="29337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50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Phối hợp nhiều team và ưu tiên</a:t>
                </a:r>
              </a:p>
            </p:txBody>
          </p:sp>
          <p:sp>
            <p:nvSpPr>
              <p:cNvPr id="34" name="Freeform 34"/>
              <p:cNvSpPr/>
              <p:nvPr/>
            </p:nvSpPr>
            <p:spPr>
              <a:xfrm>
                <a:off x="5191125" y="5210175"/>
                <a:ext cx="10001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1000125" h="9525">
                    <a:moveTo>
                      <a:pt x="0" y="0"/>
                    </a:moveTo>
                    <a:lnTo>
                      <a:pt x="1000125" y="0"/>
                    </a:lnTo>
                  </a:path>
                </a:pathLst>
              </a:custGeom>
              <a:solidFill>
                <a:srgbClr val="000000"/>
              </a:solidFill>
              <a:ln w="38100">
                <a:solidFill>
                  <a:schemeClr val="accent3"/>
                </a:solidFill>
              </a:ln>
            </p:spPr>
          </p:sp>
          <p:sp>
            <p:nvSpPr>
              <p:cNvPr id="35" name="Freeform 35"/>
              <p:cNvSpPr/>
              <p:nvPr/>
            </p:nvSpPr>
            <p:spPr>
              <a:xfrm>
                <a:off x="6057900" y="5124450"/>
                <a:ext cx="133350" cy="171450"/>
              </a:xfrm>
              <a:custGeom>
                <a:avLst/>
                <a:gdLst/>
                <a:ahLst/>
                <a:cxnLst/>
                <a:rect l="l" t="t" r="r" b="b"/>
                <a:pathLst>
                  <a:path w="133350" h="171450">
                    <a:moveTo>
                      <a:pt x="133350" y="85725"/>
                    </a:moveTo>
                    <a:lnTo>
                      <a:pt x="0" y="0"/>
                    </a:lnTo>
                    <a:lnTo>
                      <a:pt x="0" y="17145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</p:sp>
          <p:sp>
            <p:nvSpPr>
              <p:cNvPr id="36" name="Rectangle 36"/>
              <p:cNvSpPr/>
              <p:nvPr/>
            </p:nvSpPr>
            <p:spPr>
              <a:xfrm>
                <a:off x="6429375" y="4714875"/>
                <a:ext cx="5229225" cy="1000125"/>
              </a:xfrm>
              <a:prstGeom prst="roundRect">
                <a:avLst>
                  <a:gd name="adj" fmla="val 15238"/>
                </a:avLst>
              </a:prstGeom>
              <a:solidFill>
                <a:srgbClr val="EAF6F0"/>
              </a:solidFill>
              <a:ln>
                <a:noFill/>
              </a:ln>
            </p:spPr>
          </p:sp>
          <p:sp>
            <p:nvSpPr>
              <p:cNvPr id="37" name="TextBox 37"/>
              <p:cNvSpPr txBox="1"/>
              <p:nvPr/>
            </p:nvSpPr>
            <p:spPr>
              <a:xfrm>
                <a:off x="6670548" y="4939189"/>
                <a:ext cx="653375" cy="24936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280" b="1" dirty="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rPr>
                  <a:t>BÀI HỌC</a:t>
                </a:r>
              </a:p>
            </p:txBody>
          </p:sp>
          <p:sp>
            <p:nvSpPr>
              <p:cNvPr id="38" name="TextBox 38"/>
              <p:cNvSpPr txBox="1"/>
              <p:nvPr/>
            </p:nvSpPr>
            <p:spPr>
              <a:xfrm>
                <a:off x="6669405" y="5267325"/>
                <a:ext cx="4444460" cy="29337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50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Decision log, owner rõ và handoff đủ context</a:t>
                </a:r>
              </a:p>
            </p:txBody>
          </p:sp>
        </p:grpSp>
      </p:grpSp>
      <p:sp>
        <p:nvSpPr>
          <p:cNvPr id="41" name="TextBox 41"/>
          <p:cNvSpPr txBox="1"/>
          <p:nvPr/>
        </p:nvSpPr>
        <p:spPr>
          <a:xfrm>
            <a:off x="11141640" y="6630352"/>
            <a:ext cx="484194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en-US" sz="1050" dirty="0">
                <a:solidFill>
                  <a:srgbClr val="66706A"/>
                </a:solidFill>
                <a:latin typeface="+mn-lt"/>
                <a:ea typeface="+mn-ea"/>
                <a:cs typeface="+mn-cs"/>
              </a:rPr>
              <a:t>20 / 22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6276" y="266700"/>
            <a:ext cx="1313447" cy="381000"/>
          </a:xfrm>
          <a:prstGeom prst="rect">
            <a:avLst/>
          </a:prstGeom>
        </p:spPr>
      </p:pic>
      <p:sp>
        <p:nvSpPr>
          <p:cNvPr id="3" name="TextBox 3"/>
          <p:cNvSpPr txBox="1"/>
          <p:nvPr/>
        </p:nvSpPr>
        <p:spPr>
          <a:xfrm>
            <a:off x="2462784" y="356235"/>
            <a:ext cx="2998080" cy="52806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2700" b="1" dirty="0">
                <a:solidFill>
                  <a:schemeClr val="accent1"/>
                </a:solidFill>
                <a:latin typeface="+mn-lt"/>
                <a:ea typeface="+mn-ea"/>
                <a:cs typeface="+mn-cs"/>
              </a:rPr>
              <a:t>Mục tiêu sắp tới</a:t>
            </a:r>
          </a:p>
        </p:txBody>
      </p:sp>
      <p:grpSp>
        <p:nvGrpSpPr>
          <p:cNvPr id="31" name="Group 31"/>
          <p:cNvGrpSpPr/>
          <p:nvPr/>
        </p:nvGrpSpPr>
        <p:grpSpPr>
          <a:xfrm>
            <a:off x="533400" y="1285875"/>
            <a:ext cx="11313372" cy="3429000"/>
            <a:chOff x="533400" y="1285875"/>
            <a:chExt cx="11313372" cy="3429000"/>
          </a:xfrm>
        </p:grpSpPr>
        <p:grpSp>
          <p:nvGrpSpPr>
            <p:cNvPr id="12" name="Group 12"/>
            <p:cNvGrpSpPr/>
            <p:nvPr/>
          </p:nvGrpSpPr>
          <p:grpSpPr>
            <a:xfrm>
              <a:off x="533400" y="1285875"/>
              <a:ext cx="3429000" cy="3429000"/>
              <a:chOff x="533400" y="1285875"/>
              <a:chExt cx="3429000" cy="3429000"/>
            </a:xfrm>
          </p:grpSpPr>
          <p:sp>
            <p:nvSpPr>
              <p:cNvPr id="4" name="Rectangle 4"/>
              <p:cNvSpPr/>
              <p:nvPr/>
            </p:nvSpPr>
            <p:spPr>
              <a:xfrm>
                <a:off x="533400" y="1285875"/>
                <a:ext cx="3429000" cy="3429000"/>
              </a:xfrm>
              <a:prstGeom prst="roundRect">
                <a:avLst>
                  <a:gd name="adj" fmla="val 5556"/>
                </a:avLst>
              </a:prstGeom>
              <a:solidFill>
                <a:schemeClr val="accent1"/>
              </a:solidFill>
              <a:ln>
                <a:noFill/>
              </a:ln>
            </p:spPr>
          </p:sp>
          <p:sp>
            <p:nvSpPr>
              <p:cNvPr id="5" name="TextBox 5"/>
              <p:cNvSpPr txBox="1"/>
              <p:nvPr/>
            </p:nvSpPr>
            <p:spPr>
              <a:xfrm>
                <a:off x="812673" y="1624489"/>
                <a:ext cx="1418058" cy="24936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280" b="1" dirty="0">
                    <a:solidFill>
                      <a:srgbClr val="FFFFFF"/>
                    </a:solidFill>
                    <a:latin typeface="+mn-lt"/>
                    <a:ea typeface="+mn-ea"/>
                    <a:cs typeface="+mn-cs"/>
                  </a:rPr>
                  <a:t>NOW · 0–4 TUẦN</a:t>
                </a:r>
              </a:p>
            </p:txBody>
          </p:sp>
          <p:sp>
            <p:nvSpPr>
              <p:cNvPr id="6" name="TextBox 6"/>
              <p:cNvSpPr txBox="1"/>
              <p:nvPr/>
            </p:nvSpPr>
            <p:spPr>
              <a:xfrm>
                <a:off x="808482" y="2078355"/>
                <a:ext cx="2761899" cy="41071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2100" b="1" dirty="0">
                    <a:solidFill>
                      <a:srgbClr val="FFFFFF"/>
                    </a:solidFill>
                    <a:latin typeface="+mn-lt"/>
                    <a:ea typeface="+mn-ea"/>
                    <a:cs typeface="+mn-cs"/>
                  </a:rPr>
                  <a:t>Hoàn tất triển khai</a:t>
                </a:r>
              </a:p>
            </p:txBody>
          </p:sp>
          <p:sp>
            <p:nvSpPr>
              <p:cNvPr id="7" name="TextBox 7"/>
              <p:cNvSpPr txBox="1"/>
              <p:nvPr/>
            </p:nvSpPr>
            <p:spPr>
              <a:xfrm>
                <a:off x="811530" y="2676525"/>
                <a:ext cx="2785768" cy="29337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500" dirty="0">
                    <a:solidFill>
                      <a:srgbClr val="FFFFFF"/>
                    </a:solidFill>
                    <a:latin typeface="+mn-lt"/>
                    <a:ea typeface="+mn-ea"/>
                    <a:cs typeface="+mn-cs"/>
                  </a:rPr>
                  <a:t>Auto Test: đóng task còn lại</a:t>
                </a:r>
              </a:p>
            </p:txBody>
          </p:sp>
          <p:sp>
            <p:nvSpPr>
              <p:cNvPr id="8" name="TextBox 8"/>
              <p:cNvSpPr txBox="1"/>
              <p:nvPr/>
            </p:nvSpPr>
            <p:spPr>
              <a:xfrm>
                <a:off x="811530" y="3057525"/>
                <a:ext cx="3097940" cy="29337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500" dirty="0">
                    <a:solidFill>
                      <a:srgbClr val="FFFFFF"/>
                    </a:solidFill>
                    <a:latin typeface="+mn-lt"/>
                    <a:ea typeface="+mn-ea"/>
                    <a:cs typeface="+mn-cs"/>
                  </a:rPr>
                  <a:t>Smart Lighting: prototype tool</a:t>
                </a:r>
              </a:p>
            </p:txBody>
          </p:sp>
          <p:sp>
            <p:nvSpPr>
              <p:cNvPr id="9" name="TextBox 9"/>
              <p:cNvSpPr txBox="1"/>
              <p:nvPr/>
            </p:nvSpPr>
            <p:spPr>
              <a:xfrm>
                <a:off x="811530" y="3438525"/>
                <a:ext cx="2937344" cy="29337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500" dirty="0">
                    <a:solidFill>
                      <a:srgbClr val="FFFFFF"/>
                    </a:solidFill>
                    <a:latin typeface="+mn-lt"/>
                    <a:ea typeface="+mn-ea"/>
                    <a:cs typeface="+mn-cs"/>
                  </a:rPr>
                  <a:t>Xác nhận mốc và tiêu chí Done</a:t>
                </a:r>
              </a:p>
            </p:txBody>
          </p:sp>
          <p:sp>
            <p:nvSpPr>
              <p:cNvPr id="10" name="Rectangle 10"/>
              <p:cNvSpPr/>
              <p:nvPr/>
            </p:nvSpPr>
            <p:spPr>
              <a:xfrm>
                <a:off x="819150" y="4114800"/>
                <a:ext cx="1619250" cy="323850"/>
              </a:xfrm>
              <a:prstGeom prst="roundRect">
                <a:avLst>
                  <a:gd name="adj" fmla="val 50000"/>
                </a:avLst>
              </a:prstGeom>
              <a:solidFill>
                <a:schemeClr val="lt1">
                  <a:alpha val="18000"/>
                </a:schemeClr>
              </a:solidFill>
              <a:ln>
                <a:noFill/>
              </a:ln>
            </p:spPr>
          </p:sp>
          <p:sp>
            <p:nvSpPr>
              <p:cNvPr id="11" name="TextBox 11"/>
              <p:cNvSpPr txBox="1"/>
              <p:nvPr/>
            </p:nvSpPr>
            <p:spPr>
              <a:xfrm>
                <a:off x="1184961" y="4212431"/>
                <a:ext cx="887628" cy="22002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-US" sz="1120" dirty="0">
                    <a:solidFill>
                      <a:srgbClr val="FFFFFF"/>
                    </a:solidFill>
                    <a:latin typeface="+mn-lt"/>
                    <a:ea typeface="+mn-ea"/>
                    <a:cs typeface="+mn-cs"/>
                  </a:rPr>
                  <a:t>ƯU TIÊN CAO</a:t>
                </a:r>
              </a:p>
            </p:txBody>
          </p:sp>
        </p:grpSp>
        <p:grpSp>
          <p:nvGrpSpPr>
            <p:cNvPr id="21" name="Group 21"/>
            <p:cNvGrpSpPr/>
            <p:nvPr/>
          </p:nvGrpSpPr>
          <p:grpSpPr>
            <a:xfrm>
              <a:off x="4381500" y="1285875"/>
              <a:ext cx="3429000" cy="3429000"/>
              <a:chOff x="4381500" y="1285875"/>
              <a:chExt cx="3429000" cy="3429000"/>
            </a:xfrm>
          </p:grpSpPr>
          <p:sp>
            <p:nvSpPr>
              <p:cNvPr id="13" name="Rectangle 13"/>
              <p:cNvSpPr/>
              <p:nvPr/>
            </p:nvSpPr>
            <p:spPr>
              <a:xfrm>
                <a:off x="4381500" y="1285875"/>
                <a:ext cx="3429000" cy="3429000"/>
              </a:xfrm>
              <a:prstGeom prst="roundRect">
                <a:avLst>
                  <a:gd name="adj" fmla="val 5556"/>
                </a:avLst>
              </a:prstGeom>
              <a:solidFill>
                <a:srgbClr val="EAF6F0"/>
              </a:solidFill>
              <a:ln>
                <a:noFill/>
              </a:ln>
            </p:spPr>
          </p:sp>
          <p:sp>
            <p:nvSpPr>
              <p:cNvPr id="14" name="TextBox 14"/>
              <p:cNvSpPr txBox="1"/>
              <p:nvPr/>
            </p:nvSpPr>
            <p:spPr>
              <a:xfrm>
                <a:off x="4660773" y="1624489"/>
                <a:ext cx="1551877" cy="24936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280" b="1" dirty="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rPr>
                  <a:t>NEXT · 1–2 THÁNG</a:t>
                </a:r>
              </a:p>
            </p:txBody>
          </p:sp>
          <p:sp>
            <p:nvSpPr>
              <p:cNvPr id="15" name="TextBox 15"/>
              <p:cNvSpPr txBox="1"/>
              <p:nvPr/>
            </p:nvSpPr>
            <p:spPr>
              <a:xfrm>
                <a:off x="4656582" y="2078355"/>
                <a:ext cx="2836370" cy="41071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2100" b="1" dirty="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rPr>
                  <a:t>Đóng vòng công việc</a:t>
                </a:r>
              </a:p>
            </p:txBody>
          </p:sp>
          <p:sp>
            <p:nvSpPr>
              <p:cNvPr id="16" name="TextBox 16"/>
              <p:cNvSpPr txBox="1"/>
              <p:nvPr/>
            </p:nvSpPr>
            <p:spPr>
              <a:xfrm>
                <a:off x="4659630" y="2676525"/>
                <a:ext cx="2277808" cy="29337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50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Xử lý Late/Not started</a:t>
                </a:r>
              </a:p>
            </p:txBody>
          </p:sp>
          <p:sp>
            <p:nvSpPr>
              <p:cNvPr id="17" name="TextBox 17"/>
              <p:cNvSpPr txBox="1"/>
              <p:nvPr/>
            </p:nvSpPr>
            <p:spPr>
              <a:xfrm>
                <a:off x="4659630" y="3057525"/>
                <a:ext cx="2385541" cy="29337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50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Cập nhật trạng thái MSB</a:t>
                </a:r>
              </a:p>
            </p:txBody>
          </p:sp>
          <p:sp>
            <p:nvSpPr>
              <p:cNvPr id="18" name="TextBox 18"/>
              <p:cNvSpPr txBox="1"/>
              <p:nvPr/>
            </p:nvSpPr>
            <p:spPr>
              <a:xfrm>
                <a:off x="4659630" y="3438525"/>
                <a:ext cx="2868900" cy="29337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50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Weekly planning và review tải</a:t>
                </a:r>
              </a:p>
            </p:txBody>
          </p:sp>
          <p:sp>
            <p:nvSpPr>
              <p:cNvPr id="19" name="Rectangle 19"/>
              <p:cNvSpPr/>
              <p:nvPr/>
            </p:nvSpPr>
            <p:spPr>
              <a:xfrm>
                <a:off x="4667250" y="4114800"/>
                <a:ext cx="1619250" cy="323850"/>
              </a:xfrm>
              <a:prstGeom prst="roundRect">
                <a:avLst>
                  <a:gd name="adj" fmla="val 50000"/>
                </a:avLst>
              </a:prstGeom>
              <a:solidFill>
                <a:schemeClr val="accent1">
                  <a:alpha val="12000"/>
                </a:schemeClr>
              </a:solidFill>
              <a:ln>
                <a:noFill/>
              </a:ln>
            </p:spPr>
          </p:sp>
          <p:sp>
            <p:nvSpPr>
              <p:cNvPr id="20" name="TextBox 20"/>
              <p:cNvSpPr txBox="1"/>
              <p:nvPr/>
            </p:nvSpPr>
            <p:spPr>
              <a:xfrm>
                <a:off x="4849856" y="4212431"/>
                <a:ext cx="1254039" cy="22002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-US" sz="1120" dirty="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rPr>
                  <a:t>KỶ LUẬT THỰC THI</a:t>
                </a:r>
              </a:p>
            </p:txBody>
          </p:sp>
        </p:grpSp>
        <p:grpSp>
          <p:nvGrpSpPr>
            <p:cNvPr id="30" name="Group 30"/>
            <p:cNvGrpSpPr/>
            <p:nvPr/>
          </p:nvGrpSpPr>
          <p:grpSpPr>
            <a:xfrm>
              <a:off x="8229600" y="1285875"/>
              <a:ext cx="3617172" cy="3429000"/>
              <a:chOff x="8229600" y="1285875"/>
              <a:chExt cx="3617172" cy="3429000"/>
            </a:xfrm>
          </p:grpSpPr>
          <p:sp>
            <p:nvSpPr>
              <p:cNvPr id="22" name="Rectangle 22"/>
              <p:cNvSpPr/>
              <p:nvPr/>
            </p:nvSpPr>
            <p:spPr>
              <a:xfrm>
                <a:off x="8229600" y="1285875"/>
                <a:ext cx="3429000" cy="3429000"/>
              </a:xfrm>
              <a:prstGeom prst="roundRect">
                <a:avLst>
                  <a:gd name="adj" fmla="val 5556"/>
                </a:avLst>
              </a:prstGeom>
              <a:solidFill>
                <a:srgbClr val="EEF3FF"/>
              </a:solidFill>
              <a:ln>
                <a:noFill/>
              </a:ln>
            </p:spPr>
          </p:sp>
          <p:sp>
            <p:nvSpPr>
              <p:cNvPr id="23" name="TextBox 23"/>
              <p:cNvSpPr txBox="1"/>
              <p:nvPr/>
            </p:nvSpPr>
            <p:spPr>
              <a:xfrm>
                <a:off x="8508873" y="1624489"/>
                <a:ext cx="1657021" cy="24936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280" b="1" dirty="0">
                    <a:solidFill>
                      <a:schemeClr val="accent2"/>
                    </a:solidFill>
                    <a:latin typeface="+mn-lt"/>
                    <a:ea typeface="+mn-ea"/>
                    <a:cs typeface="+mn-cs"/>
                  </a:rPr>
                  <a:t>SCALE · 2–3 THÁNG</a:t>
                </a:r>
              </a:p>
            </p:txBody>
          </p:sp>
          <p:sp>
            <p:nvSpPr>
              <p:cNvPr id="24" name="TextBox 24"/>
              <p:cNvSpPr txBox="1"/>
              <p:nvPr/>
            </p:nvSpPr>
            <p:spPr>
              <a:xfrm>
                <a:off x="8504682" y="2078355"/>
                <a:ext cx="3342090" cy="41071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2100" b="1" dirty="0">
                    <a:solidFill>
                      <a:schemeClr val="accent2"/>
                    </a:solidFill>
                    <a:latin typeface="+mn-lt"/>
                    <a:ea typeface="+mn-ea"/>
                    <a:cs typeface="+mn-cs"/>
                  </a:rPr>
                  <a:t>Chuẩn hóa &amp; tái sử dụng</a:t>
                </a:r>
              </a:p>
            </p:txBody>
          </p:sp>
          <p:sp>
            <p:nvSpPr>
              <p:cNvPr id="25" name="TextBox 25"/>
              <p:cNvSpPr txBox="1"/>
              <p:nvPr/>
            </p:nvSpPr>
            <p:spPr>
              <a:xfrm>
                <a:off x="8507730" y="2676525"/>
                <a:ext cx="2556292" cy="29337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50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Thư viện tool và test case</a:t>
                </a:r>
              </a:p>
            </p:txBody>
          </p:sp>
          <p:sp>
            <p:nvSpPr>
              <p:cNvPr id="26" name="TextBox 26"/>
              <p:cNvSpPr txBox="1"/>
              <p:nvPr/>
            </p:nvSpPr>
            <p:spPr>
              <a:xfrm>
                <a:off x="8507730" y="3057525"/>
                <a:ext cx="2535737" cy="29337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50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Template tài liệu/handoff</a:t>
                </a:r>
              </a:p>
            </p:txBody>
          </p:sp>
          <p:sp>
            <p:nvSpPr>
              <p:cNvPr id="27" name="TextBox 27"/>
              <p:cNvSpPr txBox="1"/>
              <p:nvPr/>
            </p:nvSpPr>
            <p:spPr>
              <a:xfrm>
                <a:off x="8507730" y="3438525"/>
                <a:ext cx="2475633" cy="29337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50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Đào tạo ngắn theo module</a:t>
                </a:r>
              </a:p>
            </p:txBody>
          </p:sp>
          <p:sp>
            <p:nvSpPr>
              <p:cNvPr id="28" name="Rectangle 28"/>
              <p:cNvSpPr/>
              <p:nvPr/>
            </p:nvSpPr>
            <p:spPr>
              <a:xfrm>
                <a:off x="8515350" y="4114800"/>
                <a:ext cx="1619250" cy="323850"/>
              </a:xfrm>
              <a:prstGeom prst="roundRect">
                <a:avLst>
                  <a:gd name="adj" fmla="val 50000"/>
                </a:avLst>
              </a:prstGeom>
              <a:solidFill>
                <a:schemeClr val="accent2">
                  <a:alpha val="12000"/>
                </a:schemeClr>
              </a:solidFill>
              <a:ln>
                <a:noFill/>
              </a:ln>
            </p:spPr>
          </p:sp>
          <p:sp>
            <p:nvSpPr>
              <p:cNvPr id="29" name="TextBox 29"/>
              <p:cNvSpPr txBox="1"/>
              <p:nvPr/>
            </p:nvSpPr>
            <p:spPr>
              <a:xfrm>
                <a:off x="8717869" y="4212431"/>
                <a:ext cx="1214211" cy="22002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-US" sz="1120" dirty="0">
                    <a:solidFill>
                      <a:schemeClr val="accent2"/>
                    </a:solidFill>
                    <a:latin typeface="+mn-lt"/>
                    <a:ea typeface="+mn-ea"/>
                    <a:cs typeface="+mn-cs"/>
                  </a:rPr>
                  <a:t>TÀI SẢN DÙNG LẠI</a:t>
                </a:r>
              </a:p>
            </p:txBody>
          </p:sp>
        </p:grpSp>
      </p:grpSp>
      <p:grpSp>
        <p:nvGrpSpPr>
          <p:cNvPr id="41" name="Group 41"/>
          <p:cNvGrpSpPr/>
          <p:nvPr/>
        </p:nvGrpSpPr>
        <p:grpSpPr>
          <a:xfrm>
            <a:off x="526923" y="5291614"/>
            <a:ext cx="11131677" cy="766286"/>
            <a:chOff x="526923" y="5291614"/>
            <a:chExt cx="11131677" cy="766286"/>
          </a:xfrm>
        </p:grpSpPr>
        <p:sp>
          <p:nvSpPr>
            <p:cNvPr id="32" name="TextBox 32"/>
            <p:cNvSpPr txBox="1"/>
            <p:nvPr/>
          </p:nvSpPr>
          <p:spPr>
            <a:xfrm>
              <a:off x="526923" y="5291614"/>
              <a:ext cx="143717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8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CHỈ SỐ THEO DÕI</a:t>
              </a:r>
            </a:p>
          </p:txBody>
        </p:sp>
        <p:sp>
          <p:nvSpPr>
            <p:cNvPr id="33" name="Rectangle 33"/>
            <p:cNvSpPr/>
            <p:nvPr/>
          </p:nvSpPr>
          <p:spPr>
            <a:xfrm>
              <a:off x="533400" y="5600700"/>
              <a:ext cx="2571750" cy="457200"/>
            </a:xfrm>
            <a:prstGeom prst="roundRect">
              <a:avLst>
                <a:gd name="adj" fmla="val 25000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34" name="TextBox 34"/>
            <p:cNvSpPr txBox="1"/>
            <p:nvPr/>
          </p:nvSpPr>
          <p:spPr>
            <a:xfrm>
              <a:off x="977107" y="5748814"/>
              <a:ext cx="1684337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8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Task đúng hạn ≥ 95%</a:t>
              </a:r>
            </a:p>
          </p:txBody>
        </p:sp>
        <p:sp>
          <p:nvSpPr>
            <p:cNvPr id="35" name="Rectangle 35"/>
            <p:cNvSpPr/>
            <p:nvPr/>
          </p:nvSpPr>
          <p:spPr>
            <a:xfrm>
              <a:off x="3333750" y="5600700"/>
              <a:ext cx="2571750" cy="457200"/>
            </a:xfrm>
            <a:prstGeom prst="roundRect">
              <a:avLst>
                <a:gd name="adj" fmla="val 25000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36" name="TextBox 36"/>
            <p:cNvSpPr txBox="1"/>
            <p:nvPr/>
          </p:nvSpPr>
          <p:spPr>
            <a:xfrm>
              <a:off x="3829121" y="5748814"/>
              <a:ext cx="158100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8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0 task thiếu owner</a:t>
              </a:r>
            </a:p>
          </p:txBody>
        </p:sp>
        <p:sp>
          <p:nvSpPr>
            <p:cNvPr id="37" name="Rectangle 37"/>
            <p:cNvSpPr/>
            <p:nvPr/>
          </p:nvSpPr>
          <p:spPr>
            <a:xfrm>
              <a:off x="6134100" y="5600700"/>
              <a:ext cx="2571750" cy="457200"/>
            </a:xfrm>
            <a:prstGeom prst="roundRect">
              <a:avLst>
                <a:gd name="adj" fmla="val 25000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38" name="TextBox 38"/>
            <p:cNvSpPr txBox="1"/>
            <p:nvPr/>
          </p:nvSpPr>
          <p:spPr>
            <a:xfrm>
              <a:off x="6409771" y="5748814"/>
              <a:ext cx="2020407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8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100% handoff có tài liệu</a:t>
              </a:r>
            </a:p>
          </p:txBody>
        </p:sp>
        <p:sp>
          <p:nvSpPr>
            <p:cNvPr id="39" name="Rectangle 39"/>
            <p:cNvSpPr/>
            <p:nvPr/>
          </p:nvSpPr>
          <p:spPr>
            <a:xfrm>
              <a:off x="8934450" y="5600700"/>
              <a:ext cx="2724150" cy="457200"/>
            </a:xfrm>
            <a:prstGeom prst="roundRect">
              <a:avLst>
                <a:gd name="adj" fmla="val 25000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40" name="TextBox 40"/>
            <p:cNvSpPr txBox="1"/>
            <p:nvPr/>
          </p:nvSpPr>
          <p:spPr>
            <a:xfrm>
              <a:off x="9251859" y="5748814"/>
              <a:ext cx="2089333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8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1 tài sản dùng lại / tháng</a:t>
              </a:r>
            </a:p>
          </p:txBody>
        </p:sp>
      </p:grpSp>
      <p:sp>
        <p:nvSpPr>
          <p:cNvPr id="42" name="TextBox 42"/>
          <p:cNvSpPr txBox="1"/>
          <p:nvPr/>
        </p:nvSpPr>
        <p:spPr>
          <a:xfrm>
            <a:off x="11141640" y="6630352"/>
            <a:ext cx="484194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en-US" sz="1050" dirty="0">
                <a:solidFill>
                  <a:srgbClr val="66706A"/>
                </a:solidFill>
                <a:latin typeface="+mn-lt"/>
                <a:ea typeface="+mn-ea"/>
                <a:cs typeface="+mn-cs"/>
              </a:rPr>
              <a:t>21 / 22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0050" y="323850"/>
            <a:ext cx="1562100" cy="457200"/>
          </a:xfrm>
          <a:prstGeom prst="rect">
            <a:avLst/>
          </a:prstGeom>
        </p:spPr>
      </p:pic>
      <p:grpSp>
        <p:nvGrpSpPr>
          <p:cNvPr id="4" name="Group 4"/>
          <p:cNvGrpSpPr/>
          <p:nvPr/>
        </p:nvGrpSpPr>
        <p:grpSpPr>
          <a:xfrm>
            <a:off x="1224534" y="3042285"/>
            <a:ext cx="1390802" cy="528066"/>
            <a:chOff x="1224534" y="3042285"/>
            <a:chExt cx="1390802" cy="528066"/>
          </a:xfrm>
        </p:grpSpPr>
        <p:sp>
          <p:nvSpPr>
            <p:cNvPr id="3" name="TextBox 3"/>
            <p:cNvSpPr txBox="1"/>
            <p:nvPr/>
          </p:nvSpPr>
          <p:spPr>
            <a:xfrm>
              <a:off x="1224534" y="3042285"/>
              <a:ext cx="1390802" cy="52806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27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CẢM ƠN!</a:t>
              </a:r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5334000" y="476250"/>
            <a:ext cx="5715000" cy="5715000"/>
            <a:chOff x="5334000" y="476250"/>
            <a:chExt cx="5715000" cy="5715000"/>
          </a:xfrm>
        </p:grpSpPr>
        <p:pic>
          <p:nvPicPr>
            <p:cNvPr id="5" name="Image 5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5334000" y="476250"/>
              <a:ext cx="5715000" cy="5715000"/>
            </a:xfrm>
            <a:prstGeom prst="rect">
              <a:avLst/>
            </a:prstGeom>
          </p:spPr>
        </p:pic>
      </p:grpSp>
      <p:grpSp>
        <p:nvGrpSpPr>
          <p:cNvPr id="10" name="Group 10"/>
          <p:cNvGrpSpPr/>
          <p:nvPr/>
        </p:nvGrpSpPr>
        <p:grpSpPr>
          <a:xfrm>
            <a:off x="6572250" y="1238250"/>
            <a:ext cx="3714750" cy="3597213"/>
            <a:chOff x="6572250" y="1238250"/>
            <a:chExt cx="3714750" cy="3597213"/>
          </a:xfrm>
        </p:grpSpPr>
        <p:pic>
          <p:nvPicPr>
            <p:cNvPr id="7" name="Image 7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6572250" y="1736787"/>
              <a:ext cx="1619250" cy="3098676"/>
            </a:xfrm>
            <a:prstGeom prst="rect">
              <a:avLst/>
            </a:prstGeom>
          </p:spPr>
        </p:pic>
        <p:pic>
          <p:nvPicPr>
            <p:cNvPr id="8" name="Image 8"/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7810500" y="1238250"/>
              <a:ext cx="1619250" cy="3476625"/>
            </a:xfrm>
            <a:prstGeom prst="rect">
              <a:avLst/>
            </a:prstGeom>
          </p:spPr>
        </p:pic>
        <p:pic>
          <p:nvPicPr>
            <p:cNvPr id="9" name="Image 9"/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8858250" y="1818409"/>
              <a:ext cx="1428750" cy="2840182"/>
            </a:xfrm>
            <a:prstGeom prst="rect">
              <a:avLst/>
            </a:prstGeom>
          </p:spPr>
        </p:pic>
      </p:grpSp>
      <p:sp>
        <p:nvSpPr>
          <p:cNvPr id="11" name="TextBox 11"/>
          <p:cNvSpPr txBox="1"/>
          <p:nvPr/>
        </p:nvSpPr>
        <p:spPr>
          <a:xfrm>
            <a:off x="393954" y="6290310"/>
            <a:ext cx="1037996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200" dirty="0">
                <a:solidFill>
                  <a:srgbClr val="FFFFFF"/>
                </a:solidFill>
                <a:latin typeface="+mn-lt"/>
                <a:ea typeface="+mn-ea"/>
                <a:cs typeface="+mn-cs"/>
              </a:rPr>
              <a:t>www.lumi.vn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theme/theme1.xml><?xml version="1.0" encoding="utf-8"?>
<a:theme xmlns:a="http://schemas.openxmlformats.org/drawingml/2006/main" name="review_nhan_su_t7_redesign">
  <a:themeElements>
    <a:clrScheme name="review_nhan_su_t7_redesign">
      <a:dk1>
        <a:srgbClr val="1F2329"/>
      </a:dk1>
      <a:lt1>
        <a:srgbClr val="FFFFFF"/>
      </a:lt1>
      <a:dk2>
        <a:srgbClr val="1F497D"/>
      </a:dk2>
      <a:lt2>
        <a:srgbClr val="F4F7F5"/>
      </a:lt2>
      <a:accent1>
        <a:srgbClr val="008C4F"/>
      </a:accent1>
      <a:accent2>
        <a:srgbClr val="1456F0"/>
      </a:accent2>
      <a:accent3>
        <a:srgbClr val="79C6A3"/>
      </a:accent3>
      <a:accent4>
        <a:srgbClr val="008C4F"/>
      </a:accent4>
      <a:accent5>
        <a:srgbClr val="008C4F"/>
      </a:accent5>
      <a:accent6>
        <a:srgbClr val="F79646"/>
      </a:accent6>
      <a:hlink>
        <a:srgbClr val="1456F0"/>
      </a:hlink>
      <a:folHlink>
        <a:srgbClr val="79C6A3"/>
      </a:folHlink>
    </a:clrScheme>
    <a:fontScheme name="review_nhan_su_t7_redesign">
      <a:majorFont>
        <a:latin typeface="Arial"/>
        <a:ea typeface="Microsoft YaHei"/>
        <a:cs typeface="Arial"/>
        <a:font script="Jpan" typeface="Microsoft YaHei"/>
        <a:font script="Hang" typeface="Microsoft YaHei"/>
        <a:font script="Hans" typeface="Microsoft YaHei"/>
        <a:font script="Hant" typeface="Microsoft YaHei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Microsoft YaHei"/>
        <a:cs typeface="Arial"/>
        <a:font script="Jpan" typeface="Microsoft YaHei"/>
        <a:font script="Hang" typeface="Microsoft YaHei"/>
        <a:font script="Hans" typeface="Microsoft YaHei"/>
        <a:font script="Hant" typeface="Microsoft YaHei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review_nhan_su_t7_redesign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review_nhan_su_t7_redesign">
  <a:themeElements>
    <a:clrScheme name="review_nhan_su_t7_redesign">
      <a:dk1>
        <a:srgbClr val="1F2329"/>
      </a:dk1>
      <a:lt1>
        <a:srgbClr val="FFFFFF"/>
      </a:lt1>
      <a:dk2>
        <a:srgbClr val="1F497D"/>
      </a:dk2>
      <a:lt2>
        <a:srgbClr val="F4F7F5"/>
      </a:lt2>
      <a:accent1>
        <a:srgbClr val="008C4F"/>
      </a:accent1>
      <a:accent2>
        <a:srgbClr val="1456F0"/>
      </a:accent2>
      <a:accent3>
        <a:srgbClr val="79C6A3"/>
      </a:accent3>
      <a:accent4>
        <a:srgbClr val="008C4F"/>
      </a:accent4>
      <a:accent5>
        <a:srgbClr val="008C4F"/>
      </a:accent5>
      <a:accent6>
        <a:srgbClr val="F79646"/>
      </a:accent6>
      <a:hlink>
        <a:srgbClr val="1456F0"/>
      </a:hlink>
      <a:folHlink>
        <a:srgbClr val="79C6A3"/>
      </a:folHlink>
    </a:clrScheme>
    <a:fontScheme name="review_nhan_su_t7_redesign">
      <a:majorFont>
        <a:latin typeface="Arial"/>
        <a:ea typeface="Microsoft YaHei"/>
        <a:cs typeface="Arial"/>
        <a:font script="Jpan" typeface="Microsoft YaHei"/>
        <a:font script="Hang" typeface="Microsoft YaHei"/>
        <a:font script="Hans" typeface="Microsoft YaHei"/>
        <a:font script="Hant" typeface="Microsoft YaHei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Microsoft YaHei"/>
        <a:cs typeface="Arial"/>
        <a:font script="Jpan" typeface="Microsoft YaHei"/>
        <a:font script="Hang" typeface="Microsoft YaHei"/>
        <a:font script="Hans" typeface="Microsoft YaHei"/>
        <a:font script="Hant" typeface="Microsoft YaHei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review_nhan_su_t7_redesign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Office PowerPoint</Application>
  <PresentationFormat>On-screen Show (16:9)</PresentationFormat>
  <Paragraphs>0</Paragraphs>
  <Slides>22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/>
  <dc:language/>
  <cp:lastModifiedBy/>
  <cp:revision>1</cp:revision>
  <dcterms:created xsi:type="dcterms:W3CDTF">2026-07-24T13:33:31Z</dcterms:created>
  <dcterms:modified xsi:type="dcterms:W3CDTF">2026-07-24T13:33:31Z</dcterms:modified>
  <cp:category/>
  <cp:contentStatus/>
</cp:coreProperties>
</file>
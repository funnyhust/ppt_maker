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3" r:id="rId18"/>
    <p:sldId id="274" r:id="rId19"/>
    <p:sldId id="275" r:id="rId20"/>
    <p:sldId id="276" r:id="rId21"/>
    <p:sldId id="277" r:id="rId22"/>
    <p:sldId id="278"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hf/>
  <p:notesStyle>
    <a:lvl1pPr marL="0" algn="l">
      <a:defRPr lang="en-US"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Mở đầu kỳ review ngày 23/07/2026, phạm vi đánh giá từ 20/03 đến 22/07/2026.</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Bài trình bày giữ nguyên bốn phần của template cũ: dự án, AI, tự đánh giá và mục tiêu.</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dirty="0"/>
              <a:t>Trong kỳ có 114 task được quy hoạch thành bốn nhóm dự án chính; 102 task đã Done, tương đương 89,5%. KNX, Auto Test và MSB giữ phạm vi riêng, còn toàn bộ tool test và tool loader sản xuất được gom dưới Tool Design.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dirty="0"/>
              <a:t>KNX là trọng tâm lớn nhất với 98 task, bao phủ sản phẩm, tool, hệ thống và đào tạo.</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Đầu ra KNX đi xuyên suốt từ firmware đến Jig, benchmark, kiểm thử, tài liệu và đào tạo.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Ảnh phóng lớn cho thấy bảng điều khiển tập trung, hỗ trợ theo dõi thiết bị và trạng thái benchmark.</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Giao diện tạo test case chuẩn hóa dữ liệu đầu vào và giảm thao tác rời rạc trong quá trình kiểm thử.</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Báo cáo tổng hợp kết quả pass/fail và bằng chứng test, giúp truy vết và xác nhận đầu ra.</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Điểm tiến bộ chính là tư duy end-to-end và quy trình tái hiện, đo, đối chiếu, xác nhận.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Tool nạp code gom cấu hình, điều khiển nhiều máy và log vận hành vào một giao diện thống nhất.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Đã hoàn thành KNX Basic Course, đạt 88,5% lý thuyết và 96% thực hành; được KNX Association công nhận KNX Partner số 147063 ngày 31/05/2026.</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dirty="0"/>
              <a:t>Auto Test đang ở giai đoạn xây nền, đã hoàn thành 4 trên 5 task trong phạm vi review.</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Tool Design là nhóm dự án mẹ cho tool nguồn DC, loader Luto, tool test và loader Lumes V2, cùng tool test Smart Lighting. Cách gom này giúp thể hiện rõ một năng lực xuyên suốt: tích hợp phần cứng–phần mềm, thiết kế theo operator và chuẩn hóa bàn giao.</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Ảnh giao diện phóng lớn minh họa hai vòng chỉnh sửa, ưu tiên độ ổn định, dễ dùng và dễ bảo trì.</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Hai đầu ra loader chính là loader Luto và loader mạch main Lumes V2 đều thuộc Tool Design. Cả hai dùng chung tư duy nhận cấu hình, giao tiếp thiết bị, nạp và xác nhận, sau đó lưu log để dễ vận hành và truy vết.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Với Lumes V2, phần tool test nguồn được tách rõ khỏi công đoạn nạp code. Tool đã hoàn thành theo flow nhà máy, đồng thời cho thấy bài học cần xác nhận sớm fixture, tương thích mạch và tiêu chí acceptance.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Nhánh Tool Design cho Smart Lighting bắt đầu từ ngày 20 tháng 7 và đang dựng nền tool test cho Deep Dimming và CCT Tunable. Trọng tâm hiện tại là chốt dải đo, cấu trúc dữ liệu và tiêu chí pass fail trước khi hoàn thiện tool.</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AI hỗ trợ code, tài liệu và học nhanh; mọi kết luận kỹ thuật vẫn phải được kiểm chứng thực tế.</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Điểm mạnh là năng lực end-to-end và chủ động; điểm cần cải thiện là ưu tiên và đóng vòng công việc.</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Bài học chung là chuẩn hóa interface, logging, acceptance và handoff càng sớm càng tốt.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Mục tiêu tiếp theo là hoàn tất dự án đang chạy, đóng task còn mở và chuẩn hóa tài sản dùng lại.</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Cảm ơn và sẵn sàng trao đổi thêm.</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review_nhan_su_t7_redesign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review_nhan_su_t7_redesign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27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65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55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45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35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2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1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05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95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800" kern="1200">
          <a:solidFill>
            <a:schemeClr val="tx1"/>
          </a:solidFill>
          <a:latin typeface="+mn-lt"/>
          <a:ea typeface="+mn-ea"/>
          <a:cs typeface="+mn-cs"/>
        </a:defRPr>
      </a:lvl9pPr>
    </p:bodyStyle>
    <p:otherStyle>
      <a:defPPr>
        <a:defRPr lang="en-US"/>
      </a:defPPr>
      <a:lvl1pPr marL="0" algn="l" defTabSz="457200" rtl="0" eaLnBrk="1" latinLnBrk="0" hangingPunct="1">
        <a:defRPr sz="1650" kern="1200">
          <a:solidFill>
            <a:schemeClr val="tx1"/>
          </a:solidFill>
          <a:latin typeface="+mn-lt"/>
          <a:ea typeface="+mn-ea"/>
          <a:cs typeface="+mn-cs"/>
        </a:defRPr>
      </a:lvl1pPr>
      <a:lvl2pPr marL="457200" algn="l" defTabSz="457200" rtl="0" eaLnBrk="1" latinLnBrk="0" hangingPunct="1">
        <a:defRPr sz="1550" kern="1200">
          <a:solidFill>
            <a:schemeClr val="tx1"/>
          </a:solidFill>
          <a:latin typeface="+mn-lt"/>
          <a:ea typeface="+mn-ea"/>
          <a:cs typeface="+mn-cs"/>
        </a:defRPr>
      </a:lvl2pPr>
      <a:lvl3pPr marL="914400" algn="l" defTabSz="457200" rtl="0" eaLnBrk="1" latinLnBrk="0" hangingPunct="1">
        <a:defRPr sz="1450" kern="1200">
          <a:solidFill>
            <a:schemeClr val="tx1"/>
          </a:solidFill>
          <a:latin typeface="+mn-lt"/>
          <a:ea typeface="+mn-ea"/>
          <a:cs typeface="+mn-cs"/>
        </a:defRPr>
      </a:lvl3pPr>
      <a:lvl4pPr marL="1371600" algn="l" defTabSz="457200" rtl="0" eaLnBrk="1" latinLnBrk="0" hangingPunct="1">
        <a:defRPr sz="1350" kern="1200">
          <a:solidFill>
            <a:schemeClr val="tx1"/>
          </a:solidFill>
          <a:latin typeface="+mn-lt"/>
          <a:ea typeface="+mn-ea"/>
          <a:cs typeface="+mn-cs"/>
        </a:defRPr>
      </a:lvl4pPr>
      <a:lvl5pPr marL="1828800" algn="l" defTabSz="457200" rtl="0" eaLnBrk="1" latinLnBrk="0" hangingPunct="1">
        <a:defRPr sz="1250" kern="1200">
          <a:solidFill>
            <a:schemeClr val="tx1"/>
          </a:solidFill>
          <a:latin typeface="+mn-lt"/>
          <a:ea typeface="+mn-ea"/>
          <a:cs typeface="+mn-cs"/>
        </a:defRPr>
      </a:lvl5pPr>
      <a:lvl6pPr marL="2286000" algn="l" defTabSz="457200" rtl="0" eaLnBrk="1" latinLnBrk="0" hangingPunct="1">
        <a:defRPr sz="1150" kern="1200">
          <a:solidFill>
            <a:schemeClr val="tx1"/>
          </a:solidFill>
          <a:latin typeface="+mn-lt"/>
          <a:ea typeface="+mn-ea"/>
          <a:cs typeface="+mn-cs"/>
        </a:defRPr>
      </a:lvl6pPr>
      <a:lvl7pPr marL="2743200" algn="l" defTabSz="457200" rtl="0" eaLnBrk="1" latinLnBrk="0" hangingPunct="1">
        <a:defRPr sz="1050" kern="1200">
          <a:solidFill>
            <a:schemeClr val="tx1"/>
          </a:solidFill>
          <a:latin typeface="+mn-lt"/>
          <a:ea typeface="+mn-ea"/>
          <a:cs typeface="+mn-cs"/>
        </a:defRPr>
      </a:lvl7pPr>
      <a:lvl8pPr marL="3200400" algn="l" defTabSz="457200" rtl="0" eaLnBrk="1" latinLnBrk="0" hangingPunct="1">
        <a:defRPr sz="950" kern="1200">
          <a:solidFill>
            <a:schemeClr val="tx1"/>
          </a:solidFill>
          <a:latin typeface="+mn-lt"/>
          <a:ea typeface="+mn-ea"/>
          <a:cs typeface="+mn-cs"/>
        </a:defRPr>
      </a:lvl8pPr>
      <a:lvl9pPr marL="3657600" algn="l" defTabSz="457200" rtl="0" eaLnBrk="1" latinLnBrk="0" hangingPunct="1">
        <a:defRPr sz="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5.jp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11.jp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3.jp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3"/>
          <a:stretch>
            <a:fillRect/>
          </a:stretch>
        </p:blipFill>
        <p:spPr>
          <a:xfrm>
            <a:off x="400050" y="323850"/>
            <a:ext cx="1562100" cy="457200"/>
          </a:xfrm>
          <a:prstGeom prst="rect">
            <a:avLst/>
          </a:prstGeom>
        </p:spPr>
      </p:pic>
      <p:grpSp>
        <p:nvGrpSpPr>
          <p:cNvPr id="8" name="Group 8"/>
          <p:cNvGrpSpPr/>
          <p:nvPr/>
        </p:nvGrpSpPr>
        <p:grpSpPr>
          <a:xfrm>
            <a:off x="386334" y="2708910"/>
            <a:ext cx="4090416" cy="1765268"/>
            <a:chOff x="386334" y="2708910"/>
            <a:chExt cx="4090416" cy="1765268"/>
          </a:xfrm>
        </p:grpSpPr>
        <p:sp>
          <p:nvSpPr>
            <p:cNvPr id="3" name="TextBox 3"/>
            <p:cNvSpPr txBox="1"/>
            <p:nvPr/>
          </p:nvSpPr>
          <p:spPr>
            <a:xfrm>
              <a:off x="386334" y="2708910"/>
              <a:ext cx="2773375" cy="528066"/>
            </a:xfrm>
            <a:prstGeom prst="rect">
              <a:avLst/>
            </a:prstGeom>
            <a:noFill/>
            <a:ln>
              <a:noFill/>
            </a:ln>
          </p:spPr>
          <p:txBody>
            <a:bodyPr wrap="none" lIns="0" tIns="0" rIns="0" bIns="0" anchor="t" anchorCtr="0">
              <a:spAutoFit/>
            </a:bodyPr>
            <a:lstStyle/>
            <a:p>
              <a:pPr algn="l"/>
              <a:r>
                <a:rPr lang="en-US" sz="2700" dirty="0">
                  <a:solidFill>
                    <a:srgbClr val="FFFFFF"/>
                  </a:solidFill>
                  <a:latin typeface="+mn-lt"/>
                  <a:ea typeface="+mn-ea"/>
                  <a:cs typeface="+mn-cs"/>
                </a:rPr>
                <a:t>REVIEW NHÂN SỰ</a:t>
              </a:r>
            </a:p>
          </p:txBody>
        </p:sp>
        <p:sp>
          <p:nvSpPr>
            <p:cNvPr id="4" name="TextBox 4"/>
            <p:cNvSpPr txBox="1"/>
            <p:nvPr/>
          </p:nvSpPr>
          <p:spPr>
            <a:xfrm>
              <a:off x="392430" y="3362325"/>
              <a:ext cx="2791097" cy="293370"/>
            </a:xfrm>
            <a:prstGeom prst="rect">
              <a:avLst/>
            </a:prstGeom>
            <a:noFill/>
            <a:ln>
              <a:noFill/>
            </a:ln>
          </p:spPr>
          <p:txBody>
            <a:bodyPr wrap="none" lIns="0" tIns="0" rIns="0" bIns="0" anchor="t" anchorCtr="0">
              <a:spAutoFit/>
            </a:bodyPr>
            <a:lstStyle/>
            <a:p>
              <a:pPr algn="l"/>
              <a:r>
                <a:rPr lang="en-US" sz="1500" dirty="0">
                  <a:solidFill>
                    <a:srgbClr val="FFFFFF"/>
                  </a:solidFill>
                  <a:latin typeface="+mn-lt"/>
                  <a:ea typeface="+mn-ea"/>
                  <a:cs typeface="+mn-cs"/>
                </a:rPr>
                <a:t>Họ và tên: Nguyễn Văn Dương</a:t>
              </a:r>
            </a:p>
          </p:txBody>
        </p:sp>
        <p:sp>
          <p:nvSpPr>
            <p:cNvPr id="5" name="Line 5"/>
            <p:cNvSpPr/>
            <p:nvPr/>
          </p:nvSpPr>
          <p:spPr>
            <a:xfrm>
              <a:off x="400050" y="3762375"/>
              <a:ext cx="4076700" cy="9525"/>
            </a:xfrm>
            <a:custGeom>
              <a:avLst/>
              <a:gdLst/>
              <a:ahLst/>
              <a:cxnLst/>
              <a:rect l="l" t="t" r="r" b="b"/>
              <a:pathLst>
                <a:path w="4076700" h="9525">
                  <a:moveTo>
                    <a:pt x="0" y="0"/>
                  </a:moveTo>
                  <a:lnTo>
                    <a:pt x="4076700" y="0"/>
                  </a:lnTo>
                </a:path>
              </a:pathLst>
            </a:custGeom>
            <a:noFill/>
            <a:ln w="9525">
              <a:solidFill>
                <a:srgbClr val="FFFFFF">
                  <a:alpha val="45000"/>
                </a:srgbClr>
              </a:solidFill>
            </a:ln>
          </p:spPr>
          <p:txBody>
            <a:bodyPr/>
            <a:lstStyle/>
            <a:p>
              <a:endParaRPr lang="en-US"/>
            </a:p>
          </p:txBody>
        </p:sp>
        <p:sp>
          <p:nvSpPr>
            <p:cNvPr id="6" name="TextBox 6"/>
            <p:cNvSpPr txBox="1"/>
            <p:nvPr/>
          </p:nvSpPr>
          <p:spPr>
            <a:xfrm>
              <a:off x="393573" y="3929539"/>
              <a:ext cx="2109750" cy="249364"/>
            </a:xfrm>
            <a:prstGeom prst="rect">
              <a:avLst/>
            </a:prstGeom>
            <a:noFill/>
            <a:ln>
              <a:noFill/>
            </a:ln>
          </p:spPr>
          <p:txBody>
            <a:bodyPr wrap="none" lIns="0" tIns="0" rIns="0" bIns="0" anchor="t" anchorCtr="0">
              <a:spAutoFit/>
            </a:bodyPr>
            <a:lstStyle/>
            <a:p>
              <a:pPr algn="l"/>
              <a:r>
                <a:rPr lang="en-US" sz="1280" dirty="0">
                  <a:solidFill>
                    <a:srgbClr val="FFFFFF"/>
                  </a:solidFill>
                  <a:latin typeface="+mn-lt"/>
                  <a:ea typeface="+mn-ea"/>
                  <a:cs typeface="+mn-cs"/>
                </a:rPr>
                <a:t>Ngày review: 23/07/2026</a:t>
              </a:r>
            </a:p>
          </p:txBody>
        </p:sp>
        <p:sp>
          <p:nvSpPr>
            <p:cNvPr id="7" name="TextBox 7"/>
            <p:cNvSpPr txBox="1"/>
            <p:nvPr/>
          </p:nvSpPr>
          <p:spPr>
            <a:xfrm>
              <a:off x="393573" y="4224814"/>
              <a:ext cx="3023333" cy="249364"/>
            </a:xfrm>
            <a:prstGeom prst="rect">
              <a:avLst/>
            </a:prstGeom>
            <a:noFill/>
            <a:ln>
              <a:noFill/>
            </a:ln>
          </p:spPr>
          <p:txBody>
            <a:bodyPr wrap="none" lIns="0" tIns="0" rIns="0" bIns="0" anchor="t" anchorCtr="0">
              <a:spAutoFit/>
            </a:bodyPr>
            <a:lstStyle/>
            <a:p>
              <a:pPr algn="l"/>
              <a:r>
                <a:rPr lang="en-US" sz="1280" dirty="0">
                  <a:solidFill>
                    <a:srgbClr val="FFFFFF"/>
                  </a:solidFill>
                  <a:latin typeface="+mn-lt"/>
                  <a:ea typeface="+mn-ea"/>
                  <a:cs typeface="+mn-cs"/>
                </a:rPr>
                <a:t>Giai đoạn review: 20/03–22/07/2026</a:t>
              </a:r>
            </a:p>
          </p:txBody>
        </p:sp>
      </p:grpSp>
      <p:grpSp>
        <p:nvGrpSpPr>
          <p:cNvPr id="10" name="Group 10"/>
          <p:cNvGrpSpPr/>
          <p:nvPr/>
        </p:nvGrpSpPr>
        <p:grpSpPr>
          <a:xfrm>
            <a:off x="6781800" y="847725"/>
            <a:ext cx="5143500" cy="5143500"/>
            <a:chOff x="6781800" y="847725"/>
            <a:chExt cx="5143500" cy="5143500"/>
          </a:xfrm>
        </p:grpSpPr>
        <p:pic>
          <p:nvPicPr>
            <p:cNvPr id="9" name="Image 9"/>
            <p:cNvPicPr>
              <a:picLocks noChangeAspect="1"/>
            </p:cNvPicPr>
            <p:nvPr/>
          </p:nvPicPr>
          <p:blipFill>
            <a:blip r:embed="rId4"/>
            <a:stretch>
              <a:fillRect/>
            </a:stretch>
          </p:blipFill>
          <p:spPr>
            <a:xfrm>
              <a:off x="6781800" y="847725"/>
              <a:ext cx="5143500" cy="5143500"/>
            </a:xfrm>
            <a:prstGeom prst="rect">
              <a:avLst/>
            </a:prstGeom>
          </p:spPr>
        </p:pic>
      </p:grpSp>
      <p:sp>
        <p:nvSpPr>
          <p:cNvPr id="11" name="TextBox 11"/>
          <p:cNvSpPr txBox="1"/>
          <p:nvPr/>
        </p:nvSpPr>
        <p:spPr>
          <a:xfrm>
            <a:off x="393954" y="6290310"/>
            <a:ext cx="1037996" cy="234696"/>
          </a:xfrm>
          <a:prstGeom prst="rect">
            <a:avLst/>
          </a:prstGeom>
          <a:noFill/>
          <a:ln>
            <a:noFill/>
          </a:ln>
        </p:spPr>
        <p:txBody>
          <a:bodyPr wrap="none" lIns="0" tIns="0" rIns="0" bIns="0" anchor="t" anchorCtr="0">
            <a:spAutoFit/>
          </a:bodyPr>
          <a:lstStyle/>
          <a:p>
            <a:pPr algn="l"/>
            <a:r>
              <a:rPr lang="en-US" sz="1200" dirty="0">
                <a:solidFill>
                  <a:srgbClr val="FFFFFF"/>
                </a:solidFill>
                <a:latin typeface="+mn-lt"/>
                <a:ea typeface="+mn-ea"/>
                <a:cs typeface="+mn-cs"/>
              </a:rPr>
              <a:t>www.lumi.vn</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3"/>
          <a:stretch>
            <a:fillRect/>
          </a:stretch>
        </p:blipFill>
        <p:spPr>
          <a:xfrm>
            <a:off x="377741" y="285750"/>
            <a:ext cx="1444792" cy="419100"/>
          </a:xfrm>
          <a:prstGeom prst="rect">
            <a:avLst/>
          </a:prstGeom>
        </p:spPr>
      </p:pic>
      <p:grpSp>
        <p:nvGrpSpPr>
          <p:cNvPr id="5" name="Group 5"/>
          <p:cNvGrpSpPr/>
          <p:nvPr/>
        </p:nvGrpSpPr>
        <p:grpSpPr>
          <a:xfrm>
            <a:off x="709026" y="952500"/>
            <a:ext cx="2487198" cy="4953000"/>
            <a:chOff x="709026" y="952500"/>
            <a:chExt cx="2487198" cy="4953000"/>
          </a:xfrm>
        </p:grpSpPr>
        <p:pic>
          <p:nvPicPr>
            <p:cNvPr id="3" name="Image 3"/>
            <p:cNvPicPr>
              <a:picLocks noChangeAspect="1"/>
            </p:cNvPicPr>
            <p:nvPr/>
          </p:nvPicPr>
          <p:blipFill>
            <a:blip r:embed="rId4"/>
            <a:stretch>
              <a:fillRect/>
            </a:stretch>
          </p:blipFill>
          <p:spPr>
            <a:xfrm>
              <a:off x="709026" y="952500"/>
              <a:ext cx="2487198" cy="4953000"/>
            </a:xfrm>
            <a:prstGeom prst="rect">
              <a:avLst/>
            </a:prstGeom>
          </p:spPr>
        </p:pic>
        <p:sp>
          <p:nvSpPr>
            <p:cNvPr id="4" name="TextBox 4"/>
            <p:cNvSpPr txBox="1"/>
            <p:nvPr/>
          </p:nvSpPr>
          <p:spPr>
            <a:xfrm>
              <a:off x="1330361" y="3202305"/>
              <a:ext cx="1244529" cy="410718"/>
            </a:xfrm>
            <a:prstGeom prst="rect">
              <a:avLst/>
            </a:prstGeom>
            <a:noFill/>
            <a:ln>
              <a:noFill/>
            </a:ln>
          </p:spPr>
          <p:txBody>
            <a:bodyPr wrap="none" lIns="0" tIns="0" rIns="0" bIns="0" anchor="t" anchorCtr="0">
              <a:spAutoFit/>
            </a:bodyPr>
            <a:lstStyle/>
            <a:p>
              <a:pPr algn="ctr"/>
              <a:r>
                <a:rPr lang="en-US" sz="2100" b="1" dirty="0">
                  <a:solidFill>
                    <a:schemeClr val="accent1"/>
                  </a:solidFill>
                  <a:latin typeface="+mn-lt"/>
                  <a:ea typeface="+mn-ea"/>
                  <a:cs typeface="+mn-cs"/>
                </a:rPr>
                <a:t>NỘI DUNG</a:t>
              </a:r>
            </a:p>
          </p:txBody>
        </p:sp>
      </p:grpSp>
      <p:grpSp>
        <p:nvGrpSpPr>
          <p:cNvPr id="34" name="Group 34"/>
          <p:cNvGrpSpPr/>
          <p:nvPr/>
        </p:nvGrpSpPr>
        <p:grpSpPr>
          <a:xfrm>
            <a:off x="3743325" y="1371600"/>
            <a:ext cx="5849993" cy="3489198"/>
            <a:chOff x="3743325" y="1371600"/>
            <a:chExt cx="5849993" cy="3489198"/>
          </a:xfrm>
        </p:grpSpPr>
        <p:grpSp>
          <p:nvGrpSpPr>
            <p:cNvPr id="12" name="Group 12"/>
            <p:cNvGrpSpPr/>
            <p:nvPr/>
          </p:nvGrpSpPr>
          <p:grpSpPr>
            <a:xfrm>
              <a:off x="3743325" y="1371600"/>
              <a:ext cx="5849993" cy="488823"/>
              <a:chOff x="3743325" y="1371600"/>
              <a:chExt cx="5849993" cy="488823"/>
            </a:xfrm>
          </p:grpSpPr>
          <p:sp>
            <p:nvSpPr>
              <p:cNvPr id="6" name="Ellipse 6"/>
              <p:cNvSpPr/>
              <p:nvPr/>
            </p:nvSpPr>
            <p:spPr>
              <a:xfrm>
                <a:off x="3743325" y="1552575"/>
                <a:ext cx="76200" cy="76200"/>
              </a:xfrm>
              <a:prstGeom prst="ellipse">
                <a:avLst/>
              </a:prstGeom>
              <a:solidFill>
                <a:schemeClr val="accent1"/>
              </a:solidFill>
              <a:ln>
                <a:noFill/>
              </a:ln>
            </p:spPr>
            <p:txBody>
              <a:bodyPr/>
              <a:lstStyle/>
              <a:p>
                <a:endParaRPr lang="en-US"/>
              </a:p>
            </p:txBody>
          </p:sp>
          <p:sp>
            <p:nvSpPr>
              <p:cNvPr id="7" name="Line 7"/>
              <p:cNvSpPr/>
              <p:nvPr/>
            </p:nvSpPr>
            <p:spPr>
              <a:xfrm>
                <a:off x="3819525" y="1590675"/>
                <a:ext cx="180975" cy="9525"/>
              </a:xfrm>
              <a:custGeom>
                <a:avLst/>
                <a:gdLst/>
                <a:ahLst/>
                <a:cxnLst/>
                <a:rect l="l" t="t" r="r" b="b"/>
                <a:pathLst>
                  <a:path w="180975" h="9525">
                    <a:moveTo>
                      <a:pt x="0" y="0"/>
                    </a:moveTo>
                    <a:lnTo>
                      <a:pt x="180975" y="0"/>
                    </a:lnTo>
                  </a:path>
                </a:pathLst>
              </a:custGeom>
              <a:noFill/>
              <a:ln w="19050">
                <a:solidFill>
                  <a:schemeClr val="accent1"/>
                </a:solidFill>
              </a:ln>
            </p:spPr>
            <p:txBody>
              <a:bodyPr/>
              <a:lstStyle/>
              <a:p>
                <a:endParaRPr lang="en-US"/>
              </a:p>
            </p:txBody>
          </p:sp>
          <p:sp>
            <p:nvSpPr>
              <p:cNvPr id="8" name="Freeform 8"/>
              <p:cNvSpPr/>
              <p:nvPr/>
            </p:nvSpPr>
            <p:spPr>
              <a:xfrm>
                <a:off x="4000500" y="1371600"/>
                <a:ext cx="1238250" cy="438150"/>
              </a:xfrm>
              <a:custGeom>
                <a:avLst/>
                <a:gdLst/>
                <a:ahLst/>
                <a:cxnLst/>
                <a:rect l="l" t="t" r="r" b="b"/>
                <a:pathLst>
                  <a:path w="1238250" h="438150">
                    <a:moveTo>
                      <a:pt x="95250" y="0"/>
                    </a:moveTo>
                    <a:lnTo>
                      <a:pt x="1143000" y="0"/>
                    </a:lnTo>
                    <a:lnTo>
                      <a:pt x="1238250" y="95250"/>
                    </a:lnTo>
                    <a:lnTo>
                      <a:pt x="1238250" y="342900"/>
                    </a:lnTo>
                    <a:lnTo>
                      <a:pt x="1143000" y="438150"/>
                    </a:lnTo>
                    <a:lnTo>
                      <a:pt x="95250" y="438150"/>
                    </a:lnTo>
                    <a:lnTo>
                      <a:pt x="0" y="342900"/>
                    </a:lnTo>
                    <a:lnTo>
                      <a:pt x="0" y="95250"/>
                    </a:lnTo>
                    <a:close/>
                  </a:path>
                </a:pathLst>
              </a:custGeom>
              <a:solidFill>
                <a:schemeClr val="lt1"/>
              </a:solidFill>
              <a:ln w="19050">
                <a:solidFill>
                  <a:schemeClr val="accent3"/>
                </a:solidFill>
              </a:ln>
            </p:spPr>
            <p:txBody>
              <a:bodyPr/>
              <a:lstStyle/>
              <a:p>
                <a:endParaRPr lang="en-US"/>
              </a:p>
            </p:txBody>
          </p:sp>
          <p:sp>
            <p:nvSpPr>
              <p:cNvPr id="9" name="Freeform 9"/>
              <p:cNvSpPr/>
              <p:nvPr/>
            </p:nvSpPr>
            <p:spPr>
              <a:xfrm>
                <a:off x="5000625" y="1371600"/>
                <a:ext cx="161925" cy="438150"/>
              </a:xfrm>
              <a:custGeom>
                <a:avLst/>
                <a:gdLst/>
                <a:ahLst/>
                <a:cxnLst/>
                <a:rect l="l" t="t" r="r" b="b"/>
                <a:pathLst>
                  <a:path w="161925" h="438150">
                    <a:moveTo>
                      <a:pt x="0" y="0"/>
                    </a:moveTo>
                    <a:lnTo>
                      <a:pt x="76200" y="76200"/>
                    </a:lnTo>
                    <a:moveTo>
                      <a:pt x="85725" y="0"/>
                    </a:moveTo>
                    <a:lnTo>
                      <a:pt x="161925" y="76200"/>
                    </a:lnTo>
                    <a:moveTo>
                      <a:pt x="0" y="438150"/>
                    </a:moveTo>
                    <a:lnTo>
                      <a:pt x="76200" y="361950"/>
                    </a:lnTo>
                    <a:moveTo>
                      <a:pt x="85725" y="438150"/>
                    </a:moveTo>
                    <a:lnTo>
                      <a:pt x="161925" y="361950"/>
                    </a:lnTo>
                  </a:path>
                </a:pathLst>
              </a:custGeom>
              <a:solidFill>
                <a:schemeClr val="accent1"/>
              </a:solidFill>
              <a:ln w="19050">
                <a:solidFill>
                  <a:schemeClr val="accent1"/>
                </a:solidFill>
              </a:ln>
            </p:spPr>
            <p:txBody>
              <a:bodyPr/>
              <a:lstStyle/>
              <a:p>
                <a:endParaRPr lang="en-US"/>
              </a:p>
            </p:txBody>
          </p:sp>
          <p:sp>
            <p:nvSpPr>
              <p:cNvPr id="10" name="TextBox 10"/>
              <p:cNvSpPr txBox="1"/>
              <p:nvPr/>
            </p:nvSpPr>
            <p:spPr>
              <a:xfrm>
                <a:off x="4410570" y="1463040"/>
                <a:ext cx="418109" cy="352044"/>
              </a:xfrm>
              <a:prstGeom prst="rect">
                <a:avLst/>
              </a:prstGeom>
              <a:noFill/>
              <a:ln>
                <a:noFill/>
              </a:ln>
            </p:spPr>
            <p:txBody>
              <a:bodyPr wrap="none" lIns="0" tIns="0" rIns="0" bIns="0" anchor="t" anchorCtr="0">
                <a:spAutoFit/>
              </a:bodyPr>
              <a:lstStyle/>
              <a:p>
                <a:pPr algn="ctr"/>
                <a:r>
                  <a:rPr lang="en-US" sz="1800" dirty="0">
                    <a:solidFill>
                      <a:schemeClr val="accent1"/>
                    </a:solidFill>
                    <a:latin typeface="+mn-lt"/>
                    <a:ea typeface="+mn-ea"/>
                    <a:cs typeface="+mn-cs"/>
                  </a:rPr>
                  <a:t>01.</a:t>
                </a:r>
              </a:p>
            </p:txBody>
          </p:sp>
          <p:sp>
            <p:nvSpPr>
              <p:cNvPr id="11" name="TextBox 11"/>
              <p:cNvSpPr txBox="1"/>
              <p:nvPr/>
            </p:nvSpPr>
            <p:spPr>
              <a:xfrm>
                <a:off x="5561457" y="1449705"/>
                <a:ext cx="4031861" cy="410718"/>
              </a:xfrm>
              <a:prstGeom prst="rect">
                <a:avLst/>
              </a:prstGeom>
              <a:noFill/>
              <a:ln>
                <a:noFill/>
              </a:ln>
            </p:spPr>
            <p:txBody>
              <a:bodyPr wrap="none" lIns="0" tIns="0" rIns="0" bIns="0" anchor="t" anchorCtr="0">
                <a:spAutoFit/>
              </a:bodyPr>
              <a:lstStyle/>
              <a:p>
                <a:pPr algn="l"/>
                <a:r>
                  <a:rPr lang="en-US" sz="2100" dirty="0">
                    <a:solidFill>
                      <a:schemeClr val="accent1"/>
                    </a:solidFill>
                    <a:latin typeface="+mn-lt"/>
                    <a:ea typeface="+mn-ea"/>
                    <a:cs typeface="+mn-cs"/>
                  </a:rPr>
                  <a:t>Các dự án tham gia và kết quả</a:t>
                </a:r>
              </a:p>
            </p:txBody>
          </p:sp>
        </p:grpSp>
        <p:grpSp>
          <p:nvGrpSpPr>
            <p:cNvPr id="19" name="Group 19"/>
            <p:cNvGrpSpPr/>
            <p:nvPr/>
          </p:nvGrpSpPr>
          <p:grpSpPr>
            <a:xfrm>
              <a:off x="3743325" y="2371725"/>
              <a:ext cx="5416067" cy="488823"/>
              <a:chOff x="3743325" y="2371725"/>
              <a:chExt cx="5416067" cy="488823"/>
            </a:xfrm>
          </p:grpSpPr>
          <p:sp>
            <p:nvSpPr>
              <p:cNvPr id="13" name="Ellipse 13"/>
              <p:cNvSpPr/>
              <p:nvPr/>
            </p:nvSpPr>
            <p:spPr>
              <a:xfrm>
                <a:off x="3743325" y="2552700"/>
                <a:ext cx="76200" cy="76200"/>
              </a:xfrm>
              <a:prstGeom prst="ellipse">
                <a:avLst/>
              </a:prstGeom>
              <a:solidFill>
                <a:schemeClr val="accent1"/>
              </a:solidFill>
              <a:ln>
                <a:noFill/>
              </a:ln>
            </p:spPr>
            <p:txBody>
              <a:bodyPr/>
              <a:lstStyle/>
              <a:p>
                <a:endParaRPr lang="en-US"/>
              </a:p>
            </p:txBody>
          </p:sp>
          <p:sp>
            <p:nvSpPr>
              <p:cNvPr id="14" name="Line 14"/>
              <p:cNvSpPr/>
              <p:nvPr/>
            </p:nvSpPr>
            <p:spPr>
              <a:xfrm>
                <a:off x="3819525" y="2590800"/>
                <a:ext cx="180975" cy="9525"/>
              </a:xfrm>
              <a:custGeom>
                <a:avLst/>
                <a:gdLst/>
                <a:ahLst/>
                <a:cxnLst/>
                <a:rect l="l" t="t" r="r" b="b"/>
                <a:pathLst>
                  <a:path w="180975" h="9525">
                    <a:moveTo>
                      <a:pt x="0" y="0"/>
                    </a:moveTo>
                    <a:lnTo>
                      <a:pt x="180975" y="0"/>
                    </a:lnTo>
                  </a:path>
                </a:pathLst>
              </a:custGeom>
              <a:noFill/>
              <a:ln w="19050">
                <a:solidFill>
                  <a:schemeClr val="accent1"/>
                </a:solidFill>
              </a:ln>
            </p:spPr>
            <p:txBody>
              <a:bodyPr/>
              <a:lstStyle/>
              <a:p>
                <a:endParaRPr lang="en-US"/>
              </a:p>
            </p:txBody>
          </p:sp>
          <p:sp>
            <p:nvSpPr>
              <p:cNvPr id="15" name="Freeform 15"/>
              <p:cNvSpPr/>
              <p:nvPr/>
            </p:nvSpPr>
            <p:spPr>
              <a:xfrm>
                <a:off x="4000500" y="2371725"/>
                <a:ext cx="1238250" cy="438150"/>
              </a:xfrm>
              <a:custGeom>
                <a:avLst/>
                <a:gdLst/>
                <a:ahLst/>
                <a:cxnLst/>
                <a:rect l="l" t="t" r="r" b="b"/>
                <a:pathLst>
                  <a:path w="1238250" h="438150">
                    <a:moveTo>
                      <a:pt x="95250" y="0"/>
                    </a:moveTo>
                    <a:lnTo>
                      <a:pt x="1143000" y="0"/>
                    </a:lnTo>
                    <a:lnTo>
                      <a:pt x="1238250" y="95250"/>
                    </a:lnTo>
                    <a:lnTo>
                      <a:pt x="1238250" y="342900"/>
                    </a:lnTo>
                    <a:lnTo>
                      <a:pt x="1143000" y="438150"/>
                    </a:lnTo>
                    <a:lnTo>
                      <a:pt x="95250" y="438150"/>
                    </a:lnTo>
                    <a:lnTo>
                      <a:pt x="0" y="342900"/>
                    </a:lnTo>
                    <a:lnTo>
                      <a:pt x="0" y="95250"/>
                    </a:lnTo>
                    <a:close/>
                  </a:path>
                </a:pathLst>
              </a:custGeom>
              <a:solidFill>
                <a:schemeClr val="lt1"/>
              </a:solidFill>
              <a:ln w="19050">
                <a:solidFill>
                  <a:schemeClr val="accent3"/>
                </a:solidFill>
              </a:ln>
            </p:spPr>
            <p:txBody>
              <a:bodyPr/>
              <a:lstStyle/>
              <a:p>
                <a:endParaRPr lang="en-US"/>
              </a:p>
            </p:txBody>
          </p:sp>
          <p:sp>
            <p:nvSpPr>
              <p:cNvPr id="16" name="Freeform 16"/>
              <p:cNvSpPr/>
              <p:nvPr/>
            </p:nvSpPr>
            <p:spPr>
              <a:xfrm>
                <a:off x="5000625" y="2371725"/>
                <a:ext cx="161925" cy="438150"/>
              </a:xfrm>
              <a:custGeom>
                <a:avLst/>
                <a:gdLst/>
                <a:ahLst/>
                <a:cxnLst/>
                <a:rect l="l" t="t" r="r" b="b"/>
                <a:pathLst>
                  <a:path w="161925" h="438150">
                    <a:moveTo>
                      <a:pt x="0" y="0"/>
                    </a:moveTo>
                    <a:lnTo>
                      <a:pt x="76200" y="76200"/>
                    </a:lnTo>
                    <a:moveTo>
                      <a:pt x="85725" y="0"/>
                    </a:moveTo>
                    <a:lnTo>
                      <a:pt x="161925" y="76200"/>
                    </a:lnTo>
                    <a:moveTo>
                      <a:pt x="0" y="438150"/>
                    </a:moveTo>
                    <a:lnTo>
                      <a:pt x="76200" y="361950"/>
                    </a:lnTo>
                    <a:moveTo>
                      <a:pt x="85725" y="438150"/>
                    </a:moveTo>
                    <a:lnTo>
                      <a:pt x="161925" y="361950"/>
                    </a:lnTo>
                  </a:path>
                </a:pathLst>
              </a:custGeom>
              <a:solidFill>
                <a:schemeClr val="accent1"/>
              </a:solidFill>
              <a:ln w="19050">
                <a:solidFill>
                  <a:schemeClr val="accent1"/>
                </a:solidFill>
              </a:ln>
            </p:spPr>
            <p:txBody>
              <a:bodyPr/>
              <a:lstStyle/>
              <a:p>
                <a:endParaRPr lang="en-US"/>
              </a:p>
            </p:txBody>
          </p:sp>
          <p:sp>
            <p:nvSpPr>
              <p:cNvPr id="17" name="TextBox 17"/>
              <p:cNvSpPr txBox="1"/>
              <p:nvPr/>
            </p:nvSpPr>
            <p:spPr>
              <a:xfrm>
                <a:off x="4410570" y="2463165"/>
                <a:ext cx="418109" cy="352044"/>
              </a:xfrm>
              <a:prstGeom prst="rect">
                <a:avLst/>
              </a:prstGeom>
              <a:noFill/>
              <a:ln>
                <a:noFill/>
              </a:ln>
            </p:spPr>
            <p:txBody>
              <a:bodyPr wrap="none" lIns="0" tIns="0" rIns="0" bIns="0" anchor="t" anchorCtr="0">
                <a:spAutoFit/>
              </a:bodyPr>
              <a:lstStyle/>
              <a:p>
                <a:pPr algn="ctr"/>
                <a:r>
                  <a:rPr lang="en-US" sz="1800" dirty="0">
                    <a:solidFill>
                      <a:schemeClr val="accent1"/>
                    </a:solidFill>
                    <a:latin typeface="+mn-lt"/>
                    <a:ea typeface="+mn-ea"/>
                    <a:cs typeface="+mn-cs"/>
                  </a:rPr>
                  <a:t>02.</a:t>
                </a:r>
              </a:p>
            </p:txBody>
          </p:sp>
          <p:sp>
            <p:nvSpPr>
              <p:cNvPr id="18" name="TextBox 18"/>
              <p:cNvSpPr txBox="1"/>
              <p:nvPr/>
            </p:nvSpPr>
            <p:spPr>
              <a:xfrm>
                <a:off x="5561457" y="2449830"/>
                <a:ext cx="3597935" cy="410718"/>
              </a:xfrm>
              <a:prstGeom prst="rect">
                <a:avLst/>
              </a:prstGeom>
              <a:noFill/>
              <a:ln>
                <a:noFill/>
              </a:ln>
            </p:spPr>
            <p:txBody>
              <a:bodyPr wrap="none" lIns="0" tIns="0" rIns="0" bIns="0" anchor="t" anchorCtr="0">
                <a:spAutoFit/>
              </a:bodyPr>
              <a:lstStyle/>
              <a:p>
                <a:pPr algn="l"/>
                <a:r>
                  <a:rPr lang="en-US" sz="2100" dirty="0">
                    <a:solidFill>
                      <a:schemeClr val="accent1"/>
                    </a:solidFill>
                    <a:latin typeface="+mn-lt"/>
                    <a:ea typeface="+mn-ea"/>
                    <a:cs typeface="+mn-cs"/>
                  </a:rPr>
                  <a:t>Sử dụng AI trong công việc</a:t>
                </a:r>
              </a:p>
            </p:txBody>
          </p:sp>
        </p:grpSp>
        <p:grpSp>
          <p:nvGrpSpPr>
            <p:cNvPr id="26" name="Group 26"/>
            <p:cNvGrpSpPr/>
            <p:nvPr/>
          </p:nvGrpSpPr>
          <p:grpSpPr>
            <a:xfrm>
              <a:off x="3743325" y="3371850"/>
              <a:ext cx="5454120" cy="488823"/>
              <a:chOff x="3743325" y="3371850"/>
              <a:chExt cx="5454120" cy="488823"/>
            </a:xfrm>
          </p:grpSpPr>
          <p:sp>
            <p:nvSpPr>
              <p:cNvPr id="20" name="Ellipse 20"/>
              <p:cNvSpPr/>
              <p:nvPr/>
            </p:nvSpPr>
            <p:spPr>
              <a:xfrm>
                <a:off x="3743325" y="3552825"/>
                <a:ext cx="76200" cy="76200"/>
              </a:xfrm>
              <a:prstGeom prst="ellipse">
                <a:avLst/>
              </a:prstGeom>
              <a:solidFill>
                <a:schemeClr val="accent1"/>
              </a:solidFill>
              <a:ln>
                <a:noFill/>
              </a:ln>
            </p:spPr>
            <p:txBody>
              <a:bodyPr/>
              <a:lstStyle/>
              <a:p>
                <a:endParaRPr lang="en-US"/>
              </a:p>
            </p:txBody>
          </p:sp>
          <p:sp>
            <p:nvSpPr>
              <p:cNvPr id="21" name="Line 21"/>
              <p:cNvSpPr/>
              <p:nvPr/>
            </p:nvSpPr>
            <p:spPr>
              <a:xfrm>
                <a:off x="3819525" y="3590925"/>
                <a:ext cx="180975" cy="9525"/>
              </a:xfrm>
              <a:custGeom>
                <a:avLst/>
                <a:gdLst/>
                <a:ahLst/>
                <a:cxnLst/>
                <a:rect l="l" t="t" r="r" b="b"/>
                <a:pathLst>
                  <a:path w="180975" h="9525">
                    <a:moveTo>
                      <a:pt x="0" y="0"/>
                    </a:moveTo>
                    <a:lnTo>
                      <a:pt x="180975" y="0"/>
                    </a:lnTo>
                  </a:path>
                </a:pathLst>
              </a:custGeom>
              <a:noFill/>
              <a:ln w="19050">
                <a:solidFill>
                  <a:schemeClr val="accent1"/>
                </a:solidFill>
              </a:ln>
            </p:spPr>
            <p:txBody>
              <a:bodyPr/>
              <a:lstStyle/>
              <a:p>
                <a:endParaRPr lang="en-US"/>
              </a:p>
            </p:txBody>
          </p:sp>
          <p:sp>
            <p:nvSpPr>
              <p:cNvPr id="22" name="Freeform 22"/>
              <p:cNvSpPr/>
              <p:nvPr/>
            </p:nvSpPr>
            <p:spPr>
              <a:xfrm>
                <a:off x="4000500" y="3371850"/>
                <a:ext cx="1238250" cy="438150"/>
              </a:xfrm>
              <a:custGeom>
                <a:avLst/>
                <a:gdLst/>
                <a:ahLst/>
                <a:cxnLst/>
                <a:rect l="l" t="t" r="r" b="b"/>
                <a:pathLst>
                  <a:path w="1238250" h="438150">
                    <a:moveTo>
                      <a:pt x="95250" y="0"/>
                    </a:moveTo>
                    <a:lnTo>
                      <a:pt x="1143000" y="0"/>
                    </a:lnTo>
                    <a:lnTo>
                      <a:pt x="1238250" y="95250"/>
                    </a:lnTo>
                    <a:lnTo>
                      <a:pt x="1238250" y="342900"/>
                    </a:lnTo>
                    <a:lnTo>
                      <a:pt x="1143000" y="438150"/>
                    </a:lnTo>
                    <a:lnTo>
                      <a:pt x="95250" y="438150"/>
                    </a:lnTo>
                    <a:lnTo>
                      <a:pt x="0" y="342900"/>
                    </a:lnTo>
                    <a:lnTo>
                      <a:pt x="0" y="95250"/>
                    </a:lnTo>
                    <a:close/>
                  </a:path>
                </a:pathLst>
              </a:custGeom>
              <a:solidFill>
                <a:schemeClr val="lt1"/>
              </a:solidFill>
              <a:ln w="19050">
                <a:solidFill>
                  <a:schemeClr val="accent3"/>
                </a:solidFill>
              </a:ln>
            </p:spPr>
            <p:txBody>
              <a:bodyPr/>
              <a:lstStyle/>
              <a:p>
                <a:endParaRPr lang="en-US"/>
              </a:p>
            </p:txBody>
          </p:sp>
          <p:sp>
            <p:nvSpPr>
              <p:cNvPr id="23" name="Freeform 23"/>
              <p:cNvSpPr/>
              <p:nvPr/>
            </p:nvSpPr>
            <p:spPr>
              <a:xfrm>
                <a:off x="5000625" y="3371850"/>
                <a:ext cx="161925" cy="438150"/>
              </a:xfrm>
              <a:custGeom>
                <a:avLst/>
                <a:gdLst/>
                <a:ahLst/>
                <a:cxnLst/>
                <a:rect l="l" t="t" r="r" b="b"/>
                <a:pathLst>
                  <a:path w="161925" h="438150">
                    <a:moveTo>
                      <a:pt x="0" y="0"/>
                    </a:moveTo>
                    <a:lnTo>
                      <a:pt x="76200" y="76200"/>
                    </a:lnTo>
                    <a:moveTo>
                      <a:pt x="85725" y="0"/>
                    </a:moveTo>
                    <a:lnTo>
                      <a:pt x="161925" y="76200"/>
                    </a:lnTo>
                    <a:moveTo>
                      <a:pt x="0" y="438150"/>
                    </a:moveTo>
                    <a:lnTo>
                      <a:pt x="76200" y="361950"/>
                    </a:lnTo>
                    <a:moveTo>
                      <a:pt x="85725" y="438150"/>
                    </a:moveTo>
                    <a:lnTo>
                      <a:pt x="161925" y="361950"/>
                    </a:lnTo>
                  </a:path>
                </a:pathLst>
              </a:custGeom>
              <a:solidFill>
                <a:schemeClr val="accent1"/>
              </a:solidFill>
              <a:ln w="19050">
                <a:solidFill>
                  <a:schemeClr val="accent1"/>
                </a:solidFill>
              </a:ln>
            </p:spPr>
            <p:txBody>
              <a:bodyPr/>
              <a:lstStyle/>
              <a:p>
                <a:endParaRPr lang="en-US"/>
              </a:p>
            </p:txBody>
          </p:sp>
          <p:sp>
            <p:nvSpPr>
              <p:cNvPr id="24" name="TextBox 24"/>
              <p:cNvSpPr txBox="1"/>
              <p:nvPr/>
            </p:nvSpPr>
            <p:spPr>
              <a:xfrm>
                <a:off x="4410570" y="3463290"/>
                <a:ext cx="418109" cy="352044"/>
              </a:xfrm>
              <a:prstGeom prst="rect">
                <a:avLst/>
              </a:prstGeom>
              <a:noFill/>
              <a:ln>
                <a:noFill/>
              </a:ln>
            </p:spPr>
            <p:txBody>
              <a:bodyPr wrap="none" lIns="0" tIns="0" rIns="0" bIns="0" anchor="t" anchorCtr="0">
                <a:spAutoFit/>
              </a:bodyPr>
              <a:lstStyle/>
              <a:p>
                <a:pPr algn="ctr"/>
                <a:r>
                  <a:rPr lang="en-US" sz="1800" dirty="0">
                    <a:solidFill>
                      <a:schemeClr val="accent1"/>
                    </a:solidFill>
                    <a:latin typeface="+mn-lt"/>
                    <a:ea typeface="+mn-ea"/>
                    <a:cs typeface="+mn-cs"/>
                  </a:rPr>
                  <a:t>03.</a:t>
                </a:r>
              </a:p>
            </p:txBody>
          </p:sp>
          <p:sp>
            <p:nvSpPr>
              <p:cNvPr id="25" name="TextBox 25"/>
              <p:cNvSpPr txBox="1"/>
              <p:nvPr/>
            </p:nvSpPr>
            <p:spPr>
              <a:xfrm>
                <a:off x="5561457" y="3449955"/>
                <a:ext cx="3635988" cy="410718"/>
              </a:xfrm>
              <a:prstGeom prst="rect">
                <a:avLst/>
              </a:prstGeom>
              <a:noFill/>
              <a:ln>
                <a:noFill/>
              </a:ln>
            </p:spPr>
            <p:txBody>
              <a:bodyPr wrap="none" lIns="0" tIns="0" rIns="0" bIns="0" anchor="t" anchorCtr="0">
                <a:spAutoFit/>
              </a:bodyPr>
              <a:lstStyle/>
              <a:p>
                <a:pPr algn="l"/>
                <a:r>
                  <a:rPr lang="en-US" sz="2100" dirty="0">
                    <a:solidFill>
                      <a:schemeClr val="accent1"/>
                    </a:solidFill>
                    <a:latin typeface="+mn-lt"/>
                    <a:ea typeface="+mn-ea"/>
                    <a:cs typeface="+mn-cs"/>
                  </a:rPr>
                  <a:t>Tự đánh giá ưu, nhược điểm</a:t>
                </a:r>
              </a:p>
            </p:txBody>
          </p:sp>
        </p:grpSp>
        <p:grpSp>
          <p:nvGrpSpPr>
            <p:cNvPr id="33" name="Group 33"/>
            <p:cNvGrpSpPr/>
            <p:nvPr/>
          </p:nvGrpSpPr>
          <p:grpSpPr>
            <a:xfrm>
              <a:off x="3743325" y="4371975"/>
              <a:ext cx="4039948" cy="488823"/>
              <a:chOff x="3743325" y="4371975"/>
              <a:chExt cx="4039948" cy="488823"/>
            </a:xfrm>
          </p:grpSpPr>
          <p:sp>
            <p:nvSpPr>
              <p:cNvPr id="27" name="Ellipse 27"/>
              <p:cNvSpPr/>
              <p:nvPr/>
            </p:nvSpPr>
            <p:spPr>
              <a:xfrm>
                <a:off x="3743325" y="4552950"/>
                <a:ext cx="76200" cy="76200"/>
              </a:xfrm>
              <a:prstGeom prst="ellipse">
                <a:avLst/>
              </a:prstGeom>
              <a:solidFill>
                <a:schemeClr val="accent1"/>
              </a:solidFill>
              <a:ln>
                <a:noFill/>
              </a:ln>
            </p:spPr>
            <p:txBody>
              <a:bodyPr/>
              <a:lstStyle/>
              <a:p>
                <a:endParaRPr lang="en-US"/>
              </a:p>
            </p:txBody>
          </p:sp>
          <p:sp>
            <p:nvSpPr>
              <p:cNvPr id="28" name="Line 28"/>
              <p:cNvSpPr/>
              <p:nvPr/>
            </p:nvSpPr>
            <p:spPr>
              <a:xfrm>
                <a:off x="3819525" y="4591050"/>
                <a:ext cx="180975" cy="9525"/>
              </a:xfrm>
              <a:custGeom>
                <a:avLst/>
                <a:gdLst/>
                <a:ahLst/>
                <a:cxnLst/>
                <a:rect l="l" t="t" r="r" b="b"/>
                <a:pathLst>
                  <a:path w="180975" h="9525">
                    <a:moveTo>
                      <a:pt x="0" y="0"/>
                    </a:moveTo>
                    <a:lnTo>
                      <a:pt x="180975" y="0"/>
                    </a:lnTo>
                  </a:path>
                </a:pathLst>
              </a:custGeom>
              <a:noFill/>
              <a:ln w="19050">
                <a:solidFill>
                  <a:schemeClr val="accent1"/>
                </a:solidFill>
              </a:ln>
            </p:spPr>
            <p:txBody>
              <a:bodyPr/>
              <a:lstStyle/>
              <a:p>
                <a:endParaRPr lang="en-US"/>
              </a:p>
            </p:txBody>
          </p:sp>
          <p:sp>
            <p:nvSpPr>
              <p:cNvPr id="29" name="Freeform 29"/>
              <p:cNvSpPr/>
              <p:nvPr/>
            </p:nvSpPr>
            <p:spPr>
              <a:xfrm>
                <a:off x="4000500" y="4371975"/>
                <a:ext cx="1238250" cy="438150"/>
              </a:xfrm>
              <a:custGeom>
                <a:avLst/>
                <a:gdLst/>
                <a:ahLst/>
                <a:cxnLst/>
                <a:rect l="l" t="t" r="r" b="b"/>
                <a:pathLst>
                  <a:path w="1238250" h="438150">
                    <a:moveTo>
                      <a:pt x="95250" y="0"/>
                    </a:moveTo>
                    <a:lnTo>
                      <a:pt x="1143000" y="0"/>
                    </a:lnTo>
                    <a:lnTo>
                      <a:pt x="1238250" y="95250"/>
                    </a:lnTo>
                    <a:lnTo>
                      <a:pt x="1238250" y="342900"/>
                    </a:lnTo>
                    <a:lnTo>
                      <a:pt x="1143000" y="438150"/>
                    </a:lnTo>
                    <a:lnTo>
                      <a:pt x="95250" y="438150"/>
                    </a:lnTo>
                    <a:lnTo>
                      <a:pt x="0" y="342900"/>
                    </a:lnTo>
                    <a:lnTo>
                      <a:pt x="0" y="95250"/>
                    </a:lnTo>
                    <a:close/>
                  </a:path>
                </a:pathLst>
              </a:custGeom>
              <a:solidFill>
                <a:schemeClr val="lt1"/>
              </a:solidFill>
              <a:ln w="19050">
                <a:solidFill>
                  <a:schemeClr val="accent3"/>
                </a:solidFill>
              </a:ln>
            </p:spPr>
            <p:txBody>
              <a:bodyPr/>
              <a:lstStyle/>
              <a:p>
                <a:endParaRPr lang="en-US"/>
              </a:p>
            </p:txBody>
          </p:sp>
          <p:sp>
            <p:nvSpPr>
              <p:cNvPr id="30" name="Freeform 30"/>
              <p:cNvSpPr/>
              <p:nvPr/>
            </p:nvSpPr>
            <p:spPr>
              <a:xfrm>
                <a:off x="5000625" y="4371975"/>
                <a:ext cx="161925" cy="438150"/>
              </a:xfrm>
              <a:custGeom>
                <a:avLst/>
                <a:gdLst/>
                <a:ahLst/>
                <a:cxnLst/>
                <a:rect l="l" t="t" r="r" b="b"/>
                <a:pathLst>
                  <a:path w="161925" h="438150">
                    <a:moveTo>
                      <a:pt x="0" y="0"/>
                    </a:moveTo>
                    <a:lnTo>
                      <a:pt x="76200" y="76200"/>
                    </a:lnTo>
                    <a:moveTo>
                      <a:pt x="85725" y="0"/>
                    </a:moveTo>
                    <a:lnTo>
                      <a:pt x="161925" y="76200"/>
                    </a:lnTo>
                    <a:moveTo>
                      <a:pt x="0" y="438150"/>
                    </a:moveTo>
                    <a:lnTo>
                      <a:pt x="76200" y="361950"/>
                    </a:lnTo>
                    <a:moveTo>
                      <a:pt x="85725" y="438150"/>
                    </a:moveTo>
                    <a:lnTo>
                      <a:pt x="161925" y="361950"/>
                    </a:lnTo>
                  </a:path>
                </a:pathLst>
              </a:custGeom>
              <a:solidFill>
                <a:schemeClr val="accent1"/>
              </a:solidFill>
              <a:ln w="19050">
                <a:solidFill>
                  <a:schemeClr val="accent1"/>
                </a:solidFill>
              </a:ln>
            </p:spPr>
            <p:txBody>
              <a:bodyPr/>
              <a:lstStyle/>
              <a:p>
                <a:endParaRPr lang="en-US"/>
              </a:p>
            </p:txBody>
          </p:sp>
          <p:sp>
            <p:nvSpPr>
              <p:cNvPr id="31" name="TextBox 31"/>
              <p:cNvSpPr txBox="1"/>
              <p:nvPr/>
            </p:nvSpPr>
            <p:spPr>
              <a:xfrm>
                <a:off x="4410570" y="4463415"/>
                <a:ext cx="418109" cy="352044"/>
              </a:xfrm>
              <a:prstGeom prst="rect">
                <a:avLst/>
              </a:prstGeom>
              <a:noFill/>
              <a:ln>
                <a:noFill/>
              </a:ln>
            </p:spPr>
            <p:txBody>
              <a:bodyPr wrap="none" lIns="0" tIns="0" rIns="0" bIns="0" anchor="t" anchorCtr="0">
                <a:spAutoFit/>
              </a:bodyPr>
              <a:lstStyle/>
              <a:p>
                <a:pPr algn="ctr"/>
                <a:r>
                  <a:rPr lang="en-US" sz="1800" dirty="0">
                    <a:solidFill>
                      <a:schemeClr val="accent1"/>
                    </a:solidFill>
                    <a:latin typeface="+mn-lt"/>
                    <a:ea typeface="+mn-ea"/>
                    <a:cs typeface="+mn-cs"/>
                  </a:rPr>
                  <a:t>04.</a:t>
                </a:r>
              </a:p>
            </p:txBody>
          </p:sp>
          <p:sp>
            <p:nvSpPr>
              <p:cNvPr id="32" name="TextBox 32"/>
              <p:cNvSpPr txBox="1"/>
              <p:nvPr/>
            </p:nvSpPr>
            <p:spPr>
              <a:xfrm>
                <a:off x="5561457" y="4450080"/>
                <a:ext cx="2221816" cy="410718"/>
              </a:xfrm>
              <a:prstGeom prst="rect">
                <a:avLst/>
              </a:prstGeom>
              <a:noFill/>
              <a:ln>
                <a:noFill/>
              </a:ln>
            </p:spPr>
            <p:txBody>
              <a:bodyPr wrap="none" lIns="0" tIns="0" rIns="0" bIns="0" anchor="t" anchorCtr="0">
                <a:spAutoFit/>
              </a:bodyPr>
              <a:lstStyle/>
              <a:p>
                <a:pPr algn="l"/>
                <a:r>
                  <a:rPr lang="en-US" sz="2100" dirty="0">
                    <a:solidFill>
                      <a:schemeClr val="accent1"/>
                    </a:solidFill>
                    <a:latin typeface="+mn-lt"/>
                    <a:ea typeface="+mn-ea"/>
                    <a:cs typeface="+mn-cs"/>
                  </a:rPr>
                  <a:t>Mục tiêu sắp tới</a:t>
                </a:r>
              </a:p>
            </p:txBody>
          </p:sp>
        </p:grpSp>
      </p:grpSp>
      <p:sp>
        <p:nvSpPr>
          <p:cNvPr id="35" name="Line 35"/>
          <p:cNvSpPr/>
          <p:nvPr/>
        </p:nvSpPr>
        <p:spPr>
          <a:xfrm>
            <a:off x="0" y="6515100"/>
            <a:ext cx="12192000" cy="9525"/>
          </a:xfrm>
          <a:custGeom>
            <a:avLst/>
            <a:gdLst/>
            <a:ahLst/>
            <a:cxnLst/>
            <a:rect l="l" t="t" r="r" b="b"/>
            <a:pathLst>
              <a:path w="12192000" h="9525">
                <a:moveTo>
                  <a:pt x="0" y="0"/>
                </a:moveTo>
                <a:lnTo>
                  <a:pt x="12192000" y="0"/>
                </a:lnTo>
              </a:path>
            </a:pathLst>
          </a:custGeom>
          <a:noFill/>
          <a:ln w="9525">
            <a:solidFill>
              <a:srgbClr val="DDE6E1"/>
            </a:solidFill>
          </a:ln>
        </p:spPr>
        <p:txBody>
          <a:bodyPr/>
          <a:lstStyle/>
          <a:p>
            <a:endParaRPr lang="en-US"/>
          </a:p>
        </p:txBody>
      </p:sp>
      <p:sp>
        <p:nvSpPr>
          <p:cNvPr id="36" name="TextBox 36"/>
          <p:cNvSpPr txBox="1"/>
          <p:nvPr/>
        </p:nvSpPr>
        <p:spPr>
          <a:xfrm>
            <a:off x="11141640" y="6630352"/>
            <a:ext cx="484194" cy="205359"/>
          </a:xfrm>
          <a:prstGeom prst="rect">
            <a:avLst/>
          </a:prstGeom>
          <a:noFill/>
          <a:ln>
            <a:noFill/>
          </a:ln>
        </p:spPr>
        <p:txBody>
          <a:bodyPr wrap="none" lIns="0" tIns="0" rIns="0" bIns="0" anchor="t" anchorCtr="0">
            <a:spAutoFit/>
          </a:bodyPr>
          <a:lstStyle/>
          <a:p>
            <a:pPr algn="r"/>
            <a:r>
              <a:rPr lang="en-US" sz="1050" dirty="0">
                <a:solidFill>
                  <a:srgbClr val="66706A"/>
                </a:solidFill>
                <a:latin typeface="+mn-lt"/>
                <a:ea typeface="+mn-ea"/>
                <a:cs typeface="+mn-cs"/>
              </a:rPr>
              <a:t>02 / 23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3"/>
          <a:stretch>
            <a:fillRect/>
          </a:stretch>
        </p:blipFill>
        <p:spPr>
          <a:xfrm>
            <a:off x="486276" y="266700"/>
            <a:ext cx="1313447" cy="381000"/>
          </a:xfrm>
          <a:prstGeom prst="rect">
            <a:avLst/>
          </a:prstGeom>
        </p:spPr>
      </p:pic>
      <p:sp>
        <p:nvSpPr>
          <p:cNvPr id="3" name="TextBox 3"/>
          <p:cNvSpPr txBox="1"/>
          <p:nvPr/>
        </p:nvSpPr>
        <p:spPr>
          <a:xfrm>
            <a:off x="2462784" y="356235"/>
            <a:ext cx="5441641" cy="528066"/>
          </a:xfrm>
          <a:prstGeom prst="rect">
            <a:avLst/>
          </a:prstGeom>
          <a:noFill/>
          <a:ln>
            <a:noFill/>
          </a:ln>
        </p:spPr>
        <p:txBody>
          <a:bodyPr wrap="none" lIns="0" tIns="0" rIns="0" bIns="0" anchor="t" anchorCtr="0">
            <a:spAutoFit/>
          </a:bodyPr>
          <a:lstStyle/>
          <a:p>
            <a:pPr algn="l"/>
            <a:r>
              <a:rPr lang="en-US" sz="2700" b="1" dirty="0">
                <a:solidFill>
                  <a:schemeClr val="accent1"/>
                </a:solidFill>
                <a:latin typeface="+mn-lt"/>
                <a:ea typeface="+mn-ea"/>
                <a:cs typeface="+mn-cs"/>
              </a:rPr>
              <a:t>Các dự án tham gia và kết quả</a:t>
            </a:r>
          </a:p>
        </p:txBody>
      </p:sp>
      <p:grpSp>
        <p:nvGrpSpPr>
          <p:cNvPr id="10" name="Group 10"/>
          <p:cNvGrpSpPr/>
          <p:nvPr/>
        </p:nvGrpSpPr>
        <p:grpSpPr>
          <a:xfrm>
            <a:off x="8953500" y="228600"/>
            <a:ext cx="2357628" cy="647700"/>
            <a:chOff x="8953500" y="228600"/>
            <a:chExt cx="2357628" cy="647700"/>
          </a:xfrm>
        </p:grpSpPr>
        <p:sp>
          <p:nvSpPr>
            <p:cNvPr id="4" name="Rectangle 4"/>
            <p:cNvSpPr/>
            <p:nvPr/>
          </p:nvSpPr>
          <p:spPr>
            <a:xfrm>
              <a:off x="8953500" y="228600"/>
              <a:ext cx="2357628" cy="647700"/>
            </a:xfrm>
            <a:prstGeom prst="roundRect">
              <a:avLst>
                <a:gd name="adj" fmla="val 5882"/>
              </a:avLst>
            </a:prstGeom>
            <a:solidFill>
              <a:srgbClr val="EAF6F0"/>
            </a:solidFill>
            <a:ln>
              <a:noFill/>
            </a:ln>
          </p:spPr>
          <p:txBody>
            <a:bodyPr/>
            <a:lstStyle/>
            <a:p>
              <a:endParaRPr lang="en-US"/>
            </a:p>
          </p:txBody>
        </p:sp>
        <p:sp>
          <p:nvSpPr>
            <p:cNvPr id="5" name="TextBox 5"/>
            <p:cNvSpPr txBox="1"/>
            <p:nvPr/>
          </p:nvSpPr>
          <p:spPr>
            <a:xfrm>
              <a:off x="9839121" y="332422"/>
              <a:ext cx="547626" cy="440055"/>
            </a:xfrm>
            <a:prstGeom prst="rect">
              <a:avLst/>
            </a:prstGeom>
            <a:noFill/>
            <a:ln>
              <a:noFill/>
            </a:ln>
          </p:spPr>
          <p:txBody>
            <a:bodyPr wrap="none" lIns="0" tIns="0" rIns="0" bIns="0" anchor="t" anchorCtr="0">
              <a:spAutoFit/>
            </a:bodyPr>
            <a:lstStyle/>
            <a:p>
              <a:pPr algn="ctr"/>
              <a:r>
                <a:rPr lang="en-US" sz="2250" b="1" dirty="0">
                  <a:solidFill>
                    <a:schemeClr val="accent1"/>
                  </a:solidFill>
                  <a:latin typeface="+mn-lt"/>
                  <a:ea typeface="+mn-ea"/>
                  <a:cs typeface="+mn-cs"/>
                </a:rPr>
                <a:t>114</a:t>
              </a:r>
            </a:p>
          </p:txBody>
        </p:sp>
        <p:sp>
          <p:nvSpPr>
            <p:cNvPr id="6" name="TextBox 6"/>
            <p:cNvSpPr txBox="1"/>
            <p:nvPr/>
          </p:nvSpPr>
          <p:spPr>
            <a:xfrm>
              <a:off x="9962693" y="647890"/>
              <a:ext cx="339242" cy="205359"/>
            </a:xfrm>
            <a:prstGeom prst="rect">
              <a:avLst/>
            </a:prstGeom>
            <a:noFill/>
            <a:ln>
              <a:noFill/>
            </a:ln>
          </p:spPr>
          <p:txBody>
            <a:bodyPr wrap="none" lIns="0" tIns="0" rIns="0" bIns="0" anchor="t" anchorCtr="0">
              <a:spAutoFit/>
            </a:bodyPr>
            <a:lstStyle/>
            <a:p>
              <a:pPr algn="ctr"/>
              <a:r>
                <a:rPr lang="en-US" sz="1050" dirty="0">
                  <a:solidFill>
                    <a:schemeClr val="dk1"/>
                  </a:solidFill>
                  <a:latin typeface="+mn-lt"/>
                  <a:ea typeface="+mn-ea"/>
                  <a:cs typeface="+mn-cs"/>
                </a:rPr>
                <a:t>TASK</a:t>
              </a:r>
            </a:p>
          </p:txBody>
        </p:sp>
      </p:grpSp>
      <p:grpSp>
        <p:nvGrpSpPr>
          <p:cNvPr id="17" name="Group 17"/>
          <p:cNvGrpSpPr/>
          <p:nvPr/>
        </p:nvGrpSpPr>
        <p:grpSpPr>
          <a:xfrm>
            <a:off x="3708654" y="1384268"/>
            <a:ext cx="7917180" cy="264319"/>
            <a:chOff x="3328035" y="1135856"/>
            <a:chExt cx="7917180" cy="264319"/>
          </a:xfrm>
        </p:grpSpPr>
        <p:sp>
          <p:nvSpPr>
            <p:cNvPr id="11" name="Line 11"/>
            <p:cNvSpPr/>
            <p:nvPr/>
          </p:nvSpPr>
          <p:spPr>
            <a:xfrm>
              <a:off x="3333750" y="1390650"/>
              <a:ext cx="7905750" cy="9525"/>
            </a:xfrm>
            <a:custGeom>
              <a:avLst/>
              <a:gdLst/>
              <a:ahLst/>
              <a:cxnLst/>
              <a:rect l="l" t="t" r="r" b="b"/>
              <a:pathLst>
                <a:path w="7905750" h="9525">
                  <a:moveTo>
                    <a:pt x="0" y="0"/>
                  </a:moveTo>
                  <a:lnTo>
                    <a:pt x="7905750" y="0"/>
                  </a:lnTo>
                </a:path>
              </a:pathLst>
            </a:custGeom>
            <a:noFill/>
            <a:ln w="19050">
              <a:solidFill>
                <a:srgbClr val="CBD8D1"/>
              </a:solidFill>
            </a:ln>
          </p:spPr>
          <p:txBody>
            <a:bodyPr/>
            <a:lstStyle/>
            <a:p>
              <a:endParaRPr lang="en-US"/>
            </a:p>
          </p:txBody>
        </p:sp>
        <p:sp>
          <p:nvSpPr>
            <p:cNvPr id="12" name="TextBox 12"/>
            <p:cNvSpPr txBox="1"/>
            <p:nvPr/>
          </p:nvSpPr>
          <p:spPr>
            <a:xfrm>
              <a:off x="3328035" y="1135856"/>
              <a:ext cx="426060" cy="220028"/>
            </a:xfrm>
            <a:prstGeom prst="rect">
              <a:avLst/>
            </a:prstGeom>
            <a:noFill/>
            <a:ln>
              <a:noFill/>
            </a:ln>
          </p:spPr>
          <p:txBody>
            <a:bodyPr wrap="none" lIns="0" tIns="0" rIns="0" bIns="0" anchor="t" anchorCtr="0">
              <a:spAutoFit/>
            </a:bodyPr>
            <a:lstStyle/>
            <a:p>
              <a:pPr algn="l"/>
              <a:r>
                <a:rPr lang="en-US" sz="1120" dirty="0">
                  <a:solidFill>
                    <a:srgbClr val="66706A"/>
                  </a:solidFill>
                  <a:latin typeface="+mn-lt"/>
                  <a:ea typeface="+mn-ea"/>
                  <a:cs typeface="+mn-cs"/>
                </a:rPr>
                <a:t>20/03</a:t>
              </a:r>
            </a:p>
          </p:txBody>
        </p:sp>
        <p:sp>
          <p:nvSpPr>
            <p:cNvPr id="13" name="TextBox 13"/>
            <p:cNvSpPr txBox="1"/>
            <p:nvPr/>
          </p:nvSpPr>
          <p:spPr>
            <a:xfrm>
              <a:off x="5233035" y="1135856"/>
              <a:ext cx="426060" cy="220028"/>
            </a:xfrm>
            <a:prstGeom prst="rect">
              <a:avLst/>
            </a:prstGeom>
            <a:noFill/>
            <a:ln>
              <a:noFill/>
            </a:ln>
          </p:spPr>
          <p:txBody>
            <a:bodyPr wrap="none" lIns="0" tIns="0" rIns="0" bIns="0" anchor="t" anchorCtr="0">
              <a:spAutoFit/>
            </a:bodyPr>
            <a:lstStyle/>
            <a:p>
              <a:pPr algn="l"/>
              <a:r>
                <a:rPr lang="en-US" sz="1120" dirty="0">
                  <a:solidFill>
                    <a:srgbClr val="66706A"/>
                  </a:solidFill>
                  <a:latin typeface="+mn-lt"/>
                  <a:ea typeface="+mn-ea"/>
                  <a:cs typeface="+mn-cs"/>
                </a:rPr>
                <a:t>01/05</a:t>
              </a:r>
            </a:p>
          </p:txBody>
        </p:sp>
        <p:sp>
          <p:nvSpPr>
            <p:cNvPr id="14" name="TextBox 14"/>
            <p:cNvSpPr txBox="1"/>
            <p:nvPr/>
          </p:nvSpPr>
          <p:spPr>
            <a:xfrm>
              <a:off x="7328535" y="1135856"/>
              <a:ext cx="426060" cy="220028"/>
            </a:xfrm>
            <a:prstGeom prst="rect">
              <a:avLst/>
            </a:prstGeom>
            <a:noFill/>
            <a:ln>
              <a:noFill/>
            </a:ln>
          </p:spPr>
          <p:txBody>
            <a:bodyPr wrap="none" lIns="0" tIns="0" rIns="0" bIns="0" anchor="t" anchorCtr="0">
              <a:spAutoFit/>
            </a:bodyPr>
            <a:lstStyle/>
            <a:p>
              <a:pPr algn="l"/>
              <a:r>
                <a:rPr lang="en-US" sz="1120" dirty="0">
                  <a:solidFill>
                    <a:srgbClr val="66706A"/>
                  </a:solidFill>
                  <a:latin typeface="+mn-lt"/>
                  <a:ea typeface="+mn-ea"/>
                  <a:cs typeface="+mn-cs"/>
                </a:rPr>
                <a:t>01/06</a:t>
              </a:r>
            </a:p>
          </p:txBody>
        </p:sp>
        <p:sp>
          <p:nvSpPr>
            <p:cNvPr id="15" name="TextBox 15"/>
            <p:cNvSpPr txBox="1"/>
            <p:nvPr/>
          </p:nvSpPr>
          <p:spPr>
            <a:xfrm>
              <a:off x="9519285" y="1135856"/>
              <a:ext cx="426060" cy="220028"/>
            </a:xfrm>
            <a:prstGeom prst="rect">
              <a:avLst/>
            </a:prstGeom>
            <a:noFill/>
            <a:ln>
              <a:noFill/>
            </a:ln>
          </p:spPr>
          <p:txBody>
            <a:bodyPr wrap="none" lIns="0" tIns="0" rIns="0" bIns="0" anchor="t" anchorCtr="0">
              <a:spAutoFit/>
            </a:bodyPr>
            <a:lstStyle/>
            <a:p>
              <a:pPr algn="l"/>
              <a:r>
                <a:rPr lang="en-US" sz="1120" dirty="0">
                  <a:solidFill>
                    <a:srgbClr val="66706A"/>
                  </a:solidFill>
                  <a:latin typeface="+mn-lt"/>
                  <a:ea typeface="+mn-ea"/>
                  <a:cs typeface="+mn-cs"/>
                </a:rPr>
                <a:t>01/07</a:t>
              </a:r>
            </a:p>
          </p:txBody>
        </p:sp>
        <p:sp>
          <p:nvSpPr>
            <p:cNvPr id="16" name="TextBox 16"/>
            <p:cNvSpPr txBox="1"/>
            <p:nvPr/>
          </p:nvSpPr>
          <p:spPr>
            <a:xfrm>
              <a:off x="10819155" y="1135856"/>
              <a:ext cx="426060" cy="220028"/>
            </a:xfrm>
            <a:prstGeom prst="rect">
              <a:avLst/>
            </a:prstGeom>
            <a:noFill/>
            <a:ln>
              <a:noFill/>
            </a:ln>
          </p:spPr>
          <p:txBody>
            <a:bodyPr wrap="none" lIns="0" tIns="0" rIns="0" bIns="0" anchor="t" anchorCtr="0">
              <a:spAutoFit/>
            </a:bodyPr>
            <a:lstStyle/>
            <a:p>
              <a:pPr algn="r"/>
              <a:r>
                <a:rPr lang="en-US" sz="1120" dirty="0">
                  <a:solidFill>
                    <a:srgbClr val="66706A"/>
                  </a:solidFill>
                  <a:latin typeface="+mn-lt"/>
                  <a:ea typeface="+mn-ea"/>
                  <a:cs typeface="+mn-cs"/>
                </a:rPr>
                <a:t>22/07</a:t>
              </a:r>
            </a:p>
          </p:txBody>
        </p:sp>
      </p:grpSp>
      <p:grpSp>
        <p:nvGrpSpPr>
          <p:cNvPr id="22" name="Group 22"/>
          <p:cNvGrpSpPr/>
          <p:nvPr/>
        </p:nvGrpSpPr>
        <p:grpSpPr>
          <a:xfrm>
            <a:off x="1000406" y="1962912"/>
            <a:ext cx="10619713" cy="460486"/>
            <a:chOff x="619787" y="1714500"/>
            <a:chExt cx="10619713" cy="460486"/>
          </a:xfrm>
        </p:grpSpPr>
        <p:sp>
          <p:nvSpPr>
            <p:cNvPr id="18" name="TextBox 18"/>
            <p:cNvSpPr txBox="1"/>
            <p:nvPr/>
          </p:nvSpPr>
          <p:spPr>
            <a:xfrm>
              <a:off x="619787" y="1779746"/>
              <a:ext cx="768378"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mn-lt"/>
                  <a:ea typeface="+mn-ea"/>
                  <a:cs typeface="+mn-cs"/>
                </a:rPr>
                <a:t>01 KNX</a:t>
              </a:r>
            </a:p>
          </p:txBody>
        </p:sp>
        <p:sp>
          <p:nvSpPr>
            <p:cNvPr id="19" name="TextBox 19"/>
            <p:cNvSpPr txBox="1"/>
            <p:nvPr/>
          </p:nvSpPr>
          <p:spPr>
            <a:xfrm>
              <a:off x="661035" y="2002631"/>
              <a:ext cx="65" cy="172355"/>
            </a:xfrm>
            <a:prstGeom prst="rect">
              <a:avLst/>
            </a:prstGeom>
            <a:noFill/>
            <a:ln>
              <a:noFill/>
            </a:ln>
          </p:spPr>
          <p:txBody>
            <a:bodyPr wrap="none" lIns="0" tIns="0" rIns="0" bIns="0" anchor="t" anchorCtr="0">
              <a:spAutoFit/>
            </a:bodyPr>
            <a:lstStyle/>
            <a:p>
              <a:pPr algn="l"/>
              <a:endParaRPr lang="en-US" sz="1120" dirty="0">
                <a:solidFill>
                  <a:srgbClr val="66706A"/>
                </a:solidFill>
                <a:latin typeface="+mn-lt"/>
                <a:ea typeface="+mn-ea"/>
                <a:cs typeface="+mn-cs"/>
              </a:endParaRPr>
            </a:p>
          </p:txBody>
        </p:sp>
        <p:sp>
          <p:nvSpPr>
            <p:cNvPr id="20" name="Rectangle 20"/>
            <p:cNvSpPr/>
            <p:nvPr/>
          </p:nvSpPr>
          <p:spPr>
            <a:xfrm>
              <a:off x="3333750" y="1714500"/>
              <a:ext cx="7905750" cy="361950"/>
            </a:xfrm>
            <a:prstGeom prst="roundRect">
              <a:avLst>
                <a:gd name="adj" fmla="val 10526"/>
              </a:avLst>
            </a:prstGeom>
            <a:solidFill>
              <a:schemeClr val="accent1"/>
            </a:solidFill>
            <a:ln>
              <a:noFill/>
            </a:ln>
          </p:spPr>
          <p:txBody>
            <a:bodyPr/>
            <a:lstStyle/>
            <a:p>
              <a:endParaRPr lang="en-US"/>
            </a:p>
          </p:txBody>
        </p:sp>
        <p:sp>
          <p:nvSpPr>
            <p:cNvPr id="21" name="TextBox 21"/>
            <p:cNvSpPr txBox="1"/>
            <p:nvPr/>
          </p:nvSpPr>
          <p:spPr>
            <a:xfrm>
              <a:off x="10108943" y="1831181"/>
              <a:ext cx="945772" cy="172355"/>
            </a:xfrm>
            <a:prstGeom prst="rect">
              <a:avLst/>
            </a:prstGeom>
            <a:noFill/>
            <a:ln>
              <a:noFill/>
            </a:ln>
          </p:spPr>
          <p:txBody>
            <a:bodyPr wrap="none" lIns="0" tIns="0" rIns="0" bIns="0" anchor="t" anchorCtr="0">
              <a:spAutoFit/>
            </a:bodyPr>
            <a:lstStyle/>
            <a:p>
              <a:pPr algn="r"/>
              <a:r>
                <a:rPr lang="en-US" sz="1120" b="1" dirty="0">
                  <a:solidFill>
                    <a:srgbClr val="FFFFFF"/>
                  </a:solidFill>
                  <a:latin typeface="+mn-lt"/>
                  <a:ea typeface="+mn-ea"/>
                  <a:cs typeface="+mn-cs"/>
                </a:rPr>
                <a:t>20/03–</a:t>
              </a:r>
              <a:r>
                <a:rPr lang="en-US" sz="1120" b="1" dirty="0" err="1">
                  <a:solidFill>
                    <a:srgbClr val="FFFFFF"/>
                  </a:solidFill>
                  <a:latin typeface="+mn-lt"/>
                  <a:ea typeface="+mn-ea"/>
                  <a:cs typeface="+mn-cs"/>
                </a:rPr>
                <a:t>hiện</a:t>
              </a:r>
              <a:r>
                <a:rPr lang="en-US" sz="1120" b="1" dirty="0">
                  <a:solidFill>
                    <a:srgbClr val="FFFFFF"/>
                  </a:solidFill>
                  <a:latin typeface="+mn-lt"/>
                  <a:ea typeface="+mn-ea"/>
                  <a:cs typeface="+mn-cs"/>
                </a:rPr>
                <a:t> </a:t>
              </a:r>
              <a:r>
                <a:rPr lang="en-US" sz="1120" b="1" dirty="0" err="1">
                  <a:solidFill>
                    <a:srgbClr val="FFFFFF"/>
                  </a:solidFill>
                  <a:latin typeface="+mn-lt"/>
                  <a:ea typeface="+mn-ea"/>
                  <a:cs typeface="+mn-cs"/>
                </a:rPr>
                <a:t>tại</a:t>
              </a:r>
              <a:endParaRPr lang="en-US" sz="1120" b="1" dirty="0">
                <a:solidFill>
                  <a:srgbClr val="FFFFFF"/>
                </a:solidFill>
                <a:latin typeface="+mn-lt"/>
                <a:ea typeface="+mn-ea"/>
                <a:cs typeface="+mn-cs"/>
              </a:endParaRPr>
            </a:p>
          </p:txBody>
        </p:sp>
      </p:grpSp>
      <p:grpSp>
        <p:nvGrpSpPr>
          <p:cNvPr id="27" name="Group 27"/>
          <p:cNvGrpSpPr/>
          <p:nvPr/>
        </p:nvGrpSpPr>
        <p:grpSpPr>
          <a:xfrm>
            <a:off x="1038987" y="2839212"/>
            <a:ext cx="10581132" cy="361950"/>
            <a:chOff x="658368" y="2590800"/>
            <a:chExt cx="10581132" cy="361950"/>
          </a:xfrm>
        </p:grpSpPr>
        <p:sp>
          <p:nvSpPr>
            <p:cNvPr id="23" name="TextBox 23"/>
            <p:cNvSpPr txBox="1"/>
            <p:nvPr/>
          </p:nvSpPr>
          <p:spPr>
            <a:xfrm>
              <a:off x="658368" y="2603182"/>
              <a:ext cx="1459594"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mn-lt"/>
                  <a:ea typeface="+mn-ea"/>
                  <a:cs typeface="+mn-cs"/>
                </a:rPr>
                <a:t>02 Auto Test</a:t>
              </a:r>
            </a:p>
          </p:txBody>
        </p:sp>
        <p:sp>
          <p:nvSpPr>
            <p:cNvPr id="25" name="Rectangle 25"/>
            <p:cNvSpPr/>
            <p:nvPr/>
          </p:nvSpPr>
          <p:spPr>
            <a:xfrm>
              <a:off x="9906000" y="2590800"/>
              <a:ext cx="1333500" cy="361950"/>
            </a:xfrm>
            <a:prstGeom prst="roundRect">
              <a:avLst>
                <a:gd name="adj" fmla="val 10526"/>
              </a:avLst>
            </a:prstGeom>
            <a:solidFill>
              <a:schemeClr val="accent1"/>
            </a:solidFill>
            <a:ln>
              <a:noFill/>
            </a:ln>
          </p:spPr>
          <p:txBody>
            <a:bodyPr/>
            <a:lstStyle/>
            <a:p>
              <a:endParaRPr lang="en-US"/>
            </a:p>
          </p:txBody>
        </p:sp>
        <p:sp>
          <p:nvSpPr>
            <p:cNvPr id="26" name="TextBox 26"/>
            <p:cNvSpPr txBox="1"/>
            <p:nvPr/>
          </p:nvSpPr>
          <p:spPr>
            <a:xfrm>
              <a:off x="10223242" y="2690406"/>
              <a:ext cx="945773" cy="172355"/>
            </a:xfrm>
            <a:prstGeom prst="rect">
              <a:avLst/>
            </a:prstGeom>
            <a:noFill/>
            <a:ln>
              <a:noFill/>
            </a:ln>
          </p:spPr>
          <p:txBody>
            <a:bodyPr wrap="none" lIns="0" tIns="0" rIns="0" bIns="0" anchor="t" anchorCtr="0">
              <a:spAutoFit/>
            </a:bodyPr>
            <a:lstStyle/>
            <a:p>
              <a:pPr algn="r"/>
              <a:r>
                <a:rPr lang="en-US" sz="1120" dirty="0">
                  <a:solidFill>
                    <a:schemeClr val="bg1"/>
                  </a:solidFill>
                  <a:latin typeface="+mn-lt"/>
                  <a:ea typeface="+mn-ea"/>
                  <a:cs typeface="+mn-cs"/>
                </a:rPr>
                <a:t>06/07– </a:t>
              </a:r>
              <a:r>
                <a:rPr lang="en-US" sz="1120" dirty="0" err="1">
                  <a:solidFill>
                    <a:schemeClr val="bg1"/>
                  </a:solidFill>
                  <a:latin typeface="+mn-lt"/>
                  <a:ea typeface="+mn-ea"/>
                  <a:cs typeface="+mn-cs"/>
                </a:rPr>
                <a:t>hiện</a:t>
              </a:r>
              <a:r>
                <a:rPr lang="en-US" sz="1120" dirty="0">
                  <a:solidFill>
                    <a:schemeClr val="bg1"/>
                  </a:solidFill>
                  <a:latin typeface="+mn-lt"/>
                  <a:ea typeface="+mn-ea"/>
                  <a:cs typeface="+mn-cs"/>
                </a:rPr>
                <a:t> </a:t>
              </a:r>
              <a:r>
                <a:rPr lang="en-US" sz="1120" dirty="0" err="1">
                  <a:solidFill>
                    <a:schemeClr val="bg1"/>
                  </a:solidFill>
                  <a:latin typeface="+mn-lt"/>
                  <a:ea typeface="+mn-ea"/>
                  <a:cs typeface="+mn-cs"/>
                </a:rPr>
                <a:t>tại</a:t>
              </a:r>
              <a:endParaRPr lang="en-US" sz="1120" dirty="0">
                <a:solidFill>
                  <a:schemeClr val="bg1"/>
                </a:solidFill>
                <a:latin typeface="+mn-lt"/>
                <a:ea typeface="+mn-ea"/>
                <a:cs typeface="+mn-cs"/>
              </a:endParaRPr>
            </a:p>
          </p:txBody>
        </p:sp>
      </p:grpSp>
      <p:grpSp>
        <p:nvGrpSpPr>
          <p:cNvPr id="34" name="Group 34"/>
          <p:cNvGrpSpPr/>
          <p:nvPr/>
        </p:nvGrpSpPr>
        <p:grpSpPr>
          <a:xfrm>
            <a:off x="1038987" y="3696462"/>
            <a:ext cx="10581132" cy="765334"/>
            <a:chOff x="658368" y="3448050"/>
            <a:chExt cx="10581132" cy="765334"/>
          </a:xfrm>
        </p:grpSpPr>
        <p:sp>
          <p:nvSpPr>
            <p:cNvPr id="28" name="TextBox 28"/>
            <p:cNvSpPr txBox="1"/>
            <p:nvPr/>
          </p:nvSpPr>
          <p:spPr>
            <a:xfrm>
              <a:off x="658368" y="3460432"/>
              <a:ext cx="1597090"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mn-lt"/>
                  <a:ea typeface="+mn-ea"/>
                  <a:cs typeface="+mn-cs"/>
                </a:rPr>
                <a:t>03 Tool Design</a:t>
              </a:r>
            </a:p>
          </p:txBody>
        </p:sp>
        <p:sp>
          <p:nvSpPr>
            <p:cNvPr id="29" name="TextBox 29"/>
            <p:cNvSpPr txBox="1"/>
            <p:nvPr/>
          </p:nvSpPr>
          <p:spPr>
            <a:xfrm>
              <a:off x="661035" y="3783806"/>
              <a:ext cx="2895235" cy="220028"/>
            </a:xfrm>
            <a:prstGeom prst="rect">
              <a:avLst/>
            </a:prstGeom>
            <a:noFill/>
            <a:ln>
              <a:noFill/>
            </a:ln>
          </p:spPr>
          <p:txBody>
            <a:bodyPr wrap="none" lIns="0" tIns="0" rIns="0" bIns="0" anchor="t" anchorCtr="0">
              <a:spAutoFit/>
            </a:bodyPr>
            <a:lstStyle/>
            <a:p>
              <a:pPr algn="l"/>
              <a:r>
                <a:rPr lang="en-US" sz="1120" dirty="0">
                  <a:solidFill>
                    <a:srgbClr val="66706A"/>
                  </a:solidFill>
                  <a:latin typeface="+mn-lt"/>
                  <a:ea typeface="+mn-ea"/>
                  <a:cs typeface="+mn-cs"/>
                </a:rPr>
                <a:t>Tool nguồn DC · Loader Luto · Lumes V2</a:t>
              </a:r>
            </a:p>
          </p:txBody>
        </p:sp>
        <p:sp>
          <p:nvSpPr>
            <p:cNvPr id="30" name="TextBox 30"/>
            <p:cNvSpPr txBox="1"/>
            <p:nvPr/>
          </p:nvSpPr>
          <p:spPr>
            <a:xfrm>
              <a:off x="661035" y="3993356"/>
              <a:ext cx="1820154" cy="220028"/>
            </a:xfrm>
            <a:prstGeom prst="rect">
              <a:avLst/>
            </a:prstGeom>
            <a:noFill/>
            <a:ln>
              <a:noFill/>
            </a:ln>
          </p:spPr>
          <p:txBody>
            <a:bodyPr wrap="none" lIns="0" tIns="0" rIns="0" bIns="0" anchor="t" anchorCtr="0">
              <a:spAutoFit/>
            </a:bodyPr>
            <a:lstStyle/>
            <a:p>
              <a:pPr algn="l"/>
              <a:r>
                <a:rPr lang="en-US" sz="1120" dirty="0">
                  <a:solidFill>
                    <a:srgbClr val="66706A"/>
                  </a:solidFill>
                  <a:latin typeface="+mn-lt"/>
                  <a:ea typeface="+mn-ea"/>
                  <a:cs typeface="+mn-cs"/>
                </a:rPr>
                <a:t>Tool test Smart Lighting</a:t>
              </a:r>
            </a:p>
          </p:txBody>
        </p:sp>
        <p:sp>
          <p:nvSpPr>
            <p:cNvPr id="31" name="Rectangle 31"/>
            <p:cNvSpPr/>
            <p:nvPr/>
          </p:nvSpPr>
          <p:spPr>
            <a:xfrm>
              <a:off x="6191250" y="3448050"/>
              <a:ext cx="5048250" cy="514350"/>
            </a:xfrm>
            <a:prstGeom prst="roundRect">
              <a:avLst>
                <a:gd name="adj" fmla="val 7407"/>
              </a:avLst>
            </a:prstGeom>
            <a:solidFill>
              <a:schemeClr val="accent2"/>
            </a:solidFill>
            <a:ln>
              <a:noFill/>
            </a:ln>
          </p:spPr>
          <p:txBody>
            <a:bodyPr/>
            <a:lstStyle/>
            <a:p>
              <a:endParaRPr lang="en-US"/>
            </a:p>
          </p:txBody>
        </p:sp>
        <p:sp>
          <p:nvSpPr>
            <p:cNvPr id="32" name="TextBox 32"/>
            <p:cNvSpPr txBox="1"/>
            <p:nvPr/>
          </p:nvSpPr>
          <p:spPr>
            <a:xfrm>
              <a:off x="10055843" y="3621785"/>
              <a:ext cx="953787" cy="172355"/>
            </a:xfrm>
            <a:prstGeom prst="rect">
              <a:avLst/>
            </a:prstGeom>
            <a:noFill/>
            <a:ln>
              <a:noFill/>
            </a:ln>
          </p:spPr>
          <p:txBody>
            <a:bodyPr wrap="none" lIns="0" tIns="0" rIns="0" bIns="0" anchor="t" anchorCtr="0">
              <a:spAutoFit/>
            </a:bodyPr>
            <a:lstStyle/>
            <a:p>
              <a:pPr algn="l"/>
              <a:r>
                <a:rPr lang="en-US" sz="1120" b="1" dirty="0">
                  <a:solidFill>
                    <a:srgbClr val="FFFFFF"/>
                  </a:solidFill>
                  <a:latin typeface="+mn-lt"/>
                  <a:ea typeface="+mn-ea"/>
                  <a:cs typeface="+mn-cs"/>
                </a:rPr>
                <a:t>18/05</a:t>
              </a:r>
              <a:r>
                <a:rPr lang="en-US" sz="1120" b="1" dirty="0">
                  <a:solidFill>
                    <a:srgbClr val="FFFFFF"/>
                  </a:solidFill>
                </a:rPr>
                <a:t>- </a:t>
              </a:r>
              <a:r>
                <a:rPr lang="en-US" sz="1120" b="1" dirty="0" err="1">
                  <a:solidFill>
                    <a:srgbClr val="FFFFFF"/>
                  </a:solidFill>
                </a:rPr>
                <a:t>hiện</a:t>
              </a:r>
              <a:r>
                <a:rPr lang="en-US" sz="1120" b="1" dirty="0">
                  <a:solidFill>
                    <a:srgbClr val="FFFFFF"/>
                  </a:solidFill>
                </a:rPr>
                <a:t> </a:t>
              </a:r>
              <a:r>
                <a:rPr lang="en-US" sz="1120" b="1" dirty="0" err="1">
                  <a:solidFill>
                    <a:srgbClr val="FFFFFF"/>
                  </a:solidFill>
                </a:rPr>
                <a:t>tại</a:t>
              </a:r>
              <a:endParaRPr lang="en-US" sz="1120" b="1" dirty="0">
                <a:solidFill>
                  <a:srgbClr val="FFFFFF"/>
                </a:solidFill>
                <a:latin typeface="+mn-lt"/>
                <a:ea typeface="+mn-ea"/>
                <a:cs typeface="+mn-cs"/>
              </a:endParaRPr>
            </a:p>
          </p:txBody>
        </p:sp>
      </p:grpSp>
      <p:grpSp>
        <p:nvGrpSpPr>
          <p:cNvPr id="44" name="Group 44"/>
          <p:cNvGrpSpPr/>
          <p:nvPr/>
        </p:nvGrpSpPr>
        <p:grpSpPr>
          <a:xfrm>
            <a:off x="533400" y="5591174"/>
            <a:ext cx="11125200" cy="590550"/>
            <a:chOff x="495300" y="5753100"/>
            <a:chExt cx="11125200" cy="590550"/>
          </a:xfrm>
        </p:grpSpPr>
        <p:sp>
          <p:nvSpPr>
            <p:cNvPr id="40" name="Rectangle 40"/>
            <p:cNvSpPr/>
            <p:nvPr/>
          </p:nvSpPr>
          <p:spPr>
            <a:xfrm>
              <a:off x="495300" y="5753100"/>
              <a:ext cx="11125200" cy="590550"/>
            </a:xfrm>
            <a:prstGeom prst="roundRect">
              <a:avLst>
                <a:gd name="adj" fmla="val 6452"/>
              </a:avLst>
            </a:prstGeom>
            <a:solidFill>
              <a:schemeClr val="lt2"/>
            </a:solidFill>
            <a:ln>
              <a:noFill/>
            </a:ln>
          </p:spPr>
          <p:txBody>
            <a:bodyPr/>
            <a:lstStyle/>
            <a:p>
              <a:endParaRPr lang="en-US"/>
            </a:p>
          </p:txBody>
        </p:sp>
        <p:sp>
          <p:nvSpPr>
            <p:cNvPr id="41" name="Rectangle 41"/>
            <p:cNvSpPr/>
            <p:nvPr/>
          </p:nvSpPr>
          <p:spPr>
            <a:xfrm>
              <a:off x="495300" y="5753100"/>
              <a:ext cx="76200" cy="590550"/>
            </a:xfrm>
            <a:prstGeom prst="rect">
              <a:avLst/>
            </a:prstGeom>
            <a:solidFill>
              <a:schemeClr val="accent1"/>
            </a:solidFill>
            <a:ln>
              <a:noFill/>
            </a:ln>
          </p:spPr>
          <p:txBody>
            <a:bodyPr/>
            <a:lstStyle/>
            <a:p>
              <a:endParaRPr lang="en-US"/>
            </a:p>
          </p:txBody>
        </p:sp>
        <p:sp>
          <p:nvSpPr>
            <p:cNvPr id="42" name="TextBox 42"/>
            <p:cNvSpPr txBox="1"/>
            <p:nvPr/>
          </p:nvSpPr>
          <p:spPr>
            <a:xfrm>
              <a:off x="736473" y="5872639"/>
              <a:ext cx="1784143" cy="196977"/>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3 NHÓM DỰ ÁN CHÍNH</a:t>
              </a:r>
            </a:p>
          </p:txBody>
        </p:sp>
        <p:sp>
          <p:nvSpPr>
            <p:cNvPr id="43" name="TextBox 43"/>
            <p:cNvSpPr txBox="1"/>
            <p:nvPr/>
          </p:nvSpPr>
          <p:spPr>
            <a:xfrm>
              <a:off x="736473" y="6091714"/>
              <a:ext cx="7517887"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Các đầu việc test tool và loader sản xuất được gom dưới Tool Design để quản lý thống nhất.</a:t>
              </a:r>
            </a:p>
          </p:txBody>
        </p:sp>
      </p:grpSp>
      <p:sp>
        <p:nvSpPr>
          <p:cNvPr id="45" name="TextBox 45"/>
          <p:cNvSpPr txBox="1"/>
          <p:nvPr/>
        </p:nvSpPr>
        <p:spPr>
          <a:xfrm>
            <a:off x="11179740" y="6650735"/>
            <a:ext cx="484194" cy="205359"/>
          </a:xfrm>
          <a:prstGeom prst="rect">
            <a:avLst/>
          </a:prstGeom>
          <a:noFill/>
          <a:ln>
            <a:noFill/>
          </a:ln>
        </p:spPr>
        <p:txBody>
          <a:bodyPr wrap="none" lIns="0" tIns="0" rIns="0" bIns="0" anchor="t" anchorCtr="0">
            <a:spAutoFit/>
          </a:bodyPr>
          <a:lstStyle/>
          <a:p>
            <a:pPr algn="r"/>
            <a:r>
              <a:rPr lang="en-US" sz="1050" dirty="0">
                <a:solidFill>
                  <a:srgbClr val="66706A"/>
                </a:solidFill>
                <a:latin typeface="+mn-lt"/>
                <a:ea typeface="+mn-ea"/>
                <a:cs typeface="+mn-cs"/>
              </a:rPr>
              <a:t>03 / 23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3"/>
          <a:stretch>
            <a:fillRect/>
          </a:stretch>
        </p:blipFill>
        <p:spPr>
          <a:xfrm>
            <a:off x="486276" y="266700"/>
            <a:ext cx="1313447" cy="381000"/>
          </a:xfrm>
          <a:prstGeom prst="rect">
            <a:avLst/>
          </a:prstGeom>
        </p:spPr>
      </p:pic>
      <p:sp>
        <p:nvSpPr>
          <p:cNvPr id="3" name="TextBox 3"/>
          <p:cNvSpPr txBox="1"/>
          <p:nvPr/>
        </p:nvSpPr>
        <p:spPr>
          <a:xfrm>
            <a:off x="2462784" y="356235"/>
            <a:ext cx="4576961" cy="528066"/>
          </a:xfrm>
          <a:prstGeom prst="rect">
            <a:avLst/>
          </a:prstGeom>
          <a:noFill/>
          <a:ln>
            <a:noFill/>
          </a:ln>
        </p:spPr>
        <p:txBody>
          <a:bodyPr wrap="none" lIns="0" tIns="0" rIns="0" bIns="0" anchor="t" anchorCtr="0">
            <a:spAutoFit/>
          </a:bodyPr>
          <a:lstStyle/>
          <a:p>
            <a:pPr algn="l"/>
            <a:r>
              <a:rPr lang="en-US" sz="2700" b="1" dirty="0">
                <a:solidFill>
                  <a:schemeClr val="accent1"/>
                </a:solidFill>
                <a:latin typeface="+mn-lt"/>
                <a:ea typeface="+mn-ea"/>
                <a:cs typeface="+mn-cs"/>
              </a:rPr>
              <a:t>1. Dự án KNX — Tổng quan</a:t>
            </a:r>
          </a:p>
        </p:txBody>
      </p:sp>
      <p:sp>
        <p:nvSpPr>
          <p:cNvPr id="4" name="Rectangle 4"/>
          <p:cNvSpPr/>
          <p:nvPr/>
        </p:nvSpPr>
        <p:spPr>
          <a:xfrm>
            <a:off x="9239250" y="285750"/>
            <a:ext cx="2381250" cy="400050"/>
          </a:xfrm>
          <a:prstGeom prst="roundRect">
            <a:avLst>
              <a:gd name="adj" fmla="val 50000"/>
            </a:avLst>
          </a:prstGeom>
          <a:solidFill>
            <a:srgbClr val="EAF6F0"/>
          </a:solidFill>
          <a:ln>
            <a:noFill/>
          </a:ln>
        </p:spPr>
        <p:txBody>
          <a:bodyPr/>
          <a:lstStyle/>
          <a:p>
            <a:endParaRPr lang="en-US"/>
          </a:p>
        </p:txBody>
      </p:sp>
      <p:sp>
        <p:nvSpPr>
          <p:cNvPr id="5" name="TextBox 5"/>
          <p:cNvSpPr txBox="1"/>
          <p:nvPr/>
        </p:nvSpPr>
        <p:spPr>
          <a:xfrm>
            <a:off x="9627309" y="405289"/>
            <a:ext cx="1605132" cy="249364"/>
          </a:xfrm>
          <a:prstGeom prst="rect">
            <a:avLst/>
          </a:prstGeom>
          <a:noFill/>
          <a:ln>
            <a:noFill/>
          </a:ln>
        </p:spPr>
        <p:txBody>
          <a:bodyPr wrap="none" lIns="0" tIns="0" rIns="0" bIns="0" anchor="t" anchorCtr="0">
            <a:spAutoFit/>
          </a:bodyPr>
          <a:lstStyle/>
          <a:p>
            <a:pPr algn="ctr"/>
            <a:r>
              <a:rPr lang="en-US" sz="1280" b="1" dirty="0">
                <a:solidFill>
                  <a:schemeClr val="accent1"/>
                </a:solidFill>
                <a:latin typeface="+mn-lt"/>
                <a:ea typeface="+mn-ea"/>
                <a:cs typeface="+mn-cs"/>
              </a:rPr>
              <a:t>20/03–22/07/2026</a:t>
            </a:r>
          </a:p>
        </p:txBody>
      </p:sp>
      <p:grpSp>
        <p:nvGrpSpPr>
          <p:cNvPr id="12" name="Group 12"/>
          <p:cNvGrpSpPr/>
          <p:nvPr/>
        </p:nvGrpSpPr>
        <p:grpSpPr>
          <a:xfrm>
            <a:off x="533400" y="1190625"/>
            <a:ext cx="4762500" cy="2286000"/>
            <a:chOff x="533400" y="1190625"/>
            <a:chExt cx="4762500" cy="2286000"/>
          </a:xfrm>
        </p:grpSpPr>
        <p:sp>
          <p:nvSpPr>
            <p:cNvPr id="6" name="Rectangle 6"/>
            <p:cNvSpPr/>
            <p:nvPr/>
          </p:nvSpPr>
          <p:spPr>
            <a:xfrm>
              <a:off x="533400" y="1190625"/>
              <a:ext cx="4762500" cy="2286000"/>
            </a:xfrm>
            <a:prstGeom prst="roundRect">
              <a:avLst>
                <a:gd name="adj" fmla="val 7500"/>
              </a:avLst>
            </a:prstGeom>
            <a:solidFill>
              <a:schemeClr val="lt2"/>
            </a:solidFill>
            <a:ln>
              <a:noFill/>
            </a:ln>
          </p:spPr>
          <p:txBody>
            <a:bodyPr/>
            <a:lstStyle/>
            <a:p>
              <a:endParaRPr lang="en-US"/>
            </a:p>
          </p:txBody>
        </p:sp>
        <p:sp>
          <p:nvSpPr>
            <p:cNvPr id="7" name="TextBox 7"/>
            <p:cNvSpPr txBox="1"/>
            <p:nvPr/>
          </p:nvSpPr>
          <p:spPr>
            <a:xfrm>
              <a:off x="812673" y="1443514"/>
              <a:ext cx="1542318"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PHẠM VI ĐÓNG GÓP</a:t>
              </a:r>
            </a:p>
          </p:txBody>
        </p:sp>
        <p:sp>
          <p:nvSpPr>
            <p:cNvPr id="8" name="TextBox 8"/>
            <p:cNvSpPr txBox="1"/>
            <p:nvPr/>
          </p:nvSpPr>
          <p:spPr>
            <a:xfrm>
              <a:off x="810768" y="1793558"/>
              <a:ext cx="2157192" cy="322707"/>
            </a:xfrm>
            <a:prstGeom prst="rect">
              <a:avLst/>
            </a:prstGeom>
            <a:noFill/>
            <a:ln>
              <a:noFill/>
            </a:ln>
          </p:spPr>
          <p:txBody>
            <a:bodyPr wrap="none" lIns="0" tIns="0" rIns="0" bIns="0" anchor="t" anchorCtr="0">
              <a:spAutoFit/>
            </a:bodyPr>
            <a:lstStyle/>
            <a:p>
              <a:pPr algn="l"/>
              <a:r>
                <a:rPr lang="en-US" sz="1650" dirty="0">
                  <a:solidFill>
                    <a:schemeClr val="dk1"/>
                  </a:solidFill>
                  <a:latin typeface="+mn-lt"/>
                  <a:ea typeface="+mn-ea"/>
                  <a:cs typeface="+mn-cs"/>
                </a:rPr>
                <a:t>Thiết bị &amp; firmware</a:t>
              </a:r>
            </a:p>
          </p:txBody>
        </p:sp>
        <p:sp>
          <p:nvSpPr>
            <p:cNvPr id="9" name="TextBox 9"/>
            <p:cNvSpPr txBox="1"/>
            <p:nvPr/>
          </p:nvSpPr>
          <p:spPr>
            <a:xfrm>
              <a:off x="810768" y="2155508"/>
              <a:ext cx="3231794" cy="322707"/>
            </a:xfrm>
            <a:prstGeom prst="rect">
              <a:avLst/>
            </a:prstGeom>
            <a:noFill/>
            <a:ln>
              <a:noFill/>
            </a:ln>
          </p:spPr>
          <p:txBody>
            <a:bodyPr wrap="none" lIns="0" tIns="0" rIns="0" bIns="0" anchor="t" anchorCtr="0">
              <a:spAutoFit/>
            </a:bodyPr>
            <a:lstStyle/>
            <a:p>
              <a:pPr algn="l"/>
              <a:r>
                <a:rPr lang="en-US" sz="1650" dirty="0">
                  <a:solidFill>
                    <a:schemeClr val="dk1"/>
                  </a:solidFill>
                  <a:latin typeface="+mn-lt"/>
                  <a:ea typeface="+mn-ea"/>
                  <a:cs typeface="+mn-cs"/>
                </a:rPr>
                <a:t>Tool, Jig, loader &amp; benchmark</a:t>
              </a:r>
            </a:p>
          </p:txBody>
        </p:sp>
        <p:sp>
          <p:nvSpPr>
            <p:cNvPr id="10" name="TextBox 10"/>
            <p:cNvSpPr txBox="1"/>
            <p:nvPr/>
          </p:nvSpPr>
          <p:spPr>
            <a:xfrm>
              <a:off x="810768" y="2517458"/>
              <a:ext cx="3378365" cy="322707"/>
            </a:xfrm>
            <a:prstGeom prst="rect">
              <a:avLst/>
            </a:prstGeom>
            <a:noFill/>
            <a:ln>
              <a:noFill/>
            </a:ln>
          </p:spPr>
          <p:txBody>
            <a:bodyPr wrap="none" lIns="0" tIns="0" rIns="0" bIns="0" anchor="t" anchorCtr="0">
              <a:spAutoFit/>
            </a:bodyPr>
            <a:lstStyle/>
            <a:p>
              <a:pPr algn="l"/>
              <a:r>
                <a:rPr lang="en-US" sz="1650" dirty="0">
                  <a:solidFill>
                    <a:schemeClr val="dk1"/>
                  </a:solidFill>
                  <a:latin typeface="+mn-lt"/>
                  <a:ea typeface="+mn-ea"/>
                  <a:cs typeface="+mn-cs"/>
                </a:rPr>
                <a:t>Kiểm thử hệ thống &amp; KNX Secure</a:t>
              </a:r>
            </a:p>
          </p:txBody>
        </p:sp>
        <p:sp>
          <p:nvSpPr>
            <p:cNvPr id="11" name="TextBox 11"/>
            <p:cNvSpPr txBox="1"/>
            <p:nvPr/>
          </p:nvSpPr>
          <p:spPr>
            <a:xfrm>
              <a:off x="810768" y="2879408"/>
              <a:ext cx="3134487" cy="322707"/>
            </a:xfrm>
            <a:prstGeom prst="rect">
              <a:avLst/>
            </a:prstGeom>
            <a:noFill/>
            <a:ln>
              <a:noFill/>
            </a:ln>
          </p:spPr>
          <p:txBody>
            <a:bodyPr wrap="none" lIns="0" tIns="0" rIns="0" bIns="0" anchor="t" anchorCtr="0">
              <a:spAutoFit/>
            </a:bodyPr>
            <a:lstStyle/>
            <a:p>
              <a:pPr algn="l"/>
              <a:r>
                <a:rPr lang="en-US" sz="1650" dirty="0">
                  <a:solidFill>
                    <a:schemeClr val="dk1"/>
                  </a:solidFill>
                  <a:latin typeface="+mn-lt"/>
                  <a:ea typeface="+mn-ea"/>
                  <a:cs typeface="+mn-cs"/>
                </a:rPr>
                <a:t>Giáo trình, đào tạo &amp; tài liệu</a:t>
              </a:r>
            </a:p>
          </p:txBody>
        </p:sp>
      </p:grpSp>
      <p:pic>
        <p:nvPicPr>
          <p:cNvPr id="13" name="Image 13"/>
          <p:cNvPicPr>
            <a:picLocks noChangeAspect="1"/>
          </p:cNvPicPr>
          <p:nvPr/>
        </p:nvPicPr>
        <p:blipFill>
          <a:blip r:embed="rId4"/>
          <a:stretch>
            <a:fillRect/>
          </a:stretch>
        </p:blipFill>
        <p:spPr>
          <a:xfrm>
            <a:off x="6393656" y="1143000"/>
            <a:ext cx="4167188" cy="2381250"/>
          </a:xfrm>
          <a:prstGeom prst="rect">
            <a:avLst/>
          </a:prstGeom>
        </p:spPr>
      </p:pic>
      <p:grpSp>
        <p:nvGrpSpPr>
          <p:cNvPr id="25" name="Group 25"/>
          <p:cNvGrpSpPr/>
          <p:nvPr/>
        </p:nvGrpSpPr>
        <p:grpSpPr>
          <a:xfrm>
            <a:off x="2840831" y="3830574"/>
            <a:ext cx="7105650" cy="1047750"/>
            <a:chOff x="533400" y="3762375"/>
            <a:chExt cx="7105650" cy="1047750"/>
          </a:xfrm>
        </p:grpSpPr>
        <p:sp>
          <p:nvSpPr>
            <p:cNvPr id="14" name="Rectangle 14"/>
            <p:cNvSpPr/>
            <p:nvPr/>
          </p:nvSpPr>
          <p:spPr>
            <a:xfrm>
              <a:off x="533400" y="3762375"/>
              <a:ext cx="3429000" cy="1047750"/>
            </a:xfrm>
            <a:prstGeom prst="roundRect">
              <a:avLst>
                <a:gd name="adj" fmla="val 14545"/>
              </a:avLst>
            </a:prstGeom>
            <a:solidFill>
              <a:schemeClr val="accent1"/>
            </a:solidFill>
            <a:ln>
              <a:noFill/>
            </a:ln>
          </p:spPr>
          <p:txBody>
            <a:bodyPr/>
            <a:lstStyle/>
            <a:p>
              <a:endParaRPr lang="en-US"/>
            </a:p>
          </p:txBody>
        </p:sp>
        <p:sp>
          <p:nvSpPr>
            <p:cNvPr id="15" name="TextBox 15"/>
            <p:cNvSpPr txBox="1"/>
            <p:nvPr/>
          </p:nvSpPr>
          <p:spPr>
            <a:xfrm>
              <a:off x="800862" y="3888105"/>
              <a:ext cx="596326" cy="704088"/>
            </a:xfrm>
            <a:prstGeom prst="rect">
              <a:avLst/>
            </a:prstGeom>
            <a:noFill/>
            <a:ln>
              <a:noFill/>
            </a:ln>
          </p:spPr>
          <p:txBody>
            <a:bodyPr wrap="none" lIns="0" tIns="0" rIns="0" bIns="0" anchor="t" anchorCtr="0">
              <a:spAutoFit/>
            </a:bodyPr>
            <a:lstStyle/>
            <a:p>
              <a:pPr algn="l"/>
              <a:r>
                <a:rPr lang="en-US" sz="3600" b="1" dirty="0">
                  <a:solidFill>
                    <a:srgbClr val="FFFFFF"/>
                  </a:solidFill>
                  <a:latin typeface="+mn-lt"/>
                  <a:ea typeface="+mn-ea"/>
                  <a:cs typeface="+mn-cs"/>
                </a:rPr>
                <a:t>98</a:t>
              </a:r>
            </a:p>
          </p:txBody>
        </p:sp>
        <p:sp>
          <p:nvSpPr>
            <p:cNvPr id="16" name="TextBox 16"/>
            <p:cNvSpPr txBox="1"/>
            <p:nvPr/>
          </p:nvSpPr>
          <p:spPr>
            <a:xfrm>
              <a:off x="1612011" y="4122896"/>
              <a:ext cx="827039" cy="278702"/>
            </a:xfrm>
            <a:prstGeom prst="rect">
              <a:avLst/>
            </a:prstGeom>
            <a:noFill/>
            <a:ln>
              <a:noFill/>
            </a:ln>
          </p:spPr>
          <p:txBody>
            <a:bodyPr wrap="none" lIns="0" tIns="0" rIns="0" bIns="0" anchor="t" anchorCtr="0">
              <a:spAutoFit/>
            </a:bodyPr>
            <a:lstStyle/>
            <a:p>
              <a:pPr algn="l"/>
              <a:r>
                <a:rPr lang="en-US" sz="1420" dirty="0">
                  <a:solidFill>
                    <a:srgbClr val="FFFFFF"/>
                  </a:solidFill>
                  <a:latin typeface="+mn-lt"/>
                  <a:ea typeface="+mn-ea"/>
                  <a:cs typeface="+mn-cs"/>
                </a:rPr>
                <a:t>task KNX</a:t>
              </a:r>
            </a:p>
          </p:txBody>
        </p:sp>
        <p:sp>
          <p:nvSpPr>
            <p:cNvPr id="17" name="TextBox 17"/>
            <p:cNvSpPr txBox="1"/>
            <p:nvPr/>
          </p:nvSpPr>
          <p:spPr>
            <a:xfrm>
              <a:off x="813054" y="4461510"/>
              <a:ext cx="2330348" cy="234696"/>
            </a:xfrm>
            <a:prstGeom prst="rect">
              <a:avLst/>
            </a:prstGeom>
            <a:noFill/>
            <a:ln>
              <a:noFill/>
            </a:ln>
          </p:spPr>
          <p:txBody>
            <a:bodyPr wrap="none" lIns="0" tIns="0" rIns="0" bIns="0" anchor="t" anchorCtr="0">
              <a:spAutoFit/>
            </a:bodyPr>
            <a:lstStyle/>
            <a:p>
              <a:pPr algn="l"/>
              <a:r>
                <a:rPr lang="en-US" sz="1200" dirty="0">
                  <a:solidFill>
                    <a:srgbClr val="FFFFFF"/>
                  </a:solidFill>
                  <a:latin typeface="+mn-lt"/>
                  <a:ea typeface="+mn-ea"/>
                  <a:cs typeface="+mn-cs"/>
                </a:rPr>
                <a:t>86% tổng khối lượng kỳ review</a:t>
              </a:r>
            </a:p>
          </p:txBody>
        </p:sp>
        <p:sp>
          <p:nvSpPr>
            <p:cNvPr id="18" name="Rectangle 18"/>
            <p:cNvSpPr/>
            <p:nvPr/>
          </p:nvSpPr>
          <p:spPr>
            <a:xfrm>
              <a:off x="4210050" y="3762375"/>
              <a:ext cx="3429000" cy="1047750"/>
            </a:xfrm>
            <a:prstGeom prst="roundRect">
              <a:avLst>
                <a:gd name="adj" fmla="val 14545"/>
              </a:avLst>
            </a:prstGeom>
            <a:solidFill>
              <a:srgbClr val="EAF6F0"/>
            </a:solidFill>
            <a:ln>
              <a:noFill/>
            </a:ln>
          </p:spPr>
          <p:txBody>
            <a:bodyPr/>
            <a:lstStyle/>
            <a:p>
              <a:endParaRPr lang="en-US"/>
            </a:p>
          </p:txBody>
        </p:sp>
        <p:sp>
          <p:nvSpPr>
            <p:cNvPr id="19" name="TextBox 19"/>
            <p:cNvSpPr txBox="1"/>
            <p:nvPr/>
          </p:nvSpPr>
          <p:spPr>
            <a:xfrm>
              <a:off x="4477512" y="3888105"/>
              <a:ext cx="596326" cy="704088"/>
            </a:xfrm>
            <a:prstGeom prst="rect">
              <a:avLst/>
            </a:prstGeom>
            <a:noFill/>
            <a:ln>
              <a:noFill/>
            </a:ln>
          </p:spPr>
          <p:txBody>
            <a:bodyPr wrap="none" lIns="0" tIns="0" rIns="0" bIns="0" anchor="t" anchorCtr="0">
              <a:spAutoFit/>
            </a:bodyPr>
            <a:lstStyle/>
            <a:p>
              <a:pPr algn="l"/>
              <a:r>
                <a:rPr lang="en-US" sz="3600" b="1" dirty="0">
                  <a:solidFill>
                    <a:schemeClr val="accent1"/>
                  </a:solidFill>
                  <a:latin typeface="+mn-lt"/>
                  <a:ea typeface="+mn-ea"/>
                  <a:cs typeface="+mn-cs"/>
                </a:rPr>
                <a:t>91</a:t>
              </a:r>
            </a:p>
          </p:txBody>
        </p:sp>
        <p:sp>
          <p:nvSpPr>
            <p:cNvPr id="20" name="TextBox 20"/>
            <p:cNvSpPr txBox="1"/>
            <p:nvPr/>
          </p:nvSpPr>
          <p:spPr>
            <a:xfrm>
              <a:off x="5279136" y="4122896"/>
              <a:ext cx="440982" cy="278702"/>
            </a:xfrm>
            <a:prstGeom prst="rect">
              <a:avLst/>
            </a:prstGeom>
            <a:noFill/>
            <a:ln>
              <a:noFill/>
            </a:ln>
          </p:spPr>
          <p:txBody>
            <a:bodyPr wrap="none" lIns="0" tIns="0" rIns="0" bIns="0" anchor="t" anchorCtr="0">
              <a:spAutoFit/>
            </a:bodyPr>
            <a:lstStyle/>
            <a:p>
              <a:pPr algn="l"/>
              <a:r>
                <a:rPr lang="en-US" sz="1420" dirty="0">
                  <a:solidFill>
                    <a:schemeClr val="dk1"/>
                  </a:solidFill>
                  <a:latin typeface="+mn-lt"/>
                  <a:ea typeface="+mn-ea"/>
                  <a:cs typeface="+mn-cs"/>
                </a:rPr>
                <a:t>Done</a:t>
              </a:r>
            </a:p>
          </p:txBody>
        </p:sp>
        <p:sp>
          <p:nvSpPr>
            <p:cNvPr id="21" name="TextBox 21"/>
            <p:cNvSpPr txBox="1"/>
            <p:nvPr/>
          </p:nvSpPr>
          <p:spPr>
            <a:xfrm>
              <a:off x="4489704" y="4461510"/>
              <a:ext cx="2497507" cy="234696"/>
            </a:xfrm>
            <a:prstGeom prst="rect">
              <a:avLst/>
            </a:prstGeom>
            <a:noFill/>
            <a:ln>
              <a:noFill/>
            </a:ln>
          </p:spPr>
          <p:txBody>
            <a:bodyPr wrap="none" lIns="0" tIns="0" rIns="0" bIns="0" anchor="t" anchorCtr="0">
              <a:spAutoFit/>
            </a:bodyPr>
            <a:lstStyle/>
            <a:p>
              <a:pPr algn="l"/>
              <a:r>
                <a:rPr lang="en-US" sz="1200" dirty="0">
                  <a:solidFill>
                    <a:srgbClr val="66706A"/>
                  </a:solidFill>
                  <a:latin typeface="+mn-lt"/>
                  <a:ea typeface="+mn-ea"/>
                  <a:cs typeface="+mn-cs"/>
                </a:rPr>
                <a:t>Đầu ra đã xác nhận trong dữ liệu</a:t>
              </a:r>
            </a:p>
          </p:txBody>
        </p:sp>
      </p:grpSp>
      <p:grpSp>
        <p:nvGrpSpPr>
          <p:cNvPr id="33" name="Group 33"/>
          <p:cNvGrpSpPr/>
          <p:nvPr/>
        </p:nvGrpSpPr>
        <p:grpSpPr>
          <a:xfrm>
            <a:off x="526923" y="5196364"/>
            <a:ext cx="11131677" cy="899636"/>
            <a:chOff x="526923" y="5196364"/>
            <a:chExt cx="11131677" cy="899636"/>
          </a:xfrm>
        </p:grpSpPr>
        <p:sp>
          <p:nvSpPr>
            <p:cNvPr id="26" name="TextBox 26"/>
            <p:cNvSpPr txBox="1"/>
            <p:nvPr/>
          </p:nvSpPr>
          <p:spPr>
            <a:xfrm>
              <a:off x="526923" y="5196364"/>
              <a:ext cx="1714372"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THÀNH TÍCH NỔI BẬT</a:t>
              </a:r>
            </a:p>
          </p:txBody>
        </p:sp>
        <p:sp>
          <p:nvSpPr>
            <p:cNvPr id="27" name="Rectangle 27"/>
            <p:cNvSpPr/>
            <p:nvPr/>
          </p:nvSpPr>
          <p:spPr>
            <a:xfrm>
              <a:off x="533400" y="5486400"/>
              <a:ext cx="3429000" cy="609600"/>
            </a:xfrm>
            <a:prstGeom prst="roundRect">
              <a:avLst>
                <a:gd name="adj" fmla="val 18750"/>
              </a:avLst>
            </a:prstGeom>
            <a:solidFill>
              <a:schemeClr val="lt1"/>
            </a:solidFill>
            <a:ln w="9525">
              <a:solidFill>
                <a:srgbClr val="CFE0D7"/>
              </a:solidFill>
            </a:ln>
          </p:spPr>
          <p:txBody>
            <a:bodyPr/>
            <a:lstStyle/>
            <a:p>
              <a:endParaRPr lang="en-US"/>
            </a:p>
          </p:txBody>
        </p:sp>
        <p:sp>
          <p:nvSpPr>
            <p:cNvPr id="28" name="TextBox 28"/>
            <p:cNvSpPr txBox="1"/>
            <p:nvPr/>
          </p:nvSpPr>
          <p:spPr>
            <a:xfrm>
              <a:off x="717423" y="5710714"/>
              <a:ext cx="2198596"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Firmware đa dòng thiết bị</a:t>
              </a:r>
            </a:p>
          </p:txBody>
        </p:sp>
        <p:sp>
          <p:nvSpPr>
            <p:cNvPr id="29" name="Rectangle 29"/>
            <p:cNvSpPr/>
            <p:nvPr/>
          </p:nvSpPr>
          <p:spPr>
            <a:xfrm>
              <a:off x="4210050" y="5486400"/>
              <a:ext cx="3429000" cy="609600"/>
            </a:xfrm>
            <a:prstGeom prst="roundRect">
              <a:avLst>
                <a:gd name="adj" fmla="val 18750"/>
              </a:avLst>
            </a:prstGeom>
            <a:solidFill>
              <a:schemeClr val="lt1"/>
            </a:solidFill>
            <a:ln w="9525">
              <a:solidFill>
                <a:srgbClr val="CFE0D7"/>
              </a:solidFill>
            </a:ln>
          </p:spPr>
          <p:txBody>
            <a:bodyPr/>
            <a:lstStyle/>
            <a:p>
              <a:endParaRPr lang="en-US"/>
            </a:p>
          </p:txBody>
        </p:sp>
        <p:sp>
          <p:nvSpPr>
            <p:cNvPr id="30" name="TextBox 30"/>
            <p:cNvSpPr txBox="1"/>
            <p:nvPr/>
          </p:nvSpPr>
          <p:spPr>
            <a:xfrm>
              <a:off x="4394073" y="5710714"/>
              <a:ext cx="2643981"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Tool/Jig và benchmark hệ thống</a:t>
              </a:r>
            </a:p>
          </p:txBody>
        </p:sp>
        <p:sp>
          <p:nvSpPr>
            <p:cNvPr id="31" name="Rectangle 31"/>
            <p:cNvSpPr/>
            <p:nvPr/>
          </p:nvSpPr>
          <p:spPr>
            <a:xfrm>
              <a:off x="7886700" y="5486400"/>
              <a:ext cx="3771900" cy="609600"/>
            </a:xfrm>
            <a:prstGeom prst="roundRect">
              <a:avLst>
                <a:gd name="adj" fmla="val 18750"/>
              </a:avLst>
            </a:prstGeom>
            <a:solidFill>
              <a:schemeClr val="lt1"/>
            </a:solidFill>
            <a:ln w="9525">
              <a:solidFill>
                <a:srgbClr val="CFE0D7"/>
              </a:solidFill>
            </a:ln>
          </p:spPr>
          <p:txBody>
            <a:bodyPr/>
            <a:lstStyle/>
            <a:p>
              <a:endParaRPr lang="en-US"/>
            </a:p>
          </p:txBody>
        </p:sp>
        <p:sp>
          <p:nvSpPr>
            <p:cNvPr id="32" name="TextBox 32"/>
            <p:cNvSpPr txBox="1"/>
            <p:nvPr/>
          </p:nvSpPr>
          <p:spPr>
            <a:xfrm>
              <a:off x="8070723" y="5710714"/>
              <a:ext cx="2054382"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Giáo trình &amp; đào tạo KNX</a:t>
              </a:r>
            </a:p>
          </p:txBody>
        </p:sp>
      </p:grpSp>
      <p:sp>
        <p:nvSpPr>
          <p:cNvPr id="34" name="TextBox 34"/>
          <p:cNvSpPr txBox="1"/>
          <p:nvPr/>
        </p:nvSpPr>
        <p:spPr>
          <a:xfrm>
            <a:off x="11141640" y="6630352"/>
            <a:ext cx="484194" cy="205359"/>
          </a:xfrm>
          <a:prstGeom prst="rect">
            <a:avLst/>
          </a:prstGeom>
          <a:noFill/>
          <a:ln>
            <a:noFill/>
          </a:ln>
        </p:spPr>
        <p:txBody>
          <a:bodyPr wrap="none" lIns="0" tIns="0" rIns="0" bIns="0" anchor="t" anchorCtr="0">
            <a:spAutoFit/>
          </a:bodyPr>
          <a:lstStyle/>
          <a:p>
            <a:pPr algn="r"/>
            <a:r>
              <a:rPr lang="en-US" sz="1050" dirty="0">
                <a:solidFill>
                  <a:srgbClr val="66706A"/>
                </a:solidFill>
                <a:latin typeface="+mn-lt"/>
                <a:ea typeface="+mn-ea"/>
                <a:cs typeface="+mn-cs"/>
              </a:rPr>
              <a:t>04 / 23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3"/>
          <a:stretch>
            <a:fillRect/>
          </a:stretch>
        </p:blipFill>
        <p:spPr>
          <a:xfrm>
            <a:off x="486276" y="266700"/>
            <a:ext cx="1313447" cy="381000"/>
          </a:xfrm>
          <a:prstGeom prst="rect">
            <a:avLst/>
          </a:prstGeom>
        </p:spPr>
      </p:pic>
      <p:sp>
        <p:nvSpPr>
          <p:cNvPr id="3" name="TextBox 3"/>
          <p:cNvSpPr txBox="1"/>
          <p:nvPr/>
        </p:nvSpPr>
        <p:spPr>
          <a:xfrm>
            <a:off x="2462784" y="356235"/>
            <a:ext cx="5830343" cy="528066"/>
          </a:xfrm>
          <a:prstGeom prst="rect">
            <a:avLst/>
          </a:prstGeom>
          <a:noFill/>
          <a:ln>
            <a:noFill/>
          </a:ln>
        </p:spPr>
        <p:txBody>
          <a:bodyPr wrap="none" lIns="0" tIns="0" rIns="0" bIns="0" anchor="t" anchorCtr="0">
            <a:spAutoFit/>
          </a:bodyPr>
          <a:lstStyle/>
          <a:p>
            <a:pPr algn="l"/>
            <a:r>
              <a:rPr lang="en-US" sz="2700" b="1" dirty="0">
                <a:solidFill>
                  <a:schemeClr val="accent1"/>
                </a:solidFill>
                <a:latin typeface="+mn-lt"/>
                <a:ea typeface="+mn-ea"/>
                <a:cs typeface="+mn-cs"/>
              </a:rPr>
              <a:t>KNX — Công việc chính &amp; kết quả</a:t>
            </a:r>
          </a:p>
        </p:txBody>
      </p:sp>
      <p:sp>
        <p:nvSpPr>
          <p:cNvPr id="4" name="Rectangle 4"/>
          <p:cNvSpPr/>
          <p:nvPr/>
        </p:nvSpPr>
        <p:spPr>
          <a:xfrm>
            <a:off x="9239250" y="285750"/>
            <a:ext cx="2381250" cy="400050"/>
          </a:xfrm>
          <a:prstGeom prst="roundRect">
            <a:avLst>
              <a:gd name="adj" fmla="val 50000"/>
            </a:avLst>
          </a:prstGeom>
          <a:solidFill>
            <a:srgbClr val="EAF6F0"/>
          </a:solidFill>
          <a:ln>
            <a:noFill/>
          </a:ln>
        </p:spPr>
        <p:txBody>
          <a:bodyPr/>
          <a:lstStyle/>
          <a:p>
            <a:endParaRPr lang="en-US"/>
          </a:p>
        </p:txBody>
      </p:sp>
      <p:sp>
        <p:nvSpPr>
          <p:cNvPr id="5" name="TextBox 5"/>
          <p:cNvSpPr txBox="1"/>
          <p:nvPr/>
        </p:nvSpPr>
        <p:spPr>
          <a:xfrm>
            <a:off x="9627309" y="405289"/>
            <a:ext cx="1605132" cy="249364"/>
          </a:xfrm>
          <a:prstGeom prst="rect">
            <a:avLst/>
          </a:prstGeom>
          <a:noFill/>
          <a:ln>
            <a:noFill/>
          </a:ln>
        </p:spPr>
        <p:txBody>
          <a:bodyPr wrap="none" lIns="0" tIns="0" rIns="0" bIns="0" anchor="t" anchorCtr="0">
            <a:spAutoFit/>
          </a:bodyPr>
          <a:lstStyle/>
          <a:p>
            <a:pPr algn="ctr"/>
            <a:r>
              <a:rPr lang="en-US" sz="1280" b="1" dirty="0">
                <a:solidFill>
                  <a:schemeClr val="accent1"/>
                </a:solidFill>
                <a:latin typeface="+mn-lt"/>
                <a:ea typeface="+mn-ea"/>
                <a:cs typeface="+mn-cs"/>
              </a:rPr>
              <a:t>20/03–22/07/2026</a:t>
            </a:r>
          </a:p>
        </p:txBody>
      </p:sp>
      <p:grpSp>
        <p:nvGrpSpPr>
          <p:cNvPr id="39" name="Group 39"/>
          <p:cNvGrpSpPr/>
          <p:nvPr/>
        </p:nvGrpSpPr>
        <p:grpSpPr>
          <a:xfrm>
            <a:off x="533400" y="1143000"/>
            <a:ext cx="11125200" cy="4095750"/>
            <a:chOff x="533400" y="1143000"/>
            <a:chExt cx="11125200" cy="4095750"/>
          </a:xfrm>
        </p:grpSpPr>
        <p:grpSp>
          <p:nvGrpSpPr>
            <p:cNvPr id="16" name="Group 16"/>
            <p:cNvGrpSpPr/>
            <p:nvPr/>
          </p:nvGrpSpPr>
          <p:grpSpPr>
            <a:xfrm>
              <a:off x="533400" y="1143000"/>
              <a:ext cx="3429000" cy="4095750"/>
              <a:chOff x="533400" y="1143000"/>
              <a:chExt cx="3429000" cy="4095750"/>
            </a:xfrm>
          </p:grpSpPr>
          <p:sp>
            <p:nvSpPr>
              <p:cNvPr id="6" name="Rectangle 6"/>
              <p:cNvSpPr/>
              <p:nvPr/>
            </p:nvSpPr>
            <p:spPr>
              <a:xfrm>
                <a:off x="533400" y="1143000"/>
                <a:ext cx="3429000" cy="4095750"/>
              </a:xfrm>
              <a:prstGeom prst="roundRect">
                <a:avLst>
                  <a:gd name="adj" fmla="val 5000"/>
                </a:avLst>
              </a:prstGeom>
              <a:solidFill>
                <a:schemeClr val="lt2"/>
              </a:solidFill>
              <a:ln>
                <a:noFill/>
              </a:ln>
            </p:spPr>
            <p:txBody>
              <a:bodyPr/>
              <a:lstStyle/>
              <a:p>
                <a:endParaRPr lang="en-US"/>
              </a:p>
            </p:txBody>
          </p:sp>
          <p:sp>
            <p:nvSpPr>
              <p:cNvPr id="7" name="Rectangle 7"/>
              <p:cNvSpPr/>
              <p:nvPr/>
            </p:nvSpPr>
            <p:spPr>
              <a:xfrm>
                <a:off x="533400" y="1143000"/>
                <a:ext cx="76200" cy="4095750"/>
              </a:xfrm>
              <a:prstGeom prst="roundRect">
                <a:avLst>
                  <a:gd name="adj" fmla="val 50000"/>
                </a:avLst>
              </a:prstGeom>
              <a:solidFill>
                <a:schemeClr val="accent1"/>
              </a:solidFill>
              <a:ln>
                <a:noFill/>
              </a:ln>
            </p:spPr>
            <p:txBody>
              <a:bodyPr/>
              <a:lstStyle/>
              <a:p>
                <a:endParaRPr lang="en-US"/>
              </a:p>
            </p:txBody>
          </p:sp>
          <p:sp>
            <p:nvSpPr>
              <p:cNvPr id="8" name="TextBox 8"/>
              <p:cNvSpPr txBox="1"/>
              <p:nvPr/>
            </p:nvSpPr>
            <p:spPr>
              <a:xfrm>
                <a:off x="811530" y="1409700"/>
                <a:ext cx="2479548" cy="293370"/>
              </a:xfrm>
              <a:prstGeom prst="rect">
                <a:avLst/>
              </a:prstGeom>
              <a:noFill/>
              <a:ln>
                <a:noFill/>
              </a:ln>
            </p:spPr>
            <p:txBody>
              <a:bodyPr wrap="none" lIns="0" tIns="0" rIns="0" bIns="0" anchor="t" anchorCtr="0">
                <a:spAutoFit/>
              </a:bodyPr>
              <a:lstStyle/>
              <a:p>
                <a:pPr algn="l"/>
                <a:r>
                  <a:rPr lang="en-US" sz="1500" b="1" dirty="0">
                    <a:solidFill>
                      <a:schemeClr val="accent1"/>
                    </a:solidFill>
                    <a:latin typeface="+mn-lt"/>
                    <a:ea typeface="+mn-ea"/>
                    <a:cs typeface="+mn-cs"/>
                  </a:rPr>
                  <a:t>01 THIẾT BỊ &amp; FIRMWARE</a:t>
                </a:r>
              </a:p>
            </p:txBody>
          </p:sp>
          <p:sp>
            <p:nvSpPr>
              <p:cNvPr id="9" name="TextBox 9"/>
              <p:cNvSpPr txBox="1"/>
              <p:nvPr/>
            </p:nvSpPr>
            <p:spPr>
              <a:xfrm>
                <a:off x="811911" y="1941671"/>
                <a:ext cx="1715319"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Công tắc 2/4 nút</a:t>
                </a:r>
              </a:p>
            </p:txBody>
          </p:sp>
          <p:sp>
            <p:nvSpPr>
              <p:cNvPr id="10" name="TextBox 10"/>
              <p:cNvSpPr txBox="1"/>
              <p:nvPr/>
            </p:nvSpPr>
            <p:spPr>
              <a:xfrm>
                <a:off x="811911" y="2284571"/>
                <a:ext cx="2191074"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Rèm, Actuator, KNOB</a:t>
                </a:r>
              </a:p>
            </p:txBody>
          </p:sp>
          <p:sp>
            <p:nvSpPr>
              <p:cNvPr id="11" name="TextBox 11"/>
              <p:cNvSpPr txBox="1"/>
              <p:nvPr/>
            </p:nvSpPr>
            <p:spPr>
              <a:xfrm>
                <a:off x="811911" y="2627471"/>
                <a:ext cx="2936833"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Cấu hình và đóng gói .knxprod</a:t>
                </a:r>
              </a:p>
            </p:txBody>
          </p:sp>
          <p:sp>
            <p:nvSpPr>
              <p:cNvPr id="12" name="Line 12"/>
              <p:cNvSpPr/>
              <p:nvPr/>
            </p:nvSpPr>
            <p:spPr>
              <a:xfrm>
                <a:off x="819150" y="3476625"/>
                <a:ext cx="2857500" cy="9525"/>
              </a:xfrm>
              <a:custGeom>
                <a:avLst/>
                <a:gdLst/>
                <a:ahLst/>
                <a:cxnLst/>
                <a:rect l="l" t="t" r="r" b="b"/>
                <a:pathLst>
                  <a:path w="2857500" h="9525">
                    <a:moveTo>
                      <a:pt x="0" y="0"/>
                    </a:moveTo>
                    <a:lnTo>
                      <a:pt x="2857500" y="0"/>
                    </a:lnTo>
                  </a:path>
                </a:pathLst>
              </a:custGeom>
              <a:noFill/>
              <a:ln w="9525">
                <a:solidFill>
                  <a:srgbClr val="C8D8D0"/>
                </a:solidFill>
              </a:ln>
            </p:spPr>
            <p:txBody>
              <a:bodyPr/>
              <a:lstStyle/>
              <a:p>
                <a:endParaRPr lang="en-US"/>
              </a:p>
            </p:txBody>
          </p:sp>
          <p:sp>
            <p:nvSpPr>
              <p:cNvPr id="13" name="TextBox 13"/>
              <p:cNvSpPr txBox="1"/>
              <p:nvPr/>
            </p:nvSpPr>
            <p:spPr>
              <a:xfrm>
                <a:off x="813054" y="3728085"/>
                <a:ext cx="693237" cy="234696"/>
              </a:xfrm>
              <a:prstGeom prst="rect">
                <a:avLst/>
              </a:prstGeom>
              <a:noFill/>
              <a:ln>
                <a:noFill/>
              </a:ln>
            </p:spPr>
            <p:txBody>
              <a:bodyPr wrap="none" lIns="0" tIns="0" rIns="0" bIns="0" anchor="t" anchorCtr="0">
                <a:spAutoFit/>
              </a:bodyPr>
              <a:lstStyle/>
              <a:p>
                <a:pPr algn="l"/>
                <a:r>
                  <a:rPr lang="en-US" sz="1200" b="1" dirty="0">
                    <a:solidFill>
                      <a:schemeClr val="accent1"/>
                    </a:solidFill>
                    <a:latin typeface="+mn-lt"/>
                    <a:ea typeface="+mn-ea"/>
                    <a:cs typeface="+mn-cs"/>
                  </a:rPr>
                  <a:t>KẾT QUẢ</a:t>
                </a:r>
              </a:p>
            </p:txBody>
          </p:sp>
          <p:sp>
            <p:nvSpPr>
              <p:cNvPr id="14" name="TextBox 14"/>
              <p:cNvSpPr txBox="1"/>
              <p:nvPr/>
            </p:nvSpPr>
            <p:spPr>
              <a:xfrm>
                <a:off x="812292" y="4092892"/>
                <a:ext cx="2827439"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Hoàn thiện nhiều luồng firmware</a:t>
                </a:r>
              </a:p>
            </p:txBody>
          </p:sp>
          <p:sp>
            <p:nvSpPr>
              <p:cNvPr id="15" name="TextBox 15"/>
              <p:cNvSpPr txBox="1"/>
              <p:nvPr/>
            </p:nvSpPr>
            <p:spPr>
              <a:xfrm>
                <a:off x="812292" y="4388168"/>
                <a:ext cx="2476252"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và chuẩn hóa cách kiểm thử.</a:t>
                </a:r>
              </a:p>
            </p:txBody>
          </p:sp>
        </p:grpSp>
        <p:grpSp>
          <p:nvGrpSpPr>
            <p:cNvPr id="27" name="Group 27"/>
            <p:cNvGrpSpPr/>
            <p:nvPr/>
          </p:nvGrpSpPr>
          <p:grpSpPr>
            <a:xfrm>
              <a:off x="4210050" y="1143000"/>
              <a:ext cx="3429000" cy="4095750"/>
              <a:chOff x="4210050" y="1143000"/>
              <a:chExt cx="3429000" cy="4095750"/>
            </a:xfrm>
          </p:grpSpPr>
          <p:sp>
            <p:nvSpPr>
              <p:cNvPr id="17" name="Rectangle 17"/>
              <p:cNvSpPr/>
              <p:nvPr/>
            </p:nvSpPr>
            <p:spPr>
              <a:xfrm>
                <a:off x="4210050" y="1143000"/>
                <a:ext cx="3429000" cy="4095750"/>
              </a:xfrm>
              <a:prstGeom prst="roundRect">
                <a:avLst>
                  <a:gd name="adj" fmla="val 5000"/>
                </a:avLst>
              </a:prstGeom>
              <a:solidFill>
                <a:srgbClr val="EAF6F0"/>
              </a:solidFill>
              <a:ln>
                <a:noFill/>
              </a:ln>
            </p:spPr>
            <p:txBody>
              <a:bodyPr/>
              <a:lstStyle/>
              <a:p>
                <a:endParaRPr lang="en-US"/>
              </a:p>
            </p:txBody>
          </p:sp>
          <p:sp>
            <p:nvSpPr>
              <p:cNvPr id="18" name="Rectangle 18"/>
              <p:cNvSpPr/>
              <p:nvPr/>
            </p:nvSpPr>
            <p:spPr>
              <a:xfrm>
                <a:off x="4210050" y="1143000"/>
                <a:ext cx="76200" cy="4095750"/>
              </a:xfrm>
              <a:prstGeom prst="roundRect">
                <a:avLst>
                  <a:gd name="adj" fmla="val 50000"/>
                </a:avLst>
              </a:prstGeom>
              <a:solidFill>
                <a:schemeClr val="accent1"/>
              </a:solidFill>
              <a:ln>
                <a:noFill/>
              </a:ln>
            </p:spPr>
            <p:txBody>
              <a:bodyPr/>
              <a:lstStyle/>
              <a:p>
                <a:endParaRPr lang="en-US"/>
              </a:p>
            </p:txBody>
          </p:sp>
          <p:sp>
            <p:nvSpPr>
              <p:cNvPr id="19" name="TextBox 19"/>
              <p:cNvSpPr txBox="1"/>
              <p:nvPr/>
            </p:nvSpPr>
            <p:spPr>
              <a:xfrm>
                <a:off x="4488180" y="1409700"/>
                <a:ext cx="2098700" cy="293370"/>
              </a:xfrm>
              <a:prstGeom prst="rect">
                <a:avLst/>
              </a:prstGeom>
              <a:noFill/>
              <a:ln>
                <a:noFill/>
              </a:ln>
            </p:spPr>
            <p:txBody>
              <a:bodyPr wrap="none" lIns="0" tIns="0" rIns="0" bIns="0" anchor="t" anchorCtr="0">
                <a:spAutoFit/>
              </a:bodyPr>
              <a:lstStyle/>
              <a:p>
                <a:pPr algn="l"/>
                <a:r>
                  <a:rPr lang="en-US" sz="1500" b="1" dirty="0">
                    <a:solidFill>
                      <a:schemeClr val="accent1"/>
                    </a:solidFill>
                    <a:latin typeface="+mn-lt"/>
                    <a:ea typeface="+mn-ea"/>
                    <a:cs typeface="+mn-cs"/>
                  </a:rPr>
                  <a:t>02 TOOL &amp; HỆ THỐNG</a:t>
                </a:r>
              </a:p>
            </p:txBody>
          </p:sp>
          <p:sp>
            <p:nvSpPr>
              <p:cNvPr id="20" name="TextBox 20"/>
              <p:cNvSpPr txBox="1"/>
              <p:nvPr/>
            </p:nvSpPr>
            <p:spPr>
              <a:xfrm>
                <a:off x="4488561" y="1941671"/>
                <a:ext cx="2334672"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Jig, loader, benchmark</a:t>
                </a:r>
              </a:p>
            </p:txBody>
          </p:sp>
          <p:sp>
            <p:nvSpPr>
              <p:cNvPr id="21" name="TextBox 21"/>
              <p:cNvSpPr txBox="1"/>
              <p:nvPr/>
            </p:nvSpPr>
            <p:spPr>
              <a:xfrm>
                <a:off x="4488561" y="2284571"/>
                <a:ext cx="2300017"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GA delay/miss, Coupler</a:t>
                </a:r>
              </a:p>
            </p:txBody>
          </p:sp>
          <p:sp>
            <p:nvSpPr>
              <p:cNvPr id="22" name="TextBox 22"/>
              <p:cNvSpPr txBox="1"/>
              <p:nvPr/>
            </p:nvSpPr>
            <p:spPr>
              <a:xfrm>
                <a:off x="4488561" y="2627471"/>
                <a:ext cx="2718290"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KNX Secure &amp; download flow</a:t>
                </a:r>
              </a:p>
            </p:txBody>
          </p:sp>
          <p:sp>
            <p:nvSpPr>
              <p:cNvPr id="23" name="Line 23"/>
              <p:cNvSpPr/>
              <p:nvPr/>
            </p:nvSpPr>
            <p:spPr>
              <a:xfrm>
                <a:off x="4495800" y="3476625"/>
                <a:ext cx="2857500" cy="9525"/>
              </a:xfrm>
              <a:custGeom>
                <a:avLst/>
                <a:gdLst/>
                <a:ahLst/>
                <a:cxnLst/>
                <a:rect l="l" t="t" r="r" b="b"/>
                <a:pathLst>
                  <a:path w="2857500" h="9525">
                    <a:moveTo>
                      <a:pt x="0" y="0"/>
                    </a:moveTo>
                    <a:lnTo>
                      <a:pt x="2857500" y="0"/>
                    </a:lnTo>
                  </a:path>
                </a:pathLst>
              </a:custGeom>
              <a:noFill/>
              <a:ln w="9525">
                <a:solidFill>
                  <a:srgbClr val="B8D8C7"/>
                </a:solidFill>
              </a:ln>
            </p:spPr>
            <p:txBody>
              <a:bodyPr/>
              <a:lstStyle/>
              <a:p>
                <a:endParaRPr lang="en-US"/>
              </a:p>
            </p:txBody>
          </p:sp>
          <p:sp>
            <p:nvSpPr>
              <p:cNvPr id="24" name="TextBox 24"/>
              <p:cNvSpPr txBox="1"/>
              <p:nvPr/>
            </p:nvSpPr>
            <p:spPr>
              <a:xfrm>
                <a:off x="4489704" y="3728085"/>
                <a:ext cx="693237" cy="234696"/>
              </a:xfrm>
              <a:prstGeom prst="rect">
                <a:avLst/>
              </a:prstGeom>
              <a:noFill/>
              <a:ln>
                <a:noFill/>
              </a:ln>
            </p:spPr>
            <p:txBody>
              <a:bodyPr wrap="none" lIns="0" tIns="0" rIns="0" bIns="0" anchor="t" anchorCtr="0">
                <a:spAutoFit/>
              </a:bodyPr>
              <a:lstStyle/>
              <a:p>
                <a:pPr algn="l"/>
                <a:r>
                  <a:rPr lang="en-US" sz="1200" b="1" dirty="0">
                    <a:solidFill>
                      <a:schemeClr val="accent1"/>
                    </a:solidFill>
                    <a:latin typeface="+mn-lt"/>
                    <a:ea typeface="+mn-ea"/>
                    <a:cs typeface="+mn-cs"/>
                  </a:rPr>
                  <a:t>KẾT QUẢ</a:t>
                </a:r>
              </a:p>
            </p:txBody>
          </p:sp>
          <p:sp>
            <p:nvSpPr>
              <p:cNvPr id="25" name="TextBox 25"/>
              <p:cNvSpPr txBox="1"/>
              <p:nvPr/>
            </p:nvSpPr>
            <p:spPr>
              <a:xfrm>
                <a:off x="4488942" y="4092892"/>
                <a:ext cx="2300970"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Tăng khả năng tái hiện, đo</a:t>
                </a:r>
              </a:p>
            </p:txBody>
          </p:sp>
          <p:sp>
            <p:nvSpPr>
              <p:cNvPr id="26" name="TextBox 26"/>
              <p:cNvSpPr txBox="1"/>
              <p:nvPr/>
            </p:nvSpPr>
            <p:spPr>
              <a:xfrm>
                <a:off x="4488942" y="4388168"/>
                <a:ext cx="2194560"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và xác nhận lỗi hệ thống.</a:t>
                </a:r>
              </a:p>
            </p:txBody>
          </p:sp>
        </p:grpSp>
        <p:grpSp>
          <p:nvGrpSpPr>
            <p:cNvPr id="38" name="Group 38"/>
            <p:cNvGrpSpPr/>
            <p:nvPr/>
          </p:nvGrpSpPr>
          <p:grpSpPr>
            <a:xfrm>
              <a:off x="7886700" y="1143000"/>
              <a:ext cx="3771900" cy="4095750"/>
              <a:chOff x="7886700" y="1143000"/>
              <a:chExt cx="3771900" cy="4095750"/>
            </a:xfrm>
          </p:grpSpPr>
          <p:sp>
            <p:nvSpPr>
              <p:cNvPr id="28" name="Rectangle 28"/>
              <p:cNvSpPr/>
              <p:nvPr/>
            </p:nvSpPr>
            <p:spPr>
              <a:xfrm>
                <a:off x="7886700" y="1143000"/>
                <a:ext cx="3771900" cy="4095750"/>
              </a:xfrm>
              <a:prstGeom prst="roundRect">
                <a:avLst>
                  <a:gd name="adj" fmla="val 4545"/>
                </a:avLst>
              </a:prstGeom>
              <a:solidFill>
                <a:schemeClr val="lt2"/>
              </a:solidFill>
              <a:ln>
                <a:noFill/>
              </a:ln>
            </p:spPr>
            <p:txBody>
              <a:bodyPr/>
              <a:lstStyle/>
              <a:p>
                <a:endParaRPr lang="en-US"/>
              </a:p>
            </p:txBody>
          </p:sp>
          <p:sp>
            <p:nvSpPr>
              <p:cNvPr id="29" name="Rectangle 29"/>
              <p:cNvSpPr/>
              <p:nvPr/>
            </p:nvSpPr>
            <p:spPr>
              <a:xfrm>
                <a:off x="7886700" y="1143000"/>
                <a:ext cx="76200" cy="4095750"/>
              </a:xfrm>
              <a:prstGeom prst="roundRect">
                <a:avLst>
                  <a:gd name="adj" fmla="val 50000"/>
                </a:avLst>
              </a:prstGeom>
              <a:solidFill>
                <a:schemeClr val="accent1"/>
              </a:solidFill>
              <a:ln>
                <a:noFill/>
              </a:ln>
            </p:spPr>
            <p:txBody>
              <a:bodyPr/>
              <a:lstStyle/>
              <a:p>
                <a:endParaRPr lang="en-US"/>
              </a:p>
            </p:txBody>
          </p:sp>
          <p:sp>
            <p:nvSpPr>
              <p:cNvPr id="30" name="TextBox 30"/>
              <p:cNvSpPr txBox="1"/>
              <p:nvPr/>
            </p:nvSpPr>
            <p:spPr>
              <a:xfrm>
                <a:off x="8164830" y="1409700"/>
                <a:ext cx="2300326" cy="293370"/>
              </a:xfrm>
              <a:prstGeom prst="rect">
                <a:avLst/>
              </a:prstGeom>
              <a:noFill/>
              <a:ln>
                <a:noFill/>
              </a:ln>
            </p:spPr>
            <p:txBody>
              <a:bodyPr wrap="none" lIns="0" tIns="0" rIns="0" bIns="0" anchor="t" anchorCtr="0">
                <a:spAutoFit/>
              </a:bodyPr>
              <a:lstStyle/>
              <a:p>
                <a:pPr algn="l"/>
                <a:r>
                  <a:rPr lang="en-US" sz="1500" b="1" dirty="0">
                    <a:solidFill>
                      <a:schemeClr val="accent1"/>
                    </a:solidFill>
                    <a:latin typeface="+mn-lt"/>
                    <a:ea typeface="+mn-ea"/>
                    <a:cs typeface="+mn-cs"/>
                  </a:rPr>
                  <a:t>03 TÀI LIỆU &amp; ĐÀO TẠO</a:t>
                </a:r>
              </a:p>
            </p:txBody>
          </p:sp>
          <p:sp>
            <p:nvSpPr>
              <p:cNvPr id="31" name="TextBox 31"/>
              <p:cNvSpPr txBox="1"/>
              <p:nvPr/>
            </p:nvSpPr>
            <p:spPr>
              <a:xfrm>
                <a:off x="8165211" y="1941671"/>
                <a:ext cx="1789771"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Giáo trình và ETS</a:t>
                </a:r>
              </a:p>
            </p:txBody>
          </p:sp>
          <p:sp>
            <p:nvSpPr>
              <p:cNvPr id="32" name="TextBox 32"/>
              <p:cNvSpPr txBox="1"/>
              <p:nvPr/>
            </p:nvSpPr>
            <p:spPr>
              <a:xfrm>
                <a:off x="8165211" y="2284571"/>
                <a:ext cx="2081149"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Quiz, Q&amp;A, Topology</a:t>
                </a:r>
              </a:p>
            </p:txBody>
          </p:sp>
          <p:sp>
            <p:nvSpPr>
              <p:cNvPr id="33" name="TextBox 33"/>
              <p:cNvSpPr txBox="1"/>
              <p:nvPr/>
            </p:nvSpPr>
            <p:spPr>
              <a:xfrm>
                <a:off x="8165211" y="2627471"/>
                <a:ext cx="3058302"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Hỗ trợ Tester và đào tạo nội bộ</a:t>
                </a:r>
              </a:p>
            </p:txBody>
          </p:sp>
          <p:sp>
            <p:nvSpPr>
              <p:cNvPr id="34" name="Line 34"/>
              <p:cNvSpPr/>
              <p:nvPr/>
            </p:nvSpPr>
            <p:spPr>
              <a:xfrm>
                <a:off x="8172450" y="3476625"/>
                <a:ext cx="3200400" cy="9525"/>
              </a:xfrm>
              <a:custGeom>
                <a:avLst/>
                <a:gdLst/>
                <a:ahLst/>
                <a:cxnLst/>
                <a:rect l="l" t="t" r="r" b="b"/>
                <a:pathLst>
                  <a:path w="3200400" h="9525">
                    <a:moveTo>
                      <a:pt x="0" y="0"/>
                    </a:moveTo>
                    <a:lnTo>
                      <a:pt x="3200400" y="0"/>
                    </a:lnTo>
                  </a:path>
                </a:pathLst>
              </a:custGeom>
              <a:noFill/>
              <a:ln w="9525">
                <a:solidFill>
                  <a:srgbClr val="C8D8D0"/>
                </a:solidFill>
              </a:ln>
            </p:spPr>
            <p:txBody>
              <a:bodyPr/>
              <a:lstStyle/>
              <a:p>
                <a:endParaRPr lang="en-US"/>
              </a:p>
            </p:txBody>
          </p:sp>
          <p:sp>
            <p:nvSpPr>
              <p:cNvPr id="35" name="TextBox 35"/>
              <p:cNvSpPr txBox="1"/>
              <p:nvPr/>
            </p:nvSpPr>
            <p:spPr>
              <a:xfrm>
                <a:off x="8166354" y="3728085"/>
                <a:ext cx="693237" cy="234696"/>
              </a:xfrm>
              <a:prstGeom prst="rect">
                <a:avLst/>
              </a:prstGeom>
              <a:noFill/>
              <a:ln>
                <a:noFill/>
              </a:ln>
            </p:spPr>
            <p:txBody>
              <a:bodyPr wrap="none" lIns="0" tIns="0" rIns="0" bIns="0" anchor="t" anchorCtr="0">
                <a:spAutoFit/>
              </a:bodyPr>
              <a:lstStyle/>
              <a:p>
                <a:pPr algn="l"/>
                <a:r>
                  <a:rPr lang="en-US" sz="1200" b="1" dirty="0">
                    <a:solidFill>
                      <a:schemeClr val="accent1"/>
                    </a:solidFill>
                    <a:latin typeface="+mn-lt"/>
                    <a:ea typeface="+mn-ea"/>
                    <a:cs typeface="+mn-cs"/>
                  </a:rPr>
                  <a:t>KẾT QUẢ</a:t>
                </a:r>
              </a:p>
            </p:txBody>
          </p:sp>
          <p:sp>
            <p:nvSpPr>
              <p:cNvPr id="36" name="TextBox 36"/>
              <p:cNvSpPr txBox="1"/>
              <p:nvPr/>
            </p:nvSpPr>
            <p:spPr>
              <a:xfrm>
                <a:off x="8165592" y="4092892"/>
                <a:ext cx="2745943"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Chuyển tri thức kỹ thuật thành</a:t>
                </a:r>
              </a:p>
            </p:txBody>
          </p:sp>
          <p:sp>
            <p:nvSpPr>
              <p:cNvPr id="37" name="TextBox 37"/>
              <p:cNvSpPr txBox="1"/>
              <p:nvPr/>
            </p:nvSpPr>
            <p:spPr>
              <a:xfrm>
                <a:off x="8165592" y="4388168"/>
                <a:ext cx="2049170"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tài sản có thể dùng lại.</a:t>
                </a:r>
              </a:p>
            </p:txBody>
          </p:sp>
        </p:grpSp>
      </p:grpSp>
      <p:sp>
        <p:nvSpPr>
          <p:cNvPr id="40" name="Rectangle 40"/>
          <p:cNvSpPr/>
          <p:nvPr/>
        </p:nvSpPr>
        <p:spPr>
          <a:xfrm>
            <a:off x="533400" y="5524500"/>
            <a:ext cx="11125200" cy="609600"/>
          </a:xfrm>
          <a:prstGeom prst="roundRect">
            <a:avLst>
              <a:gd name="adj" fmla="val 25000"/>
            </a:avLst>
          </a:prstGeom>
          <a:solidFill>
            <a:schemeClr val="accent1"/>
          </a:solidFill>
          <a:ln>
            <a:noFill/>
          </a:ln>
        </p:spPr>
        <p:txBody>
          <a:bodyPr/>
          <a:lstStyle/>
          <a:p>
            <a:endParaRPr lang="en-US"/>
          </a:p>
        </p:txBody>
      </p:sp>
      <p:sp>
        <p:nvSpPr>
          <p:cNvPr id="41" name="TextBox 41"/>
          <p:cNvSpPr txBox="1"/>
          <p:nvPr/>
        </p:nvSpPr>
        <p:spPr>
          <a:xfrm>
            <a:off x="852438" y="5735479"/>
            <a:ext cx="10487124" cy="308039"/>
          </a:xfrm>
          <a:prstGeom prst="rect">
            <a:avLst/>
          </a:prstGeom>
          <a:noFill/>
          <a:ln>
            <a:noFill/>
          </a:ln>
        </p:spPr>
        <p:txBody>
          <a:bodyPr wrap="none" lIns="0" tIns="0" rIns="0" bIns="0" anchor="t" anchorCtr="0">
            <a:spAutoFit/>
          </a:bodyPr>
          <a:lstStyle/>
          <a:p>
            <a:pPr algn="ctr"/>
            <a:r>
              <a:rPr lang="en-US" sz="1580" b="1" dirty="0">
                <a:solidFill>
                  <a:srgbClr val="FFFFFF"/>
                </a:solidFill>
                <a:latin typeface="+mn-lt"/>
                <a:ea typeface="+mn-ea"/>
                <a:cs typeface="+mn-cs"/>
              </a:rPr>
              <a:t>Các trang tiếp theo phóng lớn từng bằng chứng benchmark để có thể đọc trực tiếp trên màn hình.</a:t>
            </a:r>
          </a:p>
        </p:txBody>
      </p:sp>
      <p:sp>
        <p:nvSpPr>
          <p:cNvPr id="42" name="TextBox 42"/>
          <p:cNvSpPr txBox="1"/>
          <p:nvPr/>
        </p:nvSpPr>
        <p:spPr>
          <a:xfrm>
            <a:off x="11141640" y="6630352"/>
            <a:ext cx="484194" cy="205359"/>
          </a:xfrm>
          <a:prstGeom prst="rect">
            <a:avLst/>
          </a:prstGeom>
          <a:noFill/>
          <a:ln>
            <a:noFill/>
          </a:ln>
        </p:spPr>
        <p:txBody>
          <a:bodyPr wrap="none" lIns="0" tIns="0" rIns="0" bIns="0" anchor="t" anchorCtr="0">
            <a:spAutoFit/>
          </a:bodyPr>
          <a:lstStyle/>
          <a:p>
            <a:pPr algn="r"/>
            <a:r>
              <a:rPr lang="en-US" sz="1050" dirty="0">
                <a:solidFill>
                  <a:srgbClr val="66706A"/>
                </a:solidFill>
                <a:latin typeface="+mn-lt"/>
                <a:ea typeface="+mn-ea"/>
                <a:cs typeface="+mn-cs"/>
              </a:rPr>
              <a:t>05 / 23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3"/>
          <a:stretch>
            <a:fillRect/>
          </a:stretch>
        </p:blipFill>
        <p:spPr>
          <a:xfrm>
            <a:off x="476250" y="228600"/>
            <a:ext cx="1238250" cy="361950"/>
          </a:xfrm>
          <a:prstGeom prst="rect">
            <a:avLst/>
          </a:prstGeom>
        </p:spPr>
      </p:pic>
      <p:sp>
        <p:nvSpPr>
          <p:cNvPr id="3" name="TextBox 3"/>
          <p:cNvSpPr txBox="1"/>
          <p:nvPr/>
        </p:nvSpPr>
        <p:spPr>
          <a:xfrm>
            <a:off x="2083308" y="331470"/>
            <a:ext cx="5342169" cy="469392"/>
          </a:xfrm>
          <a:prstGeom prst="rect">
            <a:avLst/>
          </a:prstGeom>
          <a:noFill/>
          <a:ln>
            <a:noFill/>
          </a:ln>
        </p:spPr>
        <p:txBody>
          <a:bodyPr wrap="none" lIns="0" tIns="0" rIns="0" bIns="0" anchor="t" anchorCtr="0">
            <a:spAutoFit/>
          </a:bodyPr>
          <a:lstStyle/>
          <a:p>
            <a:pPr algn="l"/>
            <a:r>
              <a:rPr lang="en-US" sz="2400" b="1" dirty="0">
                <a:solidFill>
                  <a:schemeClr val="accent1"/>
                </a:solidFill>
                <a:latin typeface="+mn-lt"/>
                <a:ea typeface="+mn-ea"/>
                <a:cs typeface="+mn-cs"/>
              </a:rPr>
              <a:t>KNX Benchmark — Bảng điều khiển</a:t>
            </a:r>
          </a:p>
        </p:txBody>
      </p:sp>
      <p:sp>
        <p:nvSpPr>
          <p:cNvPr id="4" name="Rectangle 4"/>
          <p:cNvSpPr/>
          <p:nvPr/>
        </p:nvSpPr>
        <p:spPr>
          <a:xfrm>
            <a:off x="9810750" y="247650"/>
            <a:ext cx="1809750" cy="361950"/>
          </a:xfrm>
          <a:prstGeom prst="roundRect">
            <a:avLst>
              <a:gd name="adj" fmla="val 50000"/>
            </a:avLst>
          </a:prstGeom>
          <a:solidFill>
            <a:srgbClr val="EAF6F0"/>
          </a:solidFill>
          <a:ln>
            <a:noFill/>
          </a:ln>
        </p:spPr>
        <p:txBody>
          <a:bodyPr/>
          <a:lstStyle/>
          <a:p>
            <a:endParaRPr lang="en-US"/>
          </a:p>
        </p:txBody>
      </p:sp>
      <p:sp>
        <p:nvSpPr>
          <p:cNvPr id="5" name="TextBox 5"/>
          <p:cNvSpPr txBox="1"/>
          <p:nvPr/>
        </p:nvSpPr>
        <p:spPr>
          <a:xfrm>
            <a:off x="9965540" y="364331"/>
            <a:ext cx="1500171" cy="220028"/>
          </a:xfrm>
          <a:prstGeom prst="rect">
            <a:avLst/>
          </a:prstGeom>
          <a:noFill/>
          <a:ln>
            <a:noFill/>
          </a:ln>
        </p:spPr>
        <p:txBody>
          <a:bodyPr wrap="none" lIns="0" tIns="0" rIns="0" bIns="0" anchor="t" anchorCtr="0">
            <a:spAutoFit/>
          </a:bodyPr>
          <a:lstStyle/>
          <a:p>
            <a:pPr algn="ctr"/>
            <a:r>
              <a:rPr lang="en-US" sz="1120" b="1" dirty="0">
                <a:solidFill>
                  <a:schemeClr val="accent1"/>
                </a:solidFill>
                <a:latin typeface="+mn-lt"/>
                <a:ea typeface="+mn-ea"/>
                <a:cs typeface="+mn-cs"/>
              </a:rPr>
              <a:t>BẰNG CHỨNG 01 / 03</a:t>
            </a:r>
          </a:p>
        </p:txBody>
      </p:sp>
      <p:grpSp>
        <p:nvGrpSpPr>
          <p:cNvPr id="11" name="Group 11"/>
          <p:cNvGrpSpPr/>
          <p:nvPr/>
        </p:nvGrpSpPr>
        <p:grpSpPr>
          <a:xfrm>
            <a:off x="533400" y="876300"/>
            <a:ext cx="11125200" cy="5429250"/>
            <a:chOff x="533400" y="876300"/>
            <a:chExt cx="11125200" cy="5429250"/>
          </a:xfrm>
        </p:grpSpPr>
        <p:sp>
          <p:nvSpPr>
            <p:cNvPr id="6" name="Rectangle 6"/>
            <p:cNvSpPr/>
            <p:nvPr/>
          </p:nvSpPr>
          <p:spPr>
            <a:xfrm>
              <a:off x="533400" y="876300"/>
              <a:ext cx="11125200" cy="5429250"/>
            </a:xfrm>
            <a:prstGeom prst="roundRect">
              <a:avLst>
                <a:gd name="adj" fmla="val 3158"/>
              </a:avLst>
            </a:prstGeom>
            <a:solidFill>
              <a:schemeClr val="lt2"/>
            </a:solidFill>
            <a:ln w="19050">
              <a:solidFill>
                <a:srgbClr val="B8D8C7"/>
              </a:solidFill>
            </a:ln>
          </p:spPr>
          <p:txBody>
            <a:bodyPr/>
            <a:lstStyle/>
            <a:p>
              <a:endParaRPr lang="en-US"/>
            </a:p>
          </p:txBody>
        </p:sp>
        <p:pic>
          <p:nvPicPr>
            <p:cNvPr id="7" name="Image 7"/>
            <p:cNvPicPr>
              <a:picLocks noChangeAspect="1"/>
            </p:cNvPicPr>
            <p:nvPr/>
          </p:nvPicPr>
          <p:blipFill>
            <a:blip r:embed="rId4"/>
            <a:stretch>
              <a:fillRect/>
            </a:stretch>
          </p:blipFill>
          <p:spPr>
            <a:xfrm>
              <a:off x="1140139" y="1009650"/>
              <a:ext cx="9911721" cy="4762500"/>
            </a:xfrm>
            <a:prstGeom prst="rect">
              <a:avLst/>
            </a:prstGeom>
          </p:spPr>
        </p:pic>
        <p:sp>
          <p:nvSpPr>
            <p:cNvPr id="8" name="Rectangle 8"/>
            <p:cNvSpPr/>
            <p:nvPr/>
          </p:nvSpPr>
          <p:spPr>
            <a:xfrm>
              <a:off x="666750" y="5829300"/>
              <a:ext cx="10858500" cy="361950"/>
            </a:xfrm>
            <a:prstGeom prst="roundRect">
              <a:avLst>
                <a:gd name="adj" fmla="val 26316"/>
              </a:avLst>
            </a:prstGeom>
            <a:solidFill>
              <a:schemeClr val="lt1"/>
            </a:solidFill>
            <a:ln>
              <a:noFill/>
            </a:ln>
          </p:spPr>
          <p:txBody>
            <a:bodyPr/>
            <a:lstStyle/>
            <a:p>
              <a:endParaRPr lang="en-US"/>
            </a:p>
          </p:txBody>
        </p:sp>
        <p:sp>
          <p:nvSpPr>
            <p:cNvPr id="9" name="TextBox 9"/>
            <p:cNvSpPr txBox="1"/>
            <p:nvPr/>
          </p:nvSpPr>
          <p:spPr>
            <a:xfrm>
              <a:off x="850773" y="5929789"/>
              <a:ext cx="844546"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MỤC ĐÍCH</a:t>
              </a:r>
            </a:p>
          </p:txBody>
        </p:sp>
        <p:sp>
          <p:nvSpPr>
            <p:cNvPr id="10" name="TextBox 10"/>
            <p:cNvSpPr txBox="1"/>
            <p:nvPr/>
          </p:nvSpPr>
          <p:spPr>
            <a:xfrm>
              <a:off x="1850898" y="5929789"/>
              <a:ext cx="6342829"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Theo dõi thiết bị, trạng thái test và điều khiển luồng benchmark tập trung.</a:t>
              </a:r>
            </a:p>
          </p:txBody>
        </p:sp>
      </p:grpSp>
      <p:sp>
        <p:nvSpPr>
          <p:cNvPr id="12" name="TextBox 12"/>
          <p:cNvSpPr txBox="1"/>
          <p:nvPr/>
        </p:nvSpPr>
        <p:spPr>
          <a:xfrm>
            <a:off x="11141640" y="6630352"/>
            <a:ext cx="484194" cy="205359"/>
          </a:xfrm>
          <a:prstGeom prst="rect">
            <a:avLst/>
          </a:prstGeom>
          <a:noFill/>
          <a:ln>
            <a:noFill/>
          </a:ln>
        </p:spPr>
        <p:txBody>
          <a:bodyPr wrap="none" lIns="0" tIns="0" rIns="0" bIns="0" anchor="t" anchorCtr="0">
            <a:spAutoFit/>
          </a:bodyPr>
          <a:lstStyle/>
          <a:p>
            <a:pPr algn="r"/>
            <a:r>
              <a:rPr lang="en-US" sz="1050" dirty="0">
                <a:solidFill>
                  <a:srgbClr val="66706A"/>
                </a:solidFill>
                <a:latin typeface="+mn-lt"/>
                <a:ea typeface="+mn-ea"/>
                <a:cs typeface="+mn-cs"/>
              </a:rPr>
              <a:t>06 / 23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3"/>
          <a:stretch>
            <a:fillRect/>
          </a:stretch>
        </p:blipFill>
        <p:spPr>
          <a:xfrm>
            <a:off x="476250" y="228600"/>
            <a:ext cx="1238250" cy="361950"/>
          </a:xfrm>
          <a:prstGeom prst="rect">
            <a:avLst/>
          </a:prstGeom>
        </p:spPr>
      </p:pic>
      <p:sp>
        <p:nvSpPr>
          <p:cNvPr id="3" name="TextBox 3"/>
          <p:cNvSpPr txBox="1"/>
          <p:nvPr/>
        </p:nvSpPr>
        <p:spPr>
          <a:xfrm>
            <a:off x="2083308" y="331470"/>
            <a:ext cx="5141295" cy="469392"/>
          </a:xfrm>
          <a:prstGeom prst="rect">
            <a:avLst/>
          </a:prstGeom>
          <a:noFill/>
          <a:ln>
            <a:noFill/>
          </a:ln>
        </p:spPr>
        <p:txBody>
          <a:bodyPr wrap="none" lIns="0" tIns="0" rIns="0" bIns="0" anchor="t" anchorCtr="0">
            <a:spAutoFit/>
          </a:bodyPr>
          <a:lstStyle/>
          <a:p>
            <a:pPr algn="l"/>
            <a:r>
              <a:rPr lang="en-US" sz="2400" b="1" dirty="0">
                <a:solidFill>
                  <a:schemeClr val="accent1"/>
                </a:solidFill>
                <a:latin typeface="+mn-lt"/>
                <a:ea typeface="+mn-ea"/>
                <a:cs typeface="+mn-cs"/>
              </a:rPr>
              <a:t>KNX Benchmark — Tạo test case</a:t>
            </a:r>
          </a:p>
        </p:txBody>
      </p:sp>
      <p:sp>
        <p:nvSpPr>
          <p:cNvPr id="4" name="Rectangle 4"/>
          <p:cNvSpPr/>
          <p:nvPr/>
        </p:nvSpPr>
        <p:spPr>
          <a:xfrm>
            <a:off x="9810750" y="247650"/>
            <a:ext cx="1809750" cy="361950"/>
          </a:xfrm>
          <a:prstGeom prst="roundRect">
            <a:avLst>
              <a:gd name="adj" fmla="val 50000"/>
            </a:avLst>
          </a:prstGeom>
          <a:solidFill>
            <a:srgbClr val="EAF6F0"/>
          </a:solidFill>
          <a:ln>
            <a:noFill/>
          </a:ln>
        </p:spPr>
        <p:txBody>
          <a:bodyPr/>
          <a:lstStyle/>
          <a:p>
            <a:endParaRPr lang="en-US"/>
          </a:p>
        </p:txBody>
      </p:sp>
      <p:sp>
        <p:nvSpPr>
          <p:cNvPr id="5" name="TextBox 5"/>
          <p:cNvSpPr txBox="1"/>
          <p:nvPr/>
        </p:nvSpPr>
        <p:spPr>
          <a:xfrm>
            <a:off x="9965540" y="364331"/>
            <a:ext cx="1500171" cy="220028"/>
          </a:xfrm>
          <a:prstGeom prst="rect">
            <a:avLst/>
          </a:prstGeom>
          <a:noFill/>
          <a:ln>
            <a:noFill/>
          </a:ln>
        </p:spPr>
        <p:txBody>
          <a:bodyPr wrap="none" lIns="0" tIns="0" rIns="0" bIns="0" anchor="t" anchorCtr="0">
            <a:spAutoFit/>
          </a:bodyPr>
          <a:lstStyle/>
          <a:p>
            <a:pPr algn="ctr"/>
            <a:r>
              <a:rPr lang="en-US" sz="1120" b="1" dirty="0">
                <a:solidFill>
                  <a:schemeClr val="accent1"/>
                </a:solidFill>
                <a:latin typeface="+mn-lt"/>
                <a:ea typeface="+mn-ea"/>
                <a:cs typeface="+mn-cs"/>
              </a:rPr>
              <a:t>BẰNG CHỨNG 02 / 03</a:t>
            </a:r>
          </a:p>
        </p:txBody>
      </p:sp>
      <p:grpSp>
        <p:nvGrpSpPr>
          <p:cNvPr id="11" name="Group 11"/>
          <p:cNvGrpSpPr/>
          <p:nvPr/>
        </p:nvGrpSpPr>
        <p:grpSpPr>
          <a:xfrm>
            <a:off x="533400" y="876300"/>
            <a:ext cx="11125200" cy="5429250"/>
            <a:chOff x="533400" y="876300"/>
            <a:chExt cx="11125200" cy="5429250"/>
          </a:xfrm>
        </p:grpSpPr>
        <p:sp>
          <p:nvSpPr>
            <p:cNvPr id="6" name="Rectangle 6"/>
            <p:cNvSpPr/>
            <p:nvPr/>
          </p:nvSpPr>
          <p:spPr>
            <a:xfrm>
              <a:off x="533400" y="876300"/>
              <a:ext cx="11125200" cy="5429250"/>
            </a:xfrm>
            <a:prstGeom prst="roundRect">
              <a:avLst>
                <a:gd name="adj" fmla="val 3158"/>
              </a:avLst>
            </a:prstGeom>
            <a:solidFill>
              <a:schemeClr val="lt2"/>
            </a:solidFill>
            <a:ln w="19050">
              <a:solidFill>
                <a:srgbClr val="B8D8C7"/>
              </a:solidFill>
            </a:ln>
          </p:spPr>
          <p:txBody>
            <a:bodyPr/>
            <a:lstStyle/>
            <a:p>
              <a:endParaRPr lang="en-US"/>
            </a:p>
          </p:txBody>
        </p:sp>
        <p:pic>
          <p:nvPicPr>
            <p:cNvPr id="7" name="Image 7"/>
            <p:cNvPicPr>
              <a:picLocks noChangeAspect="1"/>
            </p:cNvPicPr>
            <p:nvPr/>
          </p:nvPicPr>
          <p:blipFill>
            <a:blip r:embed="rId4"/>
            <a:stretch>
              <a:fillRect/>
            </a:stretch>
          </p:blipFill>
          <p:spPr>
            <a:xfrm>
              <a:off x="1076725" y="1009650"/>
              <a:ext cx="10038550" cy="4762500"/>
            </a:xfrm>
            <a:prstGeom prst="rect">
              <a:avLst/>
            </a:prstGeom>
          </p:spPr>
        </p:pic>
        <p:sp>
          <p:nvSpPr>
            <p:cNvPr id="8" name="Rectangle 8"/>
            <p:cNvSpPr/>
            <p:nvPr/>
          </p:nvSpPr>
          <p:spPr>
            <a:xfrm>
              <a:off x="666750" y="5829300"/>
              <a:ext cx="10858500" cy="361950"/>
            </a:xfrm>
            <a:prstGeom prst="roundRect">
              <a:avLst>
                <a:gd name="adj" fmla="val 26316"/>
              </a:avLst>
            </a:prstGeom>
            <a:solidFill>
              <a:schemeClr val="lt1"/>
            </a:solidFill>
            <a:ln>
              <a:noFill/>
            </a:ln>
          </p:spPr>
          <p:txBody>
            <a:bodyPr/>
            <a:lstStyle/>
            <a:p>
              <a:endParaRPr lang="en-US"/>
            </a:p>
          </p:txBody>
        </p:sp>
        <p:sp>
          <p:nvSpPr>
            <p:cNvPr id="9" name="TextBox 9"/>
            <p:cNvSpPr txBox="1"/>
            <p:nvPr/>
          </p:nvSpPr>
          <p:spPr>
            <a:xfrm>
              <a:off x="850773" y="5929789"/>
              <a:ext cx="739402"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KẾT QUẢ</a:t>
              </a:r>
            </a:p>
          </p:txBody>
        </p:sp>
        <p:sp>
          <p:nvSpPr>
            <p:cNvPr id="10" name="TextBox 10"/>
            <p:cNvSpPr txBox="1"/>
            <p:nvPr/>
          </p:nvSpPr>
          <p:spPr>
            <a:xfrm>
              <a:off x="1803273" y="5929789"/>
              <a:ext cx="6860049"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Chuẩn hóa dữ liệu đầu vào, thao tác tạo và quản lý test case trong cùng một flow.</a:t>
              </a:r>
            </a:p>
          </p:txBody>
        </p:sp>
      </p:grpSp>
      <p:sp>
        <p:nvSpPr>
          <p:cNvPr id="12" name="TextBox 12"/>
          <p:cNvSpPr txBox="1"/>
          <p:nvPr/>
        </p:nvSpPr>
        <p:spPr>
          <a:xfrm>
            <a:off x="11141640" y="6630352"/>
            <a:ext cx="484194" cy="205359"/>
          </a:xfrm>
          <a:prstGeom prst="rect">
            <a:avLst/>
          </a:prstGeom>
          <a:noFill/>
          <a:ln>
            <a:noFill/>
          </a:ln>
        </p:spPr>
        <p:txBody>
          <a:bodyPr wrap="none" lIns="0" tIns="0" rIns="0" bIns="0" anchor="t" anchorCtr="0">
            <a:spAutoFit/>
          </a:bodyPr>
          <a:lstStyle/>
          <a:p>
            <a:pPr algn="r"/>
            <a:r>
              <a:rPr lang="en-US" sz="1050" dirty="0">
                <a:solidFill>
                  <a:srgbClr val="66706A"/>
                </a:solidFill>
                <a:latin typeface="+mn-lt"/>
                <a:ea typeface="+mn-ea"/>
                <a:cs typeface="+mn-cs"/>
              </a:rPr>
              <a:t>07 / 23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3"/>
          <a:stretch>
            <a:fillRect/>
          </a:stretch>
        </p:blipFill>
        <p:spPr>
          <a:xfrm>
            <a:off x="476250" y="228600"/>
            <a:ext cx="1238250" cy="361950"/>
          </a:xfrm>
          <a:prstGeom prst="rect">
            <a:avLst/>
          </a:prstGeom>
        </p:spPr>
      </p:pic>
      <p:sp>
        <p:nvSpPr>
          <p:cNvPr id="3" name="TextBox 3"/>
          <p:cNvSpPr txBox="1"/>
          <p:nvPr/>
        </p:nvSpPr>
        <p:spPr>
          <a:xfrm>
            <a:off x="2083308" y="331470"/>
            <a:ext cx="5430460" cy="469392"/>
          </a:xfrm>
          <a:prstGeom prst="rect">
            <a:avLst/>
          </a:prstGeom>
          <a:noFill/>
          <a:ln>
            <a:noFill/>
          </a:ln>
        </p:spPr>
        <p:txBody>
          <a:bodyPr wrap="none" lIns="0" tIns="0" rIns="0" bIns="0" anchor="t" anchorCtr="0">
            <a:spAutoFit/>
          </a:bodyPr>
          <a:lstStyle/>
          <a:p>
            <a:pPr algn="l"/>
            <a:r>
              <a:rPr lang="en-US" sz="2400" b="1" dirty="0">
                <a:solidFill>
                  <a:schemeClr val="accent1"/>
                </a:solidFill>
                <a:latin typeface="+mn-lt"/>
                <a:ea typeface="+mn-ea"/>
                <a:cs typeface="+mn-cs"/>
              </a:rPr>
              <a:t>KNX Benchmark — Báo cáo kết quả</a:t>
            </a:r>
          </a:p>
        </p:txBody>
      </p:sp>
      <p:sp>
        <p:nvSpPr>
          <p:cNvPr id="4" name="Rectangle 4"/>
          <p:cNvSpPr/>
          <p:nvPr/>
        </p:nvSpPr>
        <p:spPr>
          <a:xfrm>
            <a:off x="9810750" y="247650"/>
            <a:ext cx="1809750" cy="361950"/>
          </a:xfrm>
          <a:prstGeom prst="roundRect">
            <a:avLst>
              <a:gd name="adj" fmla="val 50000"/>
            </a:avLst>
          </a:prstGeom>
          <a:solidFill>
            <a:srgbClr val="EAF6F0"/>
          </a:solidFill>
          <a:ln>
            <a:noFill/>
          </a:ln>
        </p:spPr>
        <p:txBody>
          <a:bodyPr/>
          <a:lstStyle/>
          <a:p>
            <a:endParaRPr lang="en-US"/>
          </a:p>
        </p:txBody>
      </p:sp>
      <p:sp>
        <p:nvSpPr>
          <p:cNvPr id="5" name="TextBox 5"/>
          <p:cNvSpPr txBox="1"/>
          <p:nvPr/>
        </p:nvSpPr>
        <p:spPr>
          <a:xfrm>
            <a:off x="9965540" y="364331"/>
            <a:ext cx="1500171" cy="220028"/>
          </a:xfrm>
          <a:prstGeom prst="rect">
            <a:avLst/>
          </a:prstGeom>
          <a:noFill/>
          <a:ln>
            <a:noFill/>
          </a:ln>
        </p:spPr>
        <p:txBody>
          <a:bodyPr wrap="none" lIns="0" tIns="0" rIns="0" bIns="0" anchor="t" anchorCtr="0">
            <a:spAutoFit/>
          </a:bodyPr>
          <a:lstStyle/>
          <a:p>
            <a:pPr algn="ctr"/>
            <a:r>
              <a:rPr lang="en-US" sz="1120" b="1" dirty="0">
                <a:solidFill>
                  <a:schemeClr val="accent1"/>
                </a:solidFill>
                <a:latin typeface="+mn-lt"/>
                <a:ea typeface="+mn-ea"/>
                <a:cs typeface="+mn-cs"/>
              </a:rPr>
              <a:t>BẰNG CHỨNG 03 / 03</a:t>
            </a:r>
          </a:p>
        </p:txBody>
      </p:sp>
      <p:grpSp>
        <p:nvGrpSpPr>
          <p:cNvPr id="11" name="Group 11"/>
          <p:cNvGrpSpPr/>
          <p:nvPr/>
        </p:nvGrpSpPr>
        <p:grpSpPr>
          <a:xfrm>
            <a:off x="533400" y="876300"/>
            <a:ext cx="11125200" cy="5429250"/>
            <a:chOff x="533400" y="876300"/>
            <a:chExt cx="11125200" cy="5429250"/>
          </a:xfrm>
        </p:grpSpPr>
        <p:sp>
          <p:nvSpPr>
            <p:cNvPr id="6" name="Rectangle 6"/>
            <p:cNvSpPr/>
            <p:nvPr/>
          </p:nvSpPr>
          <p:spPr>
            <a:xfrm>
              <a:off x="533400" y="876300"/>
              <a:ext cx="11125200" cy="5429250"/>
            </a:xfrm>
            <a:prstGeom prst="roundRect">
              <a:avLst>
                <a:gd name="adj" fmla="val 3158"/>
              </a:avLst>
            </a:prstGeom>
            <a:solidFill>
              <a:schemeClr val="lt2"/>
            </a:solidFill>
            <a:ln w="19050">
              <a:solidFill>
                <a:srgbClr val="B8D8C7"/>
              </a:solidFill>
            </a:ln>
          </p:spPr>
          <p:txBody>
            <a:bodyPr/>
            <a:lstStyle/>
            <a:p>
              <a:endParaRPr lang="en-US"/>
            </a:p>
          </p:txBody>
        </p:sp>
        <p:pic>
          <p:nvPicPr>
            <p:cNvPr id="7" name="Image 7"/>
            <p:cNvPicPr>
              <a:picLocks noChangeAspect="1"/>
            </p:cNvPicPr>
            <p:nvPr/>
          </p:nvPicPr>
          <p:blipFill>
            <a:blip r:embed="rId4"/>
            <a:stretch>
              <a:fillRect/>
            </a:stretch>
          </p:blipFill>
          <p:spPr>
            <a:xfrm>
              <a:off x="1020811" y="1009650"/>
              <a:ext cx="10150379" cy="4762500"/>
            </a:xfrm>
            <a:prstGeom prst="rect">
              <a:avLst/>
            </a:prstGeom>
          </p:spPr>
        </p:pic>
        <p:sp>
          <p:nvSpPr>
            <p:cNvPr id="8" name="Rectangle 8"/>
            <p:cNvSpPr/>
            <p:nvPr/>
          </p:nvSpPr>
          <p:spPr>
            <a:xfrm>
              <a:off x="666750" y="5829300"/>
              <a:ext cx="10858500" cy="361950"/>
            </a:xfrm>
            <a:prstGeom prst="roundRect">
              <a:avLst>
                <a:gd name="adj" fmla="val 26316"/>
              </a:avLst>
            </a:prstGeom>
            <a:solidFill>
              <a:schemeClr val="lt1"/>
            </a:solidFill>
            <a:ln>
              <a:noFill/>
            </a:ln>
          </p:spPr>
          <p:txBody>
            <a:bodyPr/>
            <a:lstStyle/>
            <a:p>
              <a:endParaRPr lang="en-US"/>
            </a:p>
          </p:txBody>
        </p:sp>
        <p:sp>
          <p:nvSpPr>
            <p:cNvPr id="9" name="TextBox 9"/>
            <p:cNvSpPr txBox="1"/>
            <p:nvPr/>
          </p:nvSpPr>
          <p:spPr>
            <a:xfrm>
              <a:off x="850773" y="5929789"/>
              <a:ext cx="596024"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ĐẦU RA</a:t>
              </a:r>
            </a:p>
          </p:txBody>
        </p:sp>
        <p:sp>
          <p:nvSpPr>
            <p:cNvPr id="10" name="TextBox 10"/>
            <p:cNvSpPr txBox="1"/>
            <p:nvPr/>
          </p:nvSpPr>
          <p:spPr>
            <a:xfrm>
              <a:off x="1660398" y="5929789"/>
              <a:ext cx="6291398"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Tổng hợp trạng thái, kết quả pass/fail và bằng chứng kiểm thử để truy vết.</a:t>
              </a:r>
            </a:p>
          </p:txBody>
        </p:sp>
      </p:grpSp>
      <p:sp>
        <p:nvSpPr>
          <p:cNvPr id="12" name="TextBox 12"/>
          <p:cNvSpPr txBox="1"/>
          <p:nvPr/>
        </p:nvSpPr>
        <p:spPr>
          <a:xfrm>
            <a:off x="11141640" y="6630352"/>
            <a:ext cx="484194" cy="205359"/>
          </a:xfrm>
          <a:prstGeom prst="rect">
            <a:avLst/>
          </a:prstGeom>
          <a:noFill/>
          <a:ln>
            <a:noFill/>
          </a:ln>
        </p:spPr>
        <p:txBody>
          <a:bodyPr wrap="none" lIns="0" tIns="0" rIns="0" bIns="0" anchor="t" anchorCtr="0">
            <a:spAutoFit/>
          </a:bodyPr>
          <a:lstStyle/>
          <a:p>
            <a:pPr algn="r"/>
            <a:r>
              <a:rPr lang="en-US" sz="1050" dirty="0">
                <a:solidFill>
                  <a:srgbClr val="66706A"/>
                </a:solidFill>
                <a:latin typeface="+mn-lt"/>
                <a:ea typeface="+mn-ea"/>
                <a:cs typeface="+mn-cs"/>
              </a:rPr>
              <a:t>08 / 23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3"/>
          <a:stretch>
            <a:fillRect/>
          </a:stretch>
        </p:blipFill>
        <p:spPr>
          <a:xfrm>
            <a:off x="486276" y="266700"/>
            <a:ext cx="1313447" cy="381000"/>
          </a:xfrm>
          <a:prstGeom prst="rect">
            <a:avLst/>
          </a:prstGeom>
        </p:spPr>
      </p:pic>
      <p:sp>
        <p:nvSpPr>
          <p:cNvPr id="3" name="TextBox 3"/>
          <p:cNvSpPr txBox="1"/>
          <p:nvPr/>
        </p:nvSpPr>
        <p:spPr>
          <a:xfrm>
            <a:off x="2462784" y="356235"/>
            <a:ext cx="4246259" cy="528066"/>
          </a:xfrm>
          <a:prstGeom prst="rect">
            <a:avLst/>
          </a:prstGeom>
          <a:noFill/>
          <a:ln>
            <a:noFill/>
          </a:ln>
        </p:spPr>
        <p:txBody>
          <a:bodyPr wrap="none" lIns="0" tIns="0" rIns="0" bIns="0" anchor="t" anchorCtr="0">
            <a:spAutoFit/>
          </a:bodyPr>
          <a:lstStyle/>
          <a:p>
            <a:pPr algn="l"/>
            <a:r>
              <a:rPr lang="en-US" sz="2700" b="1" dirty="0">
                <a:solidFill>
                  <a:schemeClr val="accent1"/>
                </a:solidFill>
                <a:latin typeface="+mn-lt"/>
                <a:ea typeface="+mn-ea"/>
                <a:cs typeface="+mn-cs"/>
              </a:rPr>
              <a:t>KNX: Năng lực &amp; bài học</a:t>
            </a:r>
          </a:p>
        </p:txBody>
      </p:sp>
      <p:sp>
        <p:nvSpPr>
          <p:cNvPr id="4" name="Rectangle 4"/>
          <p:cNvSpPr/>
          <p:nvPr/>
        </p:nvSpPr>
        <p:spPr>
          <a:xfrm>
            <a:off x="9239250" y="285750"/>
            <a:ext cx="2381250" cy="400050"/>
          </a:xfrm>
          <a:prstGeom prst="roundRect">
            <a:avLst>
              <a:gd name="adj" fmla="val 50000"/>
            </a:avLst>
          </a:prstGeom>
          <a:solidFill>
            <a:srgbClr val="EAF6F0"/>
          </a:solidFill>
          <a:ln>
            <a:noFill/>
          </a:ln>
        </p:spPr>
        <p:txBody>
          <a:bodyPr/>
          <a:lstStyle/>
          <a:p>
            <a:endParaRPr lang="en-US"/>
          </a:p>
        </p:txBody>
      </p:sp>
      <p:sp>
        <p:nvSpPr>
          <p:cNvPr id="5" name="TextBox 5"/>
          <p:cNvSpPr txBox="1"/>
          <p:nvPr/>
        </p:nvSpPr>
        <p:spPr>
          <a:xfrm>
            <a:off x="9627309" y="405289"/>
            <a:ext cx="1605132" cy="249364"/>
          </a:xfrm>
          <a:prstGeom prst="rect">
            <a:avLst/>
          </a:prstGeom>
          <a:noFill/>
          <a:ln>
            <a:noFill/>
          </a:ln>
        </p:spPr>
        <p:txBody>
          <a:bodyPr wrap="none" lIns="0" tIns="0" rIns="0" bIns="0" anchor="t" anchorCtr="0">
            <a:spAutoFit/>
          </a:bodyPr>
          <a:lstStyle/>
          <a:p>
            <a:pPr algn="ctr"/>
            <a:r>
              <a:rPr lang="en-US" sz="1280" b="1" dirty="0">
                <a:solidFill>
                  <a:schemeClr val="accent1"/>
                </a:solidFill>
                <a:latin typeface="+mn-lt"/>
                <a:ea typeface="+mn-ea"/>
                <a:cs typeface="+mn-cs"/>
              </a:rPr>
              <a:t>20/03–22/07/2026</a:t>
            </a:r>
          </a:p>
        </p:txBody>
      </p:sp>
      <p:grpSp>
        <p:nvGrpSpPr>
          <p:cNvPr id="30" name="Group 30"/>
          <p:cNvGrpSpPr/>
          <p:nvPr/>
        </p:nvGrpSpPr>
        <p:grpSpPr>
          <a:xfrm>
            <a:off x="533400" y="1066800"/>
            <a:ext cx="6896100" cy="4343400"/>
            <a:chOff x="533400" y="1066800"/>
            <a:chExt cx="6896100" cy="4343400"/>
          </a:xfrm>
        </p:grpSpPr>
        <p:grpSp>
          <p:nvGrpSpPr>
            <p:cNvPr id="11" name="Group 11"/>
            <p:cNvGrpSpPr/>
            <p:nvPr/>
          </p:nvGrpSpPr>
          <p:grpSpPr>
            <a:xfrm>
              <a:off x="533400" y="1066800"/>
              <a:ext cx="3333750" cy="2057400"/>
              <a:chOff x="533400" y="1066800"/>
              <a:chExt cx="3333750" cy="2057400"/>
            </a:xfrm>
          </p:grpSpPr>
          <p:sp>
            <p:nvSpPr>
              <p:cNvPr id="6" name="Rectangle 6"/>
              <p:cNvSpPr/>
              <p:nvPr/>
            </p:nvSpPr>
            <p:spPr>
              <a:xfrm>
                <a:off x="533400" y="1066800"/>
                <a:ext cx="3333750" cy="2057400"/>
              </a:xfrm>
              <a:prstGeom prst="roundRect">
                <a:avLst>
                  <a:gd name="adj" fmla="val 7407"/>
                </a:avLst>
              </a:prstGeom>
              <a:solidFill>
                <a:schemeClr val="lt2"/>
              </a:solidFill>
              <a:ln>
                <a:noFill/>
              </a:ln>
            </p:spPr>
            <p:txBody>
              <a:bodyPr/>
              <a:lstStyle/>
              <a:p>
                <a:endParaRPr lang="en-US"/>
              </a:p>
            </p:txBody>
          </p:sp>
          <p:sp>
            <p:nvSpPr>
              <p:cNvPr id="7" name="TextBox 7"/>
              <p:cNvSpPr txBox="1"/>
              <p:nvPr/>
            </p:nvSpPr>
            <p:spPr>
              <a:xfrm>
                <a:off x="774192" y="1292542"/>
                <a:ext cx="739567" cy="264033"/>
              </a:xfrm>
              <a:prstGeom prst="rect">
                <a:avLst/>
              </a:prstGeom>
              <a:noFill/>
              <a:ln>
                <a:noFill/>
              </a:ln>
            </p:spPr>
            <p:txBody>
              <a:bodyPr wrap="none" lIns="0" tIns="0" rIns="0" bIns="0" anchor="t" anchorCtr="0">
                <a:spAutoFit/>
              </a:bodyPr>
              <a:lstStyle/>
              <a:p>
                <a:pPr algn="l"/>
                <a:r>
                  <a:rPr lang="en-US" sz="1350" b="1" dirty="0">
                    <a:solidFill>
                      <a:schemeClr val="accent1"/>
                    </a:solidFill>
                    <a:latin typeface="+mn-lt"/>
                    <a:ea typeface="+mn-ea"/>
                    <a:cs typeface="+mn-cs"/>
                  </a:rPr>
                  <a:t>KỸ NĂNG</a:t>
                </a:r>
              </a:p>
            </p:txBody>
          </p:sp>
          <p:sp>
            <p:nvSpPr>
              <p:cNvPr id="8" name="TextBox 8"/>
              <p:cNvSpPr txBox="1"/>
              <p:nvPr/>
            </p:nvSpPr>
            <p:spPr>
              <a:xfrm>
                <a:off x="774573" y="1672114"/>
                <a:ext cx="2263760"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Firmware · ETS · .knxprod</a:t>
                </a:r>
              </a:p>
            </p:txBody>
          </p:sp>
          <p:sp>
            <p:nvSpPr>
              <p:cNvPr id="9" name="TextBox 9"/>
              <p:cNvSpPr txBox="1"/>
              <p:nvPr/>
            </p:nvSpPr>
            <p:spPr>
              <a:xfrm>
                <a:off x="774573" y="1957864"/>
                <a:ext cx="1799603"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Debug hệ thống và Jig</a:t>
                </a:r>
              </a:p>
            </p:txBody>
          </p:sp>
          <p:sp>
            <p:nvSpPr>
              <p:cNvPr id="10" name="TextBox 10"/>
              <p:cNvSpPr txBox="1"/>
              <p:nvPr/>
            </p:nvSpPr>
            <p:spPr>
              <a:xfrm>
                <a:off x="774573" y="2243614"/>
                <a:ext cx="1810982"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Viết tài liệu &amp; đào tạo</a:t>
                </a:r>
              </a:p>
            </p:txBody>
          </p:sp>
        </p:grpSp>
        <p:grpSp>
          <p:nvGrpSpPr>
            <p:cNvPr id="17" name="Group 17"/>
            <p:cNvGrpSpPr/>
            <p:nvPr/>
          </p:nvGrpSpPr>
          <p:grpSpPr>
            <a:xfrm>
              <a:off x="4095750" y="1066800"/>
              <a:ext cx="3333750" cy="2057400"/>
              <a:chOff x="4095750" y="1066800"/>
              <a:chExt cx="3333750" cy="2057400"/>
            </a:xfrm>
          </p:grpSpPr>
          <p:sp>
            <p:nvSpPr>
              <p:cNvPr id="12" name="Rectangle 12"/>
              <p:cNvSpPr/>
              <p:nvPr/>
            </p:nvSpPr>
            <p:spPr>
              <a:xfrm>
                <a:off x="4095750" y="1066800"/>
                <a:ext cx="3333750" cy="2057400"/>
              </a:xfrm>
              <a:prstGeom prst="roundRect">
                <a:avLst>
                  <a:gd name="adj" fmla="val 7407"/>
                </a:avLst>
              </a:prstGeom>
              <a:solidFill>
                <a:srgbClr val="EAF6F0"/>
              </a:solidFill>
              <a:ln>
                <a:noFill/>
              </a:ln>
            </p:spPr>
            <p:txBody>
              <a:bodyPr/>
              <a:lstStyle/>
              <a:p>
                <a:endParaRPr lang="en-US"/>
              </a:p>
            </p:txBody>
          </p:sp>
          <p:sp>
            <p:nvSpPr>
              <p:cNvPr id="13" name="TextBox 13"/>
              <p:cNvSpPr txBox="1"/>
              <p:nvPr/>
            </p:nvSpPr>
            <p:spPr>
              <a:xfrm>
                <a:off x="4336542" y="1292542"/>
                <a:ext cx="628673" cy="264033"/>
              </a:xfrm>
              <a:prstGeom prst="rect">
                <a:avLst/>
              </a:prstGeom>
              <a:noFill/>
              <a:ln>
                <a:noFill/>
              </a:ln>
            </p:spPr>
            <p:txBody>
              <a:bodyPr wrap="none" lIns="0" tIns="0" rIns="0" bIns="0" anchor="t" anchorCtr="0">
                <a:spAutoFit/>
              </a:bodyPr>
              <a:lstStyle/>
              <a:p>
                <a:pPr algn="l"/>
                <a:r>
                  <a:rPr lang="en-US" sz="1350" b="1" dirty="0">
                    <a:solidFill>
                      <a:schemeClr val="accent1"/>
                    </a:solidFill>
                    <a:latin typeface="+mn-lt"/>
                    <a:ea typeface="+mn-ea"/>
                    <a:cs typeface="+mn-cs"/>
                  </a:rPr>
                  <a:t>TƯ DUY</a:t>
                </a:r>
              </a:p>
            </p:txBody>
          </p:sp>
          <p:sp>
            <p:nvSpPr>
              <p:cNvPr id="14" name="TextBox 14"/>
              <p:cNvSpPr txBox="1"/>
              <p:nvPr/>
            </p:nvSpPr>
            <p:spPr>
              <a:xfrm>
                <a:off x="4336923" y="1672114"/>
                <a:ext cx="2896856"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Nhìn end-to-end, không tách lỗi lẻ</a:t>
                </a:r>
              </a:p>
            </p:txBody>
          </p:sp>
          <p:sp>
            <p:nvSpPr>
              <p:cNvPr id="15" name="TextBox 15"/>
              <p:cNvSpPr txBox="1"/>
              <p:nvPr/>
            </p:nvSpPr>
            <p:spPr>
              <a:xfrm>
                <a:off x="4336923" y="1957864"/>
                <a:ext cx="2224513"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Ưu tiên bằng chứng đo được</a:t>
                </a:r>
              </a:p>
            </p:txBody>
          </p:sp>
          <p:sp>
            <p:nvSpPr>
              <p:cNvPr id="16" name="TextBox 16"/>
              <p:cNvSpPr txBox="1"/>
              <p:nvPr/>
            </p:nvSpPr>
            <p:spPr>
              <a:xfrm>
                <a:off x="4336923" y="2243614"/>
                <a:ext cx="2465578"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Biến tri thức thành quy trình</a:t>
                </a:r>
              </a:p>
            </p:txBody>
          </p:sp>
        </p:grpSp>
        <p:grpSp>
          <p:nvGrpSpPr>
            <p:cNvPr id="23" name="Group 23"/>
            <p:cNvGrpSpPr/>
            <p:nvPr/>
          </p:nvGrpSpPr>
          <p:grpSpPr>
            <a:xfrm>
              <a:off x="533400" y="3352800"/>
              <a:ext cx="3333750" cy="2057400"/>
              <a:chOff x="533400" y="3352800"/>
              <a:chExt cx="3333750" cy="2057400"/>
            </a:xfrm>
          </p:grpSpPr>
          <p:sp>
            <p:nvSpPr>
              <p:cNvPr id="18" name="Rectangle 18"/>
              <p:cNvSpPr/>
              <p:nvPr/>
            </p:nvSpPr>
            <p:spPr>
              <a:xfrm>
                <a:off x="533400" y="3352800"/>
                <a:ext cx="3333750" cy="2057400"/>
              </a:xfrm>
              <a:prstGeom prst="roundRect">
                <a:avLst>
                  <a:gd name="adj" fmla="val 7407"/>
                </a:avLst>
              </a:prstGeom>
              <a:solidFill>
                <a:srgbClr val="EEF3FF"/>
              </a:solidFill>
              <a:ln>
                <a:noFill/>
              </a:ln>
            </p:spPr>
            <p:txBody>
              <a:bodyPr/>
              <a:lstStyle/>
              <a:p>
                <a:endParaRPr lang="en-US"/>
              </a:p>
            </p:txBody>
          </p:sp>
          <p:sp>
            <p:nvSpPr>
              <p:cNvPr id="19" name="TextBox 19"/>
              <p:cNvSpPr txBox="1"/>
              <p:nvPr/>
            </p:nvSpPr>
            <p:spPr>
              <a:xfrm>
                <a:off x="774192" y="3578542"/>
                <a:ext cx="689160"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BÀI HỌC</a:t>
                </a:r>
              </a:p>
            </p:txBody>
          </p:sp>
          <p:sp>
            <p:nvSpPr>
              <p:cNvPr id="20" name="TextBox 20"/>
              <p:cNvSpPr txBox="1"/>
              <p:nvPr/>
            </p:nvSpPr>
            <p:spPr>
              <a:xfrm>
                <a:off x="774573" y="3958114"/>
                <a:ext cx="1871493"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Chuẩn hóa test từ sớm</a:t>
                </a:r>
              </a:p>
            </p:txBody>
          </p:sp>
          <p:sp>
            <p:nvSpPr>
              <p:cNvPr id="21" name="TextBox 21"/>
              <p:cNvSpPr txBox="1"/>
              <p:nvPr/>
            </p:nvSpPr>
            <p:spPr>
              <a:xfrm>
                <a:off x="774573" y="4243864"/>
                <a:ext cx="2500122"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Giữ log, benchmark, checklist</a:t>
                </a:r>
              </a:p>
            </p:txBody>
          </p:sp>
          <p:sp>
            <p:nvSpPr>
              <p:cNvPr id="22" name="TextBox 22"/>
              <p:cNvSpPr txBox="1"/>
              <p:nvPr/>
            </p:nvSpPr>
            <p:spPr>
              <a:xfrm>
                <a:off x="774573" y="4529614"/>
                <a:ext cx="2405371"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Handoff đủ context kỹ thuật</a:t>
                </a:r>
              </a:p>
            </p:txBody>
          </p:sp>
        </p:grpSp>
        <p:grpSp>
          <p:nvGrpSpPr>
            <p:cNvPr id="29" name="Group 29"/>
            <p:cNvGrpSpPr/>
            <p:nvPr/>
          </p:nvGrpSpPr>
          <p:grpSpPr>
            <a:xfrm>
              <a:off x="4095750" y="3352800"/>
              <a:ext cx="3333750" cy="2057400"/>
              <a:chOff x="4095750" y="3352800"/>
              <a:chExt cx="3333750" cy="2057400"/>
            </a:xfrm>
          </p:grpSpPr>
          <p:sp>
            <p:nvSpPr>
              <p:cNvPr id="24" name="Rectangle 24"/>
              <p:cNvSpPr/>
              <p:nvPr/>
            </p:nvSpPr>
            <p:spPr>
              <a:xfrm>
                <a:off x="4095750" y="3352800"/>
                <a:ext cx="3333750" cy="2057400"/>
              </a:xfrm>
              <a:prstGeom prst="roundRect">
                <a:avLst>
                  <a:gd name="adj" fmla="val 7407"/>
                </a:avLst>
              </a:prstGeom>
              <a:solidFill>
                <a:srgbClr val="FFF7E8"/>
              </a:solidFill>
              <a:ln>
                <a:noFill/>
              </a:ln>
            </p:spPr>
            <p:txBody>
              <a:bodyPr/>
              <a:lstStyle/>
              <a:p>
                <a:endParaRPr lang="en-US"/>
              </a:p>
            </p:txBody>
          </p:sp>
          <p:sp>
            <p:nvSpPr>
              <p:cNvPr id="25" name="TextBox 25"/>
              <p:cNvSpPr txBox="1"/>
              <p:nvPr/>
            </p:nvSpPr>
            <p:spPr>
              <a:xfrm>
                <a:off x="4336542" y="3578542"/>
                <a:ext cx="2090456" cy="264033"/>
              </a:xfrm>
              <a:prstGeom prst="rect">
                <a:avLst/>
              </a:prstGeom>
              <a:noFill/>
              <a:ln>
                <a:noFill/>
              </a:ln>
            </p:spPr>
            <p:txBody>
              <a:bodyPr wrap="none" lIns="0" tIns="0" rIns="0" bIns="0" anchor="t" anchorCtr="0">
                <a:spAutoFit/>
              </a:bodyPr>
              <a:lstStyle/>
              <a:p>
                <a:pPr algn="l"/>
                <a:r>
                  <a:rPr lang="en-US" sz="1350" b="1" dirty="0">
                    <a:solidFill>
                      <a:srgbClr val="B56A00"/>
                    </a:solidFill>
                    <a:latin typeface="+mn-lt"/>
                    <a:ea typeface="+mn-ea"/>
                    <a:cs typeface="+mn-cs"/>
                  </a:rPr>
                  <a:t>KHÓ KHĂN &amp; CÁCH XỬ LÝ</a:t>
                </a:r>
              </a:p>
            </p:txBody>
          </p:sp>
          <p:sp>
            <p:nvSpPr>
              <p:cNvPr id="26" name="TextBox 26"/>
              <p:cNvSpPr txBox="1"/>
              <p:nvPr/>
            </p:nvSpPr>
            <p:spPr>
              <a:xfrm>
                <a:off x="4336923" y="3958114"/>
                <a:ext cx="2761193"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GA delay/miss · Secure · Coupler</a:t>
                </a:r>
              </a:p>
            </p:txBody>
          </p:sp>
          <p:sp>
            <p:nvSpPr>
              <p:cNvPr id="27" name="TextBox 27"/>
              <p:cNvSpPr txBox="1"/>
              <p:nvPr/>
            </p:nvSpPr>
            <p:spPr>
              <a:xfrm>
                <a:off x="4336923" y="4243864"/>
                <a:ext cx="1957937"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Tái hiện → đo → đối chiếu</a:t>
                </a:r>
              </a:p>
            </p:txBody>
          </p:sp>
          <p:sp>
            <p:nvSpPr>
              <p:cNvPr id="28" name="TextBox 28"/>
              <p:cNvSpPr txBox="1"/>
              <p:nvPr/>
            </p:nvSpPr>
            <p:spPr>
              <a:xfrm>
                <a:off x="4336923" y="4529614"/>
                <a:ext cx="2612145"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Xác nhận lại trên cấu hình thật</a:t>
                </a:r>
              </a:p>
            </p:txBody>
          </p:sp>
        </p:grpSp>
      </p:grpSp>
      <p:grpSp>
        <p:nvGrpSpPr>
          <p:cNvPr id="44" name="Group 44"/>
          <p:cNvGrpSpPr/>
          <p:nvPr/>
        </p:nvGrpSpPr>
        <p:grpSpPr>
          <a:xfrm>
            <a:off x="7658100" y="1066800"/>
            <a:ext cx="4000500" cy="4343400"/>
            <a:chOff x="7658100" y="1066800"/>
            <a:chExt cx="4000500" cy="4343400"/>
          </a:xfrm>
        </p:grpSpPr>
        <p:sp>
          <p:nvSpPr>
            <p:cNvPr id="31" name="Rectangle 31"/>
            <p:cNvSpPr/>
            <p:nvPr/>
          </p:nvSpPr>
          <p:spPr>
            <a:xfrm>
              <a:off x="7658100" y="1066800"/>
              <a:ext cx="4000500" cy="2571750"/>
            </a:xfrm>
            <a:prstGeom prst="roundRect">
              <a:avLst>
                <a:gd name="adj" fmla="val 5926"/>
              </a:avLst>
            </a:prstGeom>
            <a:solidFill>
              <a:schemeClr val="lt1"/>
            </a:solidFill>
            <a:ln w="19050">
              <a:solidFill>
                <a:srgbClr val="B8D8C7"/>
              </a:solidFill>
            </a:ln>
          </p:spPr>
          <p:txBody>
            <a:bodyPr/>
            <a:lstStyle/>
            <a:p>
              <a:endParaRPr lang="en-US"/>
            </a:p>
          </p:txBody>
        </p:sp>
        <p:sp>
          <p:nvSpPr>
            <p:cNvPr id="32" name="TextBox 32"/>
            <p:cNvSpPr txBox="1"/>
            <p:nvPr/>
          </p:nvSpPr>
          <p:spPr>
            <a:xfrm>
              <a:off x="7880985" y="1269206"/>
              <a:ext cx="1778961" cy="220028"/>
            </a:xfrm>
            <a:prstGeom prst="rect">
              <a:avLst/>
            </a:prstGeom>
            <a:noFill/>
            <a:ln>
              <a:noFill/>
            </a:ln>
          </p:spPr>
          <p:txBody>
            <a:bodyPr wrap="none" lIns="0" tIns="0" rIns="0" bIns="0" anchor="t" anchorCtr="0">
              <a:spAutoFit/>
            </a:bodyPr>
            <a:lstStyle/>
            <a:p>
              <a:pPr algn="l"/>
              <a:r>
                <a:rPr lang="en-US" sz="1120" b="1" spc="98" dirty="0">
                  <a:solidFill>
                    <a:srgbClr val="66706A"/>
                  </a:solidFill>
                  <a:latin typeface="+mn-lt"/>
                  <a:ea typeface="+mn-ea"/>
                  <a:cs typeface="+mn-cs"/>
                </a:rPr>
                <a:t>BẰNG CHỨNG THỰC TẾ</a:t>
              </a:r>
            </a:p>
          </p:txBody>
        </p:sp>
        <p:sp>
          <p:nvSpPr>
            <p:cNvPr id="33" name="Rectangle 33"/>
            <p:cNvSpPr/>
            <p:nvPr/>
          </p:nvSpPr>
          <p:spPr>
            <a:xfrm>
              <a:off x="7886700" y="1543050"/>
              <a:ext cx="3543300" cy="1695450"/>
            </a:xfrm>
            <a:prstGeom prst="roundRect">
              <a:avLst>
                <a:gd name="adj" fmla="val 4494"/>
              </a:avLst>
            </a:prstGeom>
            <a:solidFill>
              <a:schemeClr val="lt2"/>
            </a:solidFill>
            <a:ln>
              <a:noFill/>
            </a:ln>
          </p:spPr>
          <p:txBody>
            <a:bodyPr/>
            <a:lstStyle/>
            <a:p>
              <a:endParaRPr lang="en-US"/>
            </a:p>
          </p:txBody>
        </p:sp>
        <p:pic>
          <p:nvPicPr>
            <p:cNvPr id="34" name="Image 34"/>
            <p:cNvPicPr>
              <a:picLocks noChangeAspect="1"/>
            </p:cNvPicPr>
            <p:nvPr/>
          </p:nvPicPr>
          <p:blipFill>
            <a:blip r:embed="rId4"/>
            <a:stretch>
              <a:fillRect/>
            </a:stretch>
          </p:blipFill>
          <p:spPr>
            <a:xfrm>
              <a:off x="8048778" y="1543050"/>
              <a:ext cx="3219144" cy="1695450"/>
            </a:xfrm>
            <a:prstGeom prst="rect">
              <a:avLst/>
            </a:prstGeom>
          </p:spPr>
        </p:pic>
        <p:sp>
          <p:nvSpPr>
            <p:cNvPr id="35" name="TextBox 35"/>
            <p:cNvSpPr txBox="1"/>
            <p:nvPr/>
          </p:nvSpPr>
          <p:spPr>
            <a:xfrm>
              <a:off x="7880604" y="3347085"/>
              <a:ext cx="3114853" cy="234696"/>
            </a:xfrm>
            <a:prstGeom prst="rect">
              <a:avLst/>
            </a:prstGeom>
            <a:noFill/>
            <a:ln>
              <a:noFill/>
            </a:ln>
          </p:spPr>
          <p:txBody>
            <a:bodyPr wrap="none" lIns="0" tIns="0" rIns="0" bIns="0" anchor="t" anchorCtr="0">
              <a:spAutoFit/>
            </a:bodyPr>
            <a:lstStyle/>
            <a:p>
              <a:pPr algn="l"/>
              <a:r>
                <a:rPr lang="en-US" sz="1200" b="1" dirty="0">
                  <a:solidFill>
                    <a:schemeClr val="dk1"/>
                  </a:solidFill>
                  <a:latin typeface="+mn-lt"/>
                  <a:ea typeface="+mn-ea"/>
                  <a:cs typeface="+mn-cs"/>
                </a:rPr>
                <a:t>Tool nạp code KNX · giao diện vận hành</a:t>
              </a:r>
            </a:p>
          </p:txBody>
        </p:sp>
        <p:sp>
          <p:nvSpPr>
            <p:cNvPr id="36" name="Rectangle 36"/>
            <p:cNvSpPr/>
            <p:nvPr/>
          </p:nvSpPr>
          <p:spPr>
            <a:xfrm>
              <a:off x="7658100" y="3867150"/>
              <a:ext cx="4000500" cy="1543050"/>
            </a:xfrm>
            <a:prstGeom prst="roundRect">
              <a:avLst>
                <a:gd name="adj" fmla="val 9877"/>
              </a:avLst>
            </a:prstGeom>
            <a:solidFill>
              <a:schemeClr val="accent1"/>
            </a:solidFill>
            <a:ln>
              <a:noFill/>
            </a:ln>
          </p:spPr>
          <p:txBody>
            <a:bodyPr/>
            <a:lstStyle/>
            <a:p>
              <a:endParaRPr lang="en-US"/>
            </a:p>
          </p:txBody>
        </p:sp>
        <p:sp>
          <p:nvSpPr>
            <p:cNvPr id="37" name="TextBox 37"/>
            <p:cNvSpPr txBox="1"/>
            <p:nvPr/>
          </p:nvSpPr>
          <p:spPr>
            <a:xfrm>
              <a:off x="7880985" y="4060031"/>
              <a:ext cx="1717798" cy="220028"/>
            </a:xfrm>
            <a:prstGeom prst="rect">
              <a:avLst/>
            </a:prstGeom>
            <a:noFill/>
            <a:ln>
              <a:noFill/>
            </a:ln>
          </p:spPr>
          <p:txBody>
            <a:bodyPr wrap="none" lIns="0" tIns="0" rIns="0" bIns="0" anchor="t" anchorCtr="0">
              <a:spAutoFit/>
            </a:bodyPr>
            <a:lstStyle/>
            <a:p>
              <a:pPr algn="l"/>
              <a:r>
                <a:rPr lang="en-US" sz="1120" b="1" spc="90" dirty="0">
                  <a:solidFill>
                    <a:srgbClr val="FFFFFF"/>
                  </a:solidFill>
                  <a:latin typeface="+mn-lt"/>
                  <a:ea typeface="+mn-ea"/>
                  <a:cs typeface="+mn-cs"/>
                </a:rPr>
                <a:t>THÀNH TÍCH NỔI BẬT</a:t>
              </a:r>
            </a:p>
          </p:txBody>
        </p:sp>
        <p:sp>
          <p:nvSpPr>
            <p:cNvPr id="38" name="TextBox 38"/>
            <p:cNvSpPr txBox="1"/>
            <p:nvPr/>
          </p:nvSpPr>
          <p:spPr>
            <a:xfrm>
              <a:off x="7868412" y="4383405"/>
              <a:ext cx="596326" cy="704088"/>
            </a:xfrm>
            <a:prstGeom prst="rect">
              <a:avLst/>
            </a:prstGeom>
            <a:noFill/>
            <a:ln>
              <a:noFill/>
            </a:ln>
          </p:spPr>
          <p:txBody>
            <a:bodyPr wrap="none" lIns="0" tIns="0" rIns="0" bIns="0" anchor="t" anchorCtr="0">
              <a:spAutoFit/>
            </a:bodyPr>
            <a:lstStyle/>
            <a:p>
              <a:pPr algn="l"/>
              <a:r>
                <a:rPr lang="en-US" sz="3600" b="1" dirty="0">
                  <a:solidFill>
                    <a:srgbClr val="FFFFFF"/>
                  </a:solidFill>
                  <a:latin typeface="+mn-lt"/>
                  <a:ea typeface="+mn-ea"/>
                  <a:cs typeface="+mn-cs"/>
                </a:rPr>
                <a:t>91</a:t>
              </a:r>
            </a:p>
          </p:txBody>
        </p:sp>
        <p:sp>
          <p:nvSpPr>
            <p:cNvPr id="39" name="TextBox 39"/>
            <p:cNvSpPr txBox="1"/>
            <p:nvPr/>
          </p:nvSpPr>
          <p:spPr>
            <a:xfrm>
              <a:off x="8622411" y="4541996"/>
              <a:ext cx="964529" cy="278702"/>
            </a:xfrm>
            <a:prstGeom prst="rect">
              <a:avLst/>
            </a:prstGeom>
            <a:noFill/>
            <a:ln>
              <a:noFill/>
            </a:ln>
          </p:spPr>
          <p:txBody>
            <a:bodyPr wrap="none" lIns="0" tIns="0" rIns="0" bIns="0" anchor="t" anchorCtr="0">
              <a:spAutoFit/>
            </a:bodyPr>
            <a:lstStyle/>
            <a:p>
              <a:pPr algn="l"/>
              <a:r>
                <a:rPr lang="en-US" sz="1420" b="1" dirty="0">
                  <a:solidFill>
                    <a:srgbClr val="FFFFFF"/>
                  </a:solidFill>
                  <a:latin typeface="+mn-lt"/>
                  <a:ea typeface="+mn-ea"/>
                  <a:cs typeface="+mn-cs"/>
                </a:rPr>
                <a:t>task Done</a:t>
              </a:r>
            </a:p>
          </p:txBody>
        </p:sp>
        <p:sp>
          <p:nvSpPr>
            <p:cNvPr id="40" name="TextBox 40"/>
            <p:cNvSpPr txBox="1"/>
            <p:nvPr/>
          </p:nvSpPr>
          <p:spPr>
            <a:xfrm>
              <a:off x="8624316" y="4858702"/>
              <a:ext cx="1436989" cy="205359"/>
            </a:xfrm>
            <a:prstGeom prst="rect">
              <a:avLst/>
            </a:prstGeom>
            <a:noFill/>
            <a:ln>
              <a:noFill/>
            </a:ln>
          </p:spPr>
          <p:txBody>
            <a:bodyPr wrap="none" lIns="0" tIns="0" rIns="0" bIns="0" anchor="t" anchorCtr="0">
              <a:spAutoFit/>
            </a:bodyPr>
            <a:lstStyle/>
            <a:p>
              <a:pPr algn="l"/>
              <a:r>
                <a:rPr lang="en-US" sz="1050" dirty="0">
                  <a:solidFill>
                    <a:srgbClr val="DDF3E8"/>
                  </a:solidFill>
                  <a:latin typeface="+mn-lt"/>
                  <a:ea typeface="+mn-ea"/>
                  <a:cs typeface="+mn-cs"/>
                </a:rPr>
                <a:t>Tool · test · đào tạo</a:t>
              </a:r>
            </a:p>
          </p:txBody>
        </p:sp>
        <p:sp>
          <p:nvSpPr>
            <p:cNvPr id="41" name="Rectangle 41"/>
            <p:cNvSpPr/>
            <p:nvPr/>
          </p:nvSpPr>
          <p:spPr>
            <a:xfrm>
              <a:off x="10001250" y="4171950"/>
              <a:ext cx="1428750" cy="914400"/>
            </a:xfrm>
            <a:prstGeom prst="roundRect">
              <a:avLst>
                <a:gd name="adj" fmla="val 6250"/>
              </a:avLst>
            </a:prstGeom>
            <a:solidFill>
              <a:schemeClr val="lt1"/>
            </a:solidFill>
            <a:ln>
              <a:noFill/>
            </a:ln>
          </p:spPr>
          <p:txBody>
            <a:bodyPr/>
            <a:lstStyle/>
            <a:p>
              <a:endParaRPr lang="en-US"/>
            </a:p>
          </p:txBody>
        </p:sp>
        <p:pic>
          <p:nvPicPr>
            <p:cNvPr id="42" name="Image 42"/>
            <p:cNvPicPr>
              <a:picLocks noChangeAspect="1"/>
            </p:cNvPicPr>
            <p:nvPr/>
          </p:nvPicPr>
          <p:blipFill>
            <a:blip r:embed="rId5"/>
            <a:stretch>
              <a:fillRect/>
            </a:stretch>
          </p:blipFill>
          <p:spPr>
            <a:xfrm>
              <a:off x="10001250" y="4171950"/>
              <a:ext cx="1428750" cy="914400"/>
            </a:xfrm>
            <a:prstGeom prst="rect">
              <a:avLst/>
            </a:prstGeom>
          </p:spPr>
        </p:pic>
        <p:sp>
          <p:nvSpPr>
            <p:cNvPr id="43" name="TextBox 43"/>
            <p:cNvSpPr txBox="1"/>
            <p:nvPr/>
          </p:nvSpPr>
          <p:spPr>
            <a:xfrm>
              <a:off x="9995916" y="5153978"/>
              <a:ext cx="1394321" cy="205359"/>
            </a:xfrm>
            <a:prstGeom prst="rect">
              <a:avLst/>
            </a:prstGeom>
            <a:noFill/>
            <a:ln>
              <a:noFill/>
            </a:ln>
          </p:spPr>
          <p:txBody>
            <a:bodyPr wrap="none" lIns="0" tIns="0" rIns="0" bIns="0" anchor="t" anchorCtr="0">
              <a:spAutoFit/>
            </a:bodyPr>
            <a:lstStyle/>
            <a:p>
              <a:pPr algn="l"/>
              <a:r>
                <a:rPr lang="en-US" sz="1050" b="1" dirty="0">
                  <a:solidFill>
                    <a:srgbClr val="FFFFFF"/>
                  </a:solidFill>
                  <a:latin typeface="+mn-lt"/>
                  <a:ea typeface="+mn-ea"/>
                  <a:cs typeface="+mn-cs"/>
                </a:rPr>
                <a:t>KNX Basic · 91 điểm</a:t>
              </a:r>
            </a:p>
          </p:txBody>
        </p:sp>
      </p:grpSp>
      <p:sp>
        <p:nvSpPr>
          <p:cNvPr id="45" name="TextBox 45"/>
          <p:cNvSpPr txBox="1"/>
          <p:nvPr/>
        </p:nvSpPr>
        <p:spPr>
          <a:xfrm>
            <a:off x="11141640" y="6630352"/>
            <a:ext cx="484194" cy="205359"/>
          </a:xfrm>
          <a:prstGeom prst="rect">
            <a:avLst/>
          </a:prstGeom>
          <a:noFill/>
          <a:ln>
            <a:noFill/>
          </a:ln>
        </p:spPr>
        <p:txBody>
          <a:bodyPr wrap="none" lIns="0" tIns="0" rIns="0" bIns="0" anchor="t" anchorCtr="0">
            <a:spAutoFit/>
          </a:bodyPr>
          <a:lstStyle/>
          <a:p>
            <a:pPr algn="r"/>
            <a:r>
              <a:rPr lang="en-US" sz="1050" dirty="0">
                <a:solidFill>
                  <a:srgbClr val="66706A"/>
                </a:solidFill>
                <a:latin typeface="+mn-lt"/>
                <a:ea typeface="+mn-ea"/>
                <a:cs typeface="+mn-cs"/>
              </a:rPr>
              <a:t>09 / 23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3"/>
          <a:stretch>
            <a:fillRect/>
          </a:stretch>
        </p:blipFill>
        <p:spPr>
          <a:xfrm>
            <a:off x="476250" y="228600"/>
            <a:ext cx="1238250" cy="361950"/>
          </a:xfrm>
          <a:prstGeom prst="rect">
            <a:avLst/>
          </a:prstGeom>
        </p:spPr>
      </p:pic>
      <p:sp>
        <p:nvSpPr>
          <p:cNvPr id="3" name="TextBox 3"/>
          <p:cNvSpPr txBox="1"/>
          <p:nvPr/>
        </p:nvSpPr>
        <p:spPr>
          <a:xfrm>
            <a:off x="2083308" y="331470"/>
            <a:ext cx="3195889" cy="469392"/>
          </a:xfrm>
          <a:prstGeom prst="rect">
            <a:avLst/>
          </a:prstGeom>
          <a:noFill/>
          <a:ln>
            <a:noFill/>
          </a:ln>
        </p:spPr>
        <p:txBody>
          <a:bodyPr wrap="none" lIns="0" tIns="0" rIns="0" bIns="0" anchor="t" anchorCtr="0">
            <a:spAutoFit/>
          </a:bodyPr>
          <a:lstStyle/>
          <a:p>
            <a:pPr algn="l"/>
            <a:r>
              <a:rPr lang="en-US" sz="2400" b="1" dirty="0">
                <a:solidFill>
                  <a:schemeClr val="accent1"/>
                </a:solidFill>
                <a:latin typeface="+mn-lt"/>
                <a:ea typeface="+mn-ea"/>
                <a:cs typeface="+mn-cs"/>
              </a:rPr>
              <a:t>KNX — Tool nạp code</a:t>
            </a:r>
          </a:p>
        </p:txBody>
      </p:sp>
      <p:sp>
        <p:nvSpPr>
          <p:cNvPr id="4" name="Rectangle 4"/>
          <p:cNvSpPr/>
          <p:nvPr/>
        </p:nvSpPr>
        <p:spPr>
          <a:xfrm>
            <a:off x="9810750" y="247650"/>
            <a:ext cx="1809750" cy="361950"/>
          </a:xfrm>
          <a:prstGeom prst="roundRect">
            <a:avLst>
              <a:gd name="adj" fmla="val 50000"/>
            </a:avLst>
          </a:prstGeom>
          <a:solidFill>
            <a:srgbClr val="EAF6F0"/>
          </a:solidFill>
          <a:ln>
            <a:noFill/>
          </a:ln>
        </p:spPr>
        <p:txBody>
          <a:bodyPr/>
          <a:lstStyle/>
          <a:p>
            <a:endParaRPr lang="en-US"/>
          </a:p>
        </p:txBody>
      </p:sp>
      <p:sp>
        <p:nvSpPr>
          <p:cNvPr id="5" name="TextBox 5"/>
          <p:cNvSpPr txBox="1"/>
          <p:nvPr/>
        </p:nvSpPr>
        <p:spPr>
          <a:xfrm>
            <a:off x="10028267" y="364331"/>
            <a:ext cx="1374715" cy="220028"/>
          </a:xfrm>
          <a:prstGeom prst="rect">
            <a:avLst/>
          </a:prstGeom>
          <a:noFill/>
          <a:ln>
            <a:noFill/>
          </a:ln>
        </p:spPr>
        <p:txBody>
          <a:bodyPr wrap="none" lIns="0" tIns="0" rIns="0" bIns="0" anchor="t" anchorCtr="0">
            <a:spAutoFit/>
          </a:bodyPr>
          <a:lstStyle/>
          <a:p>
            <a:pPr algn="ctr"/>
            <a:r>
              <a:rPr lang="en-US" sz="1120" b="1" dirty="0">
                <a:solidFill>
                  <a:schemeClr val="accent1"/>
                </a:solidFill>
                <a:latin typeface="+mn-lt"/>
                <a:ea typeface="+mn-ea"/>
                <a:cs typeface="+mn-cs"/>
              </a:rPr>
              <a:t>BẰNG CHỨNG TOOL</a:t>
            </a:r>
          </a:p>
        </p:txBody>
      </p:sp>
      <p:grpSp>
        <p:nvGrpSpPr>
          <p:cNvPr id="11" name="Group 11"/>
          <p:cNvGrpSpPr/>
          <p:nvPr/>
        </p:nvGrpSpPr>
        <p:grpSpPr>
          <a:xfrm>
            <a:off x="533400" y="876300"/>
            <a:ext cx="11125200" cy="5429250"/>
            <a:chOff x="533400" y="876300"/>
            <a:chExt cx="11125200" cy="5429250"/>
          </a:xfrm>
        </p:grpSpPr>
        <p:sp>
          <p:nvSpPr>
            <p:cNvPr id="6" name="Rectangle 6"/>
            <p:cNvSpPr/>
            <p:nvPr/>
          </p:nvSpPr>
          <p:spPr>
            <a:xfrm>
              <a:off x="533400" y="876300"/>
              <a:ext cx="11125200" cy="5429250"/>
            </a:xfrm>
            <a:prstGeom prst="roundRect">
              <a:avLst>
                <a:gd name="adj" fmla="val 3158"/>
              </a:avLst>
            </a:prstGeom>
            <a:solidFill>
              <a:schemeClr val="lt2"/>
            </a:solidFill>
            <a:ln w="19050">
              <a:solidFill>
                <a:srgbClr val="B8D8C7"/>
              </a:solidFill>
            </a:ln>
          </p:spPr>
          <p:txBody>
            <a:bodyPr/>
            <a:lstStyle/>
            <a:p>
              <a:endParaRPr lang="en-US"/>
            </a:p>
          </p:txBody>
        </p:sp>
        <p:pic>
          <p:nvPicPr>
            <p:cNvPr id="7" name="Image 7"/>
            <p:cNvPicPr>
              <a:picLocks noChangeAspect="1"/>
            </p:cNvPicPr>
            <p:nvPr/>
          </p:nvPicPr>
          <p:blipFill>
            <a:blip r:embed="rId4"/>
            <a:stretch>
              <a:fillRect/>
            </a:stretch>
          </p:blipFill>
          <p:spPr>
            <a:xfrm>
              <a:off x="1574730" y="1009650"/>
              <a:ext cx="9042540" cy="4762500"/>
            </a:xfrm>
            <a:prstGeom prst="rect">
              <a:avLst/>
            </a:prstGeom>
          </p:spPr>
        </p:pic>
        <p:sp>
          <p:nvSpPr>
            <p:cNvPr id="8" name="Rectangle 8"/>
            <p:cNvSpPr/>
            <p:nvPr/>
          </p:nvSpPr>
          <p:spPr>
            <a:xfrm>
              <a:off x="666750" y="5829300"/>
              <a:ext cx="10858500" cy="361950"/>
            </a:xfrm>
            <a:prstGeom prst="roundRect">
              <a:avLst>
                <a:gd name="adj" fmla="val 26316"/>
              </a:avLst>
            </a:prstGeom>
            <a:solidFill>
              <a:schemeClr val="lt1"/>
            </a:solidFill>
            <a:ln>
              <a:noFill/>
            </a:ln>
          </p:spPr>
          <p:txBody>
            <a:bodyPr/>
            <a:lstStyle/>
            <a:p>
              <a:endParaRPr lang="en-US"/>
            </a:p>
          </p:txBody>
        </p:sp>
        <p:sp>
          <p:nvSpPr>
            <p:cNvPr id="9" name="TextBox 9"/>
            <p:cNvSpPr txBox="1"/>
            <p:nvPr/>
          </p:nvSpPr>
          <p:spPr>
            <a:xfrm>
              <a:off x="850773" y="5929789"/>
              <a:ext cx="653375"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GIÁ TRỊ</a:t>
              </a:r>
            </a:p>
          </p:txBody>
        </p:sp>
        <p:sp>
          <p:nvSpPr>
            <p:cNvPr id="10" name="TextBox 10"/>
            <p:cNvSpPr txBox="1"/>
            <p:nvPr/>
          </p:nvSpPr>
          <p:spPr>
            <a:xfrm>
              <a:off x="1612773" y="5929789"/>
              <a:ext cx="6756567"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Gom cấu hình, điều khiển nhiều máy và log vận hành vào một giao diện thống nhất.</a:t>
              </a:r>
            </a:p>
          </p:txBody>
        </p:sp>
      </p:grpSp>
      <p:sp>
        <p:nvSpPr>
          <p:cNvPr id="12" name="TextBox 12"/>
          <p:cNvSpPr txBox="1"/>
          <p:nvPr/>
        </p:nvSpPr>
        <p:spPr>
          <a:xfrm>
            <a:off x="11141640" y="6630352"/>
            <a:ext cx="484194" cy="205359"/>
          </a:xfrm>
          <a:prstGeom prst="rect">
            <a:avLst/>
          </a:prstGeom>
          <a:noFill/>
          <a:ln>
            <a:noFill/>
          </a:ln>
        </p:spPr>
        <p:txBody>
          <a:bodyPr wrap="none" lIns="0" tIns="0" rIns="0" bIns="0" anchor="t" anchorCtr="0">
            <a:spAutoFit/>
          </a:bodyPr>
          <a:lstStyle/>
          <a:p>
            <a:pPr algn="r"/>
            <a:r>
              <a:rPr lang="en-US" sz="1050" dirty="0">
                <a:solidFill>
                  <a:srgbClr val="66706A"/>
                </a:solidFill>
                <a:latin typeface="+mn-lt"/>
                <a:ea typeface="+mn-ea"/>
                <a:cs typeface="+mn-cs"/>
              </a:rPr>
              <a:t>10 / 23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3"/>
          <a:stretch>
            <a:fillRect/>
          </a:stretch>
        </p:blipFill>
        <p:spPr>
          <a:xfrm>
            <a:off x="476250" y="228600"/>
            <a:ext cx="1238250" cy="361950"/>
          </a:xfrm>
          <a:prstGeom prst="rect">
            <a:avLst/>
          </a:prstGeom>
        </p:spPr>
      </p:pic>
      <p:sp>
        <p:nvSpPr>
          <p:cNvPr id="3" name="TextBox 3"/>
          <p:cNvSpPr txBox="1"/>
          <p:nvPr/>
        </p:nvSpPr>
        <p:spPr>
          <a:xfrm>
            <a:off x="2083308" y="331470"/>
            <a:ext cx="5753868" cy="469392"/>
          </a:xfrm>
          <a:prstGeom prst="rect">
            <a:avLst/>
          </a:prstGeom>
          <a:noFill/>
          <a:ln>
            <a:noFill/>
          </a:ln>
        </p:spPr>
        <p:txBody>
          <a:bodyPr wrap="none" lIns="0" tIns="0" rIns="0" bIns="0" anchor="t" anchorCtr="0">
            <a:spAutoFit/>
          </a:bodyPr>
          <a:lstStyle/>
          <a:p>
            <a:pPr algn="l"/>
            <a:r>
              <a:rPr lang="en-US" sz="2400" b="1" dirty="0">
                <a:solidFill>
                  <a:schemeClr val="accent1"/>
                </a:solidFill>
                <a:latin typeface="+mn-lt"/>
                <a:ea typeface="+mn-ea"/>
                <a:cs typeface="+mn-cs"/>
              </a:rPr>
              <a:t>KNX Partner — Chứng chỉ &amp; năng lực</a:t>
            </a:r>
          </a:p>
        </p:txBody>
      </p:sp>
      <p:sp>
        <p:nvSpPr>
          <p:cNvPr id="4" name="Rectangle 4"/>
          <p:cNvSpPr/>
          <p:nvPr/>
        </p:nvSpPr>
        <p:spPr>
          <a:xfrm>
            <a:off x="9810750" y="247650"/>
            <a:ext cx="1809750" cy="361950"/>
          </a:xfrm>
          <a:prstGeom prst="roundRect">
            <a:avLst>
              <a:gd name="adj" fmla="val 50000"/>
            </a:avLst>
          </a:prstGeom>
          <a:solidFill>
            <a:srgbClr val="EAF6F0"/>
          </a:solidFill>
          <a:ln>
            <a:noFill/>
          </a:ln>
        </p:spPr>
        <p:txBody>
          <a:bodyPr/>
          <a:lstStyle/>
          <a:p>
            <a:endParaRPr lang="en-US"/>
          </a:p>
        </p:txBody>
      </p:sp>
      <p:sp>
        <p:nvSpPr>
          <p:cNvPr id="5" name="TextBox 5"/>
          <p:cNvSpPr txBox="1"/>
          <p:nvPr/>
        </p:nvSpPr>
        <p:spPr>
          <a:xfrm>
            <a:off x="9877721" y="364331"/>
            <a:ext cx="1675809" cy="220028"/>
          </a:xfrm>
          <a:prstGeom prst="rect">
            <a:avLst/>
          </a:prstGeom>
          <a:noFill/>
          <a:ln>
            <a:noFill/>
          </a:ln>
        </p:spPr>
        <p:txBody>
          <a:bodyPr wrap="none" lIns="0" tIns="0" rIns="0" bIns="0" anchor="t" anchorCtr="0">
            <a:spAutoFit/>
          </a:bodyPr>
          <a:lstStyle/>
          <a:p>
            <a:pPr algn="ctr"/>
            <a:r>
              <a:rPr lang="en-US" sz="1120" b="1" dirty="0">
                <a:solidFill>
                  <a:schemeClr val="accent1"/>
                </a:solidFill>
                <a:latin typeface="+mn-lt"/>
                <a:ea typeface="+mn-ea"/>
                <a:cs typeface="+mn-cs"/>
              </a:rPr>
              <a:t>PASSED · 31/05/2026</a:t>
            </a:r>
          </a:p>
        </p:txBody>
      </p:sp>
      <p:grpSp>
        <p:nvGrpSpPr>
          <p:cNvPr id="8" name="Group 8"/>
          <p:cNvGrpSpPr/>
          <p:nvPr/>
        </p:nvGrpSpPr>
        <p:grpSpPr>
          <a:xfrm>
            <a:off x="533400" y="876300"/>
            <a:ext cx="4286250" cy="5429250"/>
            <a:chOff x="533400" y="876300"/>
            <a:chExt cx="4286250" cy="5429250"/>
          </a:xfrm>
        </p:grpSpPr>
        <p:sp>
          <p:nvSpPr>
            <p:cNvPr id="6" name="Rectangle 6"/>
            <p:cNvSpPr/>
            <p:nvPr/>
          </p:nvSpPr>
          <p:spPr>
            <a:xfrm>
              <a:off x="533400" y="876300"/>
              <a:ext cx="4286250" cy="5429250"/>
            </a:xfrm>
            <a:prstGeom prst="roundRect">
              <a:avLst>
                <a:gd name="adj" fmla="val 4000"/>
              </a:avLst>
            </a:prstGeom>
            <a:solidFill>
              <a:schemeClr val="lt2"/>
            </a:solidFill>
            <a:ln w="19050">
              <a:solidFill>
                <a:srgbClr val="B8D8C7"/>
              </a:solidFill>
            </a:ln>
          </p:spPr>
          <p:txBody>
            <a:bodyPr/>
            <a:lstStyle/>
            <a:p>
              <a:endParaRPr lang="en-US"/>
            </a:p>
          </p:txBody>
        </p:sp>
        <p:pic>
          <p:nvPicPr>
            <p:cNvPr id="7" name="Image 7"/>
            <p:cNvPicPr>
              <a:picLocks noChangeAspect="1"/>
            </p:cNvPicPr>
            <p:nvPr/>
          </p:nvPicPr>
          <p:blipFill>
            <a:blip r:embed="rId4"/>
            <a:stretch>
              <a:fillRect/>
            </a:stretch>
          </p:blipFill>
          <p:spPr>
            <a:xfrm>
              <a:off x="837150" y="990600"/>
              <a:ext cx="3678750" cy="5200650"/>
            </a:xfrm>
            <a:prstGeom prst="rect">
              <a:avLst/>
            </a:prstGeom>
          </p:spPr>
        </p:pic>
      </p:grpSp>
      <p:grpSp>
        <p:nvGrpSpPr>
          <p:cNvPr id="26" name="Group 26"/>
          <p:cNvGrpSpPr/>
          <p:nvPr/>
        </p:nvGrpSpPr>
        <p:grpSpPr>
          <a:xfrm>
            <a:off x="5086350" y="876300"/>
            <a:ext cx="6572250" cy="5295900"/>
            <a:chOff x="5086350" y="876300"/>
            <a:chExt cx="6572250" cy="5295900"/>
          </a:xfrm>
        </p:grpSpPr>
        <p:sp>
          <p:nvSpPr>
            <p:cNvPr id="9" name="Rectangle 9"/>
            <p:cNvSpPr/>
            <p:nvPr/>
          </p:nvSpPr>
          <p:spPr>
            <a:xfrm>
              <a:off x="5086350" y="876300"/>
              <a:ext cx="6572250" cy="1847850"/>
            </a:xfrm>
            <a:prstGeom prst="roundRect">
              <a:avLst>
                <a:gd name="adj" fmla="val 9278"/>
              </a:avLst>
            </a:prstGeom>
            <a:solidFill>
              <a:schemeClr val="accent1"/>
            </a:solidFill>
            <a:ln>
              <a:noFill/>
            </a:ln>
          </p:spPr>
          <p:txBody>
            <a:bodyPr/>
            <a:lstStyle/>
            <a:p>
              <a:endParaRPr lang="en-US"/>
            </a:p>
          </p:txBody>
        </p:sp>
        <p:sp>
          <p:nvSpPr>
            <p:cNvPr id="10" name="TextBox 10"/>
            <p:cNvSpPr txBox="1"/>
            <p:nvPr/>
          </p:nvSpPr>
          <p:spPr>
            <a:xfrm>
              <a:off x="5404104" y="1127760"/>
              <a:ext cx="1994591" cy="234696"/>
            </a:xfrm>
            <a:prstGeom prst="rect">
              <a:avLst/>
            </a:prstGeom>
            <a:noFill/>
            <a:ln>
              <a:noFill/>
            </a:ln>
          </p:spPr>
          <p:txBody>
            <a:bodyPr wrap="none" lIns="0" tIns="0" rIns="0" bIns="0" anchor="t" anchorCtr="0">
              <a:spAutoFit/>
            </a:bodyPr>
            <a:lstStyle/>
            <a:p>
              <a:pPr algn="l"/>
              <a:r>
                <a:rPr lang="en-US" sz="1200" b="1" spc="112" dirty="0">
                  <a:solidFill>
                    <a:srgbClr val="DDF3E8"/>
                  </a:solidFill>
                  <a:latin typeface="+mn-lt"/>
                  <a:ea typeface="+mn-ea"/>
                  <a:cs typeface="+mn-cs"/>
                </a:rPr>
                <a:t>THÀNH TÍCH ĐÀO TẠO</a:t>
              </a:r>
            </a:p>
          </p:txBody>
        </p:sp>
        <p:sp>
          <p:nvSpPr>
            <p:cNvPr id="11" name="TextBox 11"/>
            <p:cNvSpPr txBox="1"/>
            <p:nvPr/>
          </p:nvSpPr>
          <p:spPr>
            <a:xfrm>
              <a:off x="5395722" y="1483042"/>
              <a:ext cx="2497745" cy="557403"/>
            </a:xfrm>
            <a:prstGeom prst="rect">
              <a:avLst/>
            </a:prstGeom>
            <a:noFill/>
            <a:ln>
              <a:noFill/>
            </a:ln>
          </p:spPr>
          <p:txBody>
            <a:bodyPr wrap="none" lIns="0" tIns="0" rIns="0" bIns="0" anchor="t" anchorCtr="0">
              <a:spAutoFit/>
            </a:bodyPr>
            <a:lstStyle/>
            <a:p>
              <a:pPr algn="l"/>
              <a:r>
                <a:rPr lang="en-US" sz="2850" b="1" dirty="0">
                  <a:solidFill>
                    <a:srgbClr val="FFFFFF"/>
                  </a:solidFill>
                  <a:latin typeface="+mn-lt"/>
                  <a:ea typeface="+mn-ea"/>
                  <a:cs typeface="+mn-cs"/>
                </a:rPr>
                <a:t>KNX PARTNER</a:t>
              </a:r>
            </a:p>
          </p:txBody>
        </p:sp>
        <p:sp>
          <p:nvSpPr>
            <p:cNvPr id="12" name="TextBox 12"/>
            <p:cNvSpPr txBox="1"/>
            <p:nvPr/>
          </p:nvSpPr>
          <p:spPr>
            <a:xfrm>
              <a:off x="5402580" y="2038350"/>
              <a:ext cx="3868459" cy="293370"/>
            </a:xfrm>
            <a:prstGeom prst="rect">
              <a:avLst/>
            </a:prstGeom>
            <a:noFill/>
            <a:ln>
              <a:noFill/>
            </a:ln>
          </p:spPr>
          <p:txBody>
            <a:bodyPr wrap="none" lIns="0" tIns="0" rIns="0" bIns="0" anchor="t" anchorCtr="0">
              <a:spAutoFit/>
            </a:bodyPr>
            <a:lstStyle/>
            <a:p>
              <a:pPr algn="l"/>
              <a:r>
                <a:rPr lang="en-US" sz="1500" dirty="0">
                  <a:solidFill>
                    <a:srgbClr val="FFFFFF"/>
                  </a:solidFill>
                  <a:latin typeface="+mn-lt"/>
                  <a:ea typeface="+mn-ea"/>
                  <a:cs typeface="+mn-cs"/>
                </a:rPr>
                <a:t>Partner No. 147063 · Nguyễn Văn Dương</a:t>
              </a:r>
            </a:p>
          </p:txBody>
        </p:sp>
        <p:sp>
          <p:nvSpPr>
            <p:cNvPr id="13" name="Rectangle 13"/>
            <p:cNvSpPr/>
            <p:nvPr/>
          </p:nvSpPr>
          <p:spPr>
            <a:xfrm>
              <a:off x="9810750" y="1371600"/>
              <a:ext cx="1504950" cy="514350"/>
            </a:xfrm>
            <a:prstGeom prst="roundRect">
              <a:avLst>
                <a:gd name="adj" fmla="val 50000"/>
              </a:avLst>
            </a:prstGeom>
            <a:solidFill>
              <a:schemeClr val="lt1"/>
            </a:solidFill>
            <a:ln>
              <a:noFill/>
            </a:ln>
          </p:spPr>
          <p:txBody>
            <a:bodyPr/>
            <a:lstStyle/>
            <a:p>
              <a:endParaRPr lang="en-US"/>
            </a:p>
          </p:txBody>
        </p:sp>
        <p:sp>
          <p:nvSpPr>
            <p:cNvPr id="14" name="TextBox 14"/>
            <p:cNvSpPr txBox="1"/>
            <p:nvPr/>
          </p:nvSpPr>
          <p:spPr>
            <a:xfrm>
              <a:off x="10165863" y="1534954"/>
              <a:ext cx="794723" cy="308039"/>
            </a:xfrm>
            <a:prstGeom prst="rect">
              <a:avLst/>
            </a:prstGeom>
            <a:noFill/>
            <a:ln>
              <a:noFill/>
            </a:ln>
          </p:spPr>
          <p:txBody>
            <a:bodyPr wrap="none" lIns="0" tIns="0" rIns="0" bIns="0" anchor="t" anchorCtr="0">
              <a:spAutoFit/>
            </a:bodyPr>
            <a:lstStyle/>
            <a:p>
              <a:pPr algn="ctr"/>
              <a:r>
                <a:rPr lang="en-US" sz="1580" b="1" dirty="0">
                  <a:solidFill>
                    <a:schemeClr val="accent1"/>
                  </a:solidFill>
                  <a:latin typeface="+mn-lt"/>
                  <a:ea typeface="+mn-ea"/>
                  <a:cs typeface="+mn-cs"/>
                </a:rPr>
                <a:t>PASSED</a:t>
              </a:r>
            </a:p>
          </p:txBody>
        </p:sp>
        <p:sp>
          <p:nvSpPr>
            <p:cNvPr id="15" name="Rectangle 15"/>
            <p:cNvSpPr/>
            <p:nvPr/>
          </p:nvSpPr>
          <p:spPr>
            <a:xfrm>
              <a:off x="5086350" y="2952750"/>
              <a:ext cx="6572250" cy="2305050"/>
            </a:xfrm>
            <a:prstGeom prst="roundRect">
              <a:avLst>
                <a:gd name="adj" fmla="val 7438"/>
              </a:avLst>
            </a:prstGeom>
            <a:solidFill>
              <a:schemeClr val="lt2"/>
            </a:solidFill>
            <a:ln>
              <a:noFill/>
            </a:ln>
          </p:spPr>
          <p:txBody>
            <a:bodyPr/>
            <a:lstStyle/>
            <a:p>
              <a:endParaRPr lang="en-US"/>
            </a:p>
          </p:txBody>
        </p:sp>
        <p:sp>
          <p:nvSpPr>
            <p:cNvPr id="16" name="TextBox 16"/>
            <p:cNvSpPr txBox="1"/>
            <p:nvPr/>
          </p:nvSpPr>
          <p:spPr>
            <a:xfrm>
              <a:off x="5403723" y="3196114"/>
              <a:ext cx="2498171"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KẾT QUẢ KHÓA HỌC KNX BASIC</a:t>
              </a:r>
            </a:p>
          </p:txBody>
        </p:sp>
        <p:sp>
          <p:nvSpPr>
            <p:cNvPr id="17" name="Rectangle 17"/>
            <p:cNvSpPr/>
            <p:nvPr/>
          </p:nvSpPr>
          <p:spPr>
            <a:xfrm>
              <a:off x="5410200" y="3524250"/>
              <a:ext cx="2857500" cy="1524000"/>
            </a:xfrm>
            <a:prstGeom prst="roundRect">
              <a:avLst>
                <a:gd name="adj" fmla="val 6250"/>
              </a:avLst>
            </a:prstGeom>
            <a:solidFill>
              <a:schemeClr val="lt1"/>
            </a:solidFill>
            <a:ln>
              <a:noFill/>
            </a:ln>
          </p:spPr>
          <p:txBody>
            <a:bodyPr/>
            <a:lstStyle/>
            <a:p>
              <a:endParaRPr lang="en-US"/>
            </a:p>
          </p:txBody>
        </p:sp>
        <p:pic>
          <p:nvPicPr>
            <p:cNvPr id="18" name="Image 18"/>
            <p:cNvPicPr>
              <a:picLocks noChangeAspect="1"/>
            </p:cNvPicPr>
            <p:nvPr/>
          </p:nvPicPr>
          <p:blipFill>
            <a:blip r:embed="rId5"/>
            <a:stretch>
              <a:fillRect/>
            </a:stretch>
          </p:blipFill>
          <p:spPr>
            <a:xfrm>
              <a:off x="5649730" y="3524250"/>
              <a:ext cx="2378439" cy="1524000"/>
            </a:xfrm>
            <a:prstGeom prst="rect">
              <a:avLst/>
            </a:prstGeom>
          </p:spPr>
        </p:pic>
        <p:sp>
          <p:nvSpPr>
            <p:cNvPr id="19" name="TextBox 19"/>
            <p:cNvSpPr txBox="1"/>
            <p:nvPr/>
          </p:nvSpPr>
          <p:spPr>
            <a:xfrm>
              <a:off x="8652510" y="3619500"/>
              <a:ext cx="1016203"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n-lt"/>
                  <a:ea typeface="+mn-ea"/>
                  <a:cs typeface="+mn-cs"/>
                </a:rPr>
                <a:t>PASS</a:t>
              </a:r>
            </a:p>
          </p:txBody>
        </p:sp>
        <p:sp>
          <p:nvSpPr>
            <p:cNvPr id="20" name="TextBox 20"/>
            <p:cNvSpPr txBox="1"/>
            <p:nvPr/>
          </p:nvSpPr>
          <p:spPr>
            <a:xfrm>
              <a:off x="8661273" y="4196239"/>
              <a:ext cx="1487983"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Lý thuyết: 88,5%</a:t>
              </a:r>
            </a:p>
          </p:txBody>
        </p:sp>
        <p:sp>
          <p:nvSpPr>
            <p:cNvPr id="21" name="TextBox 21"/>
            <p:cNvSpPr txBox="1"/>
            <p:nvPr/>
          </p:nvSpPr>
          <p:spPr>
            <a:xfrm>
              <a:off x="8661273" y="4501039"/>
              <a:ext cx="1297097"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Thực hành: 96%</a:t>
              </a:r>
            </a:p>
          </p:txBody>
        </p:sp>
        <p:sp>
          <p:nvSpPr>
            <p:cNvPr id="22" name="TextBox 22"/>
            <p:cNvSpPr txBox="1"/>
            <p:nvPr/>
          </p:nvSpPr>
          <p:spPr>
            <a:xfrm>
              <a:off x="8661273" y="4805839"/>
              <a:ext cx="1764777"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Hoàn thành KNX Basic</a:t>
              </a:r>
            </a:p>
          </p:txBody>
        </p:sp>
        <p:sp>
          <p:nvSpPr>
            <p:cNvPr id="23" name="Rectangle 23"/>
            <p:cNvSpPr/>
            <p:nvPr/>
          </p:nvSpPr>
          <p:spPr>
            <a:xfrm>
              <a:off x="5086350" y="5486400"/>
              <a:ext cx="6572250" cy="685800"/>
            </a:xfrm>
            <a:prstGeom prst="roundRect">
              <a:avLst>
                <a:gd name="adj" fmla="val 22222"/>
              </a:avLst>
            </a:prstGeom>
            <a:solidFill>
              <a:srgbClr val="EEF3FF"/>
            </a:solidFill>
            <a:ln>
              <a:noFill/>
            </a:ln>
          </p:spPr>
          <p:txBody>
            <a:bodyPr/>
            <a:lstStyle/>
            <a:p>
              <a:endParaRPr lang="en-US"/>
            </a:p>
          </p:txBody>
        </p:sp>
        <p:sp>
          <p:nvSpPr>
            <p:cNvPr id="24" name="TextBox 24"/>
            <p:cNvSpPr txBox="1"/>
            <p:nvPr/>
          </p:nvSpPr>
          <p:spPr>
            <a:xfrm>
              <a:off x="5404485" y="5650706"/>
              <a:ext cx="1868174" cy="220028"/>
            </a:xfrm>
            <a:prstGeom prst="rect">
              <a:avLst/>
            </a:prstGeom>
            <a:noFill/>
            <a:ln>
              <a:noFill/>
            </a:ln>
          </p:spPr>
          <p:txBody>
            <a:bodyPr wrap="none" lIns="0" tIns="0" rIns="0" bIns="0" anchor="t" anchorCtr="0">
              <a:spAutoFit/>
            </a:bodyPr>
            <a:lstStyle/>
            <a:p>
              <a:pPr algn="l"/>
              <a:r>
                <a:rPr lang="en-US" sz="1120" b="1" dirty="0">
                  <a:solidFill>
                    <a:schemeClr val="accent2"/>
                  </a:solidFill>
                  <a:latin typeface="+mn-lt"/>
                  <a:ea typeface="+mn-ea"/>
                  <a:cs typeface="+mn-cs"/>
                </a:rPr>
                <a:t>NĂNG LỰC ĐƯỢC XÁC NHẬN</a:t>
              </a:r>
            </a:p>
          </p:txBody>
        </p:sp>
        <p:sp>
          <p:nvSpPr>
            <p:cNvPr id="25" name="TextBox 25"/>
            <p:cNvSpPr txBox="1"/>
            <p:nvPr/>
          </p:nvSpPr>
          <p:spPr>
            <a:xfrm>
              <a:off x="5403723" y="5891689"/>
              <a:ext cx="4285792"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Thiết kế · commissioning · chẩn đoán hệ thống KNX.</a:t>
              </a:r>
            </a:p>
          </p:txBody>
        </p:sp>
      </p:grpSp>
      <p:sp>
        <p:nvSpPr>
          <p:cNvPr id="27" name="TextBox 27"/>
          <p:cNvSpPr txBox="1"/>
          <p:nvPr/>
        </p:nvSpPr>
        <p:spPr>
          <a:xfrm>
            <a:off x="11141640" y="6630352"/>
            <a:ext cx="484194" cy="205359"/>
          </a:xfrm>
          <a:prstGeom prst="rect">
            <a:avLst/>
          </a:prstGeom>
          <a:noFill/>
          <a:ln>
            <a:noFill/>
          </a:ln>
        </p:spPr>
        <p:txBody>
          <a:bodyPr wrap="none" lIns="0" tIns="0" rIns="0" bIns="0" anchor="t" anchorCtr="0">
            <a:spAutoFit/>
          </a:bodyPr>
          <a:lstStyle/>
          <a:p>
            <a:pPr algn="r"/>
            <a:r>
              <a:rPr lang="en-US" sz="1050" dirty="0">
                <a:solidFill>
                  <a:srgbClr val="66706A"/>
                </a:solidFill>
                <a:latin typeface="+mn-lt"/>
                <a:ea typeface="+mn-ea"/>
                <a:cs typeface="+mn-cs"/>
              </a:rPr>
              <a:t>11 / 23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3"/>
          <a:stretch>
            <a:fillRect/>
          </a:stretch>
        </p:blipFill>
        <p:spPr>
          <a:xfrm>
            <a:off x="486276" y="266700"/>
            <a:ext cx="1313447" cy="381000"/>
          </a:xfrm>
          <a:prstGeom prst="rect">
            <a:avLst/>
          </a:prstGeom>
        </p:spPr>
      </p:pic>
      <p:sp>
        <p:nvSpPr>
          <p:cNvPr id="3" name="TextBox 3"/>
          <p:cNvSpPr txBox="1"/>
          <p:nvPr/>
        </p:nvSpPr>
        <p:spPr>
          <a:xfrm>
            <a:off x="2462784" y="356235"/>
            <a:ext cx="3472163" cy="528066"/>
          </a:xfrm>
          <a:prstGeom prst="rect">
            <a:avLst/>
          </a:prstGeom>
          <a:noFill/>
          <a:ln>
            <a:noFill/>
          </a:ln>
        </p:spPr>
        <p:txBody>
          <a:bodyPr wrap="none" lIns="0" tIns="0" rIns="0" bIns="0" anchor="t" anchorCtr="0">
            <a:spAutoFit/>
          </a:bodyPr>
          <a:lstStyle/>
          <a:p>
            <a:pPr algn="l"/>
            <a:r>
              <a:rPr lang="en-US" sz="2700" b="1" dirty="0">
                <a:solidFill>
                  <a:schemeClr val="accent1"/>
                </a:solidFill>
                <a:latin typeface="+mn-lt"/>
                <a:ea typeface="+mn-ea"/>
                <a:cs typeface="+mn-cs"/>
              </a:rPr>
              <a:t>2. Dự án Auto Test</a:t>
            </a:r>
          </a:p>
        </p:txBody>
      </p:sp>
      <p:sp>
        <p:nvSpPr>
          <p:cNvPr id="4" name="Rectangle 4"/>
          <p:cNvSpPr/>
          <p:nvPr/>
        </p:nvSpPr>
        <p:spPr>
          <a:xfrm>
            <a:off x="8858250" y="285750"/>
            <a:ext cx="2762250" cy="400050"/>
          </a:xfrm>
          <a:prstGeom prst="roundRect">
            <a:avLst>
              <a:gd name="adj" fmla="val 50000"/>
            </a:avLst>
          </a:prstGeom>
          <a:solidFill>
            <a:srgbClr val="EEF3FF"/>
          </a:solidFill>
          <a:ln>
            <a:noFill/>
          </a:ln>
        </p:spPr>
        <p:txBody>
          <a:bodyPr/>
          <a:lstStyle/>
          <a:p>
            <a:endParaRPr lang="en-US"/>
          </a:p>
        </p:txBody>
      </p:sp>
      <p:sp>
        <p:nvSpPr>
          <p:cNvPr id="5" name="TextBox 5"/>
          <p:cNvSpPr txBox="1"/>
          <p:nvPr/>
        </p:nvSpPr>
        <p:spPr>
          <a:xfrm>
            <a:off x="9018368" y="405289"/>
            <a:ext cx="2442015" cy="249364"/>
          </a:xfrm>
          <a:prstGeom prst="rect">
            <a:avLst/>
          </a:prstGeom>
          <a:noFill/>
          <a:ln>
            <a:noFill/>
          </a:ln>
        </p:spPr>
        <p:txBody>
          <a:bodyPr wrap="none" lIns="0" tIns="0" rIns="0" bIns="0" anchor="t" anchorCtr="0">
            <a:spAutoFit/>
          </a:bodyPr>
          <a:lstStyle/>
          <a:p>
            <a:pPr algn="ctr"/>
            <a:r>
              <a:rPr lang="en-US" sz="1280" b="1" dirty="0">
                <a:solidFill>
                  <a:schemeClr val="accent2"/>
                </a:solidFill>
                <a:latin typeface="+mn-lt"/>
                <a:ea typeface="+mn-ea"/>
                <a:cs typeface="+mn-cs"/>
              </a:rPr>
              <a:t>06/07–25/07/2026 · Dự kiến</a:t>
            </a:r>
          </a:p>
        </p:txBody>
      </p:sp>
      <p:grpSp>
        <p:nvGrpSpPr>
          <p:cNvPr id="43" name="Group 43"/>
          <p:cNvGrpSpPr/>
          <p:nvPr/>
        </p:nvGrpSpPr>
        <p:grpSpPr>
          <a:xfrm>
            <a:off x="533400" y="1066800"/>
            <a:ext cx="11125200" cy="4533900"/>
            <a:chOff x="533400" y="1066800"/>
            <a:chExt cx="11125200" cy="4533900"/>
          </a:xfrm>
        </p:grpSpPr>
        <p:grpSp>
          <p:nvGrpSpPr>
            <p:cNvPr id="11" name="Group 11"/>
            <p:cNvGrpSpPr/>
            <p:nvPr/>
          </p:nvGrpSpPr>
          <p:grpSpPr>
            <a:xfrm>
              <a:off x="533400" y="1066800"/>
              <a:ext cx="3429000" cy="2143125"/>
              <a:chOff x="533400" y="1066800"/>
              <a:chExt cx="3429000" cy="2143125"/>
            </a:xfrm>
          </p:grpSpPr>
          <p:sp>
            <p:nvSpPr>
              <p:cNvPr id="6" name="Rectangle 6"/>
              <p:cNvSpPr/>
              <p:nvPr/>
            </p:nvSpPr>
            <p:spPr>
              <a:xfrm>
                <a:off x="533400" y="1066800"/>
                <a:ext cx="3429000" cy="2143125"/>
              </a:xfrm>
              <a:prstGeom prst="roundRect">
                <a:avLst>
                  <a:gd name="adj" fmla="val 7111"/>
                </a:avLst>
              </a:prstGeom>
              <a:solidFill>
                <a:schemeClr val="lt2"/>
              </a:solidFill>
              <a:ln>
                <a:noFill/>
              </a:ln>
            </p:spPr>
            <p:txBody>
              <a:bodyPr/>
              <a:lstStyle/>
              <a:p>
                <a:endParaRPr lang="en-US"/>
              </a:p>
            </p:txBody>
          </p:sp>
          <p:sp>
            <p:nvSpPr>
              <p:cNvPr id="7" name="TextBox 7"/>
              <p:cNvSpPr txBox="1"/>
              <p:nvPr/>
            </p:nvSpPr>
            <p:spPr>
              <a:xfrm>
                <a:off x="773811" y="1284446"/>
                <a:ext cx="1605077" cy="278702"/>
              </a:xfrm>
              <a:prstGeom prst="rect">
                <a:avLst/>
              </a:prstGeom>
              <a:noFill/>
              <a:ln>
                <a:noFill/>
              </a:ln>
            </p:spPr>
            <p:txBody>
              <a:bodyPr wrap="none" lIns="0" tIns="0" rIns="0" bIns="0" anchor="t" anchorCtr="0">
                <a:spAutoFit/>
              </a:bodyPr>
              <a:lstStyle/>
              <a:p>
                <a:pPr algn="l"/>
                <a:r>
                  <a:rPr lang="en-US" sz="1420" b="1" dirty="0">
                    <a:solidFill>
                      <a:schemeClr val="accent1"/>
                    </a:solidFill>
                    <a:latin typeface="+mn-lt"/>
                    <a:ea typeface="+mn-ea"/>
                    <a:cs typeface="+mn-cs"/>
                  </a:rPr>
                  <a:t>CÔNG VIỆC CHÍNH</a:t>
                </a:r>
              </a:p>
            </p:txBody>
          </p:sp>
          <p:sp>
            <p:nvSpPr>
              <p:cNvPr id="8" name="TextBox 8"/>
              <p:cNvSpPr txBox="1"/>
              <p:nvPr/>
            </p:nvSpPr>
            <p:spPr>
              <a:xfrm>
                <a:off x="774192" y="1664018"/>
                <a:ext cx="1964777"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Khảo sát cảm biến màu</a:t>
                </a:r>
              </a:p>
            </p:txBody>
          </p:sp>
          <p:sp>
            <p:nvSpPr>
              <p:cNvPr id="9" name="TextBox 9"/>
              <p:cNvSpPr txBox="1"/>
              <p:nvPr/>
            </p:nvSpPr>
            <p:spPr>
              <a:xfrm>
                <a:off x="774192" y="1959292"/>
                <a:ext cx="2641709"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Thiết kế API &amp; luồng Auto Test</a:t>
                </a:r>
              </a:p>
            </p:txBody>
          </p:sp>
          <p:sp>
            <p:nvSpPr>
              <p:cNvPr id="10" name="TextBox 10"/>
              <p:cNvSpPr txBox="1"/>
              <p:nvPr/>
            </p:nvSpPr>
            <p:spPr>
              <a:xfrm>
                <a:off x="774192" y="2254568"/>
                <a:ext cx="3136589"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Controller, servo và sensor module</a:t>
                </a:r>
              </a:p>
            </p:txBody>
          </p:sp>
        </p:grpSp>
        <p:grpSp>
          <p:nvGrpSpPr>
            <p:cNvPr id="17" name="Group 17"/>
            <p:cNvGrpSpPr/>
            <p:nvPr/>
          </p:nvGrpSpPr>
          <p:grpSpPr>
            <a:xfrm>
              <a:off x="4210050" y="1066800"/>
              <a:ext cx="3429000" cy="2143125"/>
              <a:chOff x="4210050" y="1066800"/>
              <a:chExt cx="3429000" cy="2143125"/>
            </a:xfrm>
          </p:grpSpPr>
          <p:sp>
            <p:nvSpPr>
              <p:cNvPr id="12" name="Rectangle 12"/>
              <p:cNvSpPr/>
              <p:nvPr/>
            </p:nvSpPr>
            <p:spPr>
              <a:xfrm>
                <a:off x="4210050" y="1066800"/>
                <a:ext cx="3429000" cy="2143125"/>
              </a:xfrm>
              <a:prstGeom prst="roundRect">
                <a:avLst>
                  <a:gd name="adj" fmla="val 7111"/>
                </a:avLst>
              </a:prstGeom>
              <a:solidFill>
                <a:srgbClr val="EAF6F0"/>
              </a:solidFill>
              <a:ln>
                <a:noFill/>
              </a:ln>
            </p:spPr>
            <p:txBody>
              <a:bodyPr/>
              <a:lstStyle/>
              <a:p>
                <a:endParaRPr lang="en-US"/>
              </a:p>
            </p:txBody>
          </p:sp>
          <p:sp>
            <p:nvSpPr>
              <p:cNvPr id="13" name="TextBox 13"/>
              <p:cNvSpPr txBox="1"/>
              <p:nvPr/>
            </p:nvSpPr>
            <p:spPr>
              <a:xfrm>
                <a:off x="4450461" y="1284446"/>
                <a:ext cx="820381" cy="278702"/>
              </a:xfrm>
              <a:prstGeom prst="rect">
                <a:avLst/>
              </a:prstGeom>
              <a:noFill/>
              <a:ln>
                <a:noFill/>
              </a:ln>
            </p:spPr>
            <p:txBody>
              <a:bodyPr wrap="none" lIns="0" tIns="0" rIns="0" bIns="0" anchor="t" anchorCtr="0">
                <a:spAutoFit/>
              </a:bodyPr>
              <a:lstStyle/>
              <a:p>
                <a:pPr algn="l"/>
                <a:r>
                  <a:rPr lang="en-US" sz="1420" b="1" dirty="0">
                    <a:solidFill>
                      <a:schemeClr val="accent1"/>
                    </a:solidFill>
                    <a:latin typeface="+mn-lt"/>
                    <a:ea typeface="+mn-ea"/>
                    <a:cs typeface="+mn-cs"/>
                  </a:rPr>
                  <a:t>KẾT QUẢ</a:t>
                </a:r>
              </a:p>
            </p:txBody>
          </p:sp>
          <p:sp>
            <p:nvSpPr>
              <p:cNvPr id="14" name="TextBox 14"/>
              <p:cNvSpPr txBox="1"/>
              <p:nvPr/>
            </p:nvSpPr>
            <p:spPr>
              <a:xfrm>
                <a:off x="4450842" y="1664018"/>
                <a:ext cx="2683339"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4/5 task Done trong kỳ review</a:t>
                </a:r>
              </a:p>
            </p:txBody>
          </p:sp>
          <p:sp>
            <p:nvSpPr>
              <p:cNvPr id="15" name="TextBox 15"/>
              <p:cNvSpPr txBox="1"/>
              <p:nvPr/>
            </p:nvSpPr>
            <p:spPr>
              <a:xfrm>
                <a:off x="4450842" y="1959292"/>
                <a:ext cx="2418972"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Có tài liệu API/flow ban đầu</a:t>
                </a:r>
              </a:p>
            </p:txBody>
          </p:sp>
          <p:sp>
            <p:nvSpPr>
              <p:cNvPr id="16" name="TextBox 16"/>
              <p:cNvSpPr txBox="1"/>
              <p:nvPr/>
            </p:nvSpPr>
            <p:spPr>
              <a:xfrm>
                <a:off x="4450842" y="2254568"/>
                <a:ext cx="2582801"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1 task Ongoing đúng kế hoạch</a:t>
                </a:r>
              </a:p>
            </p:txBody>
          </p:sp>
        </p:grpSp>
        <p:grpSp>
          <p:nvGrpSpPr>
            <p:cNvPr id="23" name="Group 23"/>
            <p:cNvGrpSpPr/>
            <p:nvPr/>
          </p:nvGrpSpPr>
          <p:grpSpPr>
            <a:xfrm>
              <a:off x="7886700" y="1066800"/>
              <a:ext cx="3771900" cy="2143125"/>
              <a:chOff x="7886700" y="1066800"/>
              <a:chExt cx="3771900" cy="2143125"/>
            </a:xfrm>
          </p:grpSpPr>
          <p:sp>
            <p:nvSpPr>
              <p:cNvPr id="18" name="Rectangle 18"/>
              <p:cNvSpPr/>
              <p:nvPr/>
            </p:nvSpPr>
            <p:spPr>
              <a:xfrm>
                <a:off x="7886700" y="1066800"/>
                <a:ext cx="3771900" cy="2143125"/>
              </a:xfrm>
              <a:prstGeom prst="roundRect">
                <a:avLst>
                  <a:gd name="adj" fmla="val 7111"/>
                </a:avLst>
              </a:prstGeom>
              <a:solidFill>
                <a:schemeClr val="lt2"/>
              </a:solidFill>
              <a:ln>
                <a:noFill/>
              </a:ln>
            </p:spPr>
            <p:txBody>
              <a:bodyPr/>
              <a:lstStyle/>
              <a:p>
                <a:endParaRPr lang="en-US"/>
              </a:p>
            </p:txBody>
          </p:sp>
          <p:sp>
            <p:nvSpPr>
              <p:cNvPr id="19" name="TextBox 19"/>
              <p:cNvSpPr txBox="1"/>
              <p:nvPr/>
            </p:nvSpPr>
            <p:spPr>
              <a:xfrm>
                <a:off x="8127111" y="1284446"/>
                <a:ext cx="777965" cy="278702"/>
              </a:xfrm>
              <a:prstGeom prst="rect">
                <a:avLst/>
              </a:prstGeom>
              <a:noFill/>
              <a:ln>
                <a:noFill/>
              </a:ln>
            </p:spPr>
            <p:txBody>
              <a:bodyPr wrap="none" lIns="0" tIns="0" rIns="0" bIns="0" anchor="t" anchorCtr="0">
                <a:spAutoFit/>
              </a:bodyPr>
              <a:lstStyle/>
              <a:p>
                <a:pPr algn="l"/>
                <a:r>
                  <a:rPr lang="en-US" sz="1420" b="1" dirty="0">
                    <a:solidFill>
                      <a:schemeClr val="accent1"/>
                    </a:solidFill>
                    <a:latin typeface="+mn-lt"/>
                    <a:ea typeface="+mn-ea"/>
                    <a:cs typeface="+mn-cs"/>
                  </a:rPr>
                  <a:t>KỸ NĂNG</a:t>
                </a:r>
              </a:p>
            </p:txBody>
          </p:sp>
          <p:sp>
            <p:nvSpPr>
              <p:cNvPr id="20" name="TextBox 20"/>
              <p:cNvSpPr txBox="1"/>
              <p:nvPr/>
            </p:nvSpPr>
            <p:spPr>
              <a:xfrm>
                <a:off x="8127492" y="1664018"/>
                <a:ext cx="2218661"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Thiết kế flow automation</a:t>
                </a:r>
              </a:p>
            </p:txBody>
          </p:sp>
          <p:sp>
            <p:nvSpPr>
              <p:cNvPr id="21" name="TextBox 21"/>
              <p:cNvSpPr txBox="1"/>
              <p:nvPr/>
            </p:nvSpPr>
            <p:spPr>
              <a:xfrm>
                <a:off x="8127492" y="1959292"/>
                <a:ext cx="3036649"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Tích hợp sensor/servo/controller</a:t>
                </a:r>
              </a:p>
            </p:txBody>
          </p:sp>
          <p:sp>
            <p:nvSpPr>
              <p:cNvPr id="22" name="TextBox 22"/>
              <p:cNvSpPr txBox="1"/>
              <p:nvPr/>
            </p:nvSpPr>
            <p:spPr>
              <a:xfrm>
                <a:off x="8127492" y="2254568"/>
                <a:ext cx="2218073"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Viết API và test scenario</a:t>
                </a:r>
              </a:p>
            </p:txBody>
          </p:sp>
        </p:grpSp>
        <p:grpSp>
          <p:nvGrpSpPr>
            <p:cNvPr id="29" name="Group 29"/>
            <p:cNvGrpSpPr/>
            <p:nvPr/>
          </p:nvGrpSpPr>
          <p:grpSpPr>
            <a:xfrm>
              <a:off x="533400" y="3457575"/>
              <a:ext cx="3429000" cy="2143125"/>
              <a:chOff x="533400" y="3457575"/>
              <a:chExt cx="3429000" cy="2143125"/>
            </a:xfrm>
          </p:grpSpPr>
          <p:sp>
            <p:nvSpPr>
              <p:cNvPr id="24" name="Rectangle 24"/>
              <p:cNvSpPr/>
              <p:nvPr/>
            </p:nvSpPr>
            <p:spPr>
              <a:xfrm>
                <a:off x="533400" y="3457575"/>
                <a:ext cx="3429000" cy="2143125"/>
              </a:xfrm>
              <a:prstGeom prst="roundRect">
                <a:avLst>
                  <a:gd name="adj" fmla="val 7111"/>
                </a:avLst>
              </a:prstGeom>
              <a:solidFill>
                <a:srgbClr val="EEF3FF"/>
              </a:solidFill>
              <a:ln>
                <a:noFill/>
              </a:ln>
            </p:spPr>
            <p:txBody>
              <a:bodyPr/>
              <a:lstStyle/>
              <a:p>
                <a:endParaRPr lang="en-US"/>
              </a:p>
            </p:txBody>
          </p:sp>
          <p:sp>
            <p:nvSpPr>
              <p:cNvPr id="25" name="TextBox 25"/>
              <p:cNvSpPr txBox="1"/>
              <p:nvPr/>
            </p:nvSpPr>
            <p:spPr>
              <a:xfrm>
                <a:off x="773811" y="3675221"/>
                <a:ext cx="661322" cy="278702"/>
              </a:xfrm>
              <a:prstGeom prst="rect">
                <a:avLst/>
              </a:prstGeom>
              <a:noFill/>
              <a:ln>
                <a:noFill/>
              </a:ln>
            </p:spPr>
            <p:txBody>
              <a:bodyPr wrap="none" lIns="0" tIns="0" rIns="0" bIns="0" anchor="t" anchorCtr="0">
                <a:spAutoFit/>
              </a:bodyPr>
              <a:lstStyle/>
              <a:p>
                <a:pPr algn="l"/>
                <a:r>
                  <a:rPr lang="en-US" sz="1420" b="1" dirty="0">
                    <a:solidFill>
                      <a:schemeClr val="accent2"/>
                    </a:solidFill>
                    <a:latin typeface="+mn-lt"/>
                    <a:ea typeface="+mn-ea"/>
                    <a:cs typeface="+mn-cs"/>
                  </a:rPr>
                  <a:t>TƯ DUY</a:t>
                </a:r>
              </a:p>
            </p:txBody>
          </p:sp>
          <p:sp>
            <p:nvSpPr>
              <p:cNvPr id="26" name="TextBox 26"/>
              <p:cNvSpPr txBox="1"/>
              <p:nvPr/>
            </p:nvSpPr>
            <p:spPr>
              <a:xfrm>
                <a:off x="774192" y="4054792"/>
                <a:ext cx="1846083"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Modular và API-first</a:t>
                </a:r>
              </a:p>
            </p:txBody>
          </p:sp>
          <p:sp>
            <p:nvSpPr>
              <p:cNvPr id="27" name="TextBox 27"/>
              <p:cNvSpPr txBox="1"/>
              <p:nvPr/>
            </p:nvSpPr>
            <p:spPr>
              <a:xfrm>
                <a:off x="774192" y="4350068"/>
                <a:ext cx="2654869"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Tách phần cứng khỏi test logic</a:t>
                </a:r>
              </a:p>
            </p:txBody>
          </p:sp>
          <p:sp>
            <p:nvSpPr>
              <p:cNvPr id="28" name="TextBox 28"/>
              <p:cNvSpPr txBox="1"/>
              <p:nvPr/>
            </p:nvSpPr>
            <p:spPr>
              <a:xfrm>
                <a:off x="774192" y="4645342"/>
                <a:ext cx="2337421"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Thiết kế để mở rộng về sau</a:t>
                </a:r>
              </a:p>
            </p:txBody>
          </p:sp>
        </p:grpSp>
        <p:grpSp>
          <p:nvGrpSpPr>
            <p:cNvPr id="35" name="Group 35"/>
            <p:cNvGrpSpPr/>
            <p:nvPr/>
          </p:nvGrpSpPr>
          <p:grpSpPr>
            <a:xfrm>
              <a:off x="4210050" y="3457575"/>
              <a:ext cx="3429000" cy="2143125"/>
              <a:chOff x="4210050" y="3457575"/>
              <a:chExt cx="3429000" cy="2143125"/>
            </a:xfrm>
          </p:grpSpPr>
          <p:sp>
            <p:nvSpPr>
              <p:cNvPr id="30" name="Rectangle 30"/>
              <p:cNvSpPr/>
              <p:nvPr/>
            </p:nvSpPr>
            <p:spPr>
              <a:xfrm>
                <a:off x="4210050" y="3457575"/>
                <a:ext cx="3429000" cy="2143125"/>
              </a:xfrm>
              <a:prstGeom prst="roundRect">
                <a:avLst>
                  <a:gd name="adj" fmla="val 7111"/>
                </a:avLst>
              </a:prstGeom>
              <a:solidFill>
                <a:srgbClr val="FFF7E8"/>
              </a:solidFill>
              <a:ln>
                <a:noFill/>
              </a:ln>
            </p:spPr>
            <p:txBody>
              <a:bodyPr/>
              <a:lstStyle/>
              <a:p>
                <a:endParaRPr lang="en-US"/>
              </a:p>
            </p:txBody>
          </p:sp>
          <p:sp>
            <p:nvSpPr>
              <p:cNvPr id="31" name="TextBox 31"/>
              <p:cNvSpPr txBox="1"/>
              <p:nvPr/>
            </p:nvSpPr>
            <p:spPr>
              <a:xfrm>
                <a:off x="4450461" y="3675221"/>
                <a:ext cx="1848969" cy="278702"/>
              </a:xfrm>
              <a:prstGeom prst="rect">
                <a:avLst/>
              </a:prstGeom>
              <a:noFill/>
              <a:ln>
                <a:noFill/>
              </a:ln>
            </p:spPr>
            <p:txBody>
              <a:bodyPr wrap="none" lIns="0" tIns="0" rIns="0" bIns="0" anchor="t" anchorCtr="0">
                <a:spAutoFit/>
              </a:bodyPr>
              <a:lstStyle/>
              <a:p>
                <a:pPr algn="l"/>
                <a:r>
                  <a:rPr lang="en-US" sz="1420" b="1" dirty="0">
                    <a:solidFill>
                      <a:srgbClr val="B56A00"/>
                    </a:solidFill>
                    <a:latin typeface="+mn-lt"/>
                    <a:ea typeface="+mn-ea"/>
                    <a:cs typeface="+mn-cs"/>
                  </a:rPr>
                  <a:t>BÀI HỌC &amp; KHÓ KHĂN</a:t>
                </a:r>
              </a:p>
            </p:txBody>
          </p:sp>
          <p:sp>
            <p:nvSpPr>
              <p:cNvPr id="32" name="TextBox 32"/>
              <p:cNvSpPr txBox="1"/>
              <p:nvPr/>
            </p:nvSpPr>
            <p:spPr>
              <a:xfrm>
                <a:off x="4450842" y="4054792"/>
                <a:ext cx="2837283"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Khó đồng bộ cơ khí–sensor–code</a:t>
                </a:r>
              </a:p>
            </p:txBody>
          </p:sp>
          <p:sp>
            <p:nvSpPr>
              <p:cNvPr id="33" name="TextBox 33"/>
              <p:cNvSpPr txBox="1"/>
              <p:nvPr/>
            </p:nvSpPr>
            <p:spPr>
              <a:xfrm>
                <a:off x="4450842" y="4350068"/>
                <a:ext cx="3045754"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Cần chốt interface trước tích hợp</a:t>
                </a:r>
              </a:p>
            </p:txBody>
          </p:sp>
          <p:sp>
            <p:nvSpPr>
              <p:cNvPr id="34" name="TextBox 34"/>
              <p:cNvSpPr txBox="1"/>
              <p:nvPr/>
            </p:nvSpPr>
            <p:spPr>
              <a:xfrm>
                <a:off x="4450842" y="4645342"/>
                <a:ext cx="2573405"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Test sớm từng module độc lập</a:t>
                </a:r>
              </a:p>
            </p:txBody>
          </p:sp>
        </p:grpSp>
        <p:grpSp>
          <p:nvGrpSpPr>
            <p:cNvPr id="42" name="Group 42"/>
            <p:cNvGrpSpPr/>
            <p:nvPr/>
          </p:nvGrpSpPr>
          <p:grpSpPr>
            <a:xfrm>
              <a:off x="7886700" y="3457575"/>
              <a:ext cx="3771900" cy="2143125"/>
              <a:chOff x="7886700" y="3457575"/>
              <a:chExt cx="3771900" cy="2143125"/>
            </a:xfrm>
          </p:grpSpPr>
          <p:sp>
            <p:nvSpPr>
              <p:cNvPr id="36" name="Rectangle 36"/>
              <p:cNvSpPr/>
              <p:nvPr/>
            </p:nvSpPr>
            <p:spPr>
              <a:xfrm>
                <a:off x="7886700" y="3457575"/>
                <a:ext cx="3771900" cy="2143125"/>
              </a:xfrm>
              <a:prstGeom prst="roundRect">
                <a:avLst>
                  <a:gd name="adj" fmla="val 7111"/>
                </a:avLst>
              </a:prstGeom>
              <a:solidFill>
                <a:schemeClr val="accent1"/>
              </a:solidFill>
              <a:ln>
                <a:noFill/>
              </a:ln>
            </p:spPr>
            <p:txBody>
              <a:bodyPr/>
              <a:lstStyle/>
              <a:p>
                <a:endParaRPr lang="en-US"/>
              </a:p>
            </p:txBody>
          </p:sp>
          <p:sp>
            <p:nvSpPr>
              <p:cNvPr id="37" name="TextBox 37"/>
              <p:cNvSpPr txBox="1"/>
              <p:nvPr/>
            </p:nvSpPr>
            <p:spPr>
              <a:xfrm>
                <a:off x="8127111" y="3675221"/>
                <a:ext cx="1901989" cy="278702"/>
              </a:xfrm>
              <a:prstGeom prst="rect">
                <a:avLst/>
              </a:prstGeom>
              <a:noFill/>
              <a:ln>
                <a:noFill/>
              </a:ln>
            </p:spPr>
            <p:txBody>
              <a:bodyPr wrap="none" lIns="0" tIns="0" rIns="0" bIns="0" anchor="t" anchorCtr="0">
                <a:spAutoFit/>
              </a:bodyPr>
              <a:lstStyle/>
              <a:p>
                <a:pPr algn="l"/>
                <a:r>
                  <a:rPr lang="en-US" sz="1420" b="1" dirty="0">
                    <a:solidFill>
                      <a:srgbClr val="FFFFFF"/>
                    </a:solidFill>
                    <a:latin typeface="+mn-lt"/>
                    <a:ea typeface="+mn-ea"/>
                    <a:cs typeface="+mn-cs"/>
                  </a:rPr>
                  <a:t>THÀNH TÍCH NỔI BẬT</a:t>
                </a:r>
              </a:p>
            </p:txBody>
          </p:sp>
          <p:sp>
            <p:nvSpPr>
              <p:cNvPr id="38" name="TextBox 38"/>
              <p:cNvSpPr txBox="1"/>
              <p:nvPr/>
            </p:nvSpPr>
            <p:spPr>
              <a:xfrm>
                <a:off x="8116062" y="4088130"/>
                <a:ext cx="876201" cy="704088"/>
              </a:xfrm>
              <a:prstGeom prst="rect">
                <a:avLst/>
              </a:prstGeom>
              <a:noFill/>
              <a:ln>
                <a:noFill/>
              </a:ln>
            </p:spPr>
            <p:txBody>
              <a:bodyPr wrap="none" lIns="0" tIns="0" rIns="0" bIns="0" anchor="t" anchorCtr="0">
                <a:spAutoFit/>
              </a:bodyPr>
              <a:lstStyle/>
              <a:p>
                <a:pPr algn="l"/>
                <a:r>
                  <a:rPr lang="en-US" sz="3600" b="1" dirty="0">
                    <a:solidFill>
                      <a:srgbClr val="FFFFFF"/>
                    </a:solidFill>
                    <a:latin typeface="+mn-lt"/>
                    <a:ea typeface="+mn-ea"/>
                    <a:cs typeface="+mn-cs"/>
                  </a:rPr>
                  <a:t>4/5</a:t>
                </a:r>
              </a:p>
            </p:txBody>
          </p:sp>
          <p:sp>
            <p:nvSpPr>
              <p:cNvPr id="39" name="TextBox 39"/>
              <p:cNvSpPr txBox="1"/>
              <p:nvPr/>
            </p:nvSpPr>
            <p:spPr>
              <a:xfrm>
                <a:off x="9136380" y="4276725"/>
                <a:ext cx="971026" cy="293370"/>
              </a:xfrm>
              <a:prstGeom prst="rect">
                <a:avLst/>
              </a:prstGeom>
              <a:noFill/>
              <a:ln>
                <a:noFill/>
              </a:ln>
            </p:spPr>
            <p:txBody>
              <a:bodyPr wrap="none" lIns="0" tIns="0" rIns="0" bIns="0" anchor="t" anchorCtr="0">
                <a:spAutoFit/>
              </a:bodyPr>
              <a:lstStyle/>
              <a:p>
                <a:pPr algn="l"/>
                <a:r>
                  <a:rPr lang="en-US" sz="1500" dirty="0">
                    <a:solidFill>
                      <a:srgbClr val="FFFFFF"/>
                    </a:solidFill>
                    <a:latin typeface="+mn-lt"/>
                    <a:ea typeface="+mn-ea"/>
                    <a:cs typeface="+mn-cs"/>
                  </a:rPr>
                  <a:t>task Done</a:t>
                </a:r>
              </a:p>
            </p:txBody>
          </p:sp>
          <p:sp>
            <p:nvSpPr>
              <p:cNvPr id="40" name="TextBox 40"/>
              <p:cNvSpPr txBox="1"/>
              <p:nvPr/>
            </p:nvSpPr>
            <p:spPr>
              <a:xfrm>
                <a:off x="8127873" y="4815364"/>
                <a:ext cx="2667260" cy="249364"/>
              </a:xfrm>
              <a:prstGeom prst="rect">
                <a:avLst/>
              </a:prstGeom>
              <a:noFill/>
              <a:ln>
                <a:noFill/>
              </a:ln>
            </p:spPr>
            <p:txBody>
              <a:bodyPr wrap="none" lIns="0" tIns="0" rIns="0" bIns="0" anchor="t" anchorCtr="0">
                <a:spAutoFit/>
              </a:bodyPr>
              <a:lstStyle/>
              <a:p>
                <a:pPr algn="l"/>
                <a:r>
                  <a:rPr lang="en-US" sz="1280" dirty="0">
                    <a:solidFill>
                      <a:srgbClr val="FFFFFF"/>
                    </a:solidFill>
                    <a:latin typeface="+mn-lt"/>
                    <a:ea typeface="+mn-ea"/>
                    <a:cs typeface="+mn-cs"/>
                  </a:rPr>
                  <a:t>Đặt nền kiến trúc cho Auto Test</a:t>
                </a:r>
              </a:p>
            </p:txBody>
          </p:sp>
        </p:grpSp>
      </p:grpSp>
      <p:sp>
        <p:nvSpPr>
          <p:cNvPr id="44" name="TextBox 44"/>
          <p:cNvSpPr txBox="1"/>
          <p:nvPr/>
        </p:nvSpPr>
        <p:spPr>
          <a:xfrm>
            <a:off x="11141640" y="6630352"/>
            <a:ext cx="484194" cy="205359"/>
          </a:xfrm>
          <a:prstGeom prst="rect">
            <a:avLst/>
          </a:prstGeom>
          <a:noFill/>
          <a:ln>
            <a:noFill/>
          </a:ln>
        </p:spPr>
        <p:txBody>
          <a:bodyPr wrap="none" lIns="0" tIns="0" rIns="0" bIns="0" anchor="t" anchorCtr="0">
            <a:spAutoFit/>
          </a:bodyPr>
          <a:lstStyle/>
          <a:p>
            <a:pPr algn="r"/>
            <a:r>
              <a:rPr lang="en-US" sz="1050" dirty="0">
                <a:solidFill>
                  <a:srgbClr val="66706A"/>
                </a:solidFill>
                <a:latin typeface="+mn-lt"/>
                <a:ea typeface="+mn-ea"/>
                <a:cs typeface="+mn-cs"/>
              </a:rPr>
              <a:t>12 / 23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3"/>
          <a:stretch>
            <a:fillRect/>
          </a:stretch>
        </p:blipFill>
        <p:spPr>
          <a:xfrm>
            <a:off x="486276" y="266700"/>
            <a:ext cx="1313447" cy="381000"/>
          </a:xfrm>
          <a:prstGeom prst="rect">
            <a:avLst/>
          </a:prstGeom>
        </p:spPr>
      </p:pic>
      <p:grpSp>
        <p:nvGrpSpPr>
          <p:cNvPr id="6" name="Group 6"/>
          <p:cNvGrpSpPr/>
          <p:nvPr/>
        </p:nvGrpSpPr>
        <p:grpSpPr>
          <a:xfrm>
            <a:off x="2462784" y="266700"/>
            <a:ext cx="9157716" cy="617601"/>
            <a:chOff x="2462784" y="266700"/>
            <a:chExt cx="9157716" cy="617601"/>
          </a:xfrm>
        </p:grpSpPr>
        <p:sp>
          <p:nvSpPr>
            <p:cNvPr id="3" name="TextBox 3"/>
            <p:cNvSpPr txBox="1"/>
            <p:nvPr/>
          </p:nvSpPr>
          <p:spPr>
            <a:xfrm>
              <a:off x="2462784" y="356235"/>
              <a:ext cx="3697062" cy="528066"/>
            </a:xfrm>
            <a:prstGeom prst="rect">
              <a:avLst/>
            </a:prstGeom>
            <a:noFill/>
            <a:ln>
              <a:noFill/>
            </a:ln>
          </p:spPr>
          <p:txBody>
            <a:bodyPr wrap="none" lIns="0" tIns="0" rIns="0" bIns="0" anchor="t" anchorCtr="0">
              <a:spAutoFit/>
            </a:bodyPr>
            <a:lstStyle/>
            <a:p>
              <a:pPr algn="l"/>
              <a:r>
                <a:rPr lang="en-US" sz="2700" b="1" dirty="0">
                  <a:solidFill>
                    <a:schemeClr val="accent1"/>
                  </a:solidFill>
                  <a:latin typeface="+mn-lt"/>
                  <a:ea typeface="+mn-ea"/>
                  <a:cs typeface="+mn-cs"/>
                </a:rPr>
                <a:t>3. Dự án Tool Design</a:t>
              </a:r>
            </a:p>
          </p:txBody>
        </p:sp>
        <p:sp>
          <p:nvSpPr>
            <p:cNvPr id="4" name="Rectangle 4"/>
            <p:cNvSpPr/>
            <p:nvPr/>
          </p:nvSpPr>
          <p:spPr>
            <a:xfrm>
              <a:off x="9315450" y="266700"/>
              <a:ext cx="2305050" cy="400050"/>
            </a:xfrm>
            <a:prstGeom prst="roundRect">
              <a:avLst>
                <a:gd name="adj" fmla="val 9524"/>
              </a:avLst>
            </a:prstGeom>
            <a:solidFill>
              <a:srgbClr val="EAF6F0"/>
            </a:solidFill>
            <a:ln>
              <a:noFill/>
            </a:ln>
          </p:spPr>
          <p:txBody>
            <a:bodyPr/>
            <a:lstStyle/>
            <a:p>
              <a:endParaRPr lang="en-US"/>
            </a:p>
          </p:txBody>
        </p:sp>
        <p:sp>
          <p:nvSpPr>
            <p:cNvPr id="5" name="TextBox 5"/>
            <p:cNvSpPr txBox="1"/>
            <p:nvPr/>
          </p:nvSpPr>
          <p:spPr>
            <a:xfrm>
              <a:off x="9500866" y="386239"/>
              <a:ext cx="1934218" cy="249364"/>
            </a:xfrm>
            <a:prstGeom prst="rect">
              <a:avLst/>
            </a:prstGeom>
            <a:noFill/>
            <a:ln>
              <a:noFill/>
            </a:ln>
          </p:spPr>
          <p:txBody>
            <a:bodyPr wrap="none" lIns="0" tIns="0" rIns="0" bIns="0" anchor="t" anchorCtr="0">
              <a:spAutoFit/>
            </a:bodyPr>
            <a:lstStyle/>
            <a:p>
              <a:pPr algn="ctr"/>
              <a:r>
                <a:rPr lang="en-US" sz="1280" b="1" dirty="0">
                  <a:solidFill>
                    <a:schemeClr val="accent1"/>
                  </a:solidFill>
                  <a:latin typeface="+mn-lt"/>
                  <a:ea typeface="+mn-ea"/>
                  <a:cs typeface="+mn-cs"/>
                </a:rPr>
                <a:t>18/05/2026–ONGOING</a:t>
              </a:r>
            </a:p>
          </p:txBody>
        </p:sp>
      </p:grpSp>
      <p:grpSp>
        <p:nvGrpSpPr>
          <p:cNvPr id="10" name="Group 10"/>
          <p:cNvGrpSpPr/>
          <p:nvPr/>
        </p:nvGrpSpPr>
        <p:grpSpPr>
          <a:xfrm>
            <a:off x="533400" y="1066800"/>
            <a:ext cx="11125200" cy="723900"/>
            <a:chOff x="533400" y="1066800"/>
            <a:chExt cx="11125200" cy="723900"/>
          </a:xfrm>
        </p:grpSpPr>
        <p:sp>
          <p:nvSpPr>
            <p:cNvPr id="7" name="Rectangle 7"/>
            <p:cNvSpPr/>
            <p:nvPr/>
          </p:nvSpPr>
          <p:spPr>
            <a:xfrm>
              <a:off x="533400" y="1066800"/>
              <a:ext cx="11125200" cy="723900"/>
            </a:xfrm>
            <a:prstGeom prst="roundRect">
              <a:avLst>
                <a:gd name="adj" fmla="val 5263"/>
              </a:avLst>
            </a:prstGeom>
            <a:solidFill>
              <a:schemeClr val="accent1"/>
            </a:solidFill>
            <a:ln>
              <a:noFill/>
            </a:ln>
          </p:spPr>
          <p:txBody>
            <a:bodyPr/>
            <a:lstStyle/>
            <a:p>
              <a:endParaRPr lang="en-US"/>
            </a:p>
          </p:txBody>
        </p:sp>
        <p:sp>
          <p:nvSpPr>
            <p:cNvPr id="8" name="TextBox 8"/>
            <p:cNvSpPr txBox="1"/>
            <p:nvPr/>
          </p:nvSpPr>
          <p:spPr>
            <a:xfrm>
              <a:off x="775335" y="1240631"/>
              <a:ext cx="2027085" cy="220028"/>
            </a:xfrm>
            <a:prstGeom prst="rect">
              <a:avLst/>
            </a:prstGeom>
            <a:noFill/>
            <a:ln>
              <a:noFill/>
            </a:ln>
          </p:spPr>
          <p:txBody>
            <a:bodyPr wrap="none" lIns="0" tIns="0" rIns="0" bIns="0" anchor="t" anchorCtr="0">
              <a:spAutoFit/>
            </a:bodyPr>
            <a:lstStyle/>
            <a:p>
              <a:pPr algn="l"/>
              <a:r>
                <a:rPr lang="en-US" sz="1120" b="1" dirty="0">
                  <a:solidFill>
                    <a:srgbClr val="FFFFFF"/>
                  </a:solidFill>
                  <a:latin typeface="+mn-lt"/>
                  <a:ea typeface="+mn-ea"/>
                  <a:cs typeface="+mn-cs"/>
                </a:rPr>
                <a:t>PHẠM VI ĐÃ QUY HOẠCH LẠI</a:t>
              </a:r>
            </a:p>
          </p:txBody>
        </p:sp>
        <p:sp>
          <p:nvSpPr>
            <p:cNvPr id="9" name="TextBox 9"/>
            <p:cNvSpPr txBox="1"/>
            <p:nvPr/>
          </p:nvSpPr>
          <p:spPr>
            <a:xfrm>
              <a:off x="772668" y="1450658"/>
              <a:ext cx="8052052" cy="322707"/>
            </a:xfrm>
            <a:prstGeom prst="rect">
              <a:avLst/>
            </a:prstGeom>
            <a:noFill/>
            <a:ln>
              <a:noFill/>
            </a:ln>
          </p:spPr>
          <p:txBody>
            <a:bodyPr wrap="none" lIns="0" tIns="0" rIns="0" bIns="0" anchor="t" anchorCtr="0">
              <a:spAutoFit/>
            </a:bodyPr>
            <a:lstStyle/>
            <a:p>
              <a:pPr algn="l"/>
              <a:r>
                <a:rPr lang="en-US" sz="1650" b="1" dirty="0">
                  <a:solidFill>
                    <a:srgbClr val="FFFFFF"/>
                  </a:solidFill>
                  <a:latin typeface="+mn-lt"/>
                  <a:ea typeface="+mn-ea"/>
                  <a:cs typeface="+mn-cs"/>
                </a:rPr>
                <a:t>Toàn bộ tool test và tool loader sản xuất được quản lý dưới Tool Design.</a:t>
              </a:r>
            </a:p>
          </p:txBody>
        </p:sp>
      </p:grpSp>
      <p:grpSp>
        <p:nvGrpSpPr>
          <p:cNvPr id="15" name="Group 15"/>
          <p:cNvGrpSpPr/>
          <p:nvPr/>
        </p:nvGrpSpPr>
        <p:grpSpPr>
          <a:xfrm>
            <a:off x="526923" y="2126932"/>
            <a:ext cx="5226177" cy="663893"/>
            <a:chOff x="526923" y="2126932"/>
            <a:chExt cx="5226177" cy="663893"/>
          </a:xfrm>
        </p:grpSpPr>
        <p:sp>
          <p:nvSpPr>
            <p:cNvPr id="11" name="TextBox 11"/>
            <p:cNvSpPr txBox="1"/>
            <p:nvPr/>
          </p:nvSpPr>
          <p:spPr>
            <a:xfrm>
              <a:off x="526923" y="2167414"/>
              <a:ext cx="211976"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01</a:t>
              </a:r>
            </a:p>
          </p:txBody>
        </p:sp>
        <p:sp>
          <p:nvSpPr>
            <p:cNvPr id="12" name="TextBox 12"/>
            <p:cNvSpPr txBox="1"/>
            <p:nvPr/>
          </p:nvSpPr>
          <p:spPr>
            <a:xfrm>
              <a:off x="1020318" y="2126932"/>
              <a:ext cx="1532473"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mn-lt"/>
                  <a:ea typeface="+mn-ea"/>
                  <a:cs typeface="+mn-cs"/>
                </a:rPr>
                <a:t>Tool nguồn DC</a:t>
              </a:r>
            </a:p>
          </p:txBody>
        </p:sp>
        <p:sp>
          <p:nvSpPr>
            <p:cNvPr id="13" name="TextBox 13"/>
            <p:cNvSpPr txBox="1"/>
            <p:nvPr/>
          </p:nvSpPr>
          <p:spPr>
            <a:xfrm>
              <a:off x="1022223" y="2434114"/>
              <a:ext cx="3878848" cy="249364"/>
            </a:xfrm>
            <a:prstGeom prst="rect">
              <a:avLst/>
            </a:prstGeom>
            <a:noFill/>
            <a:ln>
              <a:noFill/>
            </a:ln>
          </p:spPr>
          <p:txBody>
            <a:bodyPr wrap="none" lIns="0" tIns="0" rIns="0" bIns="0" anchor="t" anchorCtr="0">
              <a:spAutoFit/>
            </a:bodyPr>
            <a:lstStyle/>
            <a:p>
              <a:pPr algn="l"/>
              <a:r>
                <a:rPr lang="en-US" sz="1280" dirty="0">
                  <a:solidFill>
                    <a:srgbClr val="66706A"/>
                  </a:solidFill>
                  <a:latin typeface="+mn-lt"/>
                  <a:ea typeface="+mn-ea"/>
                  <a:cs typeface="+mn-cs"/>
                </a:rPr>
                <a:t>Hai vòng chỉnh sửa theo flow vận hành nhà máy</a:t>
              </a:r>
            </a:p>
          </p:txBody>
        </p:sp>
        <p:sp>
          <p:nvSpPr>
            <p:cNvPr id="14" name="Line 14"/>
            <p:cNvSpPr/>
            <p:nvPr/>
          </p:nvSpPr>
          <p:spPr>
            <a:xfrm>
              <a:off x="533400" y="2781300"/>
              <a:ext cx="5219700" cy="9525"/>
            </a:xfrm>
            <a:custGeom>
              <a:avLst/>
              <a:gdLst/>
              <a:ahLst/>
              <a:cxnLst/>
              <a:rect l="l" t="t" r="r" b="b"/>
              <a:pathLst>
                <a:path w="5219700" h="9525">
                  <a:moveTo>
                    <a:pt x="0" y="0"/>
                  </a:moveTo>
                  <a:lnTo>
                    <a:pt x="5219700" y="0"/>
                  </a:lnTo>
                </a:path>
              </a:pathLst>
            </a:custGeom>
            <a:noFill/>
            <a:ln w="19050">
              <a:solidFill>
                <a:srgbClr val="D7E4DD"/>
              </a:solidFill>
            </a:ln>
          </p:spPr>
          <p:txBody>
            <a:bodyPr/>
            <a:lstStyle/>
            <a:p>
              <a:endParaRPr lang="en-US"/>
            </a:p>
          </p:txBody>
        </p:sp>
      </p:grpSp>
      <p:grpSp>
        <p:nvGrpSpPr>
          <p:cNvPr id="20" name="Group 20"/>
          <p:cNvGrpSpPr/>
          <p:nvPr/>
        </p:nvGrpSpPr>
        <p:grpSpPr>
          <a:xfrm>
            <a:off x="6146673" y="2126932"/>
            <a:ext cx="5511927" cy="663893"/>
            <a:chOff x="6146673" y="2126932"/>
            <a:chExt cx="5511927" cy="663893"/>
          </a:xfrm>
        </p:grpSpPr>
        <p:sp>
          <p:nvSpPr>
            <p:cNvPr id="16" name="TextBox 16"/>
            <p:cNvSpPr txBox="1"/>
            <p:nvPr/>
          </p:nvSpPr>
          <p:spPr>
            <a:xfrm>
              <a:off x="6146673" y="2167414"/>
              <a:ext cx="211976"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02</a:t>
              </a:r>
            </a:p>
          </p:txBody>
        </p:sp>
        <p:sp>
          <p:nvSpPr>
            <p:cNvPr id="17" name="TextBox 17"/>
            <p:cNvSpPr txBox="1"/>
            <p:nvPr/>
          </p:nvSpPr>
          <p:spPr>
            <a:xfrm>
              <a:off x="6640068" y="2126932"/>
              <a:ext cx="1384807"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mn-lt"/>
                  <a:ea typeface="+mn-ea"/>
                  <a:cs typeface="+mn-cs"/>
                </a:rPr>
                <a:t>Loader Luto</a:t>
              </a:r>
            </a:p>
          </p:txBody>
        </p:sp>
        <p:sp>
          <p:nvSpPr>
            <p:cNvPr id="18" name="TextBox 18"/>
            <p:cNvSpPr txBox="1"/>
            <p:nvPr/>
          </p:nvSpPr>
          <p:spPr>
            <a:xfrm>
              <a:off x="6641973" y="2434114"/>
              <a:ext cx="4085612" cy="249364"/>
            </a:xfrm>
            <a:prstGeom prst="rect">
              <a:avLst/>
            </a:prstGeom>
            <a:noFill/>
            <a:ln>
              <a:noFill/>
            </a:ln>
          </p:spPr>
          <p:txBody>
            <a:bodyPr wrap="none" lIns="0" tIns="0" rIns="0" bIns="0" anchor="t" anchorCtr="0">
              <a:spAutoFit/>
            </a:bodyPr>
            <a:lstStyle/>
            <a:p>
              <a:pPr algn="l"/>
              <a:r>
                <a:rPr lang="en-US" sz="1280" dirty="0">
                  <a:solidFill>
                    <a:srgbClr val="66706A"/>
                  </a:solidFill>
                  <a:latin typeface="+mn-lt"/>
                  <a:ea typeface="+mn-ea"/>
                  <a:cs typeface="+mn-cs"/>
                </a:rPr>
                <a:t>Hoàn thành, bàn giao và làm rõ interface sử dụng</a:t>
              </a:r>
            </a:p>
          </p:txBody>
        </p:sp>
        <p:sp>
          <p:nvSpPr>
            <p:cNvPr id="19" name="Line 19"/>
            <p:cNvSpPr/>
            <p:nvPr/>
          </p:nvSpPr>
          <p:spPr>
            <a:xfrm>
              <a:off x="6153150" y="2781300"/>
              <a:ext cx="5505450" cy="9525"/>
            </a:xfrm>
            <a:custGeom>
              <a:avLst/>
              <a:gdLst/>
              <a:ahLst/>
              <a:cxnLst/>
              <a:rect l="l" t="t" r="r" b="b"/>
              <a:pathLst>
                <a:path w="5505450" h="9525">
                  <a:moveTo>
                    <a:pt x="0" y="0"/>
                  </a:moveTo>
                  <a:lnTo>
                    <a:pt x="5505450" y="0"/>
                  </a:lnTo>
                </a:path>
              </a:pathLst>
            </a:custGeom>
            <a:noFill/>
            <a:ln w="19050">
              <a:solidFill>
                <a:srgbClr val="D7E4DD"/>
              </a:solidFill>
            </a:ln>
          </p:spPr>
          <p:txBody>
            <a:bodyPr/>
            <a:lstStyle/>
            <a:p>
              <a:endParaRPr lang="en-US"/>
            </a:p>
          </p:txBody>
        </p:sp>
      </p:grpSp>
      <p:grpSp>
        <p:nvGrpSpPr>
          <p:cNvPr id="25" name="Group 25"/>
          <p:cNvGrpSpPr/>
          <p:nvPr/>
        </p:nvGrpSpPr>
        <p:grpSpPr>
          <a:xfrm>
            <a:off x="526923" y="3136582"/>
            <a:ext cx="5226177" cy="663893"/>
            <a:chOff x="526923" y="3136582"/>
            <a:chExt cx="5226177" cy="663893"/>
          </a:xfrm>
        </p:grpSpPr>
        <p:sp>
          <p:nvSpPr>
            <p:cNvPr id="21" name="TextBox 21"/>
            <p:cNvSpPr txBox="1"/>
            <p:nvPr/>
          </p:nvSpPr>
          <p:spPr>
            <a:xfrm>
              <a:off x="526923" y="3177064"/>
              <a:ext cx="211976"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03</a:t>
              </a:r>
            </a:p>
          </p:txBody>
        </p:sp>
        <p:sp>
          <p:nvSpPr>
            <p:cNvPr id="22" name="TextBox 22"/>
            <p:cNvSpPr txBox="1"/>
            <p:nvPr/>
          </p:nvSpPr>
          <p:spPr>
            <a:xfrm>
              <a:off x="1020318" y="3136582"/>
              <a:ext cx="3145049"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mn-lt"/>
                  <a:ea typeface="+mn-ea"/>
                  <a:cs typeface="+mn-cs"/>
                </a:rPr>
                <a:t>Tool test &amp; loader Lumes V2</a:t>
              </a:r>
            </a:p>
          </p:txBody>
        </p:sp>
        <p:sp>
          <p:nvSpPr>
            <p:cNvPr id="23" name="TextBox 23"/>
            <p:cNvSpPr txBox="1"/>
            <p:nvPr/>
          </p:nvSpPr>
          <p:spPr>
            <a:xfrm>
              <a:off x="1022223" y="3443764"/>
              <a:ext cx="4111498" cy="249364"/>
            </a:xfrm>
            <a:prstGeom prst="rect">
              <a:avLst/>
            </a:prstGeom>
            <a:noFill/>
            <a:ln>
              <a:noFill/>
            </a:ln>
          </p:spPr>
          <p:txBody>
            <a:bodyPr wrap="none" lIns="0" tIns="0" rIns="0" bIns="0" anchor="t" anchorCtr="0">
              <a:spAutoFit/>
            </a:bodyPr>
            <a:lstStyle/>
            <a:p>
              <a:pPr algn="l"/>
              <a:r>
                <a:rPr lang="en-US" sz="1280" dirty="0">
                  <a:solidFill>
                    <a:srgbClr val="66706A"/>
                  </a:solidFill>
                  <a:latin typeface="+mn-lt"/>
                  <a:ea typeface="+mn-ea"/>
                  <a:cs typeface="+mn-cs"/>
                </a:rPr>
                <a:t>Tách công đoạn test nguồn và nạp code mạch main</a:t>
              </a:r>
            </a:p>
          </p:txBody>
        </p:sp>
        <p:sp>
          <p:nvSpPr>
            <p:cNvPr id="24" name="Line 24"/>
            <p:cNvSpPr/>
            <p:nvPr/>
          </p:nvSpPr>
          <p:spPr>
            <a:xfrm>
              <a:off x="533400" y="3790950"/>
              <a:ext cx="5219700" cy="9525"/>
            </a:xfrm>
            <a:custGeom>
              <a:avLst/>
              <a:gdLst/>
              <a:ahLst/>
              <a:cxnLst/>
              <a:rect l="l" t="t" r="r" b="b"/>
              <a:pathLst>
                <a:path w="5219700" h="9525">
                  <a:moveTo>
                    <a:pt x="0" y="0"/>
                  </a:moveTo>
                  <a:lnTo>
                    <a:pt x="5219700" y="0"/>
                  </a:lnTo>
                </a:path>
              </a:pathLst>
            </a:custGeom>
            <a:noFill/>
            <a:ln w="19050">
              <a:solidFill>
                <a:srgbClr val="D7E4DD"/>
              </a:solidFill>
            </a:ln>
          </p:spPr>
          <p:txBody>
            <a:bodyPr/>
            <a:lstStyle/>
            <a:p>
              <a:endParaRPr lang="en-US"/>
            </a:p>
          </p:txBody>
        </p:sp>
      </p:grpSp>
      <p:grpSp>
        <p:nvGrpSpPr>
          <p:cNvPr id="30" name="Group 30"/>
          <p:cNvGrpSpPr/>
          <p:nvPr/>
        </p:nvGrpSpPr>
        <p:grpSpPr>
          <a:xfrm>
            <a:off x="6146673" y="3136582"/>
            <a:ext cx="5511927" cy="663893"/>
            <a:chOff x="6146673" y="3136582"/>
            <a:chExt cx="5511927" cy="663893"/>
          </a:xfrm>
        </p:grpSpPr>
        <p:sp>
          <p:nvSpPr>
            <p:cNvPr id="26" name="TextBox 26"/>
            <p:cNvSpPr txBox="1"/>
            <p:nvPr/>
          </p:nvSpPr>
          <p:spPr>
            <a:xfrm>
              <a:off x="6146673" y="3177064"/>
              <a:ext cx="211976" cy="249364"/>
            </a:xfrm>
            <a:prstGeom prst="rect">
              <a:avLst/>
            </a:prstGeom>
            <a:noFill/>
            <a:ln>
              <a:noFill/>
            </a:ln>
          </p:spPr>
          <p:txBody>
            <a:bodyPr wrap="none" lIns="0" tIns="0" rIns="0" bIns="0" anchor="t" anchorCtr="0">
              <a:spAutoFit/>
            </a:bodyPr>
            <a:lstStyle/>
            <a:p>
              <a:pPr algn="l"/>
              <a:r>
                <a:rPr lang="en-US" sz="1280" b="1" dirty="0">
                  <a:solidFill>
                    <a:schemeClr val="accent2"/>
                  </a:solidFill>
                  <a:latin typeface="+mn-lt"/>
                  <a:ea typeface="+mn-ea"/>
                  <a:cs typeface="+mn-cs"/>
                </a:rPr>
                <a:t>04</a:t>
              </a:r>
            </a:p>
          </p:txBody>
        </p:sp>
        <p:sp>
          <p:nvSpPr>
            <p:cNvPr id="27" name="TextBox 27"/>
            <p:cNvSpPr txBox="1"/>
            <p:nvPr/>
          </p:nvSpPr>
          <p:spPr>
            <a:xfrm>
              <a:off x="6640068" y="3136582"/>
              <a:ext cx="2814634"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mn-lt"/>
                  <a:ea typeface="+mn-ea"/>
                  <a:cs typeface="+mn-cs"/>
                </a:rPr>
                <a:t>Tool test Smart Lighting</a:t>
              </a:r>
            </a:p>
          </p:txBody>
        </p:sp>
        <p:sp>
          <p:nvSpPr>
            <p:cNvPr id="28" name="TextBox 28"/>
            <p:cNvSpPr txBox="1"/>
            <p:nvPr/>
          </p:nvSpPr>
          <p:spPr>
            <a:xfrm>
              <a:off x="6641973" y="3443764"/>
              <a:ext cx="3728597" cy="249364"/>
            </a:xfrm>
            <a:prstGeom prst="rect">
              <a:avLst/>
            </a:prstGeom>
            <a:noFill/>
            <a:ln>
              <a:noFill/>
            </a:ln>
          </p:spPr>
          <p:txBody>
            <a:bodyPr wrap="none" lIns="0" tIns="0" rIns="0" bIns="0" anchor="t" anchorCtr="0">
              <a:spAutoFit/>
            </a:bodyPr>
            <a:lstStyle/>
            <a:p>
              <a:pPr algn="l"/>
              <a:r>
                <a:rPr lang="en-US" sz="1280" dirty="0">
                  <a:solidFill>
                    <a:srgbClr val="66706A"/>
                  </a:solidFill>
                  <a:latin typeface="+mn-lt"/>
                  <a:ea typeface="+mn-ea"/>
                  <a:cs typeface="+mn-cs"/>
                </a:rPr>
                <a:t>Deep Dimming &amp; CCT Tunable · đang triển khai</a:t>
              </a:r>
            </a:p>
          </p:txBody>
        </p:sp>
        <p:sp>
          <p:nvSpPr>
            <p:cNvPr id="29" name="Line 29"/>
            <p:cNvSpPr/>
            <p:nvPr/>
          </p:nvSpPr>
          <p:spPr>
            <a:xfrm>
              <a:off x="6153150" y="3790950"/>
              <a:ext cx="5505450" cy="9525"/>
            </a:xfrm>
            <a:custGeom>
              <a:avLst/>
              <a:gdLst/>
              <a:ahLst/>
              <a:cxnLst/>
              <a:rect l="l" t="t" r="r" b="b"/>
              <a:pathLst>
                <a:path w="5505450" h="9525">
                  <a:moveTo>
                    <a:pt x="0" y="0"/>
                  </a:moveTo>
                  <a:lnTo>
                    <a:pt x="5505450" y="0"/>
                  </a:lnTo>
                </a:path>
              </a:pathLst>
            </a:custGeom>
            <a:noFill/>
            <a:ln w="19050">
              <a:solidFill>
                <a:srgbClr val="D7E4DD"/>
              </a:solidFill>
            </a:ln>
          </p:spPr>
          <p:txBody>
            <a:bodyPr/>
            <a:lstStyle/>
            <a:p>
              <a:endParaRPr lang="en-US"/>
            </a:p>
          </p:txBody>
        </p:sp>
      </p:grpSp>
      <p:grpSp>
        <p:nvGrpSpPr>
          <p:cNvPr id="40" name="Group 40"/>
          <p:cNvGrpSpPr/>
          <p:nvPr/>
        </p:nvGrpSpPr>
        <p:grpSpPr>
          <a:xfrm>
            <a:off x="533400" y="4171950"/>
            <a:ext cx="11125200" cy="1562100"/>
            <a:chOff x="533400" y="4171950"/>
            <a:chExt cx="11125200" cy="1562100"/>
          </a:xfrm>
        </p:grpSpPr>
        <p:sp>
          <p:nvSpPr>
            <p:cNvPr id="31" name="Rectangle 31"/>
            <p:cNvSpPr/>
            <p:nvPr/>
          </p:nvSpPr>
          <p:spPr>
            <a:xfrm>
              <a:off x="533400" y="4171950"/>
              <a:ext cx="11125200" cy="1562100"/>
            </a:xfrm>
            <a:prstGeom prst="roundRect">
              <a:avLst>
                <a:gd name="adj" fmla="val 2439"/>
              </a:avLst>
            </a:prstGeom>
            <a:solidFill>
              <a:schemeClr val="lt2"/>
            </a:solidFill>
            <a:ln>
              <a:noFill/>
            </a:ln>
          </p:spPr>
          <p:txBody>
            <a:bodyPr/>
            <a:lstStyle/>
            <a:p>
              <a:endParaRPr lang="en-US"/>
            </a:p>
          </p:txBody>
        </p:sp>
        <p:sp>
          <p:nvSpPr>
            <p:cNvPr id="32" name="TextBox 32"/>
            <p:cNvSpPr txBox="1"/>
            <p:nvPr/>
          </p:nvSpPr>
          <p:spPr>
            <a:xfrm>
              <a:off x="775335" y="4355306"/>
              <a:ext cx="1215805" cy="220028"/>
            </a:xfrm>
            <a:prstGeom prst="rect">
              <a:avLst/>
            </a:prstGeom>
            <a:noFill/>
            <a:ln>
              <a:noFill/>
            </a:ln>
          </p:spPr>
          <p:txBody>
            <a:bodyPr wrap="none" lIns="0" tIns="0" rIns="0" bIns="0" anchor="t" anchorCtr="0">
              <a:spAutoFit/>
            </a:bodyPr>
            <a:lstStyle/>
            <a:p>
              <a:pPr algn="l"/>
              <a:r>
                <a:rPr lang="en-US" sz="1120" b="1" dirty="0">
                  <a:solidFill>
                    <a:srgbClr val="66706A"/>
                  </a:solidFill>
                  <a:latin typeface="+mn-lt"/>
                  <a:ea typeface="+mn-ea"/>
                  <a:cs typeface="+mn-cs"/>
                </a:rPr>
                <a:t>NĂNG LỰC CHUNG</a:t>
              </a:r>
            </a:p>
          </p:txBody>
        </p:sp>
        <p:sp>
          <p:nvSpPr>
            <p:cNvPr id="33" name="TextBox 33"/>
            <p:cNvSpPr txBox="1"/>
            <p:nvPr/>
          </p:nvSpPr>
          <p:spPr>
            <a:xfrm>
              <a:off x="772668" y="4679632"/>
              <a:ext cx="3348830"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mn-lt"/>
                  <a:ea typeface="+mn-ea"/>
                  <a:cs typeface="+mn-cs"/>
                </a:rPr>
                <a:t>Tích hợp phần cứng–phần mềm</a:t>
              </a:r>
            </a:p>
          </p:txBody>
        </p:sp>
        <p:sp>
          <p:nvSpPr>
            <p:cNvPr id="34" name="TextBox 34"/>
            <p:cNvSpPr txBox="1"/>
            <p:nvPr/>
          </p:nvSpPr>
          <p:spPr>
            <a:xfrm>
              <a:off x="774573" y="5034439"/>
              <a:ext cx="3112020" cy="249364"/>
            </a:xfrm>
            <a:prstGeom prst="rect">
              <a:avLst/>
            </a:prstGeom>
            <a:noFill/>
            <a:ln>
              <a:noFill/>
            </a:ln>
          </p:spPr>
          <p:txBody>
            <a:bodyPr wrap="none" lIns="0" tIns="0" rIns="0" bIns="0" anchor="t" anchorCtr="0">
              <a:spAutoFit/>
            </a:bodyPr>
            <a:lstStyle/>
            <a:p>
              <a:pPr algn="l"/>
              <a:r>
                <a:rPr lang="en-US" sz="1280" dirty="0">
                  <a:solidFill>
                    <a:srgbClr val="66706A"/>
                  </a:solidFill>
                  <a:latin typeface="+mn-lt"/>
                  <a:ea typeface="+mn-ea"/>
                  <a:cs typeface="+mn-cs"/>
                </a:rPr>
                <a:t>Đo lường · giao tiếp thiết bị · logging</a:t>
              </a:r>
            </a:p>
          </p:txBody>
        </p:sp>
        <p:sp>
          <p:nvSpPr>
            <p:cNvPr id="35" name="TextBox 35"/>
            <p:cNvSpPr txBox="1"/>
            <p:nvPr/>
          </p:nvSpPr>
          <p:spPr>
            <a:xfrm>
              <a:off x="4182618" y="4679632"/>
              <a:ext cx="2613320"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mn-lt"/>
                  <a:ea typeface="+mn-ea"/>
                  <a:cs typeface="+mn-cs"/>
                </a:rPr>
                <a:t>Thiết kế theo operator</a:t>
              </a:r>
            </a:p>
          </p:txBody>
        </p:sp>
        <p:sp>
          <p:nvSpPr>
            <p:cNvPr id="36" name="TextBox 36"/>
            <p:cNvSpPr txBox="1"/>
            <p:nvPr/>
          </p:nvSpPr>
          <p:spPr>
            <a:xfrm>
              <a:off x="4184523" y="5034439"/>
              <a:ext cx="3095716" cy="249364"/>
            </a:xfrm>
            <a:prstGeom prst="rect">
              <a:avLst/>
            </a:prstGeom>
            <a:noFill/>
            <a:ln>
              <a:noFill/>
            </a:ln>
          </p:spPr>
          <p:txBody>
            <a:bodyPr wrap="none" lIns="0" tIns="0" rIns="0" bIns="0" anchor="t" anchorCtr="0">
              <a:spAutoFit/>
            </a:bodyPr>
            <a:lstStyle/>
            <a:p>
              <a:pPr algn="l"/>
              <a:r>
                <a:rPr lang="en-US" sz="1280" dirty="0">
                  <a:solidFill>
                    <a:srgbClr val="66706A"/>
                  </a:solidFill>
                  <a:latin typeface="+mn-lt"/>
                  <a:ea typeface="+mn-ea"/>
                  <a:cs typeface="+mn-cs"/>
                </a:rPr>
                <a:t>Ít thao tác · dễ sử dụng · dễ bảo trì</a:t>
              </a:r>
            </a:p>
          </p:txBody>
        </p:sp>
        <p:sp>
          <p:nvSpPr>
            <p:cNvPr id="37" name="TextBox 37"/>
            <p:cNvSpPr txBox="1"/>
            <p:nvPr/>
          </p:nvSpPr>
          <p:spPr>
            <a:xfrm>
              <a:off x="7840218" y="4679632"/>
              <a:ext cx="2100336"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mn-lt"/>
                  <a:ea typeface="+mn-ea"/>
                  <a:cs typeface="+mn-cs"/>
                </a:rPr>
                <a:t>Chuẩn hóa bàn giao</a:t>
              </a:r>
            </a:p>
          </p:txBody>
        </p:sp>
        <p:sp>
          <p:nvSpPr>
            <p:cNvPr id="38" name="TextBox 38"/>
            <p:cNvSpPr txBox="1"/>
            <p:nvPr/>
          </p:nvSpPr>
          <p:spPr>
            <a:xfrm>
              <a:off x="7842123" y="5034439"/>
              <a:ext cx="2758705" cy="249364"/>
            </a:xfrm>
            <a:prstGeom prst="rect">
              <a:avLst/>
            </a:prstGeom>
            <a:noFill/>
            <a:ln>
              <a:noFill/>
            </a:ln>
          </p:spPr>
          <p:txBody>
            <a:bodyPr wrap="none" lIns="0" tIns="0" rIns="0" bIns="0" anchor="t" anchorCtr="0">
              <a:spAutoFit/>
            </a:bodyPr>
            <a:lstStyle/>
            <a:p>
              <a:pPr algn="l"/>
              <a:r>
                <a:rPr lang="en-US" sz="1280" dirty="0">
                  <a:solidFill>
                    <a:srgbClr val="66706A"/>
                  </a:solidFill>
                  <a:latin typeface="+mn-lt"/>
                  <a:ea typeface="+mn-ea"/>
                  <a:cs typeface="+mn-cs"/>
                </a:rPr>
                <a:t>Interface · acceptance · tài liệu</a:t>
              </a:r>
            </a:p>
          </p:txBody>
        </p:sp>
        <p:sp>
          <p:nvSpPr>
            <p:cNvPr id="39" name="Rectangle 39"/>
            <p:cNvSpPr/>
            <p:nvPr/>
          </p:nvSpPr>
          <p:spPr>
            <a:xfrm>
              <a:off x="781050" y="5429250"/>
              <a:ext cx="10553700" cy="38100"/>
            </a:xfrm>
            <a:prstGeom prst="rect">
              <a:avLst/>
            </a:prstGeom>
            <a:solidFill>
              <a:schemeClr val="accent1"/>
            </a:solidFill>
            <a:ln>
              <a:noFill/>
            </a:ln>
          </p:spPr>
          <p:txBody>
            <a:bodyPr/>
            <a:lstStyle/>
            <a:p>
              <a:endParaRPr lang="en-US"/>
            </a:p>
          </p:txBody>
        </p:sp>
      </p:grpSp>
      <p:grpSp>
        <p:nvGrpSpPr>
          <p:cNvPr id="43" name="Group 43"/>
          <p:cNvGrpSpPr/>
          <p:nvPr/>
        </p:nvGrpSpPr>
        <p:grpSpPr>
          <a:xfrm>
            <a:off x="526923" y="6044089"/>
            <a:ext cx="7926750" cy="249364"/>
            <a:chOff x="526923" y="6044089"/>
            <a:chExt cx="7926750" cy="249364"/>
          </a:xfrm>
        </p:grpSpPr>
        <p:sp>
          <p:nvSpPr>
            <p:cNvPr id="41" name="TextBox 41"/>
            <p:cNvSpPr txBox="1"/>
            <p:nvPr/>
          </p:nvSpPr>
          <p:spPr>
            <a:xfrm>
              <a:off x="526923" y="6044089"/>
              <a:ext cx="739402"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KẾT QUẢ</a:t>
              </a:r>
            </a:p>
          </p:txBody>
        </p:sp>
        <p:sp>
          <p:nvSpPr>
            <p:cNvPr id="42" name="TextBox 42"/>
            <p:cNvSpPr txBox="1"/>
            <p:nvPr/>
          </p:nvSpPr>
          <p:spPr>
            <a:xfrm>
              <a:off x="1593723" y="6044089"/>
              <a:ext cx="6859950"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Tool đã hoàn thành được dùng làm nền tái sử dụng cho các dòng sản phẩm tiếp theo.</a:t>
              </a:r>
            </a:p>
          </p:txBody>
        </p:sp>
      </p:grpSp>
      <p:sp>
        <p:nvSpPr>
          <p:cNvPr id="44" name="TextBox 44"/>
          <p:cNvSpPr txBox="1"/>
          <p:nvPr/>
        </p:nvSpPr>
        <p:spPr>
          <a:xfrm>
            <a:off x="11141640" y="6630352"/>
            <a:ext cx="484194" cy="205359"/>
          </a:xfrm>
          <a:prstGeom prst="rect">
            <a:avLst/>
          </a:prstGeom>
          <a:noFill/>
          <a:ln>
            <a:noFill/>
          </a:ln>
        </p:spPr>
        <p:txBody>
          <a:bodyPr wrap="none" lIns="0" tIns="0" rIns="0" bIns="0" anchor="t" anchorCtr="0">
            <a:spAutoFit/>
          </a:bodyPr>
          <a:lstStyle/>
          <a:p>
            <a:pPr algn="r"/>
            <a:r>
              <a:rPr lang="en-US" sz="1050" dirty="0">
                <a:solidFill>
                  <a:srgbClr val="66706A"/>
                </a:solidFill>
                <a:latin typeface="+mn-lt"/>
                <a:ea typeface="+mn-ea"/>
                <a:cs typeface="+mn-cs"/>
              </a:rPr>
              <a:t>13 / 23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3"/>
          <a:stretch>
            <a:fillRect/>
          </a:stretch>
        </p:blipFill>
        <p:spPr>
          <a:xfrm>
            <a:off x="476250" y="228600"/>
            <a:ext cx="1238250" cy="361950"/>
          </a:xfrm>
          <a:prstGeom prst="rect">
            <a:avLst/>
          </a:prstGeom>
        </p:spPr>
      </p:pic>
      <p:sp>
        <p:nvSpPr>
          <p:cNvPr id="3" name="TextBox 3"/>
          <p:cNvSpPr txBox="1"/>
          <p:nvPr/>
        </p:nvSpPr>
        <p:spPr>
          <a:xfrm>
            <a:off x="2083308" y="331470"/>
            <a:ext cx="5181739" cy="469392"/>
          </a:xfrm>
          <a:prstGeom prst="rect">
            <a:avLst/>
          </a:prstGeom>
          <a:noFill/>
          <a:ln>
            <a:noFill/>
          </a:ln>
        </p:spPr>
        <p:txBody>
          <a:bodyPr wrap="none" lIns="0" tIns="0" rIns="0" bIns="0" anchor="t" anchorCtr="0">
            <a:spAutoFit/>
          </a:bodyPr>
          <a:lstStyle/>
          <a:p>
            <a:pPr algn="l"/>
            <a:r>
              <a:rPr lang="en-US" sz="2400" b="1" dirty="0">
                <a:solidFill>
                  <a:schemeClr val="accent1"/>
                </a:solidFill>
                <a:latin typeface="+mn-lt"/>
                <a:ea typeface="+mn-ea"/>
                <a:cs typeface="+mn-cs"/>
              </a:rPr>
              <a:t>Tool Design — Giao diện vận hành</a:t>
            </a:r>
          </a:p>
        </p:txBody>
      </p:sp>
      <p:sp>
        <p:nvSpPr>
          <p:cNvPr id="4" name="Rectangle 4"/>
          <p:cNvSpPr/>
          <p:nvPr/>
        </p:nvSpPr>
        <p:spPr>
          <a:xfrm>
            <a:off x="9810750" y="247650"/>
            <a:ext cx="1809750" cy="361950"/>
          </a:xfrm>
          <a:prstGeom prst="roundRect">
            <a:avLst>
              <a:gd name="adj" fmla="val 50000"/>
            </a:avLst>
          </a:prstGeom>
          <a:solidFill>
            <a:srgbClr val="EAF6F0"/>
          </a:solidFill>
          <a:ln>
            <a:noFill/>
          </a:ln>
        </p:spPr>
        <p:txBody>
          <a:bodyPr/>
          <a:lstStyle/>
          <a:p>
            <a:endParaRPr lang="en-US"/>
          </a:p>
        </p:txBody>
      </p:sp>
      <p:sp>
        <p:nvSpPr>
          <p:cNvPr id="5" name="TextBox 5"/>
          <p:cNvSpPr txBox="1"/>
          <p:nvPr/>
        </p:nvSpPr>
        <p:spPr>
          <a:xfrm>
            <a:off x="10013332" y="364331"/>
            <a:ext cx="1404585" cy="220028"/>
          </a:xfrm>
          <a:prstGeom prst="rect">
            <a:avLst/>
          </a:prstGeom>
          <a:noFill/>
          <a:ln>
            <a:noFill/>
          </a:ln>
        </p:spPr>
        <p:txBody>
          <a:bodyPr wrap="none" lIns="0" tIns="0" rIns="0" bIns="0" anchor="t" anchorCtr="0">
            <a:spAutoFit/>
          </a:bodyPr>
          <a:lstStyle/>
          <a:p>
            <a:pPr algn="ctr"/>
            <a:r>
              <a:rPr lang="en-US" sz="1120" b="1" dirty="0">
                <a:solidFill>
                  <a:schemeClr val="accent1"/>
                </a:solidFill>
                <a:latin typeface="+mn-lt"/>
                <a:ea typeface="+mn-ea"/>
                <a:cs typeface="+mn-cs"/>
              </a:rPr>
              <a:t>21/05–27/05/2026</a:t>
            </a:r>
          </a:p>
        </p:txBody>
      </p:sp>
      <p:grpSp>
        <p:nvGrpSpPr>
          <p:cNvPr id="11" name="Group 11"/>
          <p:cNvGrpSpPr/>
          <p:nvPr/>
        </p:nvGrpSpPr>
        <p:grpSpPr>
          <a:xfrm>
            <a:off x="533400" y="876300"/>
            <a:ext cx="11125200" cy="5429250"/>
            <a:chOff x="533400" y="876300"/>
            <a:chExt cx="11125200" cy="5429250"/>
          </a:xfrm>
        </p:grpSpPr>
        <p:sp>
          <p:nvSpPr>
            <p:cNvPr id="6" name="Rectangle 6"/>
            <p:cNvSpPr/>
            <p:nvPr/>
          </p:nvSpPr>
          <p:spPr>
            <a:xfrm>
              <a:off x="533400" y="876300"/>
              <a:ext cx="11125200" cy="5429250"/>
            </a:xfrm>
            <a:prstGeom prst="roundRect">
              <a:avLst>
                <a:gd name="adj" fmla="val 3158"/>
              </a:avLst>
            </a:prstGeom>
            <a:solidFill>
              <a:schemeClr val="lt2"/>
            </a:solidFill>
            <a:ln w="19050">
              <a:solidFill>
                <a:srgbClr val="B8D8C7"/>
              </a:solidFill>
            </a:ln>
          </p:spPr>
          <p:txBody>
            <a:bodyPr/>
            <a:lstStyle/>
            <a:p>
              <a:endParaRPr lang="en-US"/>
            </a:p>
          </p:txBody>
        </p:sp>
        <p:pic>
          <p:nvPicPr>
            <p:cNvPr id="7" name="Image 7"/>
            <p:cNvPicPr>
              <a:picLocks noChangeAspect="1"/>
            </p:cNvPicPr>
            <p:nvPr/>
          </p:nvPicPr>
          <p:blipFill>
            <a:blip r:embed="rId4"/>
            <a:stretch>
              <a:fillRect/>
            </a:stretch>
          </p:blipFill>
          <p:spPr>
            <a:xfrm>
              <a:off x="1493543" y="1009650"/>
              <a:ext cx="9204913" cy="4762500"/>
            </a:xfrm>
            <a:prstGeom prst="rect">
              <a:avLst/>
            </a:prstGeom>
          </p:spPr>
        </p:pic>
        <p:sp>
          <p:nvSpPr>
            <p:cNvPr id="8" name="Rectangle 8"/>
            <p:cNvSpPr/>
            <p:nvPr/>
          </p:nvSpPr>
          <p:spPr>
            <a:xfrm>
              <a:off x="666750" y="5829300"/>
              <a:ext cx="10858500" cy="361950"/>
            </a:xfrm>
            <a:prstGeom prst="roundRect">
              <a:avLst>
                <a:gd name="adj" fmla="val 26316"/>
              </a:avLst>
            </a:prstGeom>
            <a:solidFill>
              <a:schemeClr val="lt1"/>
            </a:solidFill>
            <a:ln>
              <a:noFill/>
            </a:ln>
          </p:spPr>
          <p:txBody>
            <a:bodyPr/>
            <a:lstStyle/>
            <a:p>
              <a:endParaRPr lang="en-US"/>
            </a:p>
          </p:txBody>
        </p:sp>
        <p:sp>
          <p:nvSpPr>
            <p:cNvPr id="9" name="TextBox 9"/>
            <p:cNvSpPr txBox="1"/>
            <p:nvPr/>
          </p:nvSpPr>
          <p:spPr>
            <a:xfrm>
              <a:off x="850773" y="5929789"/>
              <a:ext cx="1016599"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THÀNH TÍCH</a:t>
              </a:r>
            </a:p>
          </p:txBody>
        </p:sp>
        <p:sp>
          <p:nvSpPr>
            <p:cNvPr id="10" name="TextBox 10"/>
            <p:cNvSpPr txBox="1"/>
            <p:nvPr/>
          </p:nvSpPr>
          <p:spPr>
            <a:xfrm>
              <a:off x="2041398" y="5929789"/>
              <a:ext cx="7299643"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Hoàn tất hai vòng chỉnh sửa, ưu tiên thao tác nhà máy, độ ổn định và khả năng bảo trì.</a:t>
              </a:r>
            </a:p>
          </p:txBody>
        </p:sp>
      </p:grpSp>
      <p:sp>
        <p:nvSpPr>
          <p:cNvPr id="12" name="TextBox 12"/>
          <p:cNvSpPr txBox="1"/>
          <p:nvPr/>
        </p:nvSpPr>
        <p:spPr>
          <a:xfrm>
            <a:off x="11141640" y="6630352"/>
            <a:ext cx="484194" cy="205359"/>
          </a:xfrm>
          <a:prstGeom prst="rect">
            <a:avLst/>
          </a:prstGeom>
          <a:noFill/>
          <a:ln>
            <a:noFill/>
          </a:ln>
        </p:spPr>
        <p:txBody>
          <a:bodyPr wrap="none" lIns="0" tIns="0" rIns="0" bIns="0" anchor="t" anchorCtr="0">
            <a:spAutoFit/>
          </a:bodyPr>
          <a:lstStyle/>
          <a:p>
            <a:pPr algn="r"/>
            <a:r>
              <a:rPr lang="en-US" sz="1050" dirty="0">
                <a:solidFill>
                  <a:srgbClr val="66706A"/>
                </a:solidFill>
                <a:latin typeface="+mn-lt"/>
                <a:ea typeface="+mn-ea"/>
                <a:cs typeface="+mn-cs"/>
              </a:rPr>
              <a:t>14 / 23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3"/>
          <a:stretch>
            <a:fillRect/>
          </a:stretch>
        </p:blipFill>
        <p:spPr>
          <a:xfrm>
            <a:off x="486276" y="266700"/>
            <a:ext cx="1313447" cy="381000"/>
          </a:xfrm>
          <a:prstGeom prst="rect">
            <a:avLst/>
          </a:prstGeom>
        </p:spPr>
      </p:pic>
      <p:grpSp>
        <p:nvGrpSpPr>
          <p:cNvPr id="6" name="Group 6"/>
          <p:cNvGrpSpPr/>
          <p:nvPr/>
        </p:nvGrpSpPr>
        <p:grpSpPr>
          <a:xfrm>
            <a:off x="2462784" y="266700"/>
            <a:ext cx="9157716" cy="617601"/>
            <a:chOff x="2462784" y="266700"/>
            <a:chExt cx="9157716" cy="617601"/>
          </a:xfrm>
        </p:grpSpPr>
        <p:sp>
          <p:nvSpPr>
            <p:cNvPr id="3" name="TextBox 3"/>
            <p:cNvSpPr txBox="1"/>
            <p:nvPr/>
          </p:nvSpPr>
          <p:spPr>
            <a:xfrm>
              <a:off x="2462784" y="356235"/>
              <a:ext cx="5486841" cy="528066"/>
            </a:xfrm>
            <a:prstGeom prst="rect">
              <a:avLst/>
            </a:prstGeom>
            <a:noFill/>
            <a:ln>
              <a:noFill/>
            </a:ln>
          </p:spPr>
          <p:txBody>
            <a:bodyPr wrap="none" lIns="0" tIns="0" rIns="0" bIns="0" anchor="t" anchorCtr="0">
              <a:spAutoFit/>
            </a:bodyPr>
            <a:lstStyle/>
            <a:p>
              <a:pPr algn="l"/>
              <a:r>
                <a:rPr lang="en-US" sz="2700" b="1" dirty="0">
                  <a:solidFill>
                    <a:schemeClr val="accent1"/>
                  </a:solidFill>
                  <a:latin typeface="+mn-lt"/>
                  <a:ea typeface="+mn-ea"/>
                  <a:cs typeface="+mn-cs"/>
                </a:rPr>
                <a:t>Tool Design — Loader sản xuất</a:t>
              </a:r>
            </a:p>
          </p:txBody>
        </p:sp>
        <p:sp>
          <p:nvSpPr>
            <p:cNvPr id="4" name="Rectangle 4"/>
            <p:cNvSpPr/>
            <p:nvPr/>
          </p:nvSpPr>
          <p:spPr>
            <a:xfrm>
              <a:off x="9715500" y="266700"/>
              <a:ext cx="1905000" cy="400050"/>
            </a:xfrm>
            <a:prstGeom prst="roundRect">
              <a:avLst>
                <a:gd name="adj" fmla="val 9524"/>
              </a:avLst>
            </a:prstGeom>
            <a:solidFill>
              <a:srgbClr val="EAF6F0"/>
            </a:solidFill>
            <a:ln>
              <a:noFill/>
            </a:ln>
          </p:spPr>
          <p:txBody>
            <a:bodyPr/>
            <a:lstStyle/>
            <a:p>
              <a:endParaRPr lang="en-US"/>
            </a:p>
          </p:txBody>
        </p:sp>
        <p:sp>
          <p:nvSpPr>
            <p:cNvPr id="5" name="TextBox 5"/>
            <p:cNvSpPr txBox="1"/>
            <p:nvPr/>
          </p:nvSpPr>
          <p:spPr>
            <a:xfrm>
              <a:off x="9987647" y="386239"/>
              <a:ext cx="1360706" cy="249364"/>
            </a:xfrm>
            <a:prstGeom prst="rect">
              <a:avLst/>
            </a:prstGeom>
            <a:noFill/>
            <a:ln>
              <a:noFill/>
            </a:ln>
          </p:spPr>
          <p:txBody>
            <a:bodyPr wrap="none" lIns="0" tIns="0" rIns="0" bIns="0" anchor="t" anchorCtr="0">
              <a:spAutoFit/>
            </a:bodyPr>
            <a:lstStyle/>
            <a:p>
              <a:pPr algn="ctr"/>
              <a:r>
                <a:rPr lang="en-US" sz="1280" b="1" dirty="0">
                  <a:solidFill>
                    <a:schemeClr val="accent1"/>
                  </a:solidFill>
                  <a:latin typeface="+mn-lt"/>
                  <a:ea typeface="+mn-ea"/>
                  <a:cs typeface="+mn-cs"/>
                </a:rPr>
                <a:t>2 LOADER DONE</a:t>
              </a:r>
            </a:p>
          </p:txBody>
        </p:sp>
      </p:grpSp>
      <p:grpSp>
        <p:nvGrpSpPr>
          <p:cNvPr id="17" name="Group 17"/>
          <p:cNvGrpSpPr/>
          <p:nvPr/>
        </p:nvGrpSpPr>
        <p:grpSpPr>
          <a:xfrm>
            <a:off x="533400" y="1104900"/>
            <a:ext cx="5219700" cy="2857500"/>
            <a:chOff x="533400" y="1104900"/>
            <a:chExt cx="5219700" cy="2857500"/>
          </a:xfrm>
        </p:grpSpPr>
        <p:sp>
          <p:nvSpPr>
            <p:cNvPr id="7" name="Rectangle 7"/>
            <p:cNvSpPr/>
            <p:nvPr/>
          </p:nvSpPr>
          <p:spPr>
            <a:xfrm>
              <a:off x="533400" y="1104900"/>
              <a:ext cx="5219700" cy="2857500"/>
            </a:xfrm>
            <a:prstGeom prst="roundRect">
              <a:avLst>
                <a:gd name="adj" fmla="val 1333"/>
              </a:avLst>
            </a:prstGeom>
            <a:solidFill>
              <a:schemeClr val="lt2"/>
            </a:solidFill>
            <a:ln>
              <a:noFill/>
            </a:ln>
          </p:spPr>
          <p:txBody>
            <a:bodyPr/>
            <a:lstStyle/>
            <a:p>
              <a:endParaRPr lang="en-US"/>
            </a:p>
          </p:txBody>
        </p:sp>
        <p:sp>
          <p:nvSpPr>
            <p:cNvPr id="8" name="Rectangle 8"/>
            <p:cNvSpPr/>
            <p:nvPr/>
          </p:nvSpPr>
          <p:spPr>
            <a:xfrm>
              <a:off x="533400" y="1104900"/>
              <a:ext cx="95250" cy="2857500"/>
            </a:xfrm>
            <a:prstGeom prst="rect">
              <a:avLst/>
            </a:prstGeom>
            <a:solidFill>
              <a:schemeClr val="accent1"/>
            </a:solidFill>
            <a:ln>
              <a:noFill/>
            </a:ln>
          </p:spPr>
          <p:txBody>
            <a:bodyPr/>
            <a:lstStyle/>
            <a:p>
              <a:endParaRPr lang="en-US"/>
            </a:p>
          </p:txBody>
        </p:sp>
        <p:sp>
          <p:nvSpPr>
            <p:cNvPr id="9" name="TextBox 9"/>
            <p:cNvSpPr txBox="1"/>
            <p:nvPr/>
          </p:nvSpPr>
          <p:spPr>
            <a:xfrm>
              <a:off x="832485" y="1345406"/>
              <a:ext cx="789255" cy="220028"/>
            </a:xfrm>
            <a:prstGeom prst="rect">
              <a:avLst/>
            </a:prstGeom>
            <a:noFill/>
            <a:ln>
              <a:noFill/>
            </a:ln>
          </p:spPr>
          <p:txBody>
            <a:bodyPr wrap="none" lIns="0" tIns="0" rIns="0" bIns="0" anchor="t" anchorCtr="0">
              <a:spAutoFit/>
            </a:bodyPr>
            <a:lstStyle/>
            <a:p>
              <a:pPr algn="l"/>
              <a:r>
                <a:rPr lang="en-US" sz="1120" b="1" dirty="0">
                  <a:solidFill>
                    <a:schemeClr val="accent1"/>
                  </a:solidFill>
                  <a:latin typeface="+mn-lt"/>
                  <a:ea typeface="+mn-ea"/>
                  <a:cs typeface="+mn-cs"/>
                </a:rPr>
                <a:t>01 · LUTO</a:t>
              </a:r>
            </a:p>
          </p:txBody>
        </p:sp>
        <p:sp>
          <p:nvSpPr>
            <p:cNvPr id="10" name="TextBox 10"/>
            <p:cNvSpPr txBox="1"/>
            <p:nvPr/>
          </p:nvSpPr>
          <p:spPr>
            <a:xfrm>
              <a:off x="827532" y="1611630"/>
              <a:ext cx="2331840" cy="410718"/>
            </a:xfrm>
            <a:prstGeom prst="rect">
              <a:avLst/>
            </a:prstGeom>
            <a:noFill/>
            <a:ln>
              <a:noFill/>
            </a:ln>
          </p:spPr>
          <p:txBody>
            <a:bodyPr wrap="none" lIns="0" tIns="0" rIns="0" bIns="0" anchor="t" anchorCtr="0">
              <a:spAutoFit/>
            </a:bodyPr>
            <a:lstStyle/>
            <a:p>
              <a:pPr algn="l"/>
              <a:r>
                <a:rPr lang="en-US" sz="2100" b="1" dirty="0">
                  <a:solidFill>
                    <a:schemeClr val="dk1"/>
                  </a:solidFill>
                  <a:latin typeface="+mn-lt"/>
                  <a:ea typeface="+mn-ea"/>
                  <a:cs typeface="+mn-cs"/>
                </a:rPr>
                <a:t>Loader nạp code</a:t>
              </a:r>
            </a:p>
          </p:txBody>
        </p:sp>
        <p:sp>
          <p:nvSpPr>
            <p:cNvPr id="11" name="TextBox 11"/>
            <p:cNvSpPr txBox="1"/>
            <p:nvPr/>
          </p:nvSpPr>
          <p:spPr>
            <a:xfrm>
              <a:off x="830961" y="2055971"/>
              <a:ext cx="2248380"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Hoàn thành và bàn giao</a:t>
              </a:r>
            </a:p>
          </p:txBody>
        </p:sp>
        <p:sp>
          <p:nvSpPr>
            <p:cNvPr id="12" name="TextBox 12"/>
            <p:cNvSpPr txBox="1"/>
            <p:nvPr/>
          </p:nvSpPr>
          <p:spPr>
            <a:xfrm>
              <a:off x="830961" y="2379821"/>
              <a:ext cx="2296320"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Chuẩn hóa thao tác nạp</a:t>
              </a:r>
            </a:p>
          </p:txBody>
        </p:sp>
        <p:sp>
          <p:nvSpPr>
            <p:cNvPr id="13" name="TextBox 13"/>
            <p:cNvSpPr txBox="1"/>
            <p:nvPr/>
          </p:nvSpPr>
          <p:spPr>
            <a:xfrm>
              <a:off x="830961" y="2703671"/>
              <a:ext cx="2496939"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Làm rõ interface sử dụng</a:t>
              </a:r>
            </a:p>
          </p:txBody>
        </p:sp>
        <p:sp>
          <p:nvSpPr>
            <p:cNvPr id="14" name="Line 14"/>
            <p:cNvSpPr/>
            <p:nvPr/>
          </p:nvSpPr>
          <p:spPr>
            <a:xfrm>
              <a:off x="838200" y="3276600"/>
              <a:ext cx="4610100" cy="9525"/>
            </a:xfrm>
            <a:custGeom>
              <a:avLst/>
              <a:gdLst/>
              <a:ahLst/>
              <a:cxnLst/>
              <a:rect l="l" t="t" r="r" b="b"/>
              <a:pathLst>
                <a:path w="4610100" h="9525">
                  <a:moveTo>
                    <a:pt x="0" y="0"/>
                  </a:moveTo>
                  <a:lnTo>
                    <a:pt x="4610100" y="0"/>
                  </a:lnTo>
                </a:path>
              </a:pathLst>
            </a:custGeom>
            <a:noFill/>
            <a:ln w="19050">
              <a:solidFill>
                <a:srgbClr val="B8D8C7"/>
              </a:solidFill>
            </a:ln>
          </p:spPr>
          <p:txBody>
            <a:bodyPr/>
            <a:lstStyle/>
            <a:p>
              <a:endParaRPr lang="en-US"/>
            </a:p>
          </p:txBody>
        </p:sp>
        <p:sp>
          <p:nvSpPr>
            <p:cNvPr id="15" name="TextBox 15"/>
            <p:cNvSpPr txBox="1"/>
            <p:nvPr/>
          </p:nvSpPr>
          <p:spPr>
            <a:xfrm>
              <a:off x="831723" y="3481864"/>
              <a:ext cx="739402"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KẾT QUẢ</a:t>
              </a:r>
            </a:p>
          </p:txBody>
        </p:sp>
        <p:sp>
          <p:nvSpPr>
            <p:cNvPr id="16" name="TextBox 16"/>
            <p:cNvSpPr txBox="1"/>
            <p:nvPr/>
          </p:nvSpPr>
          <p:spPr>
            <a:xfrm>
              <a:off x="1784223" y="3481864"/>
              <a:ext cx="2035029"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Đã bàn giao cho vận hành</a:t>
              </a:r>
            </a:p>
          </p:txBody>
        </p:sp>
      </p:grpSp>
      <p:grpSp>
        <p:nvGrpSpPr>
          <p:cNvPr id="28" name="Group 28"/>
          <p:cNvGrpSpPr/>
          <p:nvPr/>
        </p:nvGrpSpPr>
        <p:grpSpPr>
          <a:xfrm>
            <a:off x="6153150" y="1104900"/>
            <a:ext cx="5505450" cy="2857500"/>
            <a:chOff x="6153150" y="1104900"/>
            <a:chExt cx="5505450" cy="2857500"/>
          </a:xfrm>
        </p:grpSpPr>
        <p:sp>
          <p:nvSpPr>
            <p:cNvPr id="18" name="Rectangle 18"/>
            <p:cNvSpPr/>
            <p:nvPr/>
          </p:nvSpPr>
          <p:spPr>
            <a:xfrm>
              <a:off x="6153150" y="1104900"/>
              <a:ext cx="5505450" cy="2857500"/>
            </a:xfrm>
            <a:prstGeom prst="roundRect">
              <a:avLst>
                <a:gd name="adj" fmla="val 1333"/>
              </a:avLst>
            </a:prstGeom>
            <a:solidFill>
              <a:srgbClr val="EAF6F0"/>
            </a:solidFill>
            <a:ln>
              <a:noFill/>
            </a:ln>
          </p:spPr>
          <p:txBody>
            <a:bodyPr/>
            <a:lstStyle/>
            <a:p>
              <a:endParaRPr lang="en-US"/>
            </a:p>
          </p:txBody>
        </p:sp>
        <p:sp>
          <p:nvSpPr>
            <p:cNvPr id="19" name="Rectangle 19"/>
            <p:cNvSpPr/>
            <p:nvPr/>
          </p:nvSpPr>
          <p:spPr>
            <a:xfrm>
              <a:off x="6153150" y="1104900"/>
              <a:ext cx="95250" cy="2857500"/>
            </a:xfrm>
            <a:prstGeom prst="rect">
              <a:avLst/>
            </a:prstGeom>
            <a:solidFill>
              <a:schemeClr val="accent2"/>
            </a:solidFill>
            <a:ln>
              <a:noFill/>
            </a:ln>
          </p:spPr>
          <p:txBody>
            <a:bodyPr/>
            <a:lstStyle/>
            <a:p>
              <a:endParaRPr lang="en-US"/>
            </a:p>
          </p:txBody>
        </p:sp>
        <p:sp>
          <p:nvSpPr>
            <p:cNvPr id="20" name="TextBox 20"/>
            <p:cNvSpPr txBox="1"/>
            <p:nvPr/>
          </p:nvSpPr>
          <p:spPr>
            <a:xfrm>
              <a:off x="6452235" y="1345406"/>
              <a:ext cx="1115440" cy="220028"/>
            </a:xfrm>
            <a:prstGeom prst="rect">
              <a:avLst/>
            </a:prstGeom>
            <a:noFill/>
            <a:ln>
              <a:noFill/>
            </a:ln>
          </p:spPr>
          <p:txBody>
            <a:bodyPr wrap="none" lIns="0" tIns="0" rIns="0" bIns="0" anchor="t" anchorCtr="0">
              <a:spAutoFit/>
            </a:bodyPr>
            <a:lstStyle/>
            <a:p>
              <a:pPr algn="l"/>
              <a:r>
                <a:rPr lang="en-US" sz="1120" b="1" dirty="0">
                  <a:solidFill>
                    <a:schemeClr val="accent2"/>
                  </a:solidFill>
                  <a:latin typeface="+mn-lt"/>
                  <a:ea typeface="+mn-ea"/>
                  <a:cs typeface="+mn-cs"/>
                </a:rPr>
                <a:t>02 · LUMES V2</a:t>
              </a:r>
            </a:p>
          </p:txBody>
        </p:sp>
        <p:sp>
          <p:nvSpPr>
            <p:cNvPr id="21" name="TextBox 21"/>
            <p:cNvSpPr txBox="1"/>
            <p:nvPr/>
          </p:nvSpPr>
          <p:spPr>
            <a:xfrm>
              <a:off x="6447282" y="1611630"/>
              <a:ext cx="2967248" cy="410718"/>
            </a:xfrm>
            <a:prstGeom prst="rect">
              <a:avLst/>
            </a:prstGeom>
            <a:noFill/>
            <a:ln>
              <a:noFill/>
            </a:ln>
          </p:spPr>
          <p:txBody>
            <a:bodyPr wrap="none" lIns="0" tIns="0" rIns="0" bIns="0" anchor="t" anchorCtr="0">
              <a:spAutoFit/>
            </a:bodyPr>
            <a:lstStyle/>
            <a:p>
              <a:pPr algn="l"/>
              <a:r>
                <a:rPr lang="en-US" sz="2100" b="1" dirty="0">
                  <a:solidFill>
                    <a:schemeClr val="dk1"/>
                  </a:solidFill>
                  <a:latin typeface="+mn-lt"/>
                  <a:ea typeface="+mn-ea"/>
                  <a:cs typeface="+mn-cs"/>
                </a:rPr>
                <a:t>Loader mạch main V2</a:t>
              </a:r>
            </a:p>
          </p:txBody>
        </p:sp>
        <p:sp>
          <p:nvSpPr>
            <p:cNvPr id="22" name="TextBox 22"/>
            <p:cNvSpPr txBox="1"/>
            <p:nvPr/>
          </p:nvSpPr>
          <p:spPr>
            <a:xfrm>
              <a:off x="6450711" y="2055971"/>
              <a:ext cx="2458599"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Hoàn thành tool nạp code</a:t>
              </a:r>
            </a:p>
          </p:txBody>
        </p:sp>
        <p:sp>
          <p:nvSpPr>
            <p:cNvPr id="23" name="TextBox 23"/>
            <p:cNvSpPr txBox="1"/>
            <p:nvPr/>
          </p:nvSpPr>
          <p:spPr>
            <a:xfrm>
              <a:off x="6450711" y="2379821"/>
              <a:ext cx="3137204"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Tích hợp giao tiếp với mạch main</a:t>
              </a:r>
            </a:p>
          </p:txBody>
        </p:sp>
        <p:sp>
          <p:nvSpPr>
            <p:cNvPr id="24" name="TextBox 24"/>
            <p:cNvSpPr txBox="1"/>
            <p:nvPr/>
          </p:nvSpPr>
          <p:spPr>
            <a:xfrm>
              <a:off x="6450711" y="2703671"/>
              <a:ext cx="3185098"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Tách riêng flow test và flow nạp</a:t>
              </a:r>
            </a:p>
          </p:txBody>
        </p:sp>
        <p:sp>
          <p:nvSpPr>
            <p:cNvPr id="25" name="Line 25"/>
            <p:cNvSpPr/>
            <p:nvPr/>
          </p:nvSpPr>
          <p:spPr>
            <a:xfrm>
              <a:off x="6457950" y="3276600"/>
              <a:ext cx="4895850" cy="9525"/>
            </a:xfrm>
            <a:custGeom>
              <a:avLst/>
              <a:gdLst/>
              <a:ahLst/>
              <a:cxnLst/>
              <a:rect l="l" t="t" r="r" b="b"/>
              <a:pathLst>
                <a:path w="4895850" h="9525">
                  <a:moveTo>
                    <a:pt x="0" y="0"/>
                  </a:moveTo>
                  <a:lnTo>
                    <a:pt x="4895850" y="0"/>
                  </a:lnTo>
                </a:path>
              </a:pathLst>
            </a:custGeom>
            <a:noFill/>
            <a:ln w="19050">
              <a:solidFill>
                <a:srgbClr val="B8D8C7"/>
              </a:solidFill>
            </a:ln>
          </p:spPr>
          <p:txBody>
            <a:bodyPr/>
            <a:lstStyle/>
            <a:p>
              <a:endParaRPr lang="en-US"/>
            </a:p>
          </p:txBody>
        </p:sp>
        <p:sp>
          <p:nvSpPr>
            <p:cNvPr id="26" name="TextBox 26"/>
            <p:cNvSpPr txBox="1"/>
            <p:nvPr/>
          </p:nvSpPr>
          <p:spPr>
            <a:xfrm>
              <a:off x="6451473" y="3481864"/>
              <a:ext cx="739402" cy="249364"/>
            </a:xfrm>
            <a:prstGeom prst="rect">
              <a:avLst/>
            </a:prstGeom>
            <a:noFill/>
            <a:ln>
              <a:noFill/>
            </a:ln>
          </p:spPr>
          <p:txBody>
            <a:bodyPr wrap="none" lIns="0" tIns="0" rIns="0" bIns="0" anchor="t" anchorCtr="0">
              <a:spAutoFit/>
            </a:bodyPr>
            <a:lstStyle/>
            <a:p>
              <a:pPr algn="l"/>
              <a:r>
                <a:rPr lang="en-US" sz="1280" b="1" dirty="0">
                  <a:solidFill>
                    <a:schemeClr val="accent2"/>
                  </a:solidFill>
                  <a:latin typeface="+mn-lt"/>
                  <a:ea typeface="+mn-ea"/>
                  <a:cs typeface="+mn-cs"/>
                </a:rPr>
                <a:t>KẾT QUẢ</a:t>
              </a:r>
            </a:p>
          </p:txBody>
        </p:sp>
        <p:sp>
          <p:nvSpPr>
            <p:cNvPr id="27" name="TextBox 27"/>
            <p:cNvSpPr txBox="1"/>
            <p:nvPr/>
          </p:nvSpPr>
          <p:spPr>
            <a:xfrm>
              <a:off x="7403973" y="3481864"/>
              <a:ext cx="2698497"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Sẵn sàng tích hợp vào công đoạn</a:t>
              </a:r>
            </a:p>
          </p:txBody>
        </p:sp>
      </p:grpSp>
      <p:grpSp>
        <p:nvGrpSpPr>
          <p:cNvPr id="43" name="Group 43"/>
          <p:cNvGrpSpPr/>
          <p:nvPr/>
        </p:nvGrpSpPr>
        <p:grpSpPr>
          <a:xfrm>
            <a:off x="527685" y="4431506"/>
            <a:ext cx="11130915" cy="1016794"/>
            <a:chOff x="527685" y="4431506"/>
            <a:chExt cx="11130915" cy="1016794"/>
          </a:xfrm>
        </p:grpSpPr>
        <p:sp>
          <p:nvSpPr>
            <p:cNvPr id="29" name="TextBox 29"/>
            <p:cNvSpPr txBox="1"/>
            <p:nvPr/>
          </p:nvSpPr>
          <p:spPr>
            <a:xfrm>
              <a:off x="527685" y="4431506"/>
              <a:ext cx="1918356" cy="220028"/>
            </a:xfrm>
            <a:prstGeom prst="rect">
              <a:avLst/>
            </a:prstGeom>
            <a:noFill/>
            <a:ln>
              <a:noFill/>
            </a:ln>
          </p:spPr>
          <p:txBody>
            <a:bodyPr wrap="none" lIns="0" tIns="0" rIns="0" bIns="0" anchor="t" anchorCtr="0">
              <a:spAutoFit/>
            </a:bodyPr>
            <a:lstStyle/>
            <a:p>
              <a:pPr algn="l"/>
              <a:r>
                <a:rPr lang="en-US" sz="1120" b="1" dirty="0">
                  <a:solidFill>
                    <a:srgbClr val="66706A"/>
                  </a:solidFill>
                  <a:latin typeface="+mn-lt"/>
                  <a:ea typeface="+mn-ea"/>
                  <a:cs typeface="+mn-cs"/>
                </a:rPr>
                <a:t>NỀN TẢNG THIẾT KẾ CHUNG</a:t>
              </a:r>
            </a:p>
          </p:txBody>
        </p:sp>
        <p:sp>
          <p:nvSpPr>
            <p:cNvPr id="30" name="Line 30"/>
            <p:cNvSpPr/>
            <p:nvPr/>
          </p:nvSpPr>
          <p:spPr>
            <a:xfrm>
              <a:off x="533400" y="4876800"/>
              <a:ext cx="11125200" cy="9525"/>
            </a:xfrm>
            <a:custGeom>
              <a:avLst/>
              <a:gdLst/>
              <a:ahLst/>
              <a:cxnLst/>
              <a:rect l="l" t="t" r="r" b="b"/>
              <a:pathLst>
                <a:path w="11125200" h="9525">
                  <a:moveTo>
                    <a:pt x="0" y="0"/>
                  </a:moveTo>
                  <a:lnTo>
                    <a:pt x="11125200" y="0"/>
                  </a:lnTo>
                </a:path>
              </a:pathLst>
            </a:custGeom>
            <a:noFill/>
            <a:ln w="19050">
              <a:solidFill>
                <a:srgbClr val="D7E4DD"/>
              </a:solidFill>
            </a:ln>
          </p:spPr>
          <p:txBody>
            <a:bodyPr/>
            <a:lstStyle/>
            <a:p>
              <a:endParaRPr lang="en-US"/>
            </a:p>
          </p:txBody>
        </p:sp>
        <p:sp>
          <p:nvSpPr>
            <p:cNvPr id="31" name="Ellipse 31"/>
            <p:cNvSpPr/>
            <p:nvPr/>
          </p:nvSpPr>
          <p:spPr>
            <a:xfrm>
              <a:off x="1333500" y="4991100"/>
              <a:ext cx="457200" cy="457200"/>
            </a:xfrm>
            <a:prstGeom prst="ellipse">
              <a:avLst/>
            </a:prstGeom>
            <a:solidFill>
              <a:schemeClr val="accent1"/>
            </a:solidFill>
            <a:ln>
              <a:noFill/>
            </a:ln>
          </p:spPr>
          <p:txBody>
            <a:bodyPr/>
            <a:lstStyle/>
            <a:p>
              <a:endParaRPr lang="en-US"/>
            </a:p>
          </p:txBody>
        </p:sp>
        <p:sp>
          <p:nvSpPr>
            <p:cNvPr id="32" name="TextBox 32"/>
            <p:cNvSpPr txBox="1"/>
            <p:nvPr/>
          </p:nvSpPr>
          <p:spPr>
            <a:xfrm>
              <a:off x="1505867" y="5148739"/>
              <a:ext cx="112465" cy="249364"/>
            </a:xfrm>
            <a:prstGeom prst="rect">
              <a:avLst/>
            </a:prstGeom>
            <a:noFill/>
            <a:ln>
              <a:noFill/>
            </a:ln>
          </p:spPr>
          <p:txBody>
            <a:bodyPr wrap="none" lIns="0" tIns="0" rIns="0" bIns="0" anchor="t" anchorCtr="0">
              <a:spAutoFit/>
            </a:bodyPr>
            <a:lstStyle/>
            <a:p>
              <a:pPr algn="ctr"/>
              <a:r>
                <a:rPr lang="en-US" sz="1280" b="1" dirty="0">
                  <a:solidFill>
                    <a:srgbClr val="FFFFFF"/>
                  </a:solidFill>
                  <a:latin typeface="+mn-lt"/>
                  <a:ea typeface="+mn-ea"/>
                  <a:cs typeface="+mn-cs"/>
                </a:rPr>
                <a:t>1</a:t>
              </a:r>
            </a:p>
          </p:txBody>
        </p:sp>
        <p:sp>
          <p:nvSpPr>
            <p:cNvPr id="33" name="TextBox 33"/>
            <p:cNvSpPr txBox="1"/>
            <p:nvPr/>
          </p:nvSpPr>
          <p:spPr>
            <a:xfrm>
              <a:off x="1935861" y="5123021"/>
              <a:ext cx="1356124" cy="278702"/>
            </a:xfrm>
            <a:prstGeom prst="rect">
              <a:avLst/>
            </a:prstGeom>
            <a:noFill/>
            <a:ln>
              <a:noFill/>
            </a:ln>
          </p:spPr>
          <p:txBody>
            <a:bodyPr wrap="none" lIns="0" tIns="0" rIns="0" bIns="0" anchor="t" anchorCtr="0">
              <a:spAutoFit/>
            </a:bodyPr>
            <a:lstStyle/>
            <a:p>
              <a:pPr algn="l"/>
              <a:r>
                <a:rPr lang="en-US" sz="1420" b="1" dirty="0">
                  <a:solidFill>
                    <a:schemeClr val="dk1"/>
                  </a:solidFill>
                  <a:latin typeface="+mn-lt"/>
                  <a:ea typeface="+mn-ea"/>
                  <a:cs typeface="+mn-cs"/>
                </a:rPr>
                <a:t>Nhận cấu hình</a:t>
              </a:r>
            </a:p>
          </p:txBody>
        </p:sp>
        <p:sp>
          <p:nvSpPr>
            <p:cNvPr id="34" name="Ellipse 34"/>
            <p:cNvSpPr/>
            <p:nvPr/>
          </p:nvSpPr>
          <p:spPr>
            <a:xfrm>
              <a:off x="4229100" y="4991100"/>
              <a:ext cx="457200" cy="457200"/>
            </a:xfrm>
            <a:prstGeom prst="ellipse">
              <a:avLst/>
            </a:prstGeom>
            <a:solidFill>
              <a:schemeClr val="accent1"/>
            </a:solidFill>
            <a:ln>
              <a:noFill/>
            </a:ln>
          </p:spPr>
          <p:txBody>
            <a:bodyPr/>
            <a:lstStyle/>
            <a:p>
              <a:endParaRPr lang="en-US"/>
            </a:p>
          </p:txBody>
        </p:sp>
        <p:sp>
          <p:nvSpPr>
            <p:cNvPr id="35" name="TextBox 35"/>
            <p:cNvSpPr txBox="1"/>
            <p:nvPr/>
          </p:nvSpPr>
          <p:spPr>
            <a:xfrm>
              <a:off x="4401467" y="5148739"/>
              <a:ext cx="112465" cy="249364"/>
            </a:xfrm>
            <a:prstGeom prst="rect">
              <a:avLst/>
            </a:prstGeom>
            <a:noFill/>
            <a:ln>
              <a:noFill/>
            </a:ln>
          </p:spPr>
          <p:txBody>
            <a:bodyPr wrap="none" lIns="0" tIns="0" rIns="0" bIns="0" anchor="t" anchorCtr="0">
              <a:spAutoFit/>
            </a:bodyPr>
            <a:lstStyle/>
            <a:p>
              <a:pPr algn="ctr"/>
              <a:r>
                <a:rPr lang="en-US" sz="1280" b="1" dirty="0">
                  <a:solidFill>
                    <a:srgbClr val="FFFFFF"/>
                  </a:solidFill>
                  <a:latin typeface="+mn-lt"/>
                  <a:ea typeface="+mn-ea"/>
                  <a:cs typeface="+mn-cs"/>
                </a:rPr>
                <a:t>2</a:t>
              </a:r>
            </a:p>
          </p:txBody>
        </p:sp>
        <p:sp>
          <p:nvSpPr>
            <p:cNvPr id="36" name="TextBox 36"/>
            <p:cNvSpPr txBox="1"/>
            <p:nvPr/>
          </p:nvSpPr>
          <p:spPr>
            <a:xfrm>
              <a:off x="4831461" y="5123021"/>
              <a:ext cx="1706875" cy="278702"/>
            </a:xfrm>
            <a:prstGeom prst="rect">
              <a:avLst/>
            </a:prstGeom>
            <a:noFill/>
            <a:ln>
              <a:noFill/>
            </a:ln>
          </p:spPr>
          <p:txBody>
            <a:bodyPr wrap="none" lIns="0" tIns="0" rIns="0" bIns="0" anchor="t" anchorCtr="0">
              <a:spAutoFit/>
            </a:bodyPr>
            <a:lstStyle/>
            <a:p>
              <a:pPr algn="l"/>
              <a:r>
                <a:rPr lang="en-US" sz="1420" b="1" dirty="0">
                  <a:solidFill>
                    <a:schemeClr val="dk1"/>
                  </a:solidFill>
                  <a:latin typeface="+mn-lt"/>
                  <a:ea typeface="+mn-ea"/>
                  <a:cs typeface="+mn-cs"/>
                </a:rPr>
                <a:t>Giao tiếp thiết bị</a:t>
              </a:r>
            </a:p>
          </p:txBody>
        </p:sp>
        <p:sp>
          <p:nvSpPr>
            <p:cNvPr id="37" name="Ellipse 37"/>
            <p:cNvSpPr/>
            <p:nvPr/>
          </p:nvSpPr>
          <p:spPr>
            <a:xfrm>
              <a:off x="7353300" y="4991100"/>
              <a:ext cx="457200" cy="457200"/>
            </a:xfrm>
            <a:prstGeom prst="ellipse">
              <a:avLst/>
            </a:prstGeom>
            <a:solidFill>
              <a:schemeClr val="accent1"/>
            </a:solidFill>
            <a:ln>
              <a:noFill/>
            </a:ln>
          </p:spPr>
          <p:txBody>
            <a:bodyPr/>
            <a:lstStyle/>
            <a:p>
              <a:endParaRPr lang="en-US"/>
            </a:p>
          </p:txBody>
        </p:sp>
        <p:sp>
          <p:nvSpPr>
            <p:cNvPr id="38" name="TextBox 38"/>
            <p:cNvSpPr txBox="1"/>
            <p:nvPr/>
          </p:nvSpPr>
          <p:spPr>
            <a:xfrm>
              <a:off x="7525667" y="5148739"/>
              <a:ext cx="112465" cy="249364"/>
            </a:xfrm>
            <a:prstGeom prst="rect">
              <a:avLst/>
            </a:prstGeom>
            <a:noFill/>
            <a:ln>
              <a:noFill/>
            </a:ln>
          </p:spPr>
          <p:txBody>
            <a:bodyPr wrap="none" lIns="0" tIns="0" rIns="0" bIns="0" anchor="t" anchorCtr="0">
              <a:spAutoFit/>
            </a:bodyPr>
            <a:lstStyle/>
            <a:p>
              <a:pPr algn="ctr"/>
              <a:r>
                <a:rPr lang="en-US" sz="1280" b="1" dirty="0">
                  <a:solidFill>
                    <a:srgbClr val="FFFFFF"/>
                  </a:solidFill>
                  <a:latin typeface="+mn-lt"/>
                  <a:ea typeface="+mn-ea"/>
                  <a:cs typeface="+mn-cs"/>
                </a:rPr>
                <a:t>3</a:t>
              </a:r>
            </a:p>
          </p:txBody>
        </p:sp>
        <p:sp>
          <p:nvSpPr>
            <p:cNvPr id="39" name="TextBox 39"/>
            <p:cNvSpPr txBox="1"/>
            <p:nvPr/>
          </p:nvSpPr>
          <p:spPr>
            <a:xfrm>
              <a:off x="7955661" y="5123021"/>
              <a:ext cx="1417367" cy="278702"/>
            </a:xfrm>
            <a:prstGeom prst="rect">
              <a:avLst/>
            </a:prstGeom>
            <a:noFill/>
            <a:ln>
              <a:noFill/>
            </a:ln>
          </p:spPr>
          <p:txBody>
            <a:bodyPr wrap="none" lIns="0" tIns="0" rIns="0" bIns="0" anchor="t" anchorCtr="0">
              <a:spAutoFit/>
            </a:bodyPr>
            <a:lstStyle/>
            <a:p>
              <a:pPr algn="l"/>
              <a:r>
                <a:rPr lang="en-US" sz="1420" b="1" dirty="0">
                  <a:solidFill>
                    <a:schemeClr val="dk1"/>
                  </a:solidFill>
                  <a:latin typeface="+mn-lt"/>
                  <a:ea typeface="+mn-ea"/>
                  <a:cs typeface="+mn-cs"/>
                </a:rPr>
                <a:t>Nạp &amp; xác nhận</a:t>
              </a:r>
            </a:p>
          </p:txBody>
        </p:sp>
        <p:sp>
          <p:nvSpPr>
            <p:cNvPr id="40" name="Ellipse 40"/>
            <p:cNvSpPr/>
            <p:nvPr/>
          </p:nvSpPr>
          <p:spPr>
            <a:xfrm>
              <a:off x="10096500" y="4991100"/>
              <a:ext cx="457200" cy="457200"/>
            </a:xfrm>
            <a:prstGeom prst="ellipse">
              <a:avLst/>
            </a:prstGeom>
            <a:solidFill>
              <a:schemeClr val="accent2"/>
            </a:solidFill>
            <a:ln>
              <a:noFill/>
            </a:ln>
          </p:spPr>
          <p:txBody>
            <a:bodyPr/>
            <a:lstStyle/>
            <a:p>
              <a:endParaRPr lang="en-US"/>
            </a:p>
          </p:txBody>
        </p:sp>
        <p:sp>
          <p:nvSpPr>
            <p:cNvPr id="41" name="TextBox 41"/>
            <p:cNvSpPr txBox="1"/>
            <p:nvPr/>
          </p:nvSpPr>
          <p:spPr>
            <a:xfrm>
              <a:off x="10268867" y="5148739"/>
              <a:ext cx="112465" cy="249364"/>
            </a:xfrm>
            <a:prstGeom prst="rect">
              <a:avLst/>
            </a:prstGeom>
            <a:noFill/>
            <a:ln>
              <a:noFill/>
            </a:ln>
          </p:spPr>
          <p:txBody>
            <a:bodyPr wrap="none" lIns="0" tIns="0" rIns="0" bIns="0" anchor="t" anchorCtr="0">
              <a:spAutoFit/>
            </a:bodyPr>
            <a:lstStyle/>
            <a:p>
              <a:pPr algn="ctr"/>
              <a:r>
                <a:rPr lang="en-US" sz="1280" b="1" dirty="0">
                  <a:solidFill>
                    <a:srgbClr val="FFFFFF"/>
                  </a:solidFill>
                  <a:latin typeface="+mn-lt"/>
                  <a:ea typeface="+mn-ea"/>
                  <a:cs typeface="+mn-cs"/>
                </a:rPr>
                <a:t>4</a:t>
              </a:r>
            </a:p>
          </p:txBody>
        </p:sp>
        <p:sp>
          <p:nvSpPr>
            <p:cNvPr id="42" name="TextBox 42"/>
            <p:cNvSpPr txBox="1"/>
            <p:nvPr/>
          </p:nvSpPr>
          <p:spPr>
            <a:xfrm>
              <a:off x="10698861" y="5123021"/>
              <a:ext cx="351912" cy="278702"/>
            </a:xfrm>
            <a:prstGeom prst="rect">
              <a:avLst/>
            </a:prstGeom>
            <a:noFill/>
            <a:ln>
              <a:noFill/>
            </a:ln>
          </p:spPr>
          <p:txBody>
            <a:bodyPr wrap="none" lIns="0" tIns="0" rIns="0" bIns="0" anchor="t" anchorCtr="0">
              <a:spAutoFit/>
            </a:bodyPr>
            <a:lstStyle/>
            <a:p>
              <a:pPr algn="l"/>
              <a:r>
                <a:rPr lang="en-US" sz="1420" b="1" dirty="0">
                  <a:solidFill>
                    <a:schemeClr val="dk1"/>
                  </a:solidFill>
                  <a:latin typeface="+mn-lt"/>
                  <a:ea typeface="+mn-ea"/>
                  <a:cs typeface="+mn-cs"/>
                </a:rPr>
                <a:t>Log</a:t>
              </a:r>
            </a:p>
          </p:txBody>
        </p:sp>
      </p:grpSp>
      <p:grpSp>
        <p:nvGrpSpPr>
          <p:cNvPr id="46" name="Group 46"/>
          <p:cNvGrpSpPr/>
          <p:nvPr/>
        </p:nvGrpSpPr>
        <p:grpSpPr>
          <a:xfrm>
            <a:off x="526923" y="6044089"/>
            <a:ext cx="7669458" cy="249364"/>
            <a:chOff x="526923" y="6044089"/>
            <a:chExt cx="7669458" cy="249364"/>
          </a:xfrm>
        </p:grpSpPr>
        <p:sp>
          <p:nvSpPr>
            <p:cNvPr id="44" name="TextBox 44"/>
            <p:cNvSpPr txBox="1"/>
            <p:nvPr/>
          </p:nvSpPr>
          <p:spPr>
            <a:xfrm>
              <a:off x="526923" y="6044089"/>
              <a:ext cx="653375"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BÀI HỌC</a:t>
              </a:r>
            </a:p>
          </p:txBody>
        </p:sp>
        <p:sp>
          <p:nvSpPr>
            <p:cNvPr id="45" name="TextBox 45"/>
            <p:cNvSpPr txBox="1"/>
            <p:nvPr/>
          </p:nvSpPr>
          <p:spPr>
            <a:xfrm>
              <a:off x="1517523" y="6044089"/>
              <a:ext cx="6678858"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Interface, acceptance và logging phải được chốt sớm để tool có thể tái sử dụng.</a:t>
              </a:r>
            </a:p>
          </p:txBody>
        </p:sp>
      </p:grpSp>
      <p:sp>
        <p:nvSpPr>
          <p:cNvPr id="47" name="TextBox 47"/>
          <p:cNvSpPr txBox="1"/>
          <p:nvPr/>
        </p:nvSpPr>
        <p:spPr>
          <a:xfrm>
            <a:off x="11141640" y="6630352"/>
            <a:ext cx="484194" cy="205359"/>
          </a:xfrm>
          <a:prstGeom prst="rect">
            <a:avLst/>
          </a:prstGeom>
          <a:noFill/>
          <a:ln>
            <a:noFill/>
          </a:ln>
        </p:spPr>
        <p:txBody>
          <a:bodyPr wrap="none" lIns="0" tIns="0" rIns="0" bIns="0" anchor="t" anchorCtr="0">
            <a:spAutoFit/>
          </a:bodyPr>
          <a:lstStyle/>
          <a:p>
            <a:pPr algn="r"/>
            <a:r>
              <a:rPr lang="en-US" sz="1050" dirty="0">
                <a:solidFill>
                  <a:srgbClr val="66706A"/>
                </a:solidFill>
                <a:latin typeface="+mn-lt"/>
                <a:ea typeface="+mn-ea"/>
                <a:cs typeface="+mn-cs"/>
              </a:rPr>
              <a:t>15 / 23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3"/>
          <a:stretch>
            <a:fillRect/>
          </a:stretch>
        </p:blipFill>
        <p:spPr>
          <a:xfrm>
            <a:off x="486276" y="266700"/>
            <a:ext cx="1313447" cy="381000"/>
          </a:xfrm>
          <a:prstGeom prst="rect">
            <a:avLst/>
          </a:prstGeom>
        </p:spPr>
      </p:pic>
      <p:grpSp>
        <p:nvGrpSpPr>
          <p:cNvPr id="6" name="Group 6"/>
          <p:cNvGrpSpPr/>
          <p:nvPr/>
        </p:nvGrpSpPr>
        <p:grpSpPr>
          <a:xfrm>
            <a:off x="2462784" y="266700"/>
            <a:ext cx="9157716" cy="617601"/>
            <a:chOff x="2462784" y="266700"/>
            <a:chExt cx="9157716" cy="617601"/>
          </a:xfrm>
        </p:grpSpPr>
        <p:sp>
          <p:nvSpPr>
            <p:cNvPr id="3" name="TextBox 3"/>
            <p:cNvSpPr txBox="1"/>
            <p:nvPr/>
          </p:nvSpPr>
          <p:spPr>
            <a:xfrm>
              <a:off x="2462784" y="356235"/>
              <a:ext cx="7195357" cy="528066"/>
            </a:xfrm>
            <a:prstGeom prst="rect">
              <a:avLst/>
            </a:prstGeom>
            <a:noFill/>
            <a:ln>
              <a:noFill/>
            </a:ln>
          </p:spPr>
          <p:txBody>
            <a:bodyPr wrap="none" lIns="0" tIns="0" rIns="0" bIns="0" anchor="t" anchorCtr="0">
              <a:spAutoFit/>
            </a:bodyPr>
            <a:lstStyle/>
            <a:p>
              <a:pPr algn="l"/>
              <a:r>
                <a:rPr lang="en-US" sz="2700" b="1" dirty="0">
                  <a:solidFill>
                    <a:schemeClr val="accent1"/>
                  </a:solidFill>
                  <a:latin typeface="+mn-lt"/>
                  <a:ea typeface="+mn-ea"/>
                  <a:cs typeface="+mn-cs"/>
                </a:rPr>
                <a:t>Tool Design — Tool test nguồn Lumes V2</a:t>
              </a:r>
            </a:p>
          </p:txBody>
        </p:sp>
        <p:sp>
          <p:nvSpPr>
            <p:cNvPr id="4" name="Rectangle 4"/>
            <p:cNvSpPr/>
            <p:nvPr/>
          </p:nvSpPr>
          <p:spPr>
            <a:xfrm>
              <a:off x="9620250" y="266700"/>
              <a:ext cx="2000250" cy="400050"/>
            </a:xfrm>
            <a:prstGeom prst="roundRect">
              <a:avLst>
                <a:gd name="adj" fmla="val 9524"/>
              </a:avLst>
            </a:prstGeom>
            <a:solidFill>
              <a:srgbClr val="EAF6F0"/>
            </a:solidFill>
            <a:ln>
              <a:noFill/>
            </a:ln>
          </p:spPr>
          <p:txBody>
            <a:bodyPr/>
            <a:lstStyle/>
            <a:p>
              <a:endParaRPr lang="en-US"/>
            </a:p>
          </p:txBody>
        </p:sp>
        <p:sp>
          <p:nvSpPr>
            <p:cNvPr id="5" name="TextBox 5"/>
            <p:cNvSpPr txBox="1"/>
            <p:nvPr/>
          </p:nvSpPr>
          <p:spPr>
            <a:xfrm>
              <a:off x="9748851" y="386239"/>
              <a:ext cx="1743048" cy="249364"/>
            </a:xfrm>
            <a:prstGeom prst="rect">
              <a:avLst/>
            </a:prstGeom>
            <a:noFill/>
            <a:ln>
              <a:noFill/>
            </a:ln>
          </p:spPr>
          <p:txBody>
            <a:bodyPr wrap="none" lIns="0" tIns="0" rIns="0" bIns="0" anchor="t" anchorCtr="0">
              <a:spAutoFit/>
            </a:bodyPr>
            <a:lstStyle/>
            <a:p>
              <a:pPr algn="ctr"/>
              <a:r>
                <a:rPr lang="en-US" sz="1280" b="1" dirty="0">
                  <a:solidFill>
                    <a:schemeClr val="accent1"/>
                  </a:solidFill>
                  <a:latin typeface="+mn-lt"/>
                  <a:ea typeface="+mn-ea"/>
                  <a:cs typeface="+mn-cs"/>
                </a:rPr>
                <a:t>18/05/2026 · DONE</a:t>
              </a:r>
            </a:p>
          </p:txBody>
        </p:sp>
      </p:grpSp>
      <p:grpSp>
        <p:nvGrpSpPr>
          <p:cNvPr id="11" name="Group 11"/>
          <p:cNvGrpSpPr/>
          <p:nvPr/>
        </p:nvGrpSpPr>
        <p:grpSpPr>
          <a:xfrm>
            <a:off x="533400" y="1104900"/>
            <a:ext cx="6819900" cy="1001839"/>
            <a:chOff x="533400" y="1104900"/>
            <a:chExt cx="6819900" cy="1001839"/>
          </a:xfrm>
        </p:grpSpPr>
        <p:sp>
          <p:nvSpPr>
            <p:cNvPr id="7" name="Rectangle 7"/>
            <p:cNvSpPr/>
            <p:nvPr/>
          </p:nvSpPr>
          <p:spPr>
            <a:xfrm>
              <a:off x="533400" y="1104900"/>
              <a:ext cx="6819900" cy="990600"/>
            </a:xfrm>
            <a:prstGeom prst="roundRect">
              <a:avLst>
                <a:gd name="adj" fmla="val 3846"/>
              </a:avLst>
            </a:prstGeom>
            <a:solidFill>
              <a:schemeClr val="accent1"/>
            </a:solidFill>
            <a:ln>
              <a:noFill/>
            </a:ln>
          </p:spPr>
          <p:txBody>
            <a:bodyPr/>
            <a:lstStyle/>
            <a:p>
              <a:endParaRPr lang="en-US"/>
            </a:p>
          </p:txBody>
        </p:sp>
        <p:sp>
          <p:nvSpPr>
            <p:cNvPr id="8" name="TextBox 8"/>
            <p:cNvSpPr txBox="1"/>
            <p:nvPr/>
          </p:nvSpPr>
          <p:spPr>
            <a:xfrm>
              <a:off x="775335" y="1307306"/>
              <a:ext cx="1567080" cy="220028"/>
            </a:xfrm>
            <a:prstGeom prst="rect">
              <a:avLst/>
            </a:prstGeom>
            <a:noFill/>
            <a:ln>
              <a:noFill/>
            </a:ln>
          </p:spPr>
          <p:txBody>
            <a:bodyPr wrap="none" lIns="0" tIns="0" rIns="0" bIns="0" anchor="t" anchorCtr="0">
              <a:spAutoFit/>
            </a:bodyPr>
            <a:lstStyle/>
            <a:p>
              <a:pPr algn="l"/>
              <a:r>
                <a:rPr lang="en-US" sz="1120" b="1" dirty="0">
                  <a:solidFill>
                    <a:srgbClr val="FFFFFF"/>
                  </a:solidFill>
                  <a:latin typeface="+mn-lt"/>
                  <a:ea typeface="+mn-ea"/>
                  <a:cs typeface="+mn-cs"/>
                </a:rPr>
                <a:t>MỤC TIÊU CÔNG ĐOẠN</a:t>
              </a:r>
            </a:p>
          </p:txBody>
        </p:sp>
        <p:sp>
          <p:nvSpPr>
            <p:cNvPr id="9" name="TextBox 9"/>
            <p:cNvSpPr txBox="1"/>
            <p:nvPr/>
          </p:nvSpPr>
          <p:spPr>
            <a:xfrm>
              <a:off x="772668" y="1517332"/>
              <a:ext cx="5132513" cy="322707"/>
            </a:xfrm>
            <a:prstGeom prst="rect">
              <a:avLst/>
            </a:prstGeom>
            <a:noFill/>
            <a:ln>
              <a:noFill/>
            </a:ln>
          </p:spPr>
          <p:txBody>
            <a:bodyPr wrap="none" lIns="0" tIns="0" rIns="0" bIns="0" anchor="t" anchorCtr="0">
              <a:spAutoFit/>
            </a:bodyPr>
            <a:lstStyle/>
            <a:p>
              <a:pPr algn="l"/>
              <a:r>
                <a:rPr lang="en-US" sz="1650" b="1" dirty="0">
                  <a:solidFill>
                    <a:srgbClr val="FFFFFF"/>
                  </a:solidFill>
                  <a:latin typeface="+mn-lt"/>
                  <a:ea typeface="+mn-ea"/>
                  <a:cs typeface="+mn-cs"/>
                </a:rPr>
                <a:t>Kiểm tra nguồn ổn định trước khi chuyển sang</a:t>
              </a:r>
            </a:p>
          </p:txBody>
        </p:sp>
        <p:sp>
          <p:nvSpPr>
            <p:cNvPr id="10" name="TextBox 10"/>
            <p:cNvSpPr txBox="1"/>
            <p:nvPr/>
          </p:nvSpPr>
          <p:spPr>
            <a:xfrm>
              <a:off x="772668" y="1784032"/>
              <a:ext cx="1696014" cy="322707"/>
            </a:xfrm>
            <a:prstGeom prst="rect">
              <a:avLst/>
            </a:prstGeom>
            <a:noFill/>
            <a:ln>
              <a:noFill/>
            </a:ln>
          </p:spPr>
          <p:txBody>
            <a:bodyPr wrap="none" lIns="0" tIns="0" rIns="0" bIns="0" anchor="t" anchorCtr="0">
              <a:spAutoFit/>
            </a:bodyPr>
            <a:lstStyle/>
            <a:p>
              <a:pPr algn="l"/>
              <a:r>
                <a:rPr lang="en-US" sz="1650" b="1" dirty="0">
                  <a:solidFill>
                    <a:srgbClr val="FFFFFF"/>
                  </a:solidFill>
                  <a:latin typeface="+mn-lt"/>
                  <a:ea typeface="+mn-ea"/>
                  <a:cs typeface="+mn-cs"/>
                </a:rPr>
                <a:t>bước nạp code.</a:t>
              </a:r>
            </a:p>
          </p:txBody>
        </p:sp>
      </p:grpSp>
      <p:grpSp>
        <p:nvGrpSpPr>
          <p:cNvPr id="18" name="Group 18"/>
          <p:cNvGrpSpPr/>
          <p:nvPr/>
        </p:nvGrpSpPr>
        <p:grpSpPr>
          <a:xfrm>
            <a:off x="7658100" y="1104900"/>
            <a:ext cx="4000500" cy="4648200"/>
            <a:chOff x="7658100" y="1104900"/>
            <a:chExt cx="4000500" cy="4648200"/>
          </a:xfrm>
        </p:grpSpPr>
        <p:sp>
          <p:nvSpPr>
            <p:cNvPr id="12" name="Rectangle 12"/>
            <p:cNvSpPr/>
            <p:nvPr/>
          </p:nvSpPr>
          <p:spPr>
            <a:xfrm>
              <a:off x="7658100" y="1104900"/>
              <a:ext cx="4000500" cy="4648200"/>
            </a:xfrm>
            <a:prstGeom prst="roundRect">
              <a:avLst>
                <a:gd name="adj" fmla="val 952"/>
              </a:avLst>
            </a:prstGeom>
            <a:solidFill>
              <a:schemeClr val="lt2"/>
            </a:solidFill>
            <a:ln>
              <a:noFill/>
            </a:ln>
          </p:spPr>
          <p:txBody>
            <a:bodyPr/>
            <a:lstStyle/>
            <a:p>
              <a:endParaRPr lang="en-US"/>
            </a:p>
          </p:txBody>
        </p:sp>
        <p:pic>
          <p:nvPicPr>
            <p:cNvPr id="13" name="Image 13"/>
            <p:cNvPicPr>
              <a:picLocks noChangeAspect="1"/>
            </p:cNvPicPr>
            <p:nvPr/>
          </p:nvPicPr>
          <p:blipFill>
            <a:blip r:embed="rId4"/>
            <a:stretch>
              <a:fillRect/>
            </a:stretch>
          </p:blipFill>
          <p:spPr>
            <a:xfrm>
              <a:off x="7848600" y="1351545"/>
              <a:ext cx="3619500" cy="3202409"/>
            </a:xfrm>
            <a:prstGeom prst="rect">
              <a:avLst/>
            </a:prstGeom>
          </p:spPr>
        </p:pic>
        <p:sp>
          <p:nvSpPr>
            <p:cNvPr id="14" name="Line 14"/>
            <p:cNvSpPr/>
            <p:nvPr/>
          </p:nvSpPr>
          <p:spPr>
            <a:xfrm>
              <a:off x="7848600" y="4762500"/>
              <a:ext cx="3619500" cy="9525"/>
            </a:xfrm>
            <a:custGeom>
              <a:avLst/>
              <a:gdLst/>
              <a:ahLst/>
              <a:cxnLst/>
              <a:rect l="l" t="t" r="r" b="b"/>
              <a:pathLst>
                <a:path w="3619500" h="9525">
                  <a:moveTo>
                    <a:pt x="0" y="0"/>
                  </a:moveTo>
                  <a:lnTo>
                    <a:pt x="3619500" y="0"/>
                  </a:lnTo>
                </a:path>
              </a:pathLst>
            </a:custGeom>
            <a:noFill/>
            <a:ln w="19050">
              <a:solidFill>
                <a:srgbClr val="B8D8C7"/>
              </a:solidFill>
            </a:ln>
          </p:spPr>
          <p:txBody>
            <a:bodyPr/>
            <a:lstStyle/>
            <a:p>
              <a:endParaRPr lang="en-US"/>
            </a:p>
          </p:txBody>
        </p:sp>
        <p:sp>
          <p:nvSpPr>
            <p:cNvPr id="15" name="TextBox 15"/>
            <p:cNvSpPr txBox="1"/>
            <p:nvPr/>
          </p:nvSpPr>
          <p:spPr>
            <a:xfrm>
              <a:off x="7842885" y="4945856"/>
              <a:ext cx="1483443" cy="220028"/>
            </a:xfrm>
            <a:prstGeom prst="rect">
              <a:avLst/>
            </a:prstGeom>
            <a:noFill/>
            <a:ln>
              <a:noFill/>
            </a:ln>
          </p:spPr>
          <p:txBody>
            <a:bodyPr wrap="none" lIns="0" tIns="0" rIns="0" bIns="0" anchor="t" anchorCtr="0">
              <a:spAutoFit/>
            </a:bodyPr>
            <a:lstStyle/>
            <a:p>
              <a:pPr algn="l"/>
              <a:r>
                <a:rPr lang="en-US" sz="1120" b="1" dirty="0">
                  <a:solidFill>
                    <a:schemeClr val="accent1"/>
                  </a:solidFill>
                  <a:latin typeface="+mn-lt"/>
                  <a:ea typeface="+mn-ea"/>
                  <a:cs typeface="+mn-cs"/>
                </a:rPr>
                <a:t>NGỮ CẢNH SẢN PHẨM</a:t>
              </a:r>
            </a:p>
          </p:txBody>
        </p:sp>
        <p:sp>
          <p:nvSpPr>
            <p:cNvPr id="16" name="TextBox 16"/>
            <p:cNvSpPr txBox="1"/>
            <p:nvPr/>
          </p:nvSpPr>
          <p:spPr>
            <a:xfrm>
              <a:off x="7841361" y="5227796"/>
              <a:ext cx="2837142" cy="278702"/>
            </a:xfrm>
            <a:prstGeom prst="rect">
              <a:avLst/>
            </a:prstGeom>
            <a:noFill/>
            <a:ln>
              <a:noFill/>
            </a:ln>
          </p:spPr>
          <p:txBody>
            <a:bodyPr wrap="none" lIns="0" tIns="0" rIns="0" bIns="0" anchor="t" anchorCtr="0">
              <a:spAutoFit/>
            </a:bodyPr>
            <a:lstStyle/>
            <a:p>
              <a:pPr algn="l"/>
              <a:r>
                <a:rPr lang="en-US" sz="1420" b="1" dirty="0">
                  <a:solidFill>
                    <a:schemeClr val="dk1"/>
                  </a:solidFill>
                  <a:latin typeface="+mn-lt"/>
                  <a:ea typeface="+mn-ea"/>
                  <a:cs typeface="+mn-cs"/>
                </a:rPr>
                <a:t>Mạch main công tắc Lumes V2</a:t>
              </a:r>
            </a:p>
          </p:txBody>
        </p:sp>
        <p:sp>
          <p:nvSpPr>
            <p:cNvPr id="17" name="TextBox 17"/>
            <p:cNvSpPr txBox="1"/>
            <p:nvPr/>
          </p:nvSpPr>
          <p:spPr>
            <a:xfrm>
              <a:off x="7842123" y="5472589"/>
              <a:ext cx="2339004" cy="249364"/>
            </a:xfrm>
            <a:prstGeom prst="rect">
              <a:avLst/>
            </a:prstGeom>
            <a:noFill/>
            <a:ln>
              <a:noFill/>
            </a:ln>
          </p:spPr>
          <p:txBody>
            <a:bodyPr wrap="none" lIns="0" tIns="0" rIns="0" bIns="0" anchor="t" anchorCtr="0">
              <a:spAutoFit/>
            </a:bodyPr>
            <a:lstStyle/>
            <a:p>
              <a:pPr algn="l"/>
              <a:r>
                <a:rPr lang="en-US" sz="1280" dirty="0">
                  <a:solidFill>
                    <a:srgbClr val="66706A"/>
                  </a:solidFill>
                  <a:latin typeface="+mn-lt"/>
                  <a:ea typeface="+mn-ea"/>
                  <a:cs typeface="+mn-cs"/>
                </a:rPr>
                <a:t>Tool thuộc dự án Tool Design</a:t>
              </a:r>
            </a:p>
          </p:txBody>
        </p:sp>
      </p:grpSp>
      <p:grpSp>
        <p:nvGrpSpPr>
          <p:cNvPr id="23" name="Group 23"/>
          <p:cNvGrpSpPr/>
          <p:nvPr/>
        </p:nvGrpSpPr>
        <p:grpSpPr>
          <a:xfrm>
            <a:off x="526161" y="2491264"/>
            <a:ext cx="2936833" cy="1272159"/>
            <a:chOff x="526161" y="2491264"/>
            <a:chExt cx="2936833" cy="1272159"/>
          </a:xfrm>
        </p:grpSpPr>
        <p:sp>
          <p:nvSpPr>
            <p:cNvPr id="19" name="TextBox 19"/>
            <p:cNvSpPr txBox="1"/>
            <p:nvPr/>
          </p:nvSpPr>
          <p:spPr>
            <a:xfrm>
              <a:off x="526923" y="2491264"/>
              <a:ext cx="1809957"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CÔNG VIỆC &amp; KẾT QUẢ</a:t>
              </a:r>
            </a:p>
          </p:txBody>
        </p:sp>
        <p:sp>
          <p:nvSpPr>
            <p:cNvPr id="20" name="TextBox 20"/>
            <p:cNvSpPr txBox="1"/>
            <p:nvPr/>
          </p:nvSpPr>
          <p:spPr>
            <a:xfrm>
              <a:off x="526161" y="2837021"/>
              <a:ext cx="1980624"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Dev tool test nguồn</a:t>
              </a:r>
            </a:p>
          </p:txBody>
        </p:sp>
        <p:sp>
          <p:nvSpPr>
            <p:cNvPr id="21" name="TextBox 21"/>
            <p:cNvSpPr txBox="1"/>
            <p:nvPr/>
          </p:nvSpPr>
          <p:spPr>
            <a:xfrm>
              <a:off x="526161" y="3160871"/>
              <a:ext cx="2688302"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Kiểm tra theo flow nhà máy</a:t>
              </a:r>
            </a:p>
          </p:txBody>
        </p:sp>
        <p:sp>
          <p:nvSpPr>
            <p:cNvPr id="22" name="TextBox 22"/>
            <p:cNvSpPr txBox="1"/>
            <p:nvPr/>
          </p:nvSpPr>
          <p:spPr>
            <a:xfrm>
              <a:off x="526161" y="3484721"/>
              <a:ext cx="2936833"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Hoàn thành và xác nhận đầu ra</a:t>
              </a:r>
            </a:p>
          </p:txBody>
        </p:sp>
      </p:grpSp>
      <p:grpSp>
        <p:nvGrpSpPr>
          <p:cNvPr id="28" name="Group 28"/>
          <p:cNvGrpSpPr/>
          <p:nvPr/>
        </p:nvGrpSpPr>
        <p:grpSpPr>
          <a:xfrm>
            <a:off x="4031361" y="2491264"/>
            <a:ext cx="2821854" cy="1272159"/>
            <a:chOff x="4031361" y="2491264"/>
            <a:chExt cx="2821854" cy="1272159"/>
          </a:xfrm>
        </p:grpSpPr>
        <p:sp>
          <p:nvSpPr>
            <p:cNvPr id="24" name="TextBox 24"/>
            <p:cNvSpPr txBox="1"/>
            <p:nvPr/>
          </p:nvSpPr>
          <p:spPr>
            <a:xfrm>
              <a:off x="4032123" y="2491264"/>
              <a:ext cx="701168" cy="249364"/>
            </a:xfrm>
            <a:prstGeom prst="rect">
              <a:avLst/>
            </a:prstGeom>
            <a:noFill/>
            <a:ln>
              <a:noFill/>
            </a:ln>
          </p:spPr>
          <p:txBody>
            <a:bodyPr wrap="none" lIns="0" tIns="0" rIns="0" bIns="0" anchor="t" anchorCtr="0">
              <a:spAutoFit/>
            </a:bodyPr>
            <a:lstStyle/>
            <a:p>
              <a:pPr algn="l"/>
              <a:r>
                <a:rPr lang="en-US" sz="1280" b="1" dirty="0">
                  <a:solidFill>
                    <a:schemeClr val="accent2"/>
                  </a:solidFill>
                  <a:latin typeface="+mn-lt"/>
                  <a:ea typeface="+mn-ea"/>
                  <a:cs typeface="+mn-cs"/>
                </a:rPr>
                <a:t>KỸ NĂNG</a:t>
              </a:r>
            </a:p>
          </p:txBody>
        </p:sp>
        <p:sp>
          <p:nvSpPr>
            <p:cNvPr id="25" name="TextBox 25"/>
            <p:cNvSpPr txBox="1"/>
            <p:nvPr/>
          </p:nvSpPr>
          <p:spPr>
            <a:xfrm>
              <a:off x="4031361" y="2837021"/>
              <a:ext cx="2774237"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Đo nguồn và xác nhận ngưỡng</a:t>
              </a:r>
            </a:p>
          </p:txBody>
        </p:sp>
        <p:sp>
          <p:nvSpPr>
            <p:cNvPr id="26" name="TextBox 26"/>
            <p:cNvSpPr txBox="1"/>
            <p:nvPr/>
          </p:nvSpPr>
          <p:spPr>
            <a:xfrm>
              <a:off x="4031361" y="3160871"/>
              <a:ext cx="2277144"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Tích hợp với mạch main</a:t>
              </a:r>
            </a:p>
          </p:txBody>
        </p:sp>
        <p:sp>
          <p:nvSpPr>
            <p:cNvPr id="27" name="TextBox 27"/>
            <p:cNvSpPr txBox="1"/>
            <p:nvPr/>
          </p:nvSpPr>
          <p:spPr>
            <a:xfrm>
              <a:off x="4031361" y="3484721"/>
              <a:ext cx="2821854"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Chuẩn hóa thao tác operator</a:t>
              </a:r>
            </a:p>
          </p:txBody>
        </p:sp>
      </p:grpSp>
      <p:grpSp>
        <p:nvGrpSpPr>
          <p:cNvPr id="33" name="Group 33"/>
          <p:cNvGrpSpPr/>
          <p:nvPr/>
        </p:nvGrpSpPr>
        <p:grpSpPr>
          <a:xfrm>
            <a:off x="526161" y="4224814"/>
            <a:ext cx="2353488" cy="1272159"/>
            <a:chOff x="526161" y="4224814"/>
            <a:chExt cx="2353488" cy="1272159"/>
          </a:xfrm>
        </p:grpSpPr>
        <p:sp>
          <p:nvSpPr>
            <p:cNvPr id="29" name="TextBox 29"/>
            <p:cNvSpPr txBox="1"/>
            <p:nvPr/>
          </p:nvSpPr>
          <p:spPr>
            <a:xfrm>
              <a:off x="526923" y="4224814"/>
              <a:ext cx="1398941"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TƯ DUY THIẾT KẾ</a:t>
              </a:r>
            </a:p>
          </p:txBody>
        </p:sp>
        <p:sp>
          <p:nvSpPr>
            <p:cNvPr id="30" name="TextBox 30"/>
            <p:cNvSpPr txBox="1"/>
            <p:nvPr/>
          </p:nvSpPr>
          <p:spPr>
            <a:xfrm>
              <a:off x="526161" y="4570571"/>
              <a:ext cx="2191224"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Tách test và nạp code</a:t>
              </a:r>
            </a:p>
          </p:txBody>
        </p:sp>
        <p:sp>
          <p:nvSpPr>
            <p:cNvPr id="31" name="TextBox 31"/>
            <p:cNvSpPr txBox="1"/>
            <p:nvPr/>
          </p:nvSpPr>
          <p:spPr>
            <a:xfrm>
              <a:off x="526161" y="4894421"/>
              <a:ext cx="2353488"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Thiết kế theo công đoạn</a:t>
              </a:r>
            </a:p>
          </p:txBody>
        </p:sp>
        <p:sp>
          <p:nvSpPr>
            <p:cNvPr id="32" name="TextBox 32"/>
            <p:cNvSpPr txBox="1"/>
            <p:nvPr/>
          </p:nvSpPr>
          <p:spPr>
            <a:xfrm>
              <a:off x="526161" y="5218271"/>
              <a:ext cx="1913891"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Giảm thao tác thừa</a:t>
              </a:r>
            </a:p>
          </p:txBody>
        </p:sp>
      </p:grpSp>
      <p:grpSp>
        <p:nvGrpSpPr>
          <p:cNvPr id="38" name="Group 38"/>
          <p:cNvGrpSpPr/>
          <p:nvPr/>
        </p:nvGrpSpPr>
        <p:grpSpPr>
          <a:xfrm>
            <a:off x="4031361" y="4224814"/>
            <a:ext cx="3061097" cy="1272159"/>
            <a:chOff x="4031361" y="4224814"/>
            <a:chExt cx="3061097" cy="1272159"/>
          </a:xfrm>
        </p:grpSpPr>
        <p:sp>
          <p:nvSpPr>
            <p:cNvPr id="34" name="TextBox 34"/>
            <p:cNvSpPr txBox="1"/>
            <p:nvPr/>
          </p:nvSpPr>
          <p:spPr>
            <a:xfrm>
              <a:off x="4032123" y="4224814"/>
              <a:ext cx="1666579" cy="249364"/>
            </a:xfrm>
            <a:prstGeom prst="rect">
              <a:avLst/>
            </a:prstGeom>
            <a:noFill/>
            <a:ln>
              <a:noFill/>
            </a:ln>
          </p:spPr>
          <p:txBody>
            <a:bodyPr wrap="none" lIns="0" tIns="0" rIns="0" bIns="0" anchor="t" anchorCtr="0">
              <a:spAutoFit/>
            </a:bodyPr>
            <a:lstStyle/>
            <a:p>
              <a:pPr algn="l"/>
              <a:r>
                <a:rPr lang="en-US" sz="1280" b="1" dirty="0">
                  <a:solidFill>
                    <a:srgbClr val="B56A00"/>
                  </a:solidFill>
                  <a:latin typeface="+mn-lt"/>
                  <a:ea typeface="+mn-ea"/>
                  <a:cs typeface="+mn-cs"/>
                </a:rPr>
                <a:t>BÀI HỌC &amp; KHÓ KHĂN</a:t>
              </a:r>
            </a:p>
          </p:txBody>
        </p:sp>
        <p:sp>
          <p:nvSpPr>
            <p:cNvPr id="35" name="TextBox 35"/>
            <p:cNvSpPr txBox="1"/>
            <p:nvPr/>
          </p:nvSpPr>
          <p:spPr>
            <a:xfrm>
              <a:off x="4031361" y="4570571"/>
              <a:ext cx="3061097"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Xác nhận tương thích mạch sớm</a:t>
              </a:r>
            </a:p>
          </p:txBody>
        </p:sp>
        <p:sp>
          <p:nvSpPr>
            <p:cNvPr id="36" name="TextBox 36"/>
            <p:cNvSpPr txBox="1"/>
            <p:nvPr/>
          </p:nvSpPr>
          <p:spPr>
            <a:xfrm>
              <a:off x="4031361" y="4894421"/>
              <a:ext cx="2764365"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Fixture cần được kiểm chứng</a:t>
              </a:r>
            </a:p>
          </p:txBody>
        </p:sp>
        <p:sp>
          <p:nvSpPr>
            <p:cNvPr id="37" name="TextBox 37"/>
            <p:cNvSpPr txBox="1"/>
            <p:nvPr/>
          </p:nvSpPr>
          <p:spPr>
            <a:xfrm>
              <a:off x="4031361" y="5218271"/>
              <a:ext cx="2401089"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Acceptance phải rõ ràng</a:t>
              </a:r>
            </a:p>
          </p:txBody>
        </p:sp>
      </p:grpSp>
      <p:grpSp>
        <p:nvGrpSpPr>
          <p:cNvPr id="41" name="Group 41"/>
          <p:cNvGrpSpPr/>
          <p:nvPr/>
        </p:nvGrpSpPr>
        <p:grpSpPr>
          <a:xfrm>
            <a:off x="526923" y="6044089"/>
            <a:ext cx="8103217" cy="249364"/>
            <a:chOff x="526923" y="6044089"/>
            <a:chExt cx="8103217" cy="249364"/>
          </a:xfrm>
        </p:grpSpPr>
        <p:sp>
          <p:nvSpPr>
            <p:cNvPr id="39" name="TextBox 39"/>
            <p:cNvSpPr txBox="1"/>
            <p:nvPr/>
          </p:nvSpPr>
          <p:spPr>
            <a:xfrm>
              <a:off x="526923" y="6044089"/>
              <a:ext cx="1016599"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THÀNH TÍCH</a:t>
              </a:r>
            </a:p>
          </p:txBody>
        </p:sp>
        <p:sp>
          <p:nvSpPr>
            <p:cNvPr id="40" name="TextBox 40"/>
            <p:cNvSpPr txBox="1"/>
            <p:nvPr/>
          </p:nvSpPr>
          <p:spPr>
            <a:xfrm>
              <a:off x="1727073" y="6044089"/>
              <a:ext cx="6903067"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Tool test nguồn hoàn thành; flow test và flow loader được tách rõ để dễ vận hành.</a:t>
              </a:r>
            </a:p>
          </p:txBody>
        </p:sp>
      </p:grpSp>
      <p:sp>
        <p:nvSpPr>
          <p:cNvPr id="42" name="TextBox 42"/>
          <p:cNvSpPr txBox="1"/>
          <p:nvPr/>
        </p:nvSpPr>
        <p:spPr>
          <a:xfrm>
            <a:off x="11141640" y="6630352"/>
            <a:ext cx="484194" cy="205359"/>
          </a:xfrm>
          <a:prstGeom prst="rect">
            <a:avLst/>
          </a:prstGeom>
          <a:noFill/>
          <a:ln>
            <a:noFill/>
          </a:ln>
        </p:spPr>
        <p:txBody>
          <a:bodyPr wrap="none" lIns="0" tIns="0" rIns="0" bIns="0" anchor="t" anchorCtr="0">
            <a:spAutoFit/>
          </a:bodyPr>
          <a:lstStyle/>
          <a:p>
            <a:pPr algn="r"/>
            <a:r>
              <a:rPr lang="en-US" sz="1050" dirty="0">
                <a:solidFill>
                  <a:srgbClr val="66706A"/>
                </a:solidFill>
                <a:latin typeface="+mn-lt"/>
                <a:ea typeface="+mn-ea"/>
                <a:cs typeface="+mn-cs"/>
              </a:rPr>
              <a:t>16 / 23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3"/>
          <a:stretch>
            <a:fillRect/>
          </a:stretch>
        </p:blipFill>
        <p:spPr>
          <a:xfrm>
            <a:off x="486276" y="266700"/>
            <a:ext cx="1313447" cy="381000"/>
          </a:xfrm>
          <a:prstGeom prst="rect">
            <a:avLst/>
          </a:prstGeom>
        </p:spPr>
      </p:pic>
      <p:grpSp>
        <p:nvGrpSpPr>
          <p:cNvPr id="6" name="Group 6"/>
          <p:cNvGrpSpPr/>
          <p:nvPr/>
        </p:nvGrpSpPr>
        <p:grpSpPr>
          <a:xfrm>
            <a:off x="2462784" y="266700"/>
            <a:ext cx="9157716" cy="617601"/>
            <a:chOff x="2462784" y="266700"/>
            <a:chExt cx="9157716" cy="617601"/>
          </a:xfrm>
        </p:grpSpPr>
        <p:sp>
          <p:nvSpPr>
            <p:cNvPr id="3" name="TextBox 3"/>
            <p:cNvSpPr txBox="1"/>
            <p:nvPr/>
          </p:nvSpPr>
          <p:spPr>
            <a:xfrm>
              <a:off x="2462784" y="356235"/>
              <a:ext cx="7094604" cy="528066"/>
            </a:xfrm>
            <a:prstGeom prst="rect">
              <a:avLst/>
            </a:prstGeom>
            <a:noFill/>
            <a:ln>
              <a:noFill/>
            </a:ln>
          </p:spPr>
          <p:txBody>
            <a:bodyPr wrap="none" lIns="0" tIns="0" rIns="0" bIns="0" anchor="t" anchorCtr="0">
              <a:spAutoFit/>
            </a:bodyPr>
            <a:lstStyle/>
            <a:p>
              <a:pPr algn="l"/>
              <a:r>
                <a:rPr lang="en-US" sz="2700" b="1" dirty="0">
                  <a:solidFill>
                    <a:schemeClr val="accent1"/>
                  </a:solidFill>
                  <a:latin typeface="+mn-lt"/>
                  <a:ea typeface="+mn-ea"/>
                  <a:cs typeface="+mn-cs"/>
                </a:rPr>
                <a:t>Tool Design — Tool test Smart Lighting</a:t>
              </a:r>
            </a:p>
          </p:txBody>
        </p:sp>
        <p:sp>
          <p:nvSpPr>
            <p:cNvPr id="4" name="Rectangle 4"/>
            <p:cNvSpPr/>
            <p:nvPr/>
          </p:nvSpPr>
          <p:spPr>
            <a:xfrm>
              <a:off x="9372600" y="266700"/>
              <a:ext cx="2247900" cy="400050"/>
            </a:xfrm>
            <a:prstGeom prst="roundRect">
              <a:avLst>
                <a:gd name="adj" fmla="val 9524"/>
              </a:avLst>
            </a:prstGeom>
            <a:solidFill>
              <a:srgbClr val="FFF7E8"/>
            </a:solidFill>
            <a:ln>
              <a:noFill/>
            </a:ln>
          </p:spPr>
          <p:txBody>
            <a:bodyPr/>
            <a:lstStyle/>
            <a:p>
              <a:endParaRPr lang="en-US"/>
            </a:p>
          </p:txBody>
        </p:sp>
        <p:sp>
          <p:nvSpPr>
            <p:cNvPr id="5" name="TextBox 5"/>
            <p:cNvSpPr txBox="1"/>
            <p:nvPr/>
          </p:nvSpPr>
          <p:spPr>
            <a:xfrm>
              <a:off x="9601130" y="386239"/>
              <a:ext cx="1790840" cy="249364"/>
            </a:xfrm>
            <a:prstGeom prst="rect">
              <a:avLst/>
            </a:prstGeom>
            <a:noFill/>
            <a:ln>
              <a:noFill/>
            </a:ln>
          </p:spPr>
          <p:txBody>
            <a:bodyPr wrap="none" lIns="0" tIns="0" rIns="0" bIns="0" anchor="t" anchorCtr="0">
              <a:spAutoFit/>
            </a:bodyPr>
            <a:lstStyle/>
            <a:p>
              <a:pPr algn="ctr"/>
              <a:r>
                <a:rPr lang="en-US" sz="1280" b="1" dirty="0">
                  <a:solidFill>
                    <a:srgbClr val="B56A00"/>
                  </a:solidFill>
                  <a:latin typeface="+mn-lt"/>
                  <a:ea typeface="+mn-ea"/>
                  <a:cs typeface="+mn-cs"/>
                </a:rPr>
                <a:t>TỪ 20/07 · ONGOING</a:t>
              </a:r>
            </a:p>
          </p:txBody>
        </p:sp>
      </p:grpSp>
      <p:grpSp>
        <p:nvGrpSpPr>
          <p:cNvPr id="11" name="Group 11"/>
          <p:cNvGrpSpPr/>
          <p:nvPr/>
        </p:nvGrpSpPr>
        <p:grpSpPr>
          <a:xfrm>
            <a:off x="533400" y="1066800"/>
            <a:ext cx="11125200" cy="1066800"/>
            <a:chOff x="533400" y="1066800"/>
            <a:chExt cx="11125200" cy="1066800"/>
          </a:xfrm>
        </p:grpSpPr>
        <p:sp>
          <p:nvSpPr>
            <p:cNvPr id="7" name="Rectangle 7"/>
            <p:cNvSpPr/>
            <p:nvPr/>
          </p:nvSpPr>
          <p:spPr>
            <a:xfrm>
              <a:off x="533400" y="1066800"/>
              <a:ext cx="11125200" cy="1066800"/>
            </a:xfrm>
            <a:prstGeom prst="roundRect">
              <a:avLst>
                <a:gd name="adj" fmla="val 3571"/>
              </a:avLst>
            </a:prstGeom>
            <a:solidFill>
              <a:schemeClr val="accent2"/>
            </a:solidFill>
            <a:ln>
              <a:noFill/>
            </a:ln>
          </p:spPr>
          <p:txBody>
            <a:bodyPr/>
            <a:lstStyle/>
            <a:p>
              <a:endParaRPr lang="en-US"/>
            </a:p>
          </p:txBody>
        </p:sp>
        <p:sp>
          <p:nvSpPr>
            <p:cNvPr id="8" name="TextBox 8"/>
            <p:cNvSpPr txBox="1"/>
            <p:nvPr/>
          </p:nvSpPr>
          <p:spPr>
            <a:xfrm>
              <a:off x="775335" y="1288256"/>
              <a:ext cx="2294723" cy="220028"/>
            </a:xfrm>
            <a:prstGeom prst="rect">
              <a:avLst/>
            </a:prstGeom>
            <a:noFill/>
            <a:ln>
              <a:noFill/>
            </a:ln>
          </p:spPr>
          <p:txBody>
            <a:bodyPr wrap="none" lIns="0" tIns="0" rIns="0" bIns="0" anchor="t" anchorCtr="0">
              <a:spAutoFit/>
            </a:bodyPr>
            <a:lstStyle/>
            <a:p>
              <a:pPr algn="l"/>
              <a:r>
                <a:rPr lang="en-US" sz="1120" b="1" dirty="0">
                  <a:solidFill>
                    <a:srgbClr val="FFFFFF"/>
                  </a:solidFill>
                  <a:latin typeface="+mn-lt"/>
                  <a:ea typeface="+mn-ea"/>
                  <a:cs typeface="+mn-cs"/>
                </a:rPr>
                <a:t>HẠNG MỤC THUỘC TOOL DESIGN</a:t>
              </a:r>
            </a:p>
          </p:txBody>
        </p:sp>
        <p:sp>
          <p:nvSpPr>
            <p:cNvPr id="9" name="TextBox 9"/>
            <p:cNvSpPr txBox="1"/>
            <p:nvPr/>
          </p:nvSpPr>
          <p:spPr>
            <a:xfrm>
              <a:off x="770382" y="1564005"/>
              <a:ext cx="4930785" cy="410718"/>
            </a:xfrm>
            <a:prstGeom prst="rect">
              <a:avLst/>
            </a:prstGeom>
            <a:noFill/>
            <a:ln>
              <a:noFill/>
            </a:ln>
          </p:spPr>
          <p:txBody>
            <a:bodyPr wrap="none" lIns="0" tIns="0" rIns="0" bIns="0" anchor="t" anchorCtr="0">
              <a:spAutoFit/>
            </a:bodyPr>
            <a:lstStyle/>
            <a:p>
              <a:pPr algn="l"/>
              <a:r>
                <a:rPr lang="en-US" sz="2100" b="1" dirty="0">
                  <a:solidFill>
                    <a:srgbClr val="FFFFFF"/>
                  </a:solidFill>
                  <a:latin typeface="+mn-lt"/>
                  <a:ea typeface="+mn-ea"/>
                  <a:cs typeface="+mn-cs"/>
                </a:rPr>
                <a:t>Driver Deep Dimming &amp; CCT Tunable</a:t>
              </a:r>
            </a:p>
          </p:txBody>
        </p:sp>
        <p:sp>
          <p:nvSpPr>
            <p:cNvPr id="10" name="TextBox 10"/>
            <p:cNvSpPr txBox="1"/>
            <p:nvPr/>
          </p:nvSpPr>
          <p:spPr>
            <a:xfrm>
              <a:off x="8807682" y="1636871"/>
              <a:ext cx="2420007" cy="278702"/>
            </a:xfrm>
            <a:prstGeom prst="rect">
              <a:avLst/>
            </a:prstGeom>
            <a:noFill/>
            <a:ln>
              <a:noFill/>
            </a:ln>
          </p:spPr>
          <p:txBody>
            <a:bodyPr wrap="none" lIns="0" tIns="0" rIns="0" bIns="0" anchor="t" anchorCtr="0">
              <a:spAutoFit/>
            </a:bodyPr>
            <a:lstStyle/>
            <a:p>
              <a:pPr algn="r"/>
              <a:r>
                <a:rPr lang="en-US" sz="1420" dirty="0">
                  <a:solidFill>
                    <a:srgbClr val="FFFFFF"/>
                  </a:solidFill>
                  <a:latin typeface="+mn-lt"/>
                  <a:ea typeface="+mn-ea"/>
                  <a:cs typeface="+mn-cs"/>
                </a:rPr>
                <a:t>Xây nền tool test theo dải</a:t>
              </a:r>
            </a:p>
          </p:txBody>
        </p:sp>
      </p:grpSp>
      <p:grpSp>
        <p:nvGrpSpPr>
          <p:cNvPr id="17" name="Group 17"/>
          <p:cNvGrpSpPr/>
          <p:nvPr/>
        </p:nvGrpSpPr>
        <p:grpSpPr>
          <a:xfrm>
            <a:off x="526161" y="2586514"/>
            <a:ext cx="5226939" cy="1385411"/>
            <a:chOff x="526161" y="2586514"/>
            <a:chExt cx="5226939" cy="1385411"/>
          </a:xfrm>
        </p:grpSpPr>
        <p:sp>
          <p:nvSpPr>
            <p:cNvPr id="12" name="TextBox 12"/>
            <p:cNvSpPr txBox="1"/>
            <p:nvPr/>
          </p:nvSpPr>
          <p:spPr>
            <a:xfrm>
              <a:off x="526923" y="2586514"/>
              <a:ext cx="2565081"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CÔNG VIỆC &amp; KẾT QUẢ HIỆN TẠI</a:t>
              </a:r>
            </a:p>
          </p:txBody>
        </p:sp>
        <p:sp>
          <p:nvSpPr>
            <p:cNvPr id="13" name="TextBox 13"/>
            <p:cNvSpPr txBox="1"/>
            <p:nvPr/>
          </p:nvSpPr>
          <p:spPr>
            <a:xfrm>
              <a:off x="526161" y="2951321"/>
              <a:ext cx="2181634"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Xác định phạm vi test</a:t>
              </a:r>
            </a:p>
          </p:txBody>
        </p:sp>
        <p:sp>
          <p:nvSpPr>
            <p:cNvPr id="14" name="TextBox 14"/>
            <p:cNvSpPr txBox="1"/>
            <p:nvPr/>
          </p:nvSpPr>
          <p:spPr>
            <a:xfrm>
              <a:off x="526161" y="3294221"/>
              <a:ext cx="3538757"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Xây dựng nền tool và cấu trúc dữ liệu</a:t>
              </a:r>
            </a:p>
          </p:txBody>
        </p:sp>
        <p:sp>
          <p:nvSpPr>
            <p:cNvPr id="15" name="TextBox 15"/>
            <p:cNvSpPr txBox="1"/>
            <p:nvPr/>
          </p:nvSpPr>
          <p:spPr>
            <a:xfrm>
              <a:off x="526161" y="3637121"/>
              <a:ext cx="3185360"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Chưa có mốc kết thúc chính thức</a:t>
              </a:r>
            </a:p>
          </p:txBody>
        </p:sp>
        <p:sp>
          <p:nvSpPr>
            <p:cNvPr id="16" name="Line 16"/>
            <p:cNvSpPr/>
            <p:nvPr/>
          </p:nvSpPr>
          <p:spPr>
            <a:xfrm>
              <a:off x="533400" y="3962400"/>
              <a:ext cx="5219700" cy="9525"/>
            </a:xfrm>
            <a:custGeom>
              <a:avLst/>
              <a:gdLst/>
              <a:ahLst/>
              <a:cxnLst/>
              <a:rect l="l" t="t" r="r" b="b"/>
              <a:pathLst>
                <a:path w="5219700" h="9525">
                  <a:moveTo>
                    <a:pt x="0" y="0"/>
                  </a:moveTo>
                  <a:lnTo>
                    <a:pt x="5219700" y="0"/>
                  </a:lnTo>
                </a:path>
              </a:pathLst>
            </a:custGeom>
            <a:noFill/>
            <a:ln w="19050">
              <a:solidFill>
                <a:srgbClr val="D7E4DD"/>
              </a:solidFill>
            </a:ln>
          </p:spPr>
          <p:txBody>
            <a:bodyPr/>
            <a:lstStyle/>
            <a:p>
              <a:endParaRPr lang="en-US"/>
            </a:p>
          </p:txBody>
        </p:sp>
      </p:grpSp>
      <p:grpSp>
        <p:nvGrpSpPr>
          <p:cNvPr id="23" name="Group 23"/>
          <p:cNvGrpSpPr/>
          <p:nvPr/>
        </p:nvGrpSpPr>
        <p:grpSpPr>
          <a:xfrm>
            <a:off x="6145911" y="2586514"/>
            <a:ext cx="5512689" cy="1385411"/>
            <a:chOff x="6145911" y="2586514"/>
            <a:chExt cx="5512689" cy="1385411"/>
          </a:xfrm>
        </p:grpSpPr>
        <p:sp>
          <p:nvSpPr>
            <p:cNvPr id="18" name="TextBox 18"/>
            <p:cNvSpPr txBox="1"/>
            <p:nvPr/>
          </p:nvSpPr>
          <p:spPr>
            <a:xfrm>
              <a:off x="6146673" y="2586514"/>
              <a:ext cx="1504084" cy="249364"/>
            </a:xfrm>
            <a:prstGeom prst="rect">
              <a:avLst/>
            </a:prstGeom>
            <a:noFill/>
            <a:ln>
              <a:noFill/>
            </a:ln>
          </p:spPr>
          <p:txBody>
            <a:bodyPr wrap="none" lIns="0" tIns="0" rIns="0" bIns="0" anchor="t" anchorCtr="0">
              <a:spAutoFit/>
            </a:bodyPr>
            <a:lstStyle/>
            <a:p>
              <a:pPr algn="l"/>
              <a:r>
                <a:rPr lang="en-US" sz="1280" b="1" dirty="0">
                  <a:solidFill>
                    <a:schemeClr val="accent2"/>
                  </a:solidFill>
                  <a:latin typeface="+mn-lt"/>
                  <a:ea typeface="+mn-ea"/>
                  <a:cs typeface="+mn-cs"/>
                </a:rPr>
                <a:t>KỸ NĂNG &amp; TƯ DUY</a:t>
              </a:r>
            </a:p>
          </p:txBody>
        </p:sp>
        <p:sp>
          <p:nvSpPr>
            <p:cNvPr id="19" name="TextBox 19"/>
            <p:cNvSpPr txBox="1"/>
            <p:nvPr/>
          </p:nvSpPr>
          <p:spPr>
            <a:xfrm>
              <a:off x="6145911" y="2951321"/>
              <a:ext cx="2621679"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Đo dimming và CCT theo dải</a:t>
              </a:r>
            </a:p>
          </p:txBody>
        </p:sp>
        <p:sp>
          <p:nvSpPr>
            <p:cNvPr id="20" name="TextBox 20"/>
            <p:cNvSpPr txBox="1"/>
            <p:nvPr/>
          </p:nvSpPr>
          <p:spPr>
            <a:xfrm>
              <a:off x="6145911" y="3294221"/>
              <a:ext cx="3376177"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Thiết kế tiêu chí pass/fail rõ ràng</a:t>
              </a:r>
            </a:p>
          </p:txBody>
        </p:sp>
        <p:sp>
          <p:nvSpPr>
            <p:cNvPr id="21" name="TextBox 21"/>
            <p:cNvSpPr txBox="1"/>
            <p:nvPr/>
          </p:nvSpPr>
          <p:spPr>
            <a:xfrm>
              <a:off x="6145911" y="3637121"/>
              <a:ext cx="3385754" cy="278702"/>
            </a:xfrm>
            <a:prstGeom prst="rect">
              <a:avLst/>
            </a:prstGeom>
            <a:noFill/>
            <a:ln>
              <a:noFill/>
            </a:ln>
          </p:spPr>
          <p:txBody>
            <a:bodyPr wrap="none" lIns="0" tIns="0" rIns="0" bIns="0" anchor="t" anchorCtr="0">
              <a:spAutoFit/>
            </a:bodyPr>
            <a:lstStyle/>
            <a:p>
              <a:pPr marL="153289" indent="-153289" algn="l">
                <a:buClr>
                  <a:schemeClr val="dk1"/>
                </a:buClr>
                <a:buSzTx/>
                <a:buFontTx/>
                <a:buChar char="•"/>
              </a:pPr>
              <a:r>
                <a:rPr lang="en-US" sz="1420" dirty="0">
                  <a:solidFill>
                    <a:schemeClr val="dk1"/>
                  </a:solidFill>
                  <a:latin typeface="+mn-lt"/>
                  <a:ea typeface="+mn-ea"/>
                  <a:cs typeface="+mn-cs"/>
                </a:rPr>
                <a:t>Ưu tiên khả năng lặp lại của phép đo</a:t>
              </a:r>
            </a:p>
          </p:txBody>
        </p:sp>
        <p:sp>
          <p:nvSpPr>
            <p:cNvPr id="22" name="Line 22"/>
            <p:cNvSpPr/>
            <p:nvPr/>
          </p:nvSpPr>
          <p:spPr>
            <a:xfrm>
              <a:off x="6153150" y="3962400"/>
              <a:ext cx="5505450" cy="9525"/>
            </a:xfrm>
            <a:custGeom>
              <a:avLst/>
              <a:gdLst/>
              <a:ahLst/>
              <a:cxnLst/>
              <a:rect l="l" t="t" r="r" b="b"/>
              <a:pathLst>
                <a:path w="5505450" h="9525">
                  <a:moveTo>
                    <a:pt x="0" y="0"/>
                  </a:moveTo>
                  <a:lnTo>
                    <a:pt x="5505450" y="0"/>
                  </a:lnTo>
                </a:path>
              </a:pathLst>
            </a:custGeom>
            <a:noFill/>
            <a:ln w="19050">
              <a:solidFill>
                <a:srgbClr val="D7E4DD"/>
              </a:solidFill>
            </a:ln>
          </p:spPr>
          <p:txBody>
            <a:bodyPr/>
            <a:lstStyle/>
            <a:p>
              <a:endParaRPr lang="en-US"/>
            </a:p>
          </p:txBody>
        </p:sp>
      </p:grpSp>
      <p:grpSp>
        <p:nvGrpSpPr>
          <p:cNvPr id="33" name="Group 33"/>
          <p:cNvGrpSpPr/>
          <p:nvPr/>
        </p:nvGrpSpPr>
        <p:grpSpPr>
          <a:xfrm>
            <a:off x="533400" y="4324350"/>
            <a:ext cx="11125200" cy="1143000"/>
            <a:chOff x="533400" y="4324350"/>
            <a:chExt cx="11125200" cy="1143000"/>
          </a:xfrm>
        </p:grpSpPr>
        <p:sp>
          <p:nvSpPr>
            <p:cNvPr id="24" name="Rectangle 24"/>
            <p:cNvSpPr/>
            <p:nvPr/>
          </p:nvSpPr>
          <p:spPr>
            <a:xfrm>
              <a:off x="533400" y="4324350"/>
              <a:ext cx="11125200" cy="1143000"/>
            </a:xfrm>
            <a:prstGeom prst="roundRect">
              <a:avLst>
                <a:gd name="adj" fmla="val 3333"/>
              </a:avLst>
            </a:prstGeom>
            <a:solidFill>
              <a:schemeClr val="lt2"/>
            </a:solidFill>
            <a:ln>
              <a:noFill/>
            </a:ln>
          </p:spPr>
          <p:txBody>
            <a:bodyPr/>
            <a:lstStyle/>
            <a:p>
              <a:endParaRPr lang="en-US"/>
            </a:p>
          </p:txBody>
        </p:sp>
        <p:sp>
          <p:nvSpPr>
            <p:cNvPr id="25" name="TextBox 25"/>
            <p:cNvSpPr txBox="1"/>
            <p:nvPr/>
          </p:nvSpPr>
          <p:spPr>
            <a:xfrm>
              <a:off x="775335" y="4488656"/>
              <a:ext cx="1675809" cy="220028"/>
            </a:xfrm>
            <a:prstGeom prst="rect">
              <a:avLst/>
            </a:prstGeom>
            <a:noFill/>
            <a:ln>
              <a:noFill/>
            </a:ln>
          </p:spPr>
          <p:txBody>
            <a:bodyPr wrap="none" lIns="0" tIns="0" rIns="0" bIns="0" anchor="t" anchorCtr="0">
              <a:spAutoFit/>
            </a:bodyPr>
            <a:lstStyle/>
            <a:p>
              <a:pPr algn="l"/>
              <a:r>
                <a:rPr lang="en-US" sz="1120" b="1" dirty="0">
                  <a:solidFill>
                    <a:srgbClr val="66706A"/>
                  </a:solidFill>
                  <a:latin typeface="+mn-lt"/>
                  <a:ea typeface="+mn-ea"/>
                  <a:cs typeface="+mn-cs"/>
                </a:rPr>
                <a:t>MÔ HÌNH TEST DỰ KIẾN</a:t>
              </a:r>
            </a:p>
          </p:txBody>
        </p:sp>
        <p:sp>
          <p:nvSpPr>
            <p:cNvPr id="26" name="TextBox 26"/>
            <p:cNvSpPr txBox="1"/>
            <p:nvPr/>
          </p:nvSpPr>
          <p:spPr>
            <a:xfrm>
              <a:off x="772668" y="4889182"/>
              <a:ext cx="1726750"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mn-lt"/>
                  <a:ea typeface="+mn-ea"/>
                  <a:cs typeface="+mn-cs"/>
                </a:rPr>
                <a:t>Thiết lập dải đo</a:t>
              </a:r>
            </a:p>
          </p:txBody>
        </p:sp>
        <p:sp>
          <p:nvSpPr>
            <p:cNvPr id="27" name="Line 27"/>
            <p:cNvSpPr/>
            <p:nvPr/>
          </p:nvSpPr>
          <p:spPr>
            <a:xfrm>
              <a:off x="2781300" y="4953000"/>
              <a:ext cx="990600" cy="9525"/>
            </a:xfrm>
            <a:custGeom>
              <a:avLst/>
              <a:gdLst/>
              <a:ahLst/>
              <a:cxnLst/>
              <a:rect l="l" t="t" r="r" b="b"/>
              <a:pathLst>
                <a:path w="990600" h="9525">
                  <a:moveTo>
                    <a:pt x="0" y="0"/>
                  </a:moveTo>
                  <a:lnTo>
                    <a:pt x="990600" y="0"/>
                  </a:lnTo>
                </a:path>
              </a:pathLst>
            </a:custGeom>
            <a:noFill/>
            <a:ln w="38100">
              <a:solidFill>
                <a:schemeClr val="accent3"/>
              </a:solidFill>
            </a:ln>
          </p:spPr>
          <p:txBody>
            <a:bodyPr/>
            <a:lstStyle/>
            <a:p>
              <a:endParaRPr lang="en-US"/>
            </a:p>
          </p:txBody>
        </p:sp>
        <p:sp>
          <p:nvSpPr>
            <p:cNvPr id="28" name="TextBox 28"/>
            <p:cNvSpPr txBox="1"/>
            <p:nvPr/>
          </p:nvSpPr>
          <p:spPr>
            <a:xfrm>
              <a:off x="4087368" y="4889182"/>
              <a:ext cx="1785311"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mn-lt"/>
                  <a:ea typeface="+mn-ea"/>
                  <a:cs typeface="+mn-cs"/>
                </a:rPr>
                <a:t>Thu thập dữ liệu</a:t>
              </a:r>
            </a:p>
          </p:txBody>
        </p:sp>
        <p:sp>
          <p:nvSpPr>
            <p:cNvPr id="29" name="Line 29"/>
            <p:cNvSpPr/>
            <p:nvPr/>
          </p:nvSpPr>
          <p:spPr>
            <a:xfrm>
              <a:off x="6172200" y="4953000"/>
              <a:ext cx="990600" cy="9525"/>
            </a:xfrm>
            <a:custGeom>
              <a:avLst/>
              <a:gdLst/>
              <a:ahLst/>
              <a:cxnLst/>
              <a:rect l="l" t="t" r="r" b="b"/>
              <a:pathLst>
                <a:path w="990600" h="9525">
                  <a:moveTo>
                    <a:pt x="0" y="0"/>
                  </a:moveTo>
                  <a:lnTo>
                    <a:pt x="990600" y="0"/>
                  </a:lnTo>
                </a:path>
              </a:pathLst>
            </a:custGeom>
            <a:noFill/>
            <a:ln w="38100">
              <a:solidFill>
                <a:schemeClr val="accent3"/>
              </a:solidFill>
            </a:ln>
          </p:spPr>
          <p:txBody>
            <a:bodyPr/>
            <a:lstStyle/>
            <a:p>
              <a:endParaRPr lang="en-US"/>
            </a:p>
          </p:txBody>
        </p:sp>
        <p:sp>
          <p:nvSpPr>
            <p:cNvPr id="30" name="TextBox 30"/>
            <p:cNvSpPr txBox="1"/>
            <p:nvPr/>
          </p:nvSpPr>
          <p:spPr>
            <a:xfrm>
              <a:off x="7478268" y="4889182"/>
              <a:ext cx="2041809"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mn-lt"/>
                  <a:ea typeface="+mn-ea"/>
                  <a:cs typeface="+mn-cs"/>
                </a:rPr>
                <a:t>Đánh giá pass/fail</a:t>
              </a:r>
            </a:p>
          </p:txBody>
        </p:sp>
        <p:sp>
          <p:nvSpPr>
            <p:cNvPr id="31" name="Rectangle 31"/>
            <p:cNvSpPr/>
            <p:nvPr/>
          </p:nvSpPr>
          <p:spPr>
            <a:xfrm>
              <a:off x="10191750" y="4705350"/>
              <a:ext cx="1200150" cy="457200"/>
            </a:xfrm>
            <a:prstGeom prst="roundRect">
              <a:avLst>
                <a:gd name="adj" fmla="val 8333"/>
              </a:avLst>
            </a:prstGeom>
            <a:solidFill>
              <a:schemeClr val="accent1"/>
            </a:solidFill>
            <a:ln>
              <a:noFill/>
            </a:ln>
          </p:spPr>
          <p:txBody>
            <a:bodyPr/>
            <a:lstStyle/>
            <a:p>
              <a:endParaRPr lang="en-US"/>
            </a:p>
          </p:txBody>
        </p:sp>
        <p:sp>
          <p:nvSpPr>
            <p:cNvPr id="32" name="TextBox 32"/>
            <p:cNvSpPr txBox="1"/>
            <p:nvPr/>
          </p:nvSpPr>
          <p:spPr>
            <a:xfrm>
              <a:off x="10465137" y="4853464"/>
              <a:ext cx="653375" cy="249364"/>
            </a:xfrm>
            <a:prstGeom prst="rect">
              <a:avLst/>
            </a:prstGeom>
            <a:noFill/>
            <a:ln>
              <a:noFill/>
            </a:ln>
          </p:spPr>
          <p:txBody>
            <a:bodyPr wrap="none" lIns="0" tIns="0" rIns="0" bIns="0" anchor="t" anchorCtr="0">
              <a:spAutoFit/>
            </a:bodyPr>
            <a:lstStyle/>
            <a:p>
              <a:pPr algn="ctr"/>
              <a:r>
                <a:rPr lang="en-US" sz="1280" b="1" dirty="0">
                  <a:solidFill>
                    <a:srgbClr val="FFFFFF"/>
                  </a:solidFill>
                  <a:latin typeface="+mn-lt"/>
                  <a:ea typeface="+mn-ea"/>
                  <a:cs typeface="+mn-cs"/>
                </a:rPr>
                <a:t>LẶP LẠI</a:t>
              </a:r>
            </a:p>
          </p:txBody>
        </p:sp>
      </p:grpSp>
      <p:grpSp>
        <p:nvGrpSpPr>
          <p:cNvPr id="37" name="Group 37"/>
          <p:cNvGrpSpPr/>
          <p:nvPr/>
        </p:nvGrpSpPr>
        <p:grpSpPr>
          <a:xfrm>
            <a:off x="526923" y="5901214"/>
            <a:ext cx="10698945" cy="483870"/>
            <a:chOff x="526923" y="5901214"/>
            <a:chExt cx="10698945" cy="483870"/>
          </a:xfrm>
        </p:grpSpPr>
        <p:sp>
          <p:nvSpPr>
            <p:cNvPr id="34" name="TextBox 34"/>
            <p:cNvSpPr txBox="1"/>
            <p:nvPr/>
          </p:nvSpPr>
          <p:spPr>
            <a:xfrm>
              <a:off x="526923" y="5901214"/>
              <a:ext cx="1666579" cy="249364"/>
            </a:xfrm>
            <a:prstGeom prst="rect">
              <a:avLst/>
            </a:prstGeom>
            <a:noFill/>
            <a:ln>
              <a:noFill/>
            </a:ln>
          </p:spPr>
          <p:txBody>
            <a:bodyPr wrap="none" lIns="0" tIns="0" rIns="0" bIns="0" anchor="t" anchorCtr="0">
              <a:spAutoFit/>
            </a:bodyPr>
            <a:lstStyle/>
            <a:p>
              <a:pPr algn="l"/>
              <a:r>
                <a:rPr lang="en-US" sz="1280" b="1" dirty="0">
                  <a:solidFill>
                    <a:srgbClr val="B56A00"/>
                  </a:solidFill>
                  <a:latin typeface="+mn-lt"/>
                  <a:ea typeface="+mn-ea"/>
                  <a:cs typeface="+mn-cs"/>
                </a:rPr>
                <a:t>BÀI HỌC &amp; KHÓ KHĂN</a:t>
              </a:r>
            </a:p>
          </p:txBody>
        </p:sp>
        <p:sp>
          <p:nvSpPr>
            <p:cNvPr id="35" name="TextBox 35"/>
            <p:cNvSpPr txBox="1"/>
            <p:nvPr/>
          </p:nvSpPr>
          <p:spPr>
            <a:xfrm>
              <a:off x="2565273" y="5901214"/>
              <a:ext cx="8660595"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Dữ liệu đầu vào còn hạn chế; cần thống nhất chuẩn đo, dải test và acceptance trước khi hoàn thiện tool.</a:t>
              </a:r>
            </a:p>
          </p:txBody>
        </p:sp>
        <p:sp>
          <p:nvSpPr>
            <p:cNvPr id="36" name="TextBox 36"/>
            <p:cNvSpPr txBox="1"/>
            <p:nvPr/>
          </p:nvSpPr>
          <p:spPr>
            <a:xfrm>
              <a:off x="527685" y="6165056"/>
              <a:ext cx="7297559" cy="220028"/>
            </a:xfrm>
            <a:prstGeom prst="rect">
              <a:avLst/>
            </a:prstGeom>
            <a:noFill/>
            <a:ln>
              <a:noFill/>
            </a:ln>
          </p:spPr>
          <p:txBody>
            <a:bodyPr wrap="none" lIns="0" tIns="0" rIns="0" bIns="0" anchor="t" anchorCtr="0">
              <a:spAutoFit/>
            </a:bodyPr>
            <a:lstStyle/>
            <a:p>
              <a:pPr algn="l"/>
              <a:r>
                <a:rPr lang="en-US" sz="1120" dirty="0">
                  <a:solidFill>
                    <a:srgbClr val="66706A"/>
                  </a:solidFill>
                  <a:latin typeface="+mn-lt"/>
                  <a:ea typeface="+mn-ea"/>
                  <a:cs typeface="+mn-cs"/>
                </a:rPr>
                <a:t>Trạng thái: đang triển khai trong dự án Tool Design, không tách thành dự án Smart Lighting độc lập.</a:t>
              </a:r>
            </a:p>
          </p:txBody>
        </p:sp>
      </p:grpSp>
      <p:sp>
        <p:nvSpPr>
          <p:cNvPr id="38" name="TextBox 38"/>
          <p:cNvSpPr txBox="1"/>
          <p:nvPr/>
        </p:nvSpPr>
        <p:spPr>
          <a:xfrm>
            <a:off x="11141640" y="6630352"/>
            <a:ext cx="484194" cy="205359"/>
          </a:xfrm>
          <a:prstGeom prst="rect">
            <a:avLst/>
          </a:prstGeom>
          <a:noFill/>
          <a:ln>
            <a:noFill/>
          </a:ln>
        </p:spPr>
        <p:txBody>
          <a:bodyPr wrap="none" lIns="0" tIns="0" rIns="0" bIns="0" anchor="t" anchorCtr="0">
            <a:spAutoFit/>
          </a:bodyPr>
          <a:lstStyle/>
          <a:p>
            <a:pPr algn="r"/>
            <a:r>
              <a:rPr lang="en-US" sz="1050" dirty="0">
                <a:solidFill>
                  <a:srgbClr val="66706A"/>
                </a:solidFill>
                <a:latin typeface="+mn-lt"/>
                <a:ea typeface="+mn-ea"/>
                <a:cs typeface="+mn-cs"/>
              </a:rPr>
              <a:t>18 / 23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3"/>
          <a:stretch>
            <a:fillRect/>
          </a:stretch>
        </p:blipFill>
        <p:spPr>
          <a:xfrm>
            <a:off x="486276" y="266700"/>
            <a:ext cx="1313447" cy="381000"/>
          </a:xfrm>
          <a:prstGeom prst="rect">
            <a:avLst/>
          </a:prstGeom>
        </p:spPr>
      </p:pic>
      <p:sp>
        <p:nvSpPr>
          <p:cNvPr id="3" name="TextBox 3"/>
          <p:cNvSpPr txBox="1"/>
          <p:nvPr/>
        </p:nvSpPr>
        <p:spPr>
          <a:xfrm>
            <a:off x="2462784" y="356235"/>
            <a:ext cx="4855841" cy="528066"/>
          </a:xfrm>
          <a:prstGeom prst="rect">
            <a:avLst/>
          </a:prstGeom>
          <a:noFill/>
          <a:ln>
            <a:noFill/>
          </a:ln>
        </p:spPr>
        <p:txBody>
          <a:bodyPr wrap="none" lIns="0" tIns="0" rIns="0" bIns="0" anchor="t" anchorCtr="0">
            <a:spAutoFit/>
          </a:bodyPr>
          <a:lstStyle/>
          <a:p>
            <a:pPr algn="l"/>
            <a:r>
              <a:rPr lang="en-US" sz="2700" b="1" dirty="0">
                <a:solidFill>
                  <a:schemeClr val="accent1"/>
                </a:solidFill>
                <a:latin typeface="+mn-lt"/>
                <a:ea typeface="+mn-ea"/>
                <a:cs typeface="+mn-cs"/>
              </a:rPr>
              <a:t>Sử dụng AI trong công việc</a:t>
            </a:r>
          </a:p>
        </p:txBody>
      </p:sp>
      <p:grpSp>
        <p:nvGrpSpPr>
          <p:cNvPr id="31" name="Group 31"/>
          <p:cNvGrpSpPr/>
          <p:nvPr/>
        </p:nvGrpSpPr>
        <p:grpSpPr>
          <a:xfrm>
            <a:off x="533400" y="1285875"/>
            <a:ext cx="11125200" cy="3143250"/>
            <a:chOff x="533400" y="1285875"/>
            <a:chExt cx="11125200" cy="3143250"/>
          </a:xfrm>
        </p:grpSpPr>
        <p:grpSp>
          <p:nvGrpSpPr>
            <p:cNvPr id="12" name="Group 12"/>
            <p:cNvGrpSpPr/>
            <p:nvPr/>
          </p:nvGrpSpPr>
          <p:grpSpPr>
            <a:xfrm>
              <a:off x="533400" y="1285875"/>
              <a:ext cx="3429000" cy="3143250"/>
              <a:chOff x="533400" y="1285875"/>
              <a:chExt cx="3429000" cy="3143250"/>
            </a:xfrm>
          </p:grpSpPr>
          <p:sp>
            <p:nvSpPr>
              <p:cNvPr id="4" name="Rectangle 4"/>
              <p:cNvSpPr/>
              <p:nvPr/>
            </p:nvSpPr>
            <p:spPr>
              <a:xfrm>
                <a:off x="533400" y="1285875"/>
                <a:ext cx="3429000" cy="3143250"/>
              </a:xfrm>
              <a:prstGeom prst="roundRect">
                <a:avLst>
                  <a:gd name="adj" fmla="val 6061"/>
                </a:avLst>
              </a:prstGeom>
              <a:solidFill>
                <a:schemeClr val="lt2"/>
              </a:solidFill>
              <a:ln>
                <a:noFill/>
              </a:ln>
            </p:spPr>
            <p:txBody>
              <a:bodyPr/>
              <a:lstStyle/>
              <a:p>
                <a:endParaRPr lang="en-US"/>
              </a:p>
            </p:txBody>
          </p:sp>
          <p:sp>
            <p:nvSpPr>
              <p:cNvPr id="5" name="Ellipse 5"/>
              <p:cNvSpPr/>
              <p:nvPr/>
            </p:nvSpPr>
            <p:spPr>
              <a:xfrm>
                <a:off x="742950" y="1495425"/>
                <a:ext cx="533400" cy="533400"/>
              </a:xfrm>
              <a:prstGeom prst="ellipse">
                <a:avLst/>
              </a:prstGeom>
              <a:solidFill>
                <a:schemeClr val="accent1"/>
              </a:solidFill>
              <a:ln>
                <a:noFill/>
              </a:ln>
            </p:spPr>
            <p:txBody>
              <a:bodyPr/>
              <a:lstStyle/>
              <a:p>
                <a:endParaRPr lang="en-US"/>
              </a:p>
            </p:txBody>
          </p:sp>
          <p:sp>
            <p:nvSpPr>
              <p:cNvPr id="6" name="TextBox 6"/>
              <p:cNvSpPr txBox="1"/>
              <p:nvPr/>
            </p:nvSpPr>
            <p:spPr>
              <a:xfrm>
                <a:off x="860569" y="1653540"/>
                <a:ext cx="298163" cy="352044"/>
              </a:xfrm>
              <a:prstGeom prst="rect">
                <a:avLst/>
              </a:prstGeom>
              <a:noFill/>
              <a:ln>
                <a:noFill/>
              </a:ln>
            </p:spPr>
            <p:txBody>
              <a:bodyPr wrap="none" lIns="0" tIns="0" rIns="0" bIns="0" anchor="t" anchorCtr="0">
                <a:spAutoFit/>
              </a:bodyPr>
              <a:lstStyle/>
              <a:p>
                <a:pPr algn="ctr"/>
                <a:r>
                  <a:rPr lang="en-US" sz="1800" b="1" dirty="0">
                    <a:solidFill>
                      <a:srgbClr val="FFFFFF"/>
                    </a:solidFill>
                    <a:latin typeface="+mn-lt"/>
                    <a:ea typeface="+mn-ea"/>
                    <a:cs typeface="+mn-cs"/>
                  </a:rPr>
                  <a:t>01</a:t>
                </a:r>
              </a:p>
            </p:txBody>
          </p:sp>
          <p:sp>
            <p:nvSpPr>
              <p:cNvPr id="7" name="TextBox 7"/>
              <p:cNvSpPr txBox="1"/>
              <p:nvPr/>
            </p:nvSpPr>
            <p:spPr>
              <a:xfrm>
                <a:off x="810387" y="2137886"/>
                <a:ext cx="1635904" cy="337376"/>
              </a:xfrm>
              <a:prstGeom prst="rect">
                <a:avLst/>
              </a:prstGeom>
              <a:noFill/>
              <a:ln>
                <a:noFill/>
              </a:ln>
            </p:spPr>
            <p:txBody>
              <a:bodyPr wrap="none" lIns="0" tIns="0" rIns="0" bIns="0" anchor="t" anchorCtr="0">
                <a:spAutoFit/>
              </a:bodyPr>
              <a:lstStyle/>
              <a:p>
                <a:pPr algn="l"/>
                <a:r>
                  <a:rPr lang="en-US" sz="1720" b="1" dirty="0">
                    <a:solidFill>
                      <a:schemeClr val="accent1"/>
                    </a:solidFill>
                    <a:latin typeface="+mn-lt"/>
                    <a:ea typeface="+mn-ea"/>
                    <a:cs typeface="+mn-cs"/>
                  </a:rPr>
                  <a:t>CODE &amp; DEBUG</a:t>
                </a:r>
              </a:p>
            </p:txBody>
          </p:sp>
          <p:sp>
            <p:nvSpPr>
              <p:cNvPr id="8" name="TextBox 8"/>
              <p:cNvSpPr txBox="1"/>
              <p:nvPr/>
            </p:nvSpPr>
            <p:spPr>
              <a:xfrm>
                <a:off x="811911" y="2608421"/>
                <a:ext cx="1798559" cy="278702"/>
              </a:xfrm>
              <a:prstGeom prst="rect">
                <a:avLst/>
              </a:prstGeom>
              <a:noFill/>
              <a:ln>
                <a:noFill/>
              </a:ln>
            </p:spPr>
            <p:txBody>
              <a:bodyPr wrap="none" lIns="0" tIns="0" rIns="0" bIns="0" anchor="t" anchorCtr="0">
                <a:spAutoFit/>
              </a:bodyPr>
              <a:lstStyle/>
              <a:p>
                <a:pPr algn="l"/>
                <a:r>
                  <a:rPr lang="en-US" sz="1420" dirty="0">
                    <a:solidFill>
                      <a:schemeClr val="dk1"/>
                    </a:solidFill>
                    <a:latin typeface="+mn-lt"/>
                    <a:ea typeface="+mn-ea"/>
                    <a:cs typeface="+mn-cs"/>
                  </a:rPr>
                  <a:t>Gợi ý hướng xử lý lỗi</a:t>
                </a:r>
              </a:p>
            </p:txBody>
          </p:sp>
          <p:sp>
            <p:nvSpPr>
              <p:cNvPr id="9" name="TextBox 9"/>
              <p:cNvSpPr txBox="1"/>
              <p:nvPr/>
            </p:nvSpPr>
            <p:spPr>
              <a:xfrm>
                <a:off x="811911" y="2932271"/>
                <a:ext cx="2095091" cy="278702"/>
              </a:xfrm>
              <a:prstGeom prst="rect">
                <a:avLst/>
              </a:prstGeom>
              <a:noFill/>
              <a:ln>
                <a:noFill/>
              </a:ln>
            </p:spPr>
            <p:txBody>
              <a:bodyPr wrap="none" lIns="0" tIns="0" rIns="0" bIns="0" anchor="t" anchorCtr="0">
                <a:spAutoFit/>
              </a:bodyPr>
              <a:lstStyle/>
              <a:p>
                <a:pPr algn="l"/>
                <a:r>
                  <a:rPr lang="en-US" sz="1420" dirty="0">
                    <a:solidFill>
                      <a:schemeClr val="dk1"/>
                    </a:solidFill>
                    <a:latin typeface="+mn-lt"/>
                    <a:ea typeface="+mn-ea"/>
                    <a:cs typeface="+mn-cs"/>
                  </a:rPr>
                  <a:t>Sinh test case ban đầu</a:t>
                </a:r>
              </a:p>
            </p:txBody>
          </p:sp>
          <p:sp>
            <p:nvSpPr>
              <p:cNvPr id="10" name="TextBox 10"/>
              <p:cNvSpPr txBox="1"/>
              <p:nvPr/>
            </p:nvSpPr>
            <p:spPr>
              <a:xfrm>
                <a:off x="811911" y="3256121"/>
                <a:ext cx="1903115" cy="278702"/>
              </a:xfrm>
              <a:prstGeom prst="rect">
                <a:avLst/>
              </a:prstGeom>
              <a:noFill/>
              <a:ln>
                <a:noFill/>
              </a:ln>
            </p:spPr>
            <p:txBody>
              <a:bodyPr wrap="none" lIns="0" tIns="0" rIns="0" bIns="0" anchor="t" anchorCtr="0">
                <a:spAutoFit/>
              </a:bodyPr>
              <a:lstStyle/>
              <a:p>
                <a:pPr algn="l"/>
                <a:r>
                  <a:rPr lang="en-US" sz="1420" dirty="0">
                    <a:solidFill>
                      <a:schemeClr val="dk1"/>
                    </a:solidFill>
                    <a:latin typeface="+mn-lt"/>
                    <a:ea typeface="+mn-ea"/>
                    <a:cs typeface="+mn-cs"/>
                  </a:rPr>
                  <a:t>Đối chiếu API và flow</a:t>
                </a:r>
              </a:p>
            </p:txBody>
          </p:sp>
          <p:sp>
            <p:nvSpPr>
              <p:cNvPr id="11" name="TextBox 11"/>
              <p:cNvSpPr txBox="1"/>
              <p:nvPr/>
            </p:nvSpPr>
            <p:spPr>
              <a:xfrm>
                <a:off x="813054" y="3870960"/>
                <a:ext cx="2166255" cy="234696"/>
              </a:xfrm>
              <a:prstGeom prst="rect">
                <a:avLst/>
              </a:prstGeom>
              <a:noFill/>
              <a:ln>
                <a:noFill/>
              </a:ln>
            </p:spPr>
            <p:txBody>
              <a:bodyPr wrap="none" lIns="0" tIns="0" rIns="0" bIns="0" anchor="t" anchorCtr="0">
                <a:spAutoFit/>
              </a:bodyPr>
              <a:lstStyle/>
              <a:p>
                <a:pPr algn="l"/>
                <a:r>
                  <a:rPr lang="en-US" sz="1200" dirty="0">
                    <a:solidFill>
                      <a:srgbClr val="66706A"/>
                    </a:solidFill>
                    <a:latin typeface="+mn-lt"/>
                    <a:ea typeface="+mn-ea"/>
                    <a:cs typeface="+mn-cs"/>
                  </a:rPr>
                  <a:t>Rút ngắn thời gian khám phá</a:t>
                </a:r>
              </a:p>
            </p:txBody>
          </p:sp>
        </p:grpSp>
        <p:grpSp>
          <p:nvGrpSpPr>
            <p:cNvPr id="21" name="Group 21"/>
            <p:cNvGrpSpPr/>
            <p:nvPr/>
          </p:nvGrpSpPr>
          <p:grpSpPr>
            <a:xfrm>
              <a:off x="4381500" y="1285875"/>
              <a:ext cx="3429000" cy="3143250"/>
              <a:chOff x="4381500" y="1285875"/>
              <a:chExt cx="3429000" cy="3143250"/>
            </a:xfrm>
          </p:grpSpPr>
          <p:sp>
            <p:nvSpPr>
              <p:cNvPr id="13" name="Rectangle 13"/>
              <p:cNvSpPr/>
              <p:nvPr/>
            </p:nvSpPr>
            <p:spPr>
              <a:xfrm>
                <a:off x="4381500" y="1285875"/>
                <a:ext cx="3429000" cy="3143250"/>
              </a:xfrm>
              <a:prstGeom prst="roundRect">
                <a:avLst>
                  <a:gd name="adj" fmla="val 6061"/>
                </a:avLst>
              </a:prstGeom>
              <a:solidFill>
                <a:srgbClr val="EAF6F0"/>
              </a:solidFill>
              <a:ln>
                <a:noFill/>
              </a:ln>
            </p:spPr>
            <p:txBody>
              <a:bodyPr/>
              <a:lstStyle/>
              <a:p>
                <a:endParaRPr lang="en-US"/>
              </a:p>
            </p:txBody>
          </p:sp>
          <p:sp>
            <p:nvSpPr>
              <p:cNvPr id="14" name="Ellipse 14"/>
              <p:cNvSpPr/>
              <p:nvPr/>
            </p:nvSpPr>
            <p:spPr>
              <a:xfrm>
                <a:off x="4591050" y="1495425"/>
                <a:ext cx="533400" cy="533400"/>
              </a:xfrm>
              <a:prstGeom prst="ellipse">
                <a:avLst/>
              </a:prstGeom>
              <a:solidFill>
                <a:schemeClr val="accent1"/>
              </a:solidFill>
              <a:ln>
                <a:noFill/>
              </a:ln>
            </p:spPr>
            <p:txBody>
              <a:bodyPr/>
              <a:lstStyle/>
              <a:p>
                <a:endParaRPr lang="en-US"/>
              </a:p>
            </p:txBody>
          </p:sp>
          <p:sp>
            <p:nvSpPr>
              <p:cNvPr id="15" name="TextBox 15"/>
              <p:cNvSpPr txBox="1"/>
              <p:nvPr/>
            </p:nvSpPr>
            <p:spPr>
              <a:xfrm>
                <a:off x="4708669" y="1653540"/>
                <a:ext cx="298163" cy="352044"/>
              </a:xfrm>
              <a:prstGeom prst="rect">
                <a:avLst/>
              </a:prstGeom>
              <a:noFill/>
              <a:ln>
                <a:noFill/>
              </a:ln>
            </p:spPr>
            <p:txBody>
              <a:bodyPr wrap="none" lIns="0" tIns="0" rIns="0" bIns="0" anchor="t" anchorCtr="0">
                <a:spAutoFit/>
              </a:bodyPr>
              <a:lstStyle/>
              <a:p>
                <a:pPr algn="ctr"/>
                <a:r>
                  <a:rPr lang="en-US" sz="1800" b="1" dirty="0">
                    <a:solidFill>
                      <a:srgbClr val="FFFFFF"/>
                    </a:solidFill>
                    <a:latin typeface="+mn-lt"/>
                    <a:ea typeface="+mn-ea"/>
                    <a:cs typeface="+mn-cs"/>
                  </a:rPr>
                  <a:t>02</a:t>
                </a:r>
              </a:p>
            </p:txBody>
          </p:sp>
          <p:sp>
            <p:nvSpPr>
              <p:cNvPr id="16" name="TextBox 16"/>
              <p:cNvSpPr txBox="1"/>
              <p:nvPr/>
            </p:nvSpPr>
            <p:spPr>
              <a:xfrm>
                <a:off x="4658487" y="2137886"/>
                <a:ext cx="955158" cy="337376"/>
              </a:xfrm>
              <a:prstGeom prst="rect">
                <a:avLst/>
              </a:prstGeom>
              <a:noFill/>
              <a:ln>
                <a:noFill/>
              </a:ln>
            </p:spPr>
            <p:txBody>
              <a:bodyPr wrap="none" lIns="0" tIns="0" rIns="0" bIns="0" anchor="t" anchorCtr="0">
                <a:spAutoFit/>
              </a:bodyPr>
              <a:lstStyle/>
              <a:p>
                <a:pPr algn="l"/>
                <a:r>
                  <a:rPr lang="en-US" sz="1720" b="1" dirty="0">
                    <a:solidFill>
                      <a:schemeClr val="accent1"/>
                    </a:solidFill>
                    <a:latin typeface="+mn-lt"/>
                    <a:ea typeface="+mn-ea"/>
                    <a:cs typeface="+mn-cs"/>
                  </a:rPr>
                  <a:t>TÀI LIỆU</a:t>
                </a:r>
              </a:p>
            </p:txBody>
          </p:sp>
          <p:sp>
            <p:nvSpPr>
              <p:cNvPr id="17" name="TextBox 17"/>
              <p:cNvSpPr txBox="1"/>
              <p:nvPr/>
            </p:nvSpPr>
            <p:spPr>
              <a:xfrm>
                <a:off x="4660011" y="2608421"/>
                <a:ext cx="2287939" cy="278702"/>
              </a:xfrm>
              <a:prstGeom prst="rect">
                <a:avLst/>
              </a:prstGeom>
              <a:noFill/>
              <a:ln>
                <a:noFill/>
              </a:ln>
            </p:spPr>
            <p:txBody>
              <a:bodyPr wrap="none" lIns="0" tIns="0" rIns="0" bIns="0" anchor="t" anchorCtr="0">
                <a:spAutoFit/>
              </a:bodyPr>
              <a:lstStyle/>
              <a:p>
                <a:pPr algn="l"/>
                <a:r>
                  <a:rPr lang="en-US" sz="1420" dirty="0">
                    <a:solidFill>
                      <a:schemeClr val="dk1"/>
                    </a:solidFill>
                    <a:latin typeface="+mn-lt"/>
                    <a:ea typeface="+mn-ea"/>
                    <a:cs typeface="+mn-cs"/>
                  </a:rPr>
                  <a:t>Tóm tắt tài liệu KNX/ETS</a:t>
                </a:r>
              </a:p>
            </p:txBody>
          </p:sp>
          <p:sp>
            <p:nvSpPr>
              <p:cNvPr id="18" name="TextBox 18"/>
              <p:cNvSpPr txBox="1"/>
              <p:nvPr/>
            </p:nvSpPr>
            <p:spPr>
              <a:xfrm>
                <a:off x="4660011" y="2932271"/>
                <a:ext cx="2625647" cy="278702"/>
              </a:xfrm>
              <a:prstGeom prst="rect">
                <a:avLst/>
              </a:prstGeom>
              <a:noFill/>
              <a:ln>
                <a:noFill/>
              </a:ln>
            </p:spPr>
            <p:txBody>
              <a:bodyPr wrap="none" lIns="0" tIns="0" rIns="0" bIns="0" anchor="t" anchorCtr="0">
                <a:spAutoFit/>
              </a:bodyPr>
              <a:lstStyle/>
              <a:p>
                <a:pPr algn="l"/>
                <a:r>
                  <a:rPr lang="en-US" sz="1420" dirty="0">
                    <a:solidFill>
                      <a:schemeClr val="dk1"/>
                    </a:solidFill>
                    <a:latin typeface="+mn-lt"/>
                    <a:ea typeface="+mn-ea"/>
                    <a:cs typeface="+mn-cs"/>
                  </a:rPr>
                  <a:t>Chuẩn hóa Q&amp;A và giáo trình</a:t>
                </a:r>
              </a:p>
            </p:txBody>
          </p:sp>
          <p:sp>
            <p:nvSpPr>
              <p:cNvPr id="19" name="TextBox 19"/>
              <p:cNvSpPr txBox="1"/>
              <p:nvPr/>
            </p:nvSpPr>
            <p:spPr>
              <a:xfrm>
                <a:off x="4660011" y="3256121"/>
                <a:ext cx="2373037" cy="278702"/>
              </a:xfrm>
              <a:prstGeom prst="rect">
                <a:avLst/>
              </a:prstGeom>
              <a:noFill/>
              <a:ln>
                <a:noFill/>
              </a:ln>
            </p:spPr>
            <p:txBody>
              <a:bodyPr wrap="none" lIns="0" tIns="0" rIns="0" bIns="0" anchor="t" anchorCtr="0">
                <a:spAutoFit/>
              </a:bodyPr>
              <a:lstStyle/>
              <a:p>
                <a:pPr algn="l"/>
                <a:r>
                  <a:rPr lang="en-US" sz="1420" dirty="0">
                    <a:solidFill>
                      <a:schemeClr val="dk1"/>
                    </a:solidFill>
                    <a:latin typeface="+mn-lt"/>
                    <a:ea typeface="+mn-ea"/>
                    <a:cs typeface="+mn-cs"/>
                  </a:rPr>
                  <a:t>Soạn API/flow dễ bàn giao</a:t>
                </a:r>
              </a:p>
            </p:txBody>
          </p:sp>
          <p:sp>
            <p:nvSpPr>
              <p:cNvPr id="20" name="TextBox 20"/>
              <p:cNvSpPr txBox="1"/>
              <p:nvPr/>
            </p:nvSpPr>
            <p:spPr>
              <a:xfrm>
                <a:off x="4661154" y="3870960"/>
                <a:ext cx="2174353" cy="234696"/>
              </a:xfrm>
              <a:prstGeom prst="rect">
                <a:avLst/>
              </a:prstGeom>
              <a:noFill/>
              <a:ln>
                <a:noFill/>
              </a:ln>
            </p:spPr>
            <p:txBody>
              <a:bodyPr wrap="none" lIns="0" tIns="0" rIns="0" bIns="0" anchor="t" anchorCtr="0">
                <a:spAutoFit/>
              </a:bodyPr>
              <a:lstStyle/>
              <a:p>
                <a:pPr algn="l"/>
                <a:r>
                  <a:rPr lang="en-US" sz="1200" dirty="0">
                    <a:solidFill>
                      <a:srgbClr val="66706A"/>
                    </a:solidFill>
                    <a:latin typeface="+mn-lt"/>
                    <a:ea typeface="+mn-ea"/>
                    <a:cs typeface="+mn-cs"/>
                  </a:rPr>
                  <a:t>Tăng tốc chuẩn hóa tri thức</a:t>
                </a:r>
              </a:p>
            </p:txBody>
          </p:sp>
        </p:grpSp>
        <p:grpSp>
          <p:nvGrpSpPr>
            <p:cNvPr id="30" name="Group 30"/>
            <p:cNvGrpSpPr/>
            <p:nvPr/>
          </p:nvGrpSpPr>
          <p:grpSpPr>
            <a:xfrm>
              <a:off x="8229600" y="1285875"/>
              <a:ext cx="3429000" cy="3143250"/>
              <a:chOff x="8229600" y="1285875"/>
              <a:chExt cx="3429000" cy="3143250"/>
            </a:xfrm>
          </p:grpSpPr>
          <p:sp>
            <p:nvSpPr>
              <p:cNvPr id="22" name="Rectangle 22"/>
              <p:cNvSpPr/>
              <p:nvPr/>
            </p:nvSpPr>
            <p:spPr>
              <a:xfrm>
                <a:off x="8229600" y="1285875"/>
                <a:ext cx="3429000" cy="3143250"/>
              </a:xfrm>
              <a:prstGeom prst="roundRect">
                <a:avLst>
                  <a:gd name="adj" fmla="val 6061"/>
                </a:avLst>
              </a:prstGeom>
              <a:solidFill>
                <a:srgbClr val="EEF3FF"/>
              </a:solidFill>
              <a:ln>
                <a:noFill/>
              </a:ln>
            </p:spPr>
            <p:txBody>
              <a:bodyPr/>
              <a:lstStyle/>
              <a:p>
                <a:endParaRPr lang="en-US"/>
              </a:p>
            </p:txBody>
          </p:sp>
          <p:sp>
            <p:nvSpPr>
              <p:cNvPr id="23" name="Ellipse 23"/>
              <p:cNvSpPr/>
              <p:nvPr/>
            </p:nvSpPr>
            <p:spPr>
              <a:xfrm>
                <a:off x="8439150" y="1495425"/>
                <a:ext cx="533400" cy="533400"/>
              </a:xfrm>
              <a:prstGeom prst="ellipse">
                <a:avLst/>
              </a:prstGeom>
              <a:solidFill>
                <a:schemeClr val="accent2"/>
              </a:solidFill>
              <a:ln>
                <a:noFill/>
              </a:ln>
            </p:spPr>
            <p:txBody>
              <a:bodyPr/>
              <a:lstStyle/>
              <a:p>
                <a:endParaRPr lang="en-US"/>
              </a:p>
            </p:txBody>
          </p:sp>
          <p:sp>
            <p:nvSpPr>
              <p:cNvPr id="24" name="TextBox 24"/>
              <p:cNvSpPr txBox="1"/>
              <p:nvPr/>
            </p:nvSpPr>
            <p:spPr>
              <a:xfrm>
                <a:off x="8556769" y="1653540"/>
                <a:ext cx="298163" cy="352044"/>
              </a:xfrm>
              <a:prstGeom prst="rect">
                <a:avLst/>
              </a:prstGeom>
              <a:noFill/>
              <a:ln>
                <a:noFill/>
              </a:ln>
            </p:spPr>
            <p:txBody>
              <a:bodyPr wrap="none" lIns="0" tIns="0" rIns="0" bIns="0" anchor="t" anchorCtr="0">
                <a:spAutoFit/>
              </a:bodyPr>
              <a:lstStyle/>
              <a:p>
                <a:pPr algn="ctr"/>
                <a:r>
                  <a:rPr lang="en-US" sz="1800" b="1" dirty="0">
                    <a:solidFill>
                      <a:srgbClr val="FFFFFF"/>
                    </a:solidFill>
                    <a:latin typeface="+mn-lt"/>
                    <a:ea typeface="+mn-ea"/>
                    <a:cs typeface="+mn-cs"/>
                  </a:rPr>
                  <a:t>03</a:t>
                </a:r>
              </a:p>
            </p:txBody>
          </p:sp>
          <p:sp>
            <p:nvSpPr>
              <p:cNvPr id="25" name="TextBox 25"/>
              <p:cNvSpPr txBox="1"/>
              <p:nvPr/>
            </p:nvSpPr>
            <p:spPr>
              <a:xfrm>
                <a:off x="8506587" y="2137886"/>
                <a:ext cx="1224888" cy="337376"/>
              </a:xfrm>
              <a:prstGeom prst="rect">
                <a:avLst/>
              </a:prstGeom>
              <a:noFill/>
              <a:ln>
                <a:noFill/>
              </a:ln>
            </p:spPr>
            <p:txBody>
              <a:bodyPr wrap="none" lIns="0" tIns="0" rIns="0" bIns="0" anchor="t" anchorCtr="0">
                <a:spAutoFit/>
              </a:bodyPr>
              <a:lstStyle/>
              <a:p>
                <a:pPr algn="l"/>
                <a:r>
                  <a:rPr lang="en-US" sz="1720" b="1" dirty="0">
                    <a:solidFill>
                      <a:schemeClr val="accent2"/>
                    </a:solidFill>
                    <a:latin typeface="+mn-lt"/>
                    <a:ea typeface="+mn-ea"/>
                    <a:cs typeface="+mn-cs"/>
                  </a:rPr>
                  <a:t>HỌC NHANH</a:t>
                </a:r>
              </a:p>
            </p:txBody>
          </p:sp>
          <p:sp>
            <p:nvSpPr>
              <p:cNvPr id="26" name="TextBox 26"/>
              <p:cNvSpPr txBox="1"/>
              <p:nvPr/>
            </p:nvSpPr>
            <p:spPr>
              <a:xfrm>
                <a:off x="8508111" y="2608421"/>
                <a:ext cx="2133443" cy="278702"/>
              </a:xfrm>
              <a:prstGeom prst="rect">
                <a:avLst/>
              </a:prstGeom>
              <a:noFill/>
              <a:ln>
                <a:noFill/>
              </a:ln>
            </p:spPr>
            <p:txBody>
              <a:bodyPr wrap="none" lIns="0" tIns="0" rIns="0" bIns="0" anchor="t" anchorCtr="0">
                <a:spAutoFit/>
              </a:bodyPr>
              <a:lstStyle/>
              <a:p>
                <a:pPr algn="l"/>
                <a:r>
                  <a:rPr lang="en-US" sz="1420" dirty="0">
                    <a:solidFill>
                      <a:schemeClr val="dk1"/>
                    </a:solidFill>
                    <a:latin typeface="+mn-lt"/>
                    <a:ea typeface="+mn-ea"/>
                    <a:cs typeface="+mn-cs"/>
                  </a:rPr>
                  <a:t>Khảo sát công nghệ mới</a:t>
                </a:r>
              </a:p>
            </p:txBody>
          </p:sp>
          <p:sp>
            <p:nvSpPr>
              <p:cNvPr id="27" name="TextBox 27"/>
              <p:cNvSpPr txBox="1"/>
              <p:nvPr/>
            </p:nvSpPr>
            <p:spPr>
              <a:xfrm>
                <a:off x="8508111" y="2932271"/>
                <a:ext cx="2630239" cy="278702"/>
              </a:xfrm>
              <a:prstGeom prst="rect">
                <a:avLst/>
              </a:prstGeom>
              <a:noFill/>
              <a:ln>
                <a:noFill/>
              </a:ln>
            </p:spPr>
            <p:txBody>
              <a:bodyPr wrap="none" lIns="0" tIns="0" rIns="0" bIns="0" anchor="t" anchorCtr="0">
                <a:spAutoFit/>
              </a:bodyPr>
              <a:lstStyle/>
              <a:p>
                <a:pPr algn="l"/>
                <a:r>
                  <a:rPr lang="en-US" sz="1420" dirty="0">
                    <a:solidFill>
                      <a:schemeClr val="dk1"/>
                    </a:solidFill>
                    <a:latin typeface="+mn-lt"/>
                    <a:ea typeface="+mn-ea"/>
                    <a:cs typeface="+mn-cs"/>
                  </a:rPr>
                  <a:t>So sánh phương án triển khai</a:t>
                </a:r>
              </a:p>
            </p:txBody>
          </p:sp>
          <p:sp>
            <p:nvSpPr>
              <p:cNvPr id="28" name="TextBox 28"/>
              <p:cNvSpPr txBox="1"/>
              <p:nvPr/>
            </p:nvSpPr>
            <p:spPr>
              <a:xfrm>
                <a:off x="8508111" y="3256121"/>
                <a:ext cx="2362820" cy="278702"/>
              </a:xfrm>
              <a:prstGeom prst="rect">
                <a:avLst/>
              </a:prstGeom>
              <a:noFill/>
              <a:ln>
                <a:noFill/>
              </a:ln>
            </p:spPr>
            <p:txBody>
              <a:bodyPr wrap="none" lIns="0" tIns="0" rIns="0" bIns="0" anchor="t" anchorCtr="0">
                <a:spAutoFit/>
              </a:bodyPr>
              <a:lstStyle/>
              <a:p>
                <a:pPr algn="l"/>
                <a:r>
                  <a:rPr lang="en-US" sz="1420" dirty="0">
                    <a:solidFill>
                      <a:schemeClr val="dk1"/>
                    </a:solidFill>
                    <a:latin typeface="+mn-lt"/>
                    <a:ea typeface="+mn-ea"/>
                    <a:cs typeface="+mn-cs"/>
                  </a:rPr>
                  <a:t>Chuẩn bị câu hỏi kỹ thuật</a:t>
                </a:r>
              </a:p>
            </p:txBody>
          </p:sp>
          <p:sp>
            <p:nvSpPr>
              <p:cNvPr id="29" name="TextBox 29"/>
              <p:cNvSpPr txBox="1"/>
              <p:nvPr/>
            </p:nvSpPr>
            <p:spPr>
              <a:xfrm>
                <a:off x="8509254" y="3870960"/>
                <a:ext cx="2755707" cy="234696"/>
              </a:xfrm>
              <a:prstGeom prst="rect">
                <a:avLst/>
              </a:prstGeom>
              <a:noFill/>
              <a:ln>
                <a:noFill/>
              </a:ln>
            </p:spPr>
            <p:txBody>
              <a:bodyPr wrap="none" lIns="0" tIns="0" rIns="0" bIns="0" anchor="t" anchorCtr="0">
                <a:spAutoFit/>
              </a:bodyPr>
              <a:lstStyle/>
              <a:p>
                <a:pPr algn="l"/>
                <a:r>
                  <a:rPr lang="en-US" sz="1200" dirty="0">
                    <a:solidFill>
                      <a:srgbClr val="66706A"/>
                    </a:solidFill>
                    <a:latin typeface="+mn-lt"/>
                    <a:ea typeface="+mn-ea"/>
                    <a:cs typeface="+mn-cs"/>
                  </a:rPr>
                  <a:t>Giảm thời gian tiếp cận lĩnh vực mới</a:t>
                </a:r>
              </a:p>
            </p:txBody>
          </p:sp>
        </p:grpSp>
      </p:grpSp>
      <p:grpSp>
        <p:nvGrpSpPr>
          <p:cNvPr id="35" name="Group 35"/>
          <p:cNvGrpSpPr/>
          <p:nvPr/>
        </p:nvGrpSpPr>
        <p:grpSpPr>
          <a:xfrm>
            <a:off x="533400" y="4857750"/>
            <a:ext cx="11519878" cy="1143000"/>
            <a:chOff x="533400" y="4857750"/>
            <a:chExt cx="11519878" cy="1143000"/>
          </a:xfrm>
        </p:grpSpPr>
        <p:sp>
          <p:nvSpPr>
            <p:cNvPr id="32" name="Rectangle 32"/>
            <p:cNvSpPr/>
            <p:nvPr/>
          </p:nvSpPr>
          <p:spPr>
            <a:xfrm>
              <a:off x="533400" y="4857750"/>
              <a:ext cx="11125200" cy="1143000"/>
            </a:xfrm>
            <a:prstGeom prst="roundRect">
              <a:avLst>
                <a:gd name="adj" fmla="val 15000"/>
              </a:avLst>
            </a:prstGeom>
            <a:solidFill>
              <a:schemeClr val="accent1"/>
            </a:solidFill>
            <a:ln>
              <a:noFill/>
            </a:ln>
          </p:spPr>
          <p:txBody>
            <a:bodyPr/>
            <a:lstStyle/>
            <a:p>
              <a:endParaRPr lang="en-US"/>
            </a:p>
          </p:txBody>
        </p:sp>
        <p:sp>
          <p:nvSpPr>
            <p:cNvPr id="33" name="TextBox 33"/>
            <p:cNvSpPr txBox="1"/>
            <p:nvPr/>
          </p:nvSpPr>
          <p:spPr>
            <a:xfrm>
              <a:off x="812673" y="5110639"/>
              <a:ext cx="2068038" cy="249364"/>
            </a:xfrm>
            <a:prstGeom prst="rect">
              <a:avLst/>
            </a:prstGeom>
            <a:noFill/>
            <a:ln>
              <a:noFill/>
            </a:ln>
          </p:spPr>
          <p:txBody>
            <a:bodyPr wrap="none" lIns="0" tIns="0" rIns="0" bIns="0" anchor="t" anchorCtr="0">
              <a:spAutoFit/>
            </a:bodyPr>
            <a:lstStyle/>
            <a:p>
              <a:pPr algn="l"/>
              <a:r>
                <a:rPr lang="en-US" sz="1280" b="1" dirty="0">
                  <a:solidFill>
                    <a:srgbClr val="FFFFFF"/>
                  </a:solidFill>
                  <a:latin typeface="+mn-lt"/>
                  <a:ea typeface="+mn-ea"/>
                  <a:cs typeface="+mn-cs"/>
                </a:rPr>
                <a:t>NGUYÊN TẮC KIỂM CHỨNG</a:t>
              </a:r>
            </a:p>
          </p:txBody>
        </p:sp>
        <p:sp>
          <p:nvSpPr>
            <p:cNvPr id="34" name="TextBox 34"/>
            <p:cNvSpPr txBox="1"/>
            <p:nvPr/>
          </p:nvSpPr>
          <p:spPr>
            <a:xfrm>
              <a:off x="810006" y="5463540"/>
              <a:ext cx="11243272" cy="352044"/>
            </a:xfrm>
            <a:prstGeom prst="rect">
              <a:avLst/>
            </a:prstGeom>
            <a:noFill/>
            <a:ln>
              <a:noFill/>
            </a:ln>
          </p:spPr>
          <p:txBody>
            <a:bodyPr wrap="none" lIns="0" tIns="0" rIns="0" bIns="0" anchor="t" anchorCtr="0">
              <a:spAutoFit/>
            </a:bodyPr>
            <a:lstStyle/>
            <a:p>
              <a:pPr algn="l"/>
              <a:r>
                <a:rPr lang="en-US" sz="1800" dirty="0">
                  <a:solidFill>
                    <a:srgbClr val="FFFFFF"/>
                  </a:solidFill>
                  <a:latin typeface="+mn-lt"/>
                  <a:ea typeface="+mn-ea"/>
                  <a:cs typeface="+mn-cs"/>
                </a:rPr>
                <a:t>AI hỗ trợ tăng tốc; kết luận kỹ thuật vẫn phải được đo, test và xác nhận trên hệ thống thực tế.</a:t>
              </a:r>
            </a:p>
          </p:txBody>
        </p:sp>
      </p:grpSp>
      <p:sp>
        <p:nvSpPr>
          <p:cNvPr id="36" name="TextBox 36"/>
          <p:cNvSpPr txBox="1"/>
          <p:nvPr/>
        </p:nvSpPr>
        <p:spPr>
          <a:xfrm>
            <a:off x="11141640" y="6630352"/>
            <a:ext cx="484194" cy="205359"/>
          </a:xfrm>
          <a:prstGeom prst="rect">
            <a:avLst/>
          </a:prstGeom>
          <a:noFill/>
          <a:ln>
            <a:noFill/>
          </a:ln>
        </p:spPr>
        <p:txBody>
          <a:bodyPr wrap="none" lIns="0" tIns="0" rIns="0" bIns="0" anchor="t" anchorCtr="0">
            <a:spAutoFit/>
          </a:bodyPr>
          <a:lstStyle/>
          <a:p>
            <a:pPr algn="r"/>
            <a:r>
              <a:rPr lang="en-US" sz="1050" dirty="0">
                <a:solidFill>
                  <a:srgbClr val="66706A"/>
                </a:solidFill>
                <a:latin typeface="+mn-lt"/>
                <a:ea typeface="+mn-ea"/>
                <a:cs typeface="+mn-cs"/>
              </a:rPr>
              <a:t>19 / 23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3"/>
          <a:stretch>
            <a:fillRect/>
          </a:stretch>
        </p:blipFill>
        <p:spPr>
          <a:xfrm>
            <a:off x="486276" y="266700"/>
            <a:ext cx="1313447" cy="381000"/>
          </a:xfrm>
          <a:prstGeom prst="rect">
            <a:avLst/>
          </a:prstGeom>
        </p:spPr>
      </p:pic>
      <p:sp>
        <p:nvSpPr>
          <p:cNvPr id="3" name="TextBox 3"/>
          <p:cNvSpPr txBox="1"/>
          <p:nvPr/>
        </p:nvSpPr>
        <p:spPr>
          <a:xfrm>
            <a:off x="2462784" y="356235"/>
            <a:ext cx="4907212" cy="528066"/>
          </a:xfrm>
          <a:prstGeom prst="rect">
            <a:avLst/>
          </a:prstGeom>
          <a:noFill/>
          <a:ln>
            <a:noFill/>
          </a:ln>
        </p:spPr>
        <p:txBody>
          <a:bodyPr wrap="none" lIns="0" tIns="0" rIns="0" bIns="0" anchor="t" anchorCtr="0">
            <a:spAutoFit/>
          </a:bodyPr>
          <a:lstStyle/>
          <a:p>
            <a:pPr algn="l"/>
            <a:r>
              <a:rPr lang="en-US" sz="2700" b="1" dirty="0">
                <a:solidFill>
                  <a:schemeClr val="accent1"/>
                </a:solidFill>
                <a:latin typeface="+mn-lt"/>
                <a:ea typeface="+mn-ea"/>
                <a:cs typeface="+mn-cs"/>
              </a:rPr>
              <a:t>Tự đánh giá ưu, nhược điểm</a:t>
            </a:r>
          </a:p>
        </p:txBody>
      </p:sp>
      <p:grpSp>
        <p:nvGrpSpPr>
          <p:cNvPr id="26" name="Group 26"/>
          <p:cNvGrpSpPr/>
          <p:nvPr/>
        </p:nvGrpSpPr>
        <p:grpSpPr>
          <a:xfrm>
            <a:off x="533400" y="1190625"/>
            <a:ext cx="11125200" cy="4095750"/>
            <a:chOff x="533400" y="1190625"/>
            <a:chExt cx="11125200" cy="4095750"/>
          </a:xfrm>
        </p:grpSpPr>
        <p:grpSp>
          <p:nvGrpSpPr>
            <p:cNvPr id="14" name="Group 14"/>
            <p:cNvGrpSpPr/>
            <p:nvPr/>
          </p:nvGrpSpPr>
          <p:grpSpPr>
            <a:xfrm>
              <a:off x="533400" y="1190625"/>
              <a:ext cx="5286375" cy="4095750"/>
              <a:chOff x="533400" y="1190625"/>
              <a:chExt cx="5286375" cy="4095750"/>
            </a:xfrm>
          </p:grpSpPr>
          <p:sp>
            <p:nvSpPr>
              <p:cNvPr id="4" name="Rectangle 4"/>
              <p:cNvSpPr/>
              <p:nvPr/>
            </p:nvSpPr>
            <p:spPr>
              <a:xfrm>
                <a:off x="533400" y="1190625"/>
                <a:ext cx="5286375" cy="4095750"/>
              </a:xfrm>
              <a:prstGeom prst="roundRect">
                <a:avLst>
                  <a:gd name="adj" fmla="val 4651"/>
                </a:avLst>
              </a:prstGeom>
              <a:solidFill>
                <a:srgbClr val="EAF6F0"/>
              </a:solidFill>
              <a:ln>
                <a:noFill/>
              </a:ln>
            </p:spPr>
            <p:txBody>
              <a:bodyPr/>
              <a:lstStyle/>
              <a:p>
                <a:endParaRPr lang="en-US"/>
              </a:p>
            </p:txBody>
          </p:sp>
          <p:sp>
            <p:nvSpPr>
              <p:cNvPr id="5" name="Ellipse 5"/>
              <p:cNvSpPr/>
              <p:nvPr/>
            </p:nvSpPr>
            <p:spPr>
              <a:xfrm>
                <a:off x="771525" y="1438275"/>
                <a:ext cx="476250" cy="476250"/>
              </a:xfrm>
              <a:prstGeom prst="ellipse">
                <a:avLst/>
              </a:prstGeom>
              <a:solidFill>
                <a:schemeClr val="accent1"/>
              </a:solidFill>
              <a:ln>
                <a:noFill/>
              </a:ln>
            </p:spPr>
            <p:txBody>
              <a:bodyPr/>
              <a:lstStyle/>
              <a:p>
                <a:endParaRPr lang="en-US"/>
              </a:p>
            </p:txBody>
          </p:sp>
          <p:sp>
            <p:nvSpPr>
              <p:cNvPr id="6" name="Freeform 6"/>
              <p:cNvSpPr/>
              <p:nvPr/>
            </p:nvSpPr>
            <p:spPr>
              <a:xfrm>
                <a:off x="904875" y="1581150"/>
                <a:ext cx="219075" cy="171450"/>
              </a:xfrm>
              <a:custGeom>
                <a:avLst/>
                <a:gdLst/>
                <a:ahLst/>
                <a:cxnLst/>
                <a:rect l="l" t="t" r="r" b="b"/>
                <a:pathLst>
                  <a:path w="219075" h="171450">
                    <a:moveTo>
                      <a:pt x="0" y="95250"/>
                    </a:moveTo>
                    <a:lnTo>
                      <a:pt x="76200" y="171450"/>
                    </a:lnTo>
                    <a:lnTo>
                      <a:pt x="219075" y="0"/>
                    </a:lnTo>
                  </a:path>
                </a:pathLst>
              </a:custGeom>
              <a:noFill/>
              <a:ln w="38100">
                <a:solidFill>
                  <a:srgbClr val="FFFFFF"/>
                </a:solidFill>
              </a:ln>
            </p:spPr>
            <p:txBody>
              <a:bodyPr/>
              <a:lstStyle/>
              <a:p>
                <a:endParaRPr lang="en-US"/>
              </a:p>
            </p:txBody>
          </p:sp>
          <p:sp>
            <p:nvSpPr>
              <p:cNvPr id="7" name="TextBox 7"/>
              <p:cNvSpPr txBox="1"/>
              <p:nvPr/>
            </p:nvSpPr>
            <p:spPr>
              <a:xfrm>
                <a:off x="1418844" y="1542098"/>
                <a:ext cx="1053701" cy="381381"/>
              </a:xfrm>
              <a:prstGeom prst="rect">
                <a:avLst/>
              </a:prstGeom>
              <a:noFill/>
              <a:ln>
                <a:noFill/>
              </a:ln>
            </p:spPr>
            <p:txBody>
              <a:bodyPr wrap="none" lIns="0" tIns="0" rIns="0" bIns="0" anchor="t" anchorCtr="0">
                <a:spAutoFit/>
              </a:bodyPr>
              <a:lstStyle/>
              <a:p>
                <a:pPr algn="l"/>
                <a:r>
                  <a:rPr lang="en-US" sz="1950" b="1" dirty="0">
                    <a:solidFill>
                      <a:schemeClr val="accent1"/>
                    </a:solidFill>
                    <a:latin typeface="+mn-lt"/>
                    <a:ea typeface="+mn-ea"/>
                    <a:cs typeface="+mn-cs"/>
                  </a:rPr>
                  <a:t>ƯU ĐIỂM</a:t>
                </a:r>
              </a:p>
            </p:txBody>
          </p:sp>
          <p:sp>
            <p:nvSpPr>
              <p:cNvPr id="8" name="TextBox 8"/>
              <p:cNvSpPr txBox="1"/>
              <p:nvPr/>
            </p:nvSpPr>
            <p:spPr>
              <a:xfrm>
                <a:off x="811530" y="2171700"/>
                <a:ext cx="4536702" cy="293370"/>
              </a:xfrm>
              <a:prstGeom prst="rect">
                <a:avLst/>
              </a:prstGeom>
              <a:noFill/>
              <a:ln>
                <a:noFill/>
              </a:ln>
            </p:spPr>
            <p:txBody>
              <a:bodyPr wrap="none" lIns="0" tIns="0" rIns="0" bIns="0" anchor="t" anchorCtr="0">
                <a:spAutoFit/>
              </a:bodyPr>
              <a:lstStyle/>
              <a:p>
                <a:pPr marL="161925" indent="-161925" algn="l">
                  <a:buClr>
                    <a:schemeClr val="dk1"/>
                  </a:buClr>
                  <a:buSzTx/>
                  <a:buFontTx/>
                  <a:buChar char="•"/>
                </a:pPr>
                <a:r>
                  <a:rPr lang="en-US" sz="1500" dirty="0">
                    <a:solidFill>
                      <a:schemeClr val="dk1"/>
                    </a:solidFill>
                    <a:latin typeface="+mn-lt"/>
                    <a:ea typeface="+mn-ea"/>
                    <a:cs typeface="+mn-cs"/>
                  </a:rPr>
                  <a:t>Năng lực end-to-end: firmware → tool → test</a:t>
                </a:r>
              </a:p>
            </p:txBody>
          </p:sp>
          <p:sp>
            <p:nvSpPr>
              <p:cNvPr id="9" name="TextBox 9"/>
              <p:cNvSpPr txBox="1"/>
              <p:nvPr/>
            </p:nvSpPr>
            <p:spPr>
              <a:xfrm>
                <a:off x="811530" y="2571750"/>
                <a:ext cx="3889813" cy="293370"/>
              </a:xfrm>
              <a:prstGeom prst="rect">
                <a:avLst/>
              </a:prstGeom>
              <a:noFill/>
              <a:ln>
                <a:noFill/>
              </a:ln>
            </p:spPr>
            <p:txBody>
              <a:bodyPr wrap="none" lIns="0" tIns="0" rIns="0" bIns="0" anchor="t" anchorCtr="0">
                <a:spAutoFit/>
              </a:bodyPr>
              <a:lstStyle/>
              <a:p>
                <a:pPr marL="161925" indent="-161925" algn="l">
                  <a:buClr>
                    <a:schemeClr val="dk1"/>
                  </a:buClr>
                  <a:buSzTx/>
                  <a:buFontTx/>
                  <a:buChar char="•"/>
                </a:pPr>
                <a:r>
                  <a:rPr lang="en-US" sz="1500" dirty="0">
                    <a:solidFill>
                      <a:schemeClr val="dk1"/>
                    </a:solidFill>
                    <a:latin typeface="+mn-lt"/>
                    <a:ea typeface="+mn-ea"/>
                    <a:cs typeface="+mn-cs"/>
                  </a:rPr>
                  <a:t>Chủ động học nhanh và xử lý vấn đề mới</a:t>
                </a:r>
              </a:p>
            </p:txBody>
          </p:sp>
          <p:sp>
            <p:nvSpPr>
              <p:cNvPr id="10" name="TextBox 10"/>
              <p:cNvSpPr txBox="1"/>
              <p:nvPr/>
            </p:nvSpPr>
            <p:spPr>
              <a:xfrm>
                <a:off x="811530" y="2971800"/>
                <a:ext cx="3950510" cy="293370"/>
              </a:xfrm>
              <a:prstGeom prst="rect">
                <a:avLst/>
              </a:prstGeom>
              <a:noFill/>
              <a:ln>
                <a:noFill/>
              </a:ln>
            </p:spPr>
            <p:txBody>
              <a:bodyPr wrap="none" lIns="0" tIns="0" rIns="0" bIns="0" anchor="t" anchorCtr="0">
                <a:spAutoFit/>
              </a:bodyPr>
              <a:lstStyle/>
              <a:p>
                <a:pPr marL="161925" indent="-161925" algn="l">
                  <a:buClr>
                    <a:schemeClr val="dk1"/>
                  </a:buClr>
                  <a:buSzTx/>
                  <a:buFontTx/>
                  <a:buChar char="•"/>
                </a:pPr>
                <a:r>
                  <a:rPr lang="en-US" sz="1500" dirty="0">
                    <a:solidFill>
                      <a:schemeClr val="dk1"/>
                    </a:solidFill>
                    <a:latin typeface="+mn-lt"/>
                    <a:ea typeface="+mn-ea"/>
                    <a:cs typeface="+mn-cs"/>
                  </a:rPr>
                  <a:t>Có tư duy hệ thống, ưu tiên bằng chứng</a:t>
                </a:r>
              </a:p>
            </p:txBody>
          </p:sp>
          <p:sp>
            <p:nvSpPr>
              <p:cNvPr id="11" name="TextBox 11"/>
              <p:cNvSpPr txBox="1"/>
              <p:nvPr/>
            </p:nvSpPr>
            <p:spPr>
              <a:xfrm>
                <a:off x="811530" y="3371850"/>
                <a:ext cx="4303395" cy="293370"/>
              </a:xfrm>
              <a:prstGeom prst="rect">
                <a:avLst/>
              </a:prstGeom>
              <a:noFill/>
              <a:ln>
                <a:noFill/>
              </a:ln>
            </p:spPr>
            <p:txBody>
              <a:bodyPr wrap="none" lIns="0" tIns="0" rIns="0" bIns="0" anchor="t" anchorCtr="0">
                <a:spAutoFit/>
              </a:bodyPr>
              <a:lstStyle/>
              <a:p>
                <a:pPr marL="161925" indent="-161925" algn="l">
                  <a:buClr>
                    <a:schemeClr val="dk1"/>
                  </a:buClr>
                  <a:buSzTx/>
                  <a:buFontTx/>
                  <a:buChar char="•"/>
                </a:pPr>
                <a:r>
                  <a:rPr lang="en-US" sz="1500" dirty="0">
                    <a:solidFill>
                      <a:schemeClr val="dk1"/>
                    </a:solidFill>
                    <a:latin typeface="+mn-lt"/>
                    <a:ea typeface="+mn-ea"/>
                    <a:cs typeface="+mn-cs"/>
                  </a:rPr>
                  <a:t>Viết tài liệu, đào tạo và phối hợp liên team</a:t>
                </a:r>
              </a:p>
            </p:txBody>
          </p:sp>
          <p:sp>
            <p:nvSpPr>
              <p:cNvPr id="12" name="Rectangle 12"/>
              <p:cNvSpPr/>
              <p:nvPr/>
            </p:nvSpPr>
            <p:spPr>
              <a:xfrm>
                <a:off x="819150" y="4333875"/>
                <a:ext cx="4524375" cy="590550"/>
              </a:xfrm>
              <a:prstGeom prst="roundRect">
                <a:avLst>
                  <a:gd name="adj" fmla="val 19355"/>
                </a:avLst>
              </a:prstGeom>
              <a:solidFill>
                <a:schemeClr val="lt1"/>
              </a:solidFill>
              <a:ln>
                <a:noFill/>
              </a:ln>
            </p:spPr>
            <p:txBody>
              <a:bodyPr/>
              <a:lstStyle/>
              <a:p>
                <a:endParaRPr lang="en-US"/>
              </a:p>
            </p:txBody>
          </p:sp>
          <p:sp>
            <p:nvSpPr>
              <p:cNvPr id="13" name="TextBox 13"/>
              <p:cNvSpPr txBox="1"/>
              <p:nvPr/>
            </p:nvSpPr>
            <p:spPr>
              <a:xfrm>
                <a:off x="1003173" y="4558189"/>
                <a:ext cx="4190031"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Bằng chứng: 102 task Done / 4 nhóm dự án chính</a:t>
                </a:r>
              </a:p>
            </p:txBody>
          </p:sp>
        </p:grpSp>
        <p:grpSp>
          <p:nvGrpSpPr>
            <p:cNvPr id="25" name="Group 25"/>
            <p:cNvGrpSpPr/>
            <p:nvPr/>
          </p:nvGrpSpPr>
          <p:grpSpPr>
            <a:xfrm>
              <a:off x="6372225" y="1190625"/>
              <a:ext cx="5286375" cy="4095750"/>
              <a:chOff x="6372225" y="1190625"/>
              <a:chExt cx="5286375" cy="4095750"/>
            </a:xfrm>
          </p:grpSpPr>
          <p:sp>
            <p:nvSpPr>
              <p:cNvPr id="15" name="Rectangle 15"/>
              <p:cNvSpPr/>
              <p:nvPr/>
            </p:nvSpPr>
            <p:spPr>
              <a:xfrm>
                <a:off x="6372225" y="1190625"/>
                <a:ext cx="5286375" cy="4095750"/>
              </a:xfrm>
              <a:prstGeom prst="roundRect">
                <a:avLst>
                  <a:gd name="adj" fmla="val 4651"/>
                </a:avLst>
              </a:prstGeom>
              <a:solidFill>
                <a:srgbClr val="FFF7E8"/>
              </a:solidFill>
              <a:ln>
                <a:noFill/>
              </a:ln>
            </p:spPr>
            <p:txBody>
              <a:bodyPr/>
              <a:lstStyle/>
              <a:p>
                <a:endParaRPr lang="en-US"/>
              </a:p>
            </p:txBody>
          </p:sp>
          <p:sp>
            <p:nvSpPr>
              <p:cNvPr id="16" name="Ellipse 16"/>
              <p:cNvSpPr/>
              <p:nvPr/>
            </p:nvSpPr>
            <p:spPr>
              <a:xfrm>
                <a:off x="6610350" y="1438275"/>
                <a:ext cx="476250" cy="476250"/>
              </a:xfrm>
              <a:prstGeom prst="ellipse">
                <a:avLst/>
              </a:prstGeom>
              <a:solidFill>
                <a:srgbClr val="F5A623"/>
              </a:solidFill>
              <a:ln>
                <a:noFill/>
              </a:ln>
            </p:spPr>
            <p:txBody>
              <a:bodyPr/>
              <a:lstStyle/>
              <a:p>
                <a:endParaRPr lang="en-US"/>
              </a:p>
            </p:txBody>
          </p:sp>
          <p:sp>
            <p:nvSpPr>
              <p:cNvPr id="17" name="TextBox 17"/>
              <p:cNvSpPr txBox="1"/>
              <p:nvPr/>
            </p:nvSpPr>
            <p:spPr>
              <a:xfrm>
                <a:off x="6801166" y="1558290"/>
                <a:ext cx="94618" cy="352044"/>
              </a:xfrm>
              <a:prstGeom prst="rect">
                <a:avLst/>
              </a:prstGeom>
              <a:noFill/>
              <a:ln>
                <a:noFill/>
              </a:ln>
            </p:spPr>
            <p:txBody>
              <a:bodyPr wrap="none" lIns="0" tIns="0" rIns="0" bIns="0" anchor="t" anchorCtr="0">
                <a:spAutoFit/>
              </a:bodyPr>
              <a:lstStyle/>
              <a:p>
                <a:pPr algn="ctr"/>
                <a:r>
                  <a:rPr lang="en-US" sz="1800" b="1" dirty="0">
                    <a:solidFill>
                      <a:srgbClr val="FFFFFF"/>
                    </a:solidFill>
                    <a:latin typeface="+mn-lt"/>
                    <a:ea typeface="+mn-ea"/>
                    <a:cs typeface="+mn-cs"/>
                  </a:rPr>
                  <a:t>!</a:t>
                </a:r>
              </a:p>
            </p:txBody>
          </p:sp>
          <p:sp>
            <p:nvSpPr>
              <p:cNvPr id="18" name="TextBox 18"/>
              <p:cNvSpPr txBox="1"/>
              <p:nvPr/>
            </p:nvSpPr>
            <p:spPr>
              <a:xfrm>
                <a:off x="7257669" y="1542098"/>
                <a:ext cx="1810916" cy="381381"/>
              </a:xfrm>
              <a:prstGeom prst="rect">
                <a:avLst/>
              </a:prstGeom>
              <a:noFill/>
              <a:ln>
                <a:noFill/>
              </a:ln>
            </p:spPr>
            <p:txBody>
              <a:bodyPr wrap="none" lIns="0" tIns="0" rIns="0" bIns="0" anchor="t" anchorCtr="0">
                <a:spAutoFit/>
              </a:bodyPr>
              <a:lstStyle/>
              <a:p>
                <a:pPr algn="l"/>
                <a:r>
                  <a:rPr lang="en-US" sz="1950" b="1" dirty="0">
                    <a:solidFill>
                      <a:srgbClr val="B56A00"/>
                    </a:solidFill>
                    <a:latin typeface="+mn-lt"/>
                    <a:ea typeface="+mn-ea"/>
                    <a:cs typeface="+mn-cs"/>
                  </a:rPr>
                  <a:t>CẦN CẢI THIỆN</a:t>
                </a:r>
              </a:p>
            </p:txBody>
          </p:sp>
          <p:sp>
            <p:nvSpPr>
              <p:cNvPr id="19" name="TextBox 19"/>
              <p:cNvSpPr txBox="1"/>
              <p:nvPr/>
            </p:nvSpPr>
            <p:spPr>
              <a:xfrm>
                <a:off x="6650355" y="2171700"/>
                <a:ext cx="4293282" cy="293370"/>
              </a:xfrm>
              <a:prstGeom prst="rect">
                <a:avLst/>
              </a:prstGeom>
              <a:noFill/>
              <a:ln>
                <a:noFill/>
              </a:ln>
            </p:spPr>
            <p:txBody>
              <a:bodyPr wrap="none" lIns="0" tIns="0" rIns="0" bIns="0" anchor="t" anchorCtr="0">
                <a:spAutoFit/>
              </a:bodyPr>
              <a:lstStyle/>
              <a:p>
                <a:pPr marL="161925" indent="-161925" algn="l">
                  <a:buClr>
                    <a:schemeClr val="dk1"/>
                  </a:buClr>
                  <a:buSzTx/>
                  <a:buFontTx/>
                  <a:buChar char="•"/>
                </a:pPr>
                <a:r>
                  <a:rPr lang="en-US" sz="1500" dirty="0">
                    <a:solidFill>
                      <a:schemeClr val="dk1"/>
                    </a:solidFill>
                    <a:latin typeface="+mn-lt"/>
                    <a:ea typeface="+mn-ea"/>
                    <a:cs typeface="+mn-cs"/>
                  </a:rPr>
                  <a:t>Dễ phân tán khi nhiều luồng chạy song song</a:t>
                </a:r>
              </a:p>
            </p:txBody>
          </p:sp>
          <p:sp>
            <p:nvSpPr>
              <p:cNvPr id="20" name="TextBox 20"/>
              <p:cNvSpPr txBox="1"/>
              <p:nvPr/>
            </p:nvSpPr>
            <p:spPr>
              <a:xfrm>
                <a:off x="6650355" y="2571750"/>
                <a:ext cx="4071193" cy="293370"/>
              </a:xfrm>
              <a:prstGeom prst="rect">
                <a:avLst/>
              </a:prstGeom>
              <a:noFill/>
              <a:ln>
                <a:noFill/>
              </a:ln>
            </p:spPr>
            <p:txBody>
              <a:bodyPr wrap="none" lIns="0" tIns="0" rIns="0" bIns="0" anchor="t" anchorCtr="0">
                <a:spAutoFit/>
              </a:bodyPr>
              <a:lstStyle/>
              <a:p>
                <a:pPr marL="161925" indent="-161925" algn="l">
                  <a:buClr>
                    <a:schemeClr val="dk1"/>
                  </a:buClr>
                  <a:buSzTx/>
                  <a:buFontTx/>
                  <a:buChar char="•"/>
                </a:pPr>
                <a:r>
                  <a:rPr lang="en-US" sz="1500" dirty="0">
                    <a:solidFill>
                      <a:schemeClr val="dk1"/>
                    </a:solidFill>
                    <a:latin typeface="+mn-lt"/>
                    <a:ea typeface="+mn-ea"/>
                    <a:cs typeface="+mn-cs"/>
                  </a:rPr>
                  <a:t>Ước lượng và ưu tiên chưa luôn nhất quán</a:t>
                </a:r>
              </a:p>
            </p:txBody>
          </p:sp>
          <p:sp>
            <p:nvSpPr>
              <p:cNvPr id="21" name="TextBox 21"/>
              <p:cNvSpPr txBox="1"/>
              <p:nvPr/>
            </p:nvSpPr>
            <p:spPr>
              <a:xfrm>
                <a:off x="6650355" y="2971800"/>
                <a:ext cx="4661470" cy="293370"/>
              </a:xfrm>
              <a:prstGeom prst="rect">
                <a:avLst/>
              </a:prstGeom>
              <a:noFill/>
              <a:ln>
                <a:noFill/>
              </a:ln>
            </p:spPr>
            <p:txBody>
              <a:bodyPr wrap="none" lIns="0" tIns="0" rIns="0" bIns="0" anchor="t" anchorCtr="0">
                <a:spAutoFit/>
              </a:bodyPr>
              <a:lstStyle/>
              <a:p>
                <a:pPr marL="161925" indent="-161925" algn="l">
                  <a:buClr>
                    <a:schemeClr val="dk1"/>
                  </a:buClr>
                  <a:buSzTx/>
                  <a:buFontTx/>
                  <a:buChar char="•"/>
                </a:pPr>
                <a:r>
                  <a:rPr lang="en-US" sz="1500" dirty="0">
                    <a:solidFill>
                      <a:schemeClr val="dk1"/>
                    </a:solidFill>
                    <a:latin typeface="+mn-lt"/>
                    <a:ea typeface="+mn-ea"/>
                    <a:cs typeface="+mn-cs"/>
                  </a:rPr>
                  <a:t>Một số task Late/Not started chưa được đóng</a:t>
                </a:r>
              </a:p>
            </p:txBody>
          </p:sp>
          <p:sp>
            <p:nvSpPr>
              <p:cNvPr id="22" name="TextBox 22"/>
              <p:cNvSpPr txBox="1"/>
              <p:nvPr/>
            </p:nvSpPr>
            <p:spPr>
              <a:xfrm>
                <a:off x="6650355" y="3371850"/>
                <a:ext cx="4455095" cy="293370"/>
              </a:xfrm>
              <a:prstGeom prst="rect">
                <a:avLst/>
              </a:prstGeom>
              <a:noFill/>
              <a:ln>
                <a:noFill/>
              </a:ln>
            </p:spPr>
            <p:txBody>
              <a:bodyPr wrap="none" lIns="0" tIns="0" rIns="0" bIns="0" anchor="t" anchorCtr="0">
                <a:spAutoFit/>
              </a:bodyPr>
              <a:lstStyle/>
              <a:p>
                <a:pPr marL="161925" indent="-161925" algn="l">
                  <a:buClr>
                    <a:schemeClr val="dk1"/>
                  </a:buClr>
                  <a:buSzTx/>
                  <a:buFontTx/>
                  <a:buChar char="•"/>
                </a:pPr>
                <a:r>
                  <a:rPr lang="en-US" sz="1500" dirty="0">
                    <a:solidFill>
                      <a:schemeClr val="dk1"/>
                    </a:solidFill>
                    <a:latin typeface="+mn-lt"/>
                    <a:ea typeface="+mn-ea"/>
                    <a:cs typeface="+mn-cs"/>
                  </a:rPr>
                  <a:t>Cần cập nhật trạng thái sau hỗ trợ thực địa</a:t>
                </a:r>
              </a:p>
            </p:txBody>
          </p:sp>
          <p:sp>
            <p:nvSpPr>
              <p:cNvPr id="23" name="Rectangle 23"/>
              <p:cNvSpPr/>
              <p:nvPr/>
            </p:nvSpPr>
            <p:spPr>
              <a:xfrm>
                <a:off x="6657975" y="4333875"/>
                <a:ext cx="4524375" cy="590550"/>
              </a:xfrm>
              <a:prstGeom prst="roundRect">
                <a:avLst>
                  <a:gd name="adj" fmla="val 19355"/>
                </a:avLst>
              </a:prstGeom>
              <a:solidFill>
                <a:schemeClr val="lt1"/>
              </a:solidFill>
              <a:ln>
                <a:noFill/>
              </a:ln>
            </p:spPr>
            <p:txBody>
              <a:bodyPr/>
              <a:lstStyle/>
              <a:p>
                <a:endParaRPr lang="en-US"/>
              </a:p>
            </p:txBody>
          </p:sp>
          <p:sp>
            <p:nvSpPr>
              <p:cNvPr id="24" name="TextBox 24"/>
              <p:cNvSpPr txBox="1"/>
              <p:nvPr/>
            </p:nvSpPr>
            <p:spPr>
              <a:xfrm>
                <a:off x="6841998" y="4558189"/>
                <a:ext cx="4280185" cy="249364"/>
              </a:xfrm>
              <a:prstGeom prst="rect">
                <a:avLst/>
              </a:prstGeom>
              <a:noFill/>
              <a:ln>
                <a:noFill/>
              </a:ln>
            </p:spPr>
            <p:txBody>
              <a:bodyPr wrap="none" lIns="0" tIns="0" rIns="0" bIns="0" anchor="t" anchorCtr="0">
                <a:spAutoFit/>
              </a:bodyPr>
              <a:lstStyle/>
              <a:p>
                <a:pPr algn="l"/>
                <a:r>
                  <a:rPr lang="en-US" sz="1280" b="1" dirty="0">
                    <a:solidFill>
                      <a:srgbClr val="B56A00"/>
                    </a:solidFill>
                    <a:latin typeface="+mn-lt"/>
                    <a:ea typeface="+mn-ea"/>
                    <a:cs typeface="+mn-cs"/>
                  </a:rPr>
                  <a:t>Hành động: weekly planning + acceptance rõ ràng</a:t>
                </a:r>
              </a:p>
            </p:txBody>
          </p:sp>
        </p:grpSp>
      </p:grpSp>
      <p:sp>
        <p:nvSpPr>
          <p:cNvPr id="27" name="Rectangle 27"/>
          <p:cNvSpPr/>
          <p:nvPr/>
        </p:nvSpPr>
        <p:spPr>
          <a:xfrm>
            <a:off x="533400" y="5619750"/>
            <a:ext cx="11125200" cy="476250"/>
          </a:xfrm>
          <a:prstGeom prst="roundRect">
            <a:avLst>
              <a:gd name="adj" fmla="val 24000"/>
            </a:avLst>
          </a:prstGeom>
          <a:solidFill>
            <a:schemeClr val="lt2"/>
          </a:solidFill>
          <a:ln>
            <a:noFill/>
          </a:ln>
        </p:spPr>
        <p:txBody>
          <a:bodyPr/>
          <a:lstStyle/>
          <a:p>
            <a:endParaRPr lang="en-US"/>
          </a:p>
        </p:txBody>
      </p:sp>
      <p:sp>
        <p:nvSpPr>
          <p:cNvPr id="28" name="TextBox 28"/>
          <p:cNvSpPr txBox="1"/>
          <p:nvPr/>
        </p:nvSpPr>
        <p:spPr>
          <a:xfrm>
            <a:off x="1554648" y="5770721"/>
            <a:ext cx="9082705" cy="278702"/>
          </a:xfrm>
          <a:prstGeom prst="rect">
            <a:avLst/>
          </a:prstGeom>
          <a:noFill/>
          <a:ln>
            <a:noFill/>
          </a:ln>
        </p:spPr>
        <p:txBody>
          <a:bodyPr wrap="none" lIns="0" tIns="0" rIns="0" bIns="0" anchor="t" anchorCtr="0">
            <a:spAutoFit/>
          </a:bodyPr>
          <a:lstStyle/>
          <a:p>
            <a:pPr algn="ctr"/>
            <a:r>
              <a:rPr lang="en-US" sz="1420" dirty="0">
                <a:solidFill>
                  <a:schemeClr val="dk1"/>
                </a:solidFill>
                <a:latin typeface="+mn-lt"/>
                <a:ea typeface="+mn-ea"/>
                <a:cs typeface="+mn-cs"/>
              </a:rPr>
              <a:t>Tư duy cần duy trì: chủ động, đo được, tài liệu hóa — nhưng tập trung hơn vào ưu tiên và hoàn tất.</a:t>
            </a:r>
          </a:p>
        </p:txBody>
      </p:sp>
      <p:sp>
        <p:nvSpPr>
          <p:cNvPr id="29" name="TextBox 29"/>
          <p:cNvSpPr txBox="1"/>
          <p:nvPr/>
        </p:nvSpPr>
        <p:spPr>
          <a:xfrm>
            <a:off x="11141640" y="6630352"/>
            <a:ext cx="484194" cy="205359"/>
          </a:xfrm>
          <a:prstGeom prst="rect">
            <a:avLst/>
          </a:prstGeom>
          <a:noFill/>
          <a:ln>
            <a:noFill/>
          </a:ln>
        </p:spPr>
        <p:txBody>
          <a:bodyPr wrap="none" lIns="0" tIns="0" rIns="0" bIns="0" anchor="t" anchorCtr="0">
            <a:spAutoFit/>
          </a:bodyPr>
          <a:lstStyle/>
          <a:p>
            <a:pPr algn="r"/>
            <a:r>
              <a:rPr lang="en-US" sz="1050" dirty="0">
                <a:solidFill>
                  <a:srgbClr val="66706A"/>
                </a:solidFill>
                <a:latin typeface="+mn-lt"/>
                <a:ea typeface="+mn-ea"/>
                <a:cs typeface="+mn-cs"/>
              </a:rPr>
              <a:t>20 / 23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3"/>
          <a:stretch>
            <a:fillRect/>
          </a:stretch>
        </p:blipFill>
        <p:spPr>
          <a:xfrm>
            <a:off x="486276" y="266700"/>
            <a:ext cx="1313447" cy="381000"/>
          </a:xfrm>
          <a:prstGeom prst="rect">
            <a:avLst/>
          </a:prstGeom>
        </p:spPr>
      </p:pic>
      <p:sp>
        <p:nvSpPr>
          <p:cNvPr id="3" name="TextBox 3"/>
          <p:cNvSpPr txBox="1"/>
          <p:nvPr/>
        </p:nvSpPr>
        <p:spPr>
          <a:xfrm>
            <a:off x="2462784" y="356235"/>
            <a:ext cx="5575562" cy="528066"/>
          </a:xfrm>
          <a:prstGeom prst="rect">
            <a:avLst/>
          </a:prstGeom>
          <a:noFill/>
          <a:ln>
            <a:noFill/>
          </a:ln>
        </p:spPr>
        <p:txBody>
          <a:bodyPr wrap="none" lIns="0" tIns="0" rIns="0" bIns="0" anchor="t" anchorCtr="0">
            <a:spAutoFit/>
          </a:bodyPr>
          <a:lstStyle/>
          <a:p>
            <a:pPr algn="l"/>
            <a:r>
              <a:rPr lang="en-US" sz="2700" b="1" dirty="0">
                <a:solidFill>
                  <a:schemeClr val="accent1"/>
                </a:solidFill>
                <a:latin typeface="+mn-lt"/>
                <a:ea typeface="+mn-ea"/>
                <a:cs typeface="+mn-cs"/>
              </a:rPr>
              <a:t>Bài học &amp; khó khăn xuyên dự án</a:t>
            </a:r>
          </a:p>
        </p:txBody>
      </p:sp>
      <p:grpSp>
        <p:nvGrpSpPr>
          <p:cNvPr id="40" name="Group 40"/>
          <p:cNvGrpSpPr/>
          <p:nvPr/>
        </p:nvGrpSpPr>
        <p:grpSpPr>
          <a:xfrm>
            <a:off x="533400" y="1143000"/>
            <a:ext cx="11125200" cy="4572000"/>
            <a:chOff x="533400" y="1143000"/>
            <a:chExt cx="11125200" cy="4572000"/>
          </a:xfrm>
        </p:grpSpPr>
        <p:grpSp>
          <p:nvGrpSpPr>
            <p:cNvPr id="12" name="Group 12"/>
            <p:cNvGrpSpPr/>
            <p:nvPr/>
          </p:nvGrpSpPr>
          <p:grpSpPr>
            <a:xfrm>
              <a:off x="533400" y="1143000"/>
              <a:ext cx="11125200" cy="1000125"/>
              <a:chOff x="533400" y="1143000"/>
              <a:chExt cx="11125200" cy="1000125"/>
            </a:xfrm>
          </p:grpSpPr>
          <p:sp>
            <p:nvSpPr>
              <p:cNvPr id="4" name="Rectangle 4"/>
              <p:cNvSpPr/>
              <p:nvPr/>
            </p:nvSpPr>
            <p:spPr>
              <a:xfrm>
                <a:off x="533400" y="1143000"/>
                <a:ext cx="4429125" cy="1000125"/>
              </a:xfrm>
              <a:prstGeom prst="roundRect">
                <a:avLst>
                  <a:gd name="adj" fmla="val 15238"/>
                </a:avLst>
              </a:prstGeom>
              <a:solidFill>
                <a:srgbClr val="FFF7E8"/>
              </a:solidFill>
              <a:ln>
                <a:noFill/>
              </a:ln>
            </p:spPr>
            <p:txBody>
              <a:bodyPr/>
              <a:lstStyle/>
              <a:p>
                <a:endParaRPr lang="en-US"/>
              </a:p>
            </p:txBody>
          </p:sp>
          <p:sp>
            <p:nvSpPr>
              <p:cNvPr id="5" name="TextBox 5"/>
              <p:cNvSpPr txBox="1"/>
              <p:nvPr/>
            </p:nvSpPr>
            <p:spPr>
              <a:xfrm>
                <a:off x="774573" y="1367314"/>
                <a:ext cx="1073951" cy="249364"/>
              </a:xfrm>
              <a:prstGeom prst="rect">
                <a:avLst/>
              </a:prstGeom>
              <a:noFill/>
              <a:ln>
                <a:noFill/>
              </a:ln>
            </p:spPr>
            <p:txBody>
              <a:bodyPr wrap="none" lIns="0" tIns="0" rIns="0" bIns="0" anchor="t" anchorCtr="0">
                <a:spAutoFit/>
              </a:bodyPr>
              <a:lstStyle/>
              <a:p>
                <a:pPr algn="l"/>
                <a:r>
                  <a:rPr lang="en-US" sz="1280" b="1" dirty="0">
                    <a:solidFill>
                      <a:srgbClr val="B56A00"/>
                    </a:solidFill>
                    <a:latin typeface="+mn-lt"/>
                    <a:ea typeface="+mn-ea"/>
                    <a:cs typeface="+mn-cs"/>
                  </a:rPr>
                  <a:t>KHÓ KHĂN 01</a:t>
                </a:r>
              </a:p>
            </p:txBody>
          </p:sp>
          <p:sp>
            <p:nvSpPr>
              <p:cNvPr id="6" name="TextBox 6"/>
              <p:cNvSpPr txBox="1"/>
              <p:nvPr/>
            </p:nvSpPr>
            <p:spPr>
              <a:xfrm>
                <a:off x="773430" y="1695450"/>
                <a:ext cx="3515448"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Hệ thống nhiều thiết bị và phiên bản</a:t>
                </a:r>
              </a:p>
            </p:txBody>
          </p:sp>
          <p:sp>
            <p:nvSpPr>
              <p:cNvPr id="7" name="Freeform 7"/>
              <p:cNvSpPr/>
              <p:nvPr/>
            </p:nvSpPr>
            <p:spPr>
              <a:xfrm>
                <a:off x="5191125" y="1638300"/>
                <a:ext cx="1000125" cy="9525"/>
              </a:xfrm>
              <a:custGeom>
                <a:avLst/>
                <a:gdLst/>
                <a:ahLst/>
                <a:cxnLst/>
                <a:rect l="l" t="t" r="r" b="b"/>
                <a:pathLst>
                  <a:path w="1000125" h="9525">
                    <a:moveTo>
                      <a:pt x="0" y="0"/>
                    </a:moveTo>
                    <a:lnTo>
                      <a:pt x="1000125" y="0"/>
                    </a:lnTo>
                  </a:path>
                </a:pathLst>
              </a:custGeom>
              <a:solidFill>
                <a:srgbClr val="000000"/>
              </a:solidFill>
              <a:ln w="38100">
                <a:solidFill>
                  <a:schemeClr val="accent3"/>
                </a:solidFill>
              </a:ln>
            </p:spPr>
            <p:txBody>
              <a:bodyPr/>
              <a:lstStyle/>
              <a:p>
                <a:endParaRPr lang="en-US"/>
              </a:p>
            </p:txBody>
          </p:sp>
          <p:sp>
            <p:nvSpPr>
              <p:cNvPr id="8" name="Freeform 8"/>
              <p:cNvSpPr/>
              <p:nvPr/>
            </p:nvSpPr>
            <p:spPr>
              <a:xfrm>
                <a:off x="6057900" y="1552575"/>
                <a:ext cx="133350" cy="171450"/>
              </a:xfrm>
              <a:custGeom>
                <a:avLst/>
                <a:gdLst/>
                <a:ahLst/>
                <a:cxnLst/>
                <a:rect l="l" t="t" r="r" b="b"/>
                <a:pathLst>
                  <a:path w="133350" h="171450">
                    <a:moveTo>
                      <a:pt x="133350" y="85725"/>
                    </a:moveTo>
                    <a:lnTo>
                      <a:pt x="0" y="0"/>
                    </a:lnTo>
                    <a:lnTo>
                      <a:pt x="0" y="171450"/>
                    </a:lnTo>
                    <a:close/>
                  </a:path>
                </a:pathLst>
              </a:custGeom>
              <a:solidFill>
                <a:schemeClr val="accent3"/>
              </a:solidFill>
              <a:ln>
                <a:noFill/>
              </a:ln>
            </p:spPr>
            <p:txBody>
              <a:bodyPr/>
              <a:lstStyle/>
              <a:p>
                <a:endParaRPr lang="en-US"/>
              </a:p>
            </p:txBody>
          </p:sp>
          <p:sp>
            <p:nvSpPr>
              <p:cNvPr id="9" name="Rectangle 9"/>
              <p:cNvSpPr/>
              <p:nvPr/>
            </p:nvSpPr>
            <p:spPr>
              <a:xfrm>
                <a:off x="6429375" y="1143000"/>
                <a:ext cx="5229225" cy="1000125"/>
              </a:xfrm>
              <a:prstGeom prst="roundRect">
                <a:avLst>
                  <a:gd name="adj" fmla="val 15238"/>
                </a:avLst>
              </a:prstGeom>
              <a:solidFill>
                <a:srgbClr val="EAF6F0"/>
              </a:solidFill>
              <a:ln>
                <a:noFill/>
              </a:ln>
            </p:spPr>
            <p:txBody>
              <a:bodyPr/>
              <a:lstStyle/>
              <a:p>
                <a:endParaRPr lang="en-US"/>
              </a:p>
            </p:txBody>
          </p:sp>
          <p:sp>
            <p:nvSpPr>
              <p:cNvPr id="10" name="TextBox 10"/>
              <p:cNvSpPr txBox="1"/>
              <p:nvPr/>
            </p:nvSpPr>
            <p:spPr>
              <a:xfrm>
                <a:off x="6670548" y="1367314"/>
                <a:ext cx="653375"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BÀI HỌC</a:t>
                </a:r>
              </a:p>
            </p:txBody>
          </p:sp>
          <p:sp>
            <p:nvSpPr>
              <p:cNvPr id="11" name="TextBox 11"/>
              <p:cNvSpPr txBox="1"/>
              <p:nvPr/>
            </p:nvSpPr>
            <p:spPr>
              <a:xfrm>
                <a:off x="6669405" y="1695450"/>
                <a:ext cx="4797642"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Chuẩn hóa interface, phiên bản và checklist test</a:t>
                </a:r>
              </a:p>
            </p:txBody>
          </p:sp>
        </p:grpSp>
        <p:grpSp>
          <p:nvGrpSpPr>
            <p:cNvPr id="21" name="Group 21"/>
            <p:cNvGrpSpPr/>
            <p:nvPr/>
          </p:nvGrpSpPr>
          <p:grpSpPr>
            <a:xfrm>
              <a:off x="533400" y="2333625"/>
              <a:ext cx="11125200" cy="1000125"/>
              <a:chOff x="533400" y="2333625"/>
              <a:chExt cx="11125200" cy="1000125"/>
            </a:xfrm>
          </p:grpSpPr>
          <p:sp>
            <p:nvSpPr>
              <p:cNvPr id="13" name="Rectangle 13"/>
              <p:cNvSpPr/>
              <p:nvPr/>
            </p:nvSpPr>
            <p:spPr>
              <a:xfrm>
                <a:off x="533400" y="2333625"/>
                <a:ext cx="4429125" cy="1000125"/>
              </a:xfrm>
              <a:prstGeom prst="roundRect">
                <a:avLst>
                  <a:gd name="adj" fmla="val 15238"/>
                </a:avLst>
              </a:prstGeom>
              <a:solidFill>
                <a:srgbClr val="FFF7E8"/>
              </a:solidFill>
              <a:ln>
                <a:noFill/>
              </a:ln>
            </p:spPr>
            <p:txBody>
              <a:bodyPr/>
              <a:lstStyle/>
              <a:p>
                <a:endParaRPr lang="en-US"/>
              </a:p>
            </p:txBody>
          </p:sp>
          <p:sp>
            <p:nvSpPr>
              <p:cNvPr id="14" name="TextBox 14"/>
              <p:cNvSpPr txBox="1"/>
              <p:nvPr/>
            </p:nvSpPr>
            <p:spPr>
              <a:xfrm>
                <a:off x="774573" y="2557939"/>
                <a:ext cx="1073951" cy="249364"/>
              </a:xfrm>
              <a:prstGeom prst="rect">
                <a:avLst/>
              </a:prstGeom>
              <a:noFill/>
              <a:ln>
                <a:noFill/>
              </a:ln>
            </p:spPr>
            <p:txBody>
              <a:bodyPr wrap="none" lIns="0" tIns="0" rIns="0" bIns="0" anchor="t" anchorCtr="0">
                <a:spAutoFit/>
              </a:bodyPr>
              <a:lstStyle/>
              <a:p>
                <a:pPr algn="l"/>
                <a:r>
                  <a:rPr lang="en-US" sz="1280" b="1" dirty="0">
                    <a:solidFill>
                      <a:srgbClr val="B56A00"/>
                    </a:solidFill>
                    <a:latin typeface="+mn-lt"/>
                    <a:ea typeface="+mn-ea"/>
                    <a:cs typeface="+mn-cs"/>
                  </a:rPr>
                  <a:t>KHÓ KHĂN 02</a:t>
                </a:r>
              </a:p>
            </p:txBody>
          </p:sp>
          <p:sp>
            <p:nvSpPr>
              <p:cNvPr id="15" name="TextBox 15"/>
              <p:cNvSpPr txBox="1"/>
              <p:nvPr/>
            </p:nvSpPr>
            <p:spPr>
              <a:xfrm>
                <a:off x="773430" y="2886075"/>
                <a:ext cx="2182328"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Lỗi khó tái hiện tại lab</a:t>
                </a:r>
              </a:p>
            </p:txBody>
          </p:sp>
          <p:sp>
            <p:nvSpPr>
              <p:cNvPr id="16" name="Freeform 16"/>
              <p:cNvSpPr/>
              <p:nvPr/>
            </p:nvSpPr>
            <p:spPr>
              <a:xfrm>
                <a:off x="5191125" y="2828925"/>
                <a:ext cx="1000125" cy="9525"/>
              </a:xfrm>
              <a:custGeom>
                <a:avLst/>
                <a:gdLst/>
                <a:ahLst/>
                <a:cxnLst/>
                <a:rect l="l" t="t" r="r" b="b"/>
                <a:pathLst>
                  <a:path w="1000125" h="9525">
                    <a:moveTo>
                      <a:pt x="0" y="0"/>
                    </a:moveTo>
                    <a:lnTo>
                      <a:pt x="1000125" y="0"/>
                    </a:lnTo>
                  </a:path>
                </a:pathLst>
              </a:custGeom>
              <a:solidFill>
                <a:srgbClr val="000000"/>
              </a:solidFill>
              <a:ln w="38100">
                <a:solidFill>
                  <a:schemeClr val="accent3"/>
                </a:solidFill>
              </a:ln>
            </p:spPr>
            <p:txBody>
              <a:bodyPr/>
              <a:lstStyle/>
              <a:p>
                <a:endParaRPr lang="en-US"/>
              </a:p>
            </p:txBody>
          </p:sp>
          <p:sp>
            <p:nvSpPr>
              <p:cNvPr id="17" name="Freeform 17"/>
              <p:cNvSpPr/>
              <p:nvPr/>
            </p:nvSpPr>
            <p:spPr>
              <a:xfrm>
                <a:off x="6057900" y="2743200"/>
                <a:ext cx="133350" cy="171450"/>
              </a:xfrm>
              <a:custGeom>
                <a:avLst/>
                <a:gdLst/>
                <a:ahLst/>
                <a:cxnLst/>
                <a:rect l="l" t="t" r="r" b="b"/>
                <a:pathLst>
                  <a:path w="133350" h="171450">
                    <a:moveTo>
                      <a:pt x="133350" y="85725"/>
                    </a:moveTo>
                    <a:lnTo>
                      <a:pt x="0" y="0"/>
                    </a:lnTo>
                    <a:lnTo>
                      <a:pt x="0" y="171450"/>
                    </a:lnTo>
                    <a:close/>
                  </a:path>
                </a:pathLst>
              </a:custGeom>
              <a:solidFill>
                <a:schemeClr val="accent3"/>
              </a:solidFill>
              <a:ln>
                <a:noFill/>
              </a:ln>
            </p:spPr>
            <p:txBody>
              <a:bodyPr/>
              <a:lstStyle/>
              <a:p>
                <a:endParaRPr lang="en-US"/>
              </a:p>
            </p:txBody>
          </p:sp>
          <p:sp>
            <p:nvSpPr>
              <p:cNvPr id="18" name="Rectangle 18"/>
              <p:cNvSpPr/>
              <p:nvPr/>
            </p:nvSpPr>
            <p:spPr>
              <a:xfrm>
                <a:off x="6429375" y="2333625"/>
                <a:ext cx="5229225" cy="1000125"/>
              </a:xfrm>
              <a:prstGeom prst="roundRect">
                <a:avLst>
                  <a:gd name="adj" fmla="val 15238"/>
                </a:avLst>
              </a:prstGeom>
              <a:solidFill>
                <a:srgbClr val="EAF6F0"/>
              </a:solidFill>
              <a:ln>
                <a:noFill/>
              </a:ln>
            </p:spPr>
            <p:txBody>
              <a:bodyPr/>
              <a:lstStyle/>
              <a:p>
                <a:endParaRPr lang="en-US"/>
              </a:p>
            </p:txBody>
          </p:sp>
          <p:sp>
            <p:nvSpPr>
              <p:cNvPr id="19" name="TextBox 19"/>
              <p:cNvSpPr txBox="1"/>
              <p:nvPr/>
            </p:nvSpPr>
            <p:spPr>
              <a:xfrm>
                <a:off x="6670548" y="2557939"/>
                <a:ext cx="653375"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BÀI HỌC</a:t>
                </a:r>
              </a:p>
            </p:txBody>
          </p:sp>
          <p:sp>
            <p:nvSpPr>
              <p:cNvPr id="20" name="TextBox 20"/>
              <p:cNvSpPr txBox="1"/>
              <p:nvPr/>
            </p:nvSpPr>
            <p:spPr>
              <a:xfrm>
                <a:off x="6669405" y="2886075"/>
                <a:ext cx="4656820"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Giữ log, benchmark và mẫu đo chuẩn từ thực địa</a:t>
                </a:r>
              </a:p>
            </p:txBody>
          </p:sp>
        </p:grpSp>
        <p:grpSp>
          <p:nvGrpSpPr>
            <p:cNvPr id="30" name="Group 30"/>
            <p:cNvGrpSpPr/>
            <p:nvPr/>
          </p:nvGrpSpPr>
          <p:grpSpPr>
            <a:xfrm>
              <a:off x="533400" y="3524250"/>
              <a:ext cx="11125200" cy="1000125"/>
              <a:chOff x="533400" y="3524250"/>
              <a:chExt cx="11125200" cy="1000125"/>
            </a:xfrm>
          </p:grpSpPr>
          <p:sp>
            <p:nvSpPr>
              <p:cNvPr id="22" name="Rectangle 22"/>
              <p:cNvSpPr/>
              <p:nvPr/>
            </p:nvSpPr>
            <p:spPr>
              <a:xfrm>
                <a:off x="533400" y="3524250"/>
                <a:ext cx="4429125" cy="1000125"/>
              </a:xfrm>
              <a:prstGeom prst="roundRect">
                <a:avLst>
                  <a:gd name="adj" fmla="val 15238"/>
                </a:avLst>
              </a:prstGeom>
              <a:solidFill>
                <a:srgbClr val="FFF7E8"/>
              </a:solidFill>
              <a:ln>
                <a:noFill/>
              </a:ln>
            </p:spPr>
            <p:txBody>
              <a:bodyPr/>
              <a:lstStyle/>
              <a:p>
                <a:endParaRPr lang="en-US"/>
              </a:p>
            </p:txBody>
          </p:sp>
          <p:sp>
            <p:nvSpPr>
              <p:cNvPr id="23" name="TextBox 23"/>
              <p:cNvSpPr txBox="1"/>
              <p:nvPr/>
            </p:nvSpPr>
            <p:spPr>
              <a:xfrm>
                <a:off x="774573" y="3748564"/>
                <a:ext cx="1073951" cy="249364"/>
              </a:xfrm>
              <a:prstGeom prst="rect">
                <a:avLst/>
              </a:prstGeom>
              <a:noFill/>
              <a:ln>
                <a:noFill/>
              </a:ln>
            </p:spPr>
            <p:txBody>
              <a:bodyPr wrap="none" lIns="0" tIns="0" rIns="0" bIns="0" anchor="t" anchorCtr="0">
                <a:spAutoFit/>
              </a:bodyPr>
              <a:lstStyle/>
              <a:p>
                <a:pPr algn="l"/>
                <a:r>
                  <a:rPr lang="en-US" sz="1280" b="1" dirty="0">
                    <a:solidFill>
                      <a:srgbClr val="B56A00"/>
                    </a:solidFill>
                    <a:latin typeface="+mn-lt"/>
                    <a:ea typeface="+mn-ea"/>
                    <a:cs typeface="+mn-cs"/>
                  </a:rPr>
                  <a:t>KHÓ KHĂN 03</a:t>
                </a:r>
              </a:p>
            </p:txBody>
          </p:sp>
          <p:sp>
            <p:nvSpPr>
              <p:cNvPr id="24" name="TextBox 24"/>
              <p:cNvSpPr txBox="1"/>
              <p:nvPr/>
            </p:nvSpPr>
            <p:spPr>
              <a:xfrm>
                <a:off x="773430" y="4076700"/>
                <a:ext cx="2425366"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Yêu cầu nhà máy thay đổi</a:t>
                </a:r>
              </a:p>
            </p:txBody>
          </p:sp>
          <p:sp>
            <p:nvSpPr>
              <p:cNvPr id="25" name="Freeform 25"/>
              <p:cNvSpPr/>
              <p:nvPr/>
            </p:nvSpPr>
            <p:spPr>
              <a:xfrm>
                <a:off x="5191125" y="4019550"/>
                <a:ext cx="1000125" cy="9525"/>
              </a:xfrm>
              <a:custGeom>
                <a:avLst/>
                <a:gdLst/>
                <a:ahLst/>
                <a:cxnLst/>
                <a:rect l="l" t="t" r="r" b="b"/>
                <a:pathLst>
                  <a:path w="1000125" h="9525">
                    <a:moveTo>
                      <a:pt x="0" y="0"/>
                    </a:moveTo>
                    <a:lnTo>
                      <a:pt x="1000125" y="0"/>
                    </a:lnTo>
                  </a:path>
                </a:pathLst>
              </a:custGeom>
              <a:solidFill>
                <a:srgbClr val="000000"/>
              </a:solidFill>
              <a:ln w="38100">
                <a:solidFill>
                  <a:schemeClr val="accent3"/>
                </a:solidFill>
              </a:ln>
            </p:spPr>
            <p:txBody>
              <a:bodyPr/>
              <a:lstStyle/>
              <a:p>
                <a:endParaRPr lang="en-US"/>
              </a:p>
            </p:txBody>
          </p:sp>
          <p:sp>
            <p:nvSpPr>
              <p:cNvPr id="26" name="Freeform 26"/>
              <p:cNvSpPr/>
              <p:nvPr/>
            </p:nvSpPr>
            <p:spPr>
              <a:xfrm>
                <a:off x="6057900" y="3933825"/>
                <a:ext cx="133350" cy="171450"/>
              </a:xfrm>
              <a:custGeom>
                <a:avLst/>
                <a:gdLst/>
                <a:ahLst/>
                <a:cxnLst/>
                <a:rect l="l" t="t" r="r" b="b"/>
                <a:pathLst>
                  <a:path w="133350" h="171450">
                    <a:moveTo>
                      <a:pt x="133350" y="85725"/>
                    </a:moveTo>
                    <a:lnTo>
                      <a:pt x="0" y="0"/>
                    </a:lnTo>
                    <a:lnTo>
                      <a:pt x="0" y="171450"/>
                    </a:lnTo>
                    <a:close/>
                  </a:path>
                </a:pathLst>
              </a:custGeom>
              <a:solidFill>
                <a:schemeClr val="accent3"/>
              </a:solidFill>
              <a:ln>
                <a:noFill/>
              </a:ln>
            </p:spPr>
            <p:txBody>
              <a:bodyPr/>
              <a:lstStyle/>
              <a:p>
                <a:endParaRPr lang="en-US"/>
              </a:p>
            </p:txBody>
          </p:sp>
          <p:sp>
            <p:nvSpPr>
              <p:cNvPr id="27" name="Rectangle 27"/>
              <p:cNvSpPr/>
              <p:nvPr/>
            </p:nvSpPr>
            <p:spPr>
              <a:xfrm>
                <a:off x="6429375" y="3524250"/>
                <a:ext cx="5229225" cy="1000125"/>
              </a:xfrm>
              <a:prstGeom prst="roundRect">
                <a:avLst>
                  <a:gd name="adj" fmla="val 15238"/>
                </a:avLst>
              </a:prstGeom>
              <a:solidFill>
                <a:srgbClr val="EAF6F0"/>
              </a:solidFill>
              <a:ln>
                <a:noFill/>
              </a:ln>
            </p:spPr>
            <p:txBody>
              <a:bodyPr/>
              <a:lstStyle/>
              <a:p>
                <a:endParaRPr lang="en-US"/>
              </a:p>
            </p:txBody>
          </p:sp>
          <p:sp>
            <p:nvSpPr>
              <p:cNvPr id="28" name="TextBox 28"/>
              <p:cNvSpPr txBox="1"/>
              <p:nvPr/>
            </p:nvSpPr>
            <p:spPr>
              <a:xfrm>
                <a:off x="6670548" y="3748564"/>
                <a:ext cx="653375"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BÀI HỌC</a:t>
                </a:r>
              </a:p>
            </p:txBody>
          </p:sp>
          <p:sp>
            <p:nvSpPr>
              <p:cNvPr id="29" name="TextBox 29"/>
              <p:cNvSpPr txBox="1"/>
              <p:nvPr/>
            </p:nvSpPr>
            <p:spPr>
              <a:xfrm>
                <a:off x="6669405" y="4076700"/>
                <a:ext cx="4948972"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Chốt acceptance và kiểm thử fixture trước rollout</a:t>
                </a:r>
              </a:p>
            </p:txBody>
          </p:sp>
        </p:grpSp>
        <p:grpSp>
          <p:nvGrpSpPr>
            <p:cNvPr id="39" name="Group 39"/>
            <p:cNvGrpSpPr/>
            <p:nvPr/>
          </p:nvGrpSpPr>
          <p:grpSpPr>
            <a:xfrm>
              <a:off x="533400" y="4714875"/>
              <a:ext cx="11125200" cy="1000125"/>
              <a:chOff x="533400" y="4714875"/>
              <a:chExt cx="11125200" cy="1000125"/>
            </a:xfrm>
          </p:grpSpPr>
          <p:sp>
            <p:nvSpPr>
              <p:cNvPr id="31" name="Rectangle 31"/>
              <p:cNvSpPr/>
              <p:nvPr/>
            </p:nvSpPr>
            <p:spPr>
              <a:xfrm>
                <a:off x="533400" y="4714875"/>
                <a:ext cx="4429125" cy="1000125"/>
              </a:xfrm>
              <a:prstGeom prst="roundRect">
                <a:avLst>
                  <a:gd name="adj" fmla="val 15238"/>
                </a:avLst>
              </a:prstGeom>
              <a:solidFill>
                <a:srgbClr val="FFF7E8"/>
              </a:solidFill>
              <a:ln>
                <a:noFill/>
              </a:ln>
            </p:spPr>
            <p:txBody>
              <a:bodyPr/>
              <a:lstStyle/>
              <a:p>
                <a:endParaRPr lang="en-US"/>
              </a:p>
            </p:txBody>
          </p:sp>
          <p:sp>
            <p:nvSpPr>
              <p:cNvPr id="32" name="TextBox 32"/>
              <p:cNvSpPr txBox="1"/>
              <p:nvPr/>
            </p:nvSpPr>
            <p:spPr>
              <a:xfrm>
                <a:off x="774573" y="4939189"/>
                <a:ext cx="1073951" cy="249364"/>
              </a:xfrm>
              <a:prstGeom prst="rect">
                <a:avLst/>
              </a:prstGeom>
              <a:noFill/>
              <a:ln>
                <a:noFill/>
              </a:ln>
            </p:spPr>
            <p:txBody>
              <a:bodyPr wrap="none" lIns="0" tIns="0" rIns="0" bIns="0" anchor="t" anchorCtr="0">
                <a:spAutoFit/>
              </a:bodyPr>
              <a:lstStyle/>
              <a:p>
                <a:pPr algn="l"/>
                <a:r>
                  <a:rPr lang="en-US" sz="1280" b="1" dirty="0">
                    <a:solidFill>
                      <a:srgbClr val="B56A00"/>
                    </a:solidFill>
                    <a:latin typeface="+mn-lt"/>
                    <a:ea typeface="+mn-ea"/>
                    <a:cs typeface="+mn-cs"/>
                  </a:rPr>
                  <a:t>KHÓ KHĂN 04</a:t>
                </a:r>
              </a:p>
            </p:txBody>
          </p:sp>
          <p:sp>
            <p:nvSpPr>
              <p:cNvPr id="33" name="TextBox 33"/>
              <p:cNvSpPr txBox="1"/>
              <p:nvPr/>
            </p:nvSpPr>
            <p:spPr>
              <a:xfrm>
                <a:off x="773430" y="5267325"/>
                <a:ext cx="2940010"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Phối hợp nhiều team và ưu tiên</a:t>
                </a:r>
              </a:p>
            </p:txBody>
          </p:sp>
          <p:sp>
            <p:nvSpPr>
              <p:cNvPr id="34" name="Freeform 34"/>
              <p:cNvSpPr/>
              <p:nvPr/>
            </p:nvSpPr>
            <p:spPr>
              <a:xfrm>
                <a:off x="5191125" y="5210175"/>
                <a:ext cx="1000125" cy="9525"/>
              </a:xfrm>
              <a:custGeom>
                <a:avLst/>
                <a:gdLst/>
                <a:ahLst/>
                <a:cxnLst/>
                <a:rect l="l" t="t" r="r" b="b"/>
                <a:pathLst>
                  <a:path w="1000125" h="9525">
                    <a:moveTo>
                      <a:pt x="0" y="0"/>
                    </a:moveTo>
                    <a:lnTo>
                      <a:pt x="1000125" y="0"/>
                    </a:lnTo>
                  </a:path>
                </a:pathLst>
              </a:custGeom>
              <a:solidFill>
                <a:srgbClr val="000000"/>
              </a:solidFill>
              <a:ln w="38100">
                <a:solidFill>
                  <a:schemeClr val="accent3"/>
                </a:solidFill>
              </a:ln>
            </p:spPr>
            <p:txBody>
              <a:bodyPr/>
              <a:lstStyle/>
              <a:p>
                <a:endParaRPr lang="en-US"/>
              </a:p>
            </p:txBody>
          </p:sp>
          <p:sp>
            <p:nvSpPr>
              <p:cNvPr id="35" name="Freeform 35"/>
              <p:cNvSpPr/>
              <p:nvPr/>
            </p:nvSpPr>
            <p:spPr>
              <a:xfrm>
                <a:off x="6057900" y="5124450"/>
                <a:ext cx="133350" cy="171450"/>
              </a:xfrm>
              <a:custGeom>
                <a:avLst/>
                <a:gdLst/>
                <a:ahLst/>
                <a:cxnLst/>
                <a:rect l="l" t="t" r="r" b="b"/>
                <a:pathLst>
                  <a:path w="133350" h="171450">
                    <a:moveTo>
                      <a:pt x="133350" y="85725"/>
                    </a:moveTo>
                    <a:lnTo>
                      <a:pt x="0" y="0"/>
                    </a:lnTo>
                    <a:lnTo>
                      <a:pt x="0" y="171450"/>
                    </a:lnTo>
                    <a:close/>
                  </a:path>
                </a:pathLst>
              </a:custGeom>
              <a:solidFill>
                <a:schemeClr val="accent3"/>
              </a:solidFill>
              <a:ln>
                <a:noFill/>
              </a:ln>
            </p:spPr>
            <p:txBody>
              <a:bodyPr/>
              <a:lstStyle/>
              <a:p>
                <a:endParaRPr lang="en-US"/>
              </a:p>
            </p:txBody>
          </p:sp>
          <p:sp>
            <p:nvSpPr>
              <p:cNvPr id="36" name="Rectangle 36"/>
              <p:cNvSpPr/>
              <p:nvPr/>
            </p:nvSpPr>
            <p:spPr>
              <a:xfrm>
                <a:off x="6429375" y="4714875"/>
                <a:ext cx="5229225" cy="1000125"/>
              </a:xfrm>
              <a:prstGeom prst="roundRect">
                <a:avLst>
                  <a:gd name="adj" fmla="val 15238"/>
                </a:avLst>
              </a:prstGeom>
              <a:solidFill>
                <a:srgbClr val="EAF6F0"/>
              </a:solidFill>
              <a:ln>
                <a:noFill/>
              </a:ln>
            </p:spPr>
            <p:txBody>
              <a:bodyPr/>
              <a:lstStyle/>
              <a:p>
                <a:endParaRPr lang="en-US"/>
              </a:p>
            </p:txBody>
          </p:sp>
          <p:sp>
            <p:nvSpPr>
              <p:cNvPr id="37" name="TextBox 37"/>
              <p:cNvSpPr txBox="1"/>
              <p:nvPr/>
            </p:nvSpPr>
            <p:spPr>
              <a:xfrm>
                <a:off x="6670548" y="4939189"/>
                <a:ext cx="653375"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BÀI HỌC</a:t>
                </a:r>
              </a:p>
            </p:txBody>
          </p:sp>
          <p:sp>
            <p:nvSpPr>
              <p:cNvPr id="38" name="TextBox 38"/>
              <p:cNvSpPr txBox="1"/>
              <p:nvPr/>
            </p:nvSpPr>
            <p:spPr>
              <a:xfrm>
                <a:off x="6669405" y="5267325"/>
                <a:ext cx="4444460"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Decision log, owner rõ và handoff đủ context</a:t>
                </a:r>
              </a:p>
            </p:txBody>
          </p:sp>
        </p:grpSp>
      </p:grpSp>
      <p:sp>
        <p:nvSpPr>
          <p:cNvPr id="41" name="TextBox 41"/>
          <p:cNvSpPr txBox="1"/>
          <p:nvPr/>
        </p:nvSpPr>
        <p:spPr>
          <a:xfrm>
            <a:off x="11141640" y="6630352"/>
            <a:ext cx="484194" cy="205359"/>
          </a:xfrm>
          <a:prstGeom prst="rect">
            <a:avLst/>
          </a:prstGeom>
          <a:noFill/>
          <a:ln>
            <a:noFill/>
          </a:ln>
        </p:spPr>
        <p:txBody>
          <a:bodyPr wrap="none" lIns="0" tIns="0" rIns="0" bIns="0" anchor="t" anchorCtr="0">
            <a:spAutoFit/>
          </a:bodyPr>
          <a:lstStyle/>
          <a:p>
            <a:pPr algn="r"/>
            <a:r>
              <a:rPr lang="en-US" sz="1050" dirty="0">
                <a:solidFill>
                  <a:srgbClr val="66706A"/>
                </a:solidFill>
                <a:latin typeface="+mn-lt"/>
                <a:ea typeface="+mn-ea"/>
                <a:cs typeface="+mn-cs"/>
              </a:rPr>
              <a:t>21 / 23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3"/>
          <a:stretch>
            <a:fillRect/>
          </a:stretch>
        </p:blipFill>
        <p:spPr>
          <a:xfrm>
            <a:off x="486276" y="266700"/>
            <a:ext cx="1313447" cy="381000"/>
          </a:xfrm>
          <a:prstGeom prst="rect">
            <a:avLst/>
          </a:prstGeom>
        </p:spPr>
      </p:pic>
      <p:sp>
        <p:nvSpPr>
          <p:cNvPr id="3" name="TextBox 3"/>
          <p:cNvSpPr txBox="1"/>
          <p:nvPr/>
        </p:nvSpPr>
        <p:spPr>
          <a:xfrm>
            <a:off x="2462784" y="356235"/>
            <a:ext cx="2998080" cy="528066"/>
          </a:xfrm>
          <a:prstGeom prst="rect">
            <a:avLst/>
          </a:prstGeom>
          <a:noFill/>
          <a:ln>
            <a:noFill/>
          </a:ln>
        </p:spPr>
        <p:txBody>
          <a:bodyPr wrap="none" lIns="0" tIns="0" rIns="0" bIns="0" anchor="t" anchorCtr="0">
            <a:spAutoFit/>
          </a:bodyPr>
          <a:lstStyle/>
          <a:p>
            <a:pPr algn="l"/>
            <a:r>
              <a:rPr lang="en-US" sz="2700" b="1" dirty="0">
                <a:solidFill>
                  <a:schemeClr val="accent1"/>
                </a:solidFill>
                <a:latin typeface="+mn-lt"/>
                <a:ea typeface="+mn-ea"/>
                <a:cs typeface="+mn-cs"/>
              </a:rPr>
              <a:t>Mục tiêu sắp tới</a:t>
            </a:r>
          </a:p>
        </p:txBody>
      </p:sp>
      <p:grpSp>
        <p:nvGrpSpPr>
          <p:cNvPr id="31" name="Group 31"/>
          <p:cNvGrpSpPr/>
          <p:nvPr/>
        </p:nvGrpSpPr>
        <p:grpSpPr>
          <a:xfrm>
            <a:off x="533400" y="1285875"/>
            <a:ext cx="11313372" cy="3429000"/>
            <a:chOff x="533400" y="1285875"/>
            <a:chExt cx="11313372" cy="3429000"/>
          </a:xfrm>
        </p:grpSpPr>
        <p:grpSp>
          <p:nvGrpSpPr>
            <p:cNvPr id="12" name="Group 12"/>
            <p:cNvGrpSpPr/>
            <p:nvPr/>
          </p:nvGrpSpPr>
          <p:grpSpPr>
            <a:xfrm>
              <a:off x="533400" y="1285875"/>
              <a:ext cx="3429000" cy="3429000"/>
              <a:chOff x="533400" y="1285875"/>
              <a:chExt cx="3429000" cy="3429000"/>
            </a:xfrm>
          </p:grpSpPr>
          <p:sp>
            <p:nvSpPr>
              <p:cNvPr id="4" name="Rectangle 4"/>
              <p:cNvSpPr/>
              <p:nvPr/>
            </p:nvSpPr>
            <p:spPr>
              <a:xfrm>
                <a:off x="533400" y="1285875"/>
                <a:ext cx="3429000" cy="3429000"/>
              </a:xfrm>
              <a:prstGeom prst="roundRect">
                <a:avLst>
                  <a:gd name="adj" fmla="val 5556"/>
                </a:avLst>
              </a:prstGeom>
              <a:solidFill>
                <a:schemeClr val="accent1"/>
              </a:solidFill>
              <a:ln>
                <a:noFill/>
              </a:ln>
            </p:spPr>
            <p:txBody>
              <a:bodyPr/>
              <a:lstStyle/>
              <a:p>
                <a:endParaRPr lang="en-US"/>
              </a:p>
            </p:txBody>
          </p:sp>
          <p:sp>
            <p:nvSpPr>
              <p:cNvPr id="5" name="TextBox 5"/>
              <p:cNvSpPr txBox="1"/>
              <p:nvPr/>
            </p:nvSpPr>
            <p:spPr>
              <a:xfrm>
                <a:off x="812673" y="1624489"/>
                <a:ext cx="1418058" cy="249364"/>
              </a:xfrm>
              <a:prstGeom prst="rect">
                <a:avLst/>
              </a:prstGeom>
              <a:noFill/>
              <a:ln>
                <a:noFill/>
              </a:ln>
            </p:spPr>
            <p:txBody>
              <a:bodyPr wrap="none" lIns="0" tIns="0" rIns="0" bIns="0" anchor="t" anchorCtr="0">
                <a:spAutoFit/>
              </a:bodyPr>
              <a:lstStyle/>
              <a:p>
                <a:pPr algn="l"/>
                <a:r>
                  <a:rPr lang="en-US" sz="1280" b="1" dirty="0">
                    <a:solidFill>
                      <a:srgbClr val="FFFFFF"/>
                    </a:solidFill>
                    <a:latin typeface="+mn-lt"/>
                    <a:ea typeface="+mn-ea"/>
                    <a:cs typeface="+mn-cs"/>
                  </a:rPr>
                  <a:t>NOW · 0–4 TUẦN</a:t>
                </a:r>
              </a:p>
            </p:txBody>
          </p:sp>
          <p:sp>
            <p:nvSpPr>
              <p:cNvPr id="6" name="TextBox 6"/>
              <p:cNvSpPr txBox="1"/>
              <p:nvPr/>
            </p:nvSpPr>
            <p:spPr>
              <a:xfrm>
                <a:off x="808482" y="2078355"/>
                <a:ext cx="2761899" cy="410718"/>
              </a:xfrm>
              <a:prstGeom prst="rect">
                <a:avLst/>
              </a:prstGeom>
              <a:noFill/>
              <a:ln>
                <a:noFill/>
              </a:ln>
            </p:spPr>
            <p:txBody>
              <a:bodyPr wrap="none" lIns="0" tIns="0" rIns="0" bIns="0" anchor="t" anchorCtr="0">
                <a:spAutoFit/>
              </a:bodyPr>
              <a:lstStyle/>
              <a:p>
                <a:pPr algn="l"/>
                <a:r>
                  <a:rPr lang="en-US" sz="2100" b="1" dirty="0">
                    <a:solidFill>
                      <a:srgbClr val="FFFFFF"/>
                    </a:solidFill>
                    <a:latin typeface="+mn-lt"/>
                    <a:ea typeface="+mn-ea"/>
                    <a:cs typeface="+mn-cs"/>
                  </a:rPr>
                  <a:t>Hoàn tất triển khai</a:t>
                </a:r>
              </a:p>
            </p:txBody>
          </p:sp>
          <p:sp>
            <p:nvSpPr>
              <p:cNvPr id="7" name="TextBox 7"/>
              <p:cNvSpPr txBox="1"/>
              <p:nvPr/>
            </p:nvSpPr>
            <p:spPr>
              <a:xfrm>
                <a:off x="811530" y="2676525"/>
                <a:ext cx="2785768" cy="293370"/>
              </a:xfrm>
              <a:prstGeom prst="rect">
                <a:avLst/>
              </a:prstGeom>
              <a:noFill/>
              <a:ln>
                <a:noFill/>
              </a:ln>
            </p:spPr>
            <p:txBody>
              <a:bodyPr wrap="none" lIns="0" tIns="0" rIns="0" bIns="0" anchor="t" anchorCtr="0">
                <a:spAutoFit/>
              </a:bodyPr>
              <a:lstStyle/>
              <a:p>
                <a:pPr algn="l"/>
                <a:r>
                  <a:rPr lang="en-US" sz="1500" dirty="0">
                    <a:solidFill>
                      <a:srgbClr val="FFFFFF"/>
                    </a:solidFill>
                    <a:latin typeface="+mn-lt"/>
                    <a:ea typeface="+mn-ea"/>
                    <a:cs typeface="+mn-cs"/>
                  </a:rPr>
                  <a:t>Auto Test: đóng task còn lại</a:t>
                </a:r>
              </a:p>
            </p:txBody>
          </p:sp>
          <p:sp>
            <p:nvSpPr>
              <p:cNvPr id="8" name="TextBox 8"/>
              <p:cNvSpPr txBox="1"/>
              <p:nvPr/>
            </p:nvSpPr>
            <p:spPr>
              <a:xfrm>
                <a:off x="811530" y="3057525"/>
                <a:ext cx="3097940" cy="293370"/>
              </a:xfrm>
              <a:prstGeom prst="rect">
                <a:avLst/>
              </a:prstGeom>
              <a:noFill/>
              <a:ln>
                <a:noFill/>
              </a:ln>
            </p:spPr>
            <p:txBody>
              <a:bodyPr wrap="none" lIns="0" tIns="0" rIns="0" bIns="0" anchor="t" anchorCtr="0">
                <a:spAutoFit/>
              </a:bodyPr>
              <a:lstStyle/>
              <a:p>
                <a:pPr algn="l"/>
                <a:r>
                  <a:rPr lang="en-US" sz="1500" dirty="0">
                    <a:solidFill>
                      <a:srgbClr val="FFFFFF"/>
                    </a:solidFill>
                    <a:latin typeface="+mn-lt"/>
                    <a:ea typeface="+mn-ea"/>
                    <a:cs typeface="+mn-cs"/>
                  </a:rPr>
                  <a:t>Smart Lighting: prototype tool</a:t>
                </a:r>
              </a:p>
            </p:txBody>
          </p:sp>
          <p:sp>
            <p:nvSpPr>
              <p:cNvPr id="9" name="TextBox 9"/>
              <p:cNvSpPr txBox="1"/>
              <p:nvPr/>
            </p:nvSpPr>
            <p:spPr>
              <a:xfrm>
                <a:off x="811530" y="3438525"/>
                <a:ext cx="2937344" cy="293370"/>
              </a:xfrm>
              <a:prstGeom prst="rect">
                <a:avLst/>
              </a:prstGeom>
              <a:noFill/>
              <a:ln>
                <a:noFill/>
              </a:ln>
            </p:spPr>
            <p:txBody>
              <a:bodyPr wrap="none" lIns="0" tIns="0" rIns="0" bIns="0" anchor="t" anchorCtr="0">
                <a:spAutoFit/>
              </a:bodyPr>
              <a:lstStyle/>
              <a:p>
                <a:pPr algn="l"/>
                <a:r>
                  <a:rPr lang="en-US" sz="1500" dirty="0">
                    <a:solidFill>
                      <a:srgbClr val="FFFFFF"/>
                    </a:solidFill>
                    <a:latin typeface="+mn-lt"/>
                    <a:ea typeface="+mn-ea"/>
                    <a:cs typeface="+mn-cs"/>
                  </a:rPr>
                  <a:t>Xác nhận mốc và tiêu chí Done</a:t>
                </a:r>
              </a:p>
            </p:txBody>
          </p:sp>
          <p:sp>
            <p:nvSpPr>
              <p:cNvPr id="10" name="Rectangle 10"/>
              <p:cNvSpPr/>
              <p:nvPr/>
            </p:nvSpPr>
            <p:spPr>
              <a:xfrm>
                <a:off x="819150" y="4114800"/>
                <a:ext cx="1619250" cy="323850"/>
              </a:xfrm>
              <a:prstGeom prst="roundRect">
                <a:avLst>
                  <a:gd name="adj" fmla="val 50000"/>
                </a:avLst>
              </a:prstGeom>
              <a:solidFill>
                <a:schemeClr val="lt1">
                  <a:alpha val="18000"/>
                </a:schemeClr>
              </a:solidFill>
              <a:ln>
                <a:noFill/>
              </a:ln>
            </p:spPr>
            <p:txBody>
              <a:bodyPr/>
              <a:lstStyle/>
              <a:p>
                <a:endParaRPr lang="en-US"/>
              </a:p>
            </p:txBody>
          </p:sp>
          <p:sp>
            <p:nvSpPr>
              <p:cNvPr id="11" name="TextBox 11"/>
              <p:cNvSpPr txBox="1"/>
              <p:nvPr/>
            </p:nvSpPr>
            <p:spPr>
              <a:xfrm>
                <a:off x="1184961" y="4212431"/>
                <a:ext cx="887628" cy="220028"/>
              </a:xfrm>
              <a:prstGeom prst="rect">
                <a:avLst/>
              </a:prstGeom>
              <a:noFill/>
              <a:ln>
                <a:noFill/>
              </a:ln>
            </p:spPr>
            <p:txBody>
              <a:bodyPr wrap="none" lIns="0" tIns="0" rIns="0" bIns="0" anchor="t" anchorCtr="0">
                <a:spAutoFit/>
              </a:bodyPr>
              <a:lstStyle/>
              <a:p>
                <a:pPr algn="ctr"/>
                <a:r>
                  <a:rPr lang="en-US" sz="1120" dirty="0">
                    <a:solidFill>
                      <a:srgbClr val="FFFFFF"/>
                    </a:solidFill>
                    <a:latin typeface="+mn-lt"/>
                    <a:ea typeface="+mn-ea"/>
                    <a:cs typeface="+mn-cs"/>
                  </a:rPr>
                  <a:t>ƯU TIÊN CAO</a:t>
                </a:r>
              </a:p>
            </p:txBody>
          </p:sp>
        </p:grpSp>
        <p:grpSp>
          <p:nvGrpSpPr>
            <p:cNvPr id="21" name="Group 21"/>
            <p:cNvGrpSpPr/>
            <p:nvPr/>
          </p:nvGrpSpPr>
          <p:grpSpPr>
            <a:xfrm>
              <a:off x="4381500" y="1285875"/>
              <a:ext cx="3429000" cy="3429000"/>
              <a:chOff x="4381500" y="1285875"/>
              <a:chExt cx="3429000" cy="3429000"/>
            </a:xfrm>
          </p:grpSpPr>
          <p:sp>
            <p:nvSpPr>
              <p:cNvPr id="13" name="Rectangle 13"/>
              <p:cNvSpPr/>
              <p:nvPr/>
            </p:nvSpPr>
            <p:spPr>
              <a:xfrm>
                <a:off x="4381500" y="1285875"/>
                <a:ext cx="3429000" cy="3429000"/>
              </a:xfrm>
              <a:prstGeom prst="roundRect">
                <a:avLst>
                  <a:gd name="adj" fmla="val 5556"/>
                </a:avLst>
              </a:prstGeom>
              <a:solidFill>
                <a:srgbClr val="EAF6F0"/>
              </a:solidFill>
              <a:ln>
                <a:noFill/>
              </a:ln>
            </p:spPr>
            <p:txBody>
              <a:bodyPr/>
              <a:lstStyle/>
              <a:p>
                <a:endParaRPr lang="en-US"/>
              </a:p>
            </p:txBody>
          </p:sp>
          <p:sp>
            <p:nvSpPr>
              <p:cNvPr id="14" name="TextBox 14"/>
              <p:cNvSpPr txBox="1"/>
              <p:nvPr/>
            </p:nvSpPr>
            <p:spPr>
              <a:xfrm>
                <a:off x="4660773" y="1624489"/>
                <a:ext cx="1551877"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NEXT · 1–2 THÁNG</a:t>
                </a:r>
              </a:p>
            </p:txBody>
          </p:sp>
          <p:sp>
            <p:nvSpPr>
              <p:cNvPr id="15" name="TextBox 15"/>
              <p:cNvSpPr txBox="1"/>
              <p:nvPr/>
            </p:nvSpPr>
            <p:spPr>
              <a:xfrm>
                <a:off x="4656582" y="2078355"/>
                <a:ext cx="2836370" cy="410718"/>
              </a:xfrm>
              <a:prstGeom prst="rect">
                <a:avLst/>
              </a:prstGeom>
              <a:noFill/>
              <a:ln>
                <a:noFill/>
              </a:ln>
            </p:spPr>
            <p:txBody>
              <a:bodyPr wrap="none" lIns="0" tIns="0" rIns="0" bIns="0" anchor="t" anchorCtr="0">
                <a:spAutoFit/>
              </a:bodyPr>
              <a:lstStyle/>
              <a:p>
                <a:pPr algn="l"/>
                <a:r>
                  <a:rPr lang="en-US" sz="2100" b="1" dirty="0">
                    <a:solidFill>
                      <a:schemeClr val="accent1"/>
                    </a:solidFill>
                    <a:latin typeface="+mn-lt"/>
                    <a:ea typeface="+mn-ea"/>
                    <a:cs typeface="+mn-cs"/>
                  </a:rPr>
                  <a:t>Đóng vòng công việc</a:t>
                </a:r>
              </a:p>
            </p:txBody>
          </p:sp>
          <p:sp>
            <p:nvSpPr>
              <p:cNvPr id="16" name="TextBox 16"/>
              <p:cNvSpPr txBox="1"/>
              <p:nvPr/>
            </p:nvSpPr>
            <p:spPr>
              <a:xfrm>
                <a:off x="4659630" y="2676525"/>
                <a:ext cx="2277808"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Xử lý Late/Not started</a:t>
                </a:r>
              </a:p>
            </p:txBody>
          </p:sp>
          <p:sp>
            <p:nvSpPr>
              <p:cNvPr id="17" name="TextBox 17"/>
              <p:cNvSpPr txBox="1"/>
              <p:nvPr/>
            </p:nvSpPr>
            <p:spPr>
              <a:xfrm>
                <a:off x="4659630" y="3057525"/>
                <a:ext cx="2385541"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Cập nhật trạng thái MSB</a:t>
                </a:r>
              </a:p>
            </p:txBody>
          </p:sp>
          <p:sp>
            <p:nvSpPr>
              <p:cNvPr id="18" name="TextBox 18"/>
              <p:cNvSpPr txBox="1"/>
              <p:nvPr/>
            </p:nvSpPr>
            <p:spPr>
              <a:xfrm>
                <a:off x="4659630" y="3438525"/>
                <a:ext cx="2868900"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Weekly planning và review tải</a:t>
                </a:r>
              </a:p>
            </p:txBody>
          </p:sp>
          <p:sp>
            <p:nvSpPr>
              <p:cNvPr id="19" name="Rectangle 19"/>
              <p:cNvSpPr/>
              <p:nvPr/>
            </p:nvSpPr>
            <p:spPr>
              <a:xfrm>
                <a:off x="4667250" y="4114800"/>
                <a:ext cx="1619250" cy="323850"/>
              </a:xfrm>
              <a:prstGeom prst="roundRect">
                <a:avLst>
                  <a:gd name="adj" fmla="val 50000"/>
                </a:avLst>
              </a:prstGeom>
              <a:solidFill>
                <a:schemeClr val="accent1">
                  <a:alpha val="12000"/>
                </a:schemeClr>
              </a:solidFill>
              <a:ln>
                <a:noFill/>
              </a:ln>
            </p:spPr>
            <p:txBody>
              <a:bodyPr/>
              <a:lstStyle/>
              <a:p>
                <a:endParaRPr lang="en-US"/>
              </a:p>
            </p:txBody>
          </p:sp>
          <p:sp>
            <p:nvSpPr>
              <p:cNvPr id="20" name="TextBox 20"/>
              <p:cNvSpPr txBox="1"/>
              <p:nvPr/>
            </p:nvSpPr>
            <p:spPr>
              <a:xfrm>
                <a:off x="4849856" y="4212431"/>
                <a:ext cx="1254039" cy="220028"/>
              </a:xfrm>
              <a:prstGeom prst="rect">
                <a:avLst/>
              </a:prstGeom>
              <a:noFill/>
              <a:ln>
                <a:noFill/>
              </a:ln>
            </p:spPr>
            <p:txBody>
              <a:bodyPr wrap="none" lIns="0" tIns="0" rIns="0" bIns="0" anchor="t" anchorCtr="0">
                <a:spAutoFit/>
              </a:bodyPr>
              <a:lstStyle/>
              <a:p>
                <a:pPr algn="ctr"/>
                <a:r>
                  <a:rPr lang="en-US" sz="1120" dirty="0">
                    <a:solidFill>
                      <a:schemeClr val="accent1"/>
                    </a:solidFill>
                    <a:latin typeface="+mn-lt"/>
                    <a:ea typeface="+mn-ea"/>
                    <a:cs typeface="+mn-cs"/>
                  </a:rPr>
                  <a:t>KỶ LUẬT THỰC THI</a:t>
                </a:r>
              </a:p>
            </p:txBody>
          </p:sp>
        </p:grpSp>
        <p:grpSp>
          <p:nvGrpSpPr>
            <p:cNvPr id="30" name="Group 30"/>
            <p:cNvGrpSpPr/>
            <p:nvPr/>
          </p:nvGrpSpPr>
          <p:grpSpPr>
            <a:xfrm>
              <a:off x="8229600" y="1285875"/>
              <a:ext cx="3617172" cy="3429000"/>
              <a:chOff x="8229600" y="1285875"/>
              <a:chExt cx="3617172" cy="3429000"/>
            </a:xfrm>
          </p:grpSpPr>
          <p:sp>
            <p:nvSpPr>
              <p:cNvPr id="22" name="Rectangle 22"/>
              <p:cNvSpPr/>
              <p:nvPr/>
            </p:nvSpPr>
            <p:spPr>
              <a:xfrm>
                <a:off x="8229600" y="1285875"/>
                <a:ext cx="3429000" cy="3429000"/>
              </a:xfrm>
              <a:prstGeom prst="roundRect">
                <a:avLst>
                  <a:gd name="adj" fmla="val 5556"/>
                </a:avLst>
              </a:prstGeom>
              <a:solidFill>
                <a:srgbClr val="EEF3FF"/>
              </a:solidFill>
              <a:ln>
                <a:noFill/>
              </a:ln>
            </p:spPr>
            <p:txBody>
              <a:bodyPr/>
              <a:lstStyle/>
              <a:p>
                <a:endParaRPr lang="en-US"/>
              </a:p>
            </p:txBody>
          </p:sp>
          <p:sp>
            <p:nvSpPr>
              <p:cNvPr id="23" name="TextBox 23"/>
              <p:cNvSpPr txBox="1"/>
              <p:nvPr/>
            </p:nvSpPr>
            <p:spPr>
              <a:xfrm>
                <a:off x="8508873" y="1624489"/>
                <a:ext cx="1657021" cy="249364"/>
              </a:xfrm>
              <a:prstGeom prst="rect">
                <a:avLst/>
              </a:prstGeom>
              <a:noFill/>
              <a:ln>
                <a:noFill/>
              </a:ln>
            </p:spPr>
            <p:txBody>
              <a:bodyPr wrap="none" lIns="0" tIns="0" rIns="0" bIns="0" anchor="t" anchorCtr="0">
                <a:spAutoFit/>
              </a:bodyPr>
              <a:lstStyle/>
              <a:p>
                <a:pPr algn="l"/>
                <a:r>
                  <a:rPr lang="en-US" sz="1280" b="1" dirty="0">
                    <a:solidFill>
                      <a:schemeClr val="accent2"/>
                    </a:solidFill>
                    <a:latin typeface="+mn-lt"/>
                    <a:ea typeface="+mn-ea"/>
                    <a:cs typeface="+mn-cs"/>
                  </a:rPr>
                  <a:t>SCALE · 2–3 THÁNG</a:t>
                </a:r>
              </a:p>
            </p:txBody>
          </p:sp>
          <p:sp>
            <p:nvSpPr>
              <p:cNvPr id="24" name="TextBox 24"/>
              <p:cNvSpPr txBox="1"/>
              <p:nvPr/>
            </p:nvSpPr>
            <p:spPr>
              <a:xfrm>
                <a:off x="8504682" y="2078355"/>
                <a:ext cx="3342090" cy="410718"/>
              </a:xfrm>
              <a:prstGeom prst="rect">
                <a:avLst/>
              </a:prstGeom>
              <a:noFill/>
              <a:ln>
                <a:noFill/>
              </a:ln>
            </p:spPr>
            <p:txBody>
              <a:bodyPr wrap="none" lIns="0" tIns="0" rIns="0" bIns="0" anchor="t" anchorCtr="0">
                <a:spAutoFit/>
              </a:bodyPr>
              <a:lstStyle/>
              <a:p>
                <a:pPr algn="l"/>
                <a:r>
                  <a:rPr lang="en-US" sz="2100" b="1" dirty="0">
                    <a:solidFill>
                      <a:schemeClr val="accent2"/>
                    </a:solidFill>
                    <a:latin typeface="+mn-lt"/>
                    <a:ea typeface="+mn-ea"/>
                    <a:cs typeface="+mn-cs"/>
                  </a:rPr>
                  <a:t>Chuẩn hóa &amp; tái sử dụng</a:t>
                </a:r>
              </a:p>
            </p:txBody>
          </p:sp>
          <p:sp>
            <p:nvSpPr>
              <p:cNvPr id="25" name="TextBox 25"/>
              <p:cNvSpPr txBox="1"/>
              <p:nvPr/>
            </p:nvSpPr>
            <p:spPr>
              <a:xfrm>
                <a:off x="8507730" y="2676525"/>
                <a:ext cx="2556292"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Thư viện tool và test case</a:t>
                </a:r>
              </a:p>
            </p:txBody>
          </p:sp>
          <p:sp>
            <p:nvSpPr>
              <p:cNvPr id="26" name="TextBox 26"/>
              <p:cNvSpPr txBox="1"/>
              <p:nvPr/>
            </p:nvSpPr>
            <p:spPr>
              <a:xfrm>
                <a:off x="8507730" y="3057525"/>
                <a:ext cx="2535737"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Template tài liệu/handoff</a:t>
                </a:r>
              </a:p>
            </p:txBody>
          </p:sp>
          <p:sp>
            <p:nvSpPr>
              <p:cNvPr id="27" name="TextBox 27"/>
              <p:cNvSpPr txBox="1"/>
              <p:nvPr/>
            </p:nvSpPr>
            <p:spPr>
              <a:xfrm>
                <a:off x="8507730" y="3438525"/>
                <a:ext cx="2475633"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Đào tạo ngắn theo module</a:t>
                </a:r>
              </a:p>
            </p:txBody>
          </p:sp>
          <p:sp>
            <p:nvSpPr>
              <p:cNvPr id="28" name="Rectangle 28"/>
              <p:cNvSpPr/>
              <p:nvPr/>
            </p:nvSpPr>
            <p:spPr>
              <a:xfrm>
                <a:off x="8515350" y="4114800"/>
                <a:ext cx="1619250" cy="323850"/>
              </a:xfrm>
              <a:prstGeom prst="roundRect">
                <a:avLst>
                  <a:gd name="adj" fmla="val 50000"/>
                </a:avLst>
              </a:prstGeom>
              <a:solidFill>
                <a:schemeClr val="accent2">
                  <a:alpha val="12000"/>
                </a:schemeClr>
              </a:solidFill>
              <a:ln>
                <a:noFill/>
              </a:ln>
            </p:spPr>
            <p:txBody>
              <a:bodyPr/>
              <a:lstStyle/>
              <a:p>
                <a:endParaRPr lang="en-US"/>
              </a:p>
            </p:txBody>
          </p:sp>
          <p:sp>
            <p:nvSpPr>
              <p:cNvPr id="29" name="TextBox 29"/>
              <p:cNvSpPr txBox="1"/>
              <p:nvPr/>
            </p:nvSpPr>
            <p:spPr>
              <a:xfrm>
                <a:off x="8717869" y="4212431"/>
                <a:ext cx="1214211" cy="220028"/>
              </a:xfrm>
              <a:prstGeom prst="rect">
                <a:avLst/>
              </a:prstGeom>
              <a:noFill/>
              <a:ln>
                <a:noFill/>
              </a:ln>
            </p:spPr>
            <p:txBody>
              <a:bodyPr wrap="none" lIns="0" tIns="0" rIns="0" bIns="0" anchor="t" anchorCtr="0">
                <a:spAutoFit/>
              </a:bodyPr>
              <a:lstStyle/>
              <a:p>
                <a:pPr algn="ctr"/>
                <a:r>
                  <a:rPr lang="en-US" sz="1120" dirty="0">
                    <a:solidFill>
                      <a:schemeClr val="accent2"/>
                    </a:solidFill>
                    <a:latin typeface="+mn-lt"/>
                    <a:ea typeface="+mn-ea"/>
                    <a:cs typeface="+mn-cs"/>
                  </a:rPr>
                  <a:t>TÀI SẢN DÙNG LẠI</a:t>
                </a:r>
              </a:p>
            </p:txBody>
          </p:sp>
        </p:grpSp>
      </p:grpSp>
      <p:grpSp>
        <p:nvGrpSpPr>
          <p:cNvPr id="41" name="Group 41"/>
          <p:cNvGrpSpPr/>
          <p:nvPr/>
        </p:nvGrpSpPr>
        <p:grpSpPr>
          <a:xfrm>
            <a:off x="526923" y="5291614"/>
            <a:ext cx="11131677" cy="766286"/>
            <a:chOff x="526923" y="5291614"/>
            <a:chExt cx="11131677" cy="766286"/>
          </a:xfrm>
        </p:grpSpPr>
        <p:sp>
          <p:nvSpPr>
            <p:cNvPr id="32" name="TextBox 32"/>
            <p:cNvSpPr txBox="1"/>
            <p:nvPr/>
          </p:nvSpPr>
          <p:spPr>
            <a:xfrm>
              <a:off x="526923" y="5291614"/>
              <a:ext cx="1437175" cy="249364"/>
            </a:xfrm>
            <a:prstGeom prst="rect">
              <a:avLst/>
            </a:prstGeom>
            <a:noFill/>
            <a:ln>
              <a:noFill/>
            </a:ln>
          </p:spPr>
          <p:txBody>
            <a:bodyPr wrap="none" lIns="0" tIns="0" rIns="0" bIns="0" anchor="t" anchorCtr="0">
              <a:spAutoFit/>
            </a:bodyPr>
            <a:lstStyle/>
            <a:p>
              <a:pPr algn="l"/>
              <a:r>
                <a:rPr lang="en-US" sz="1280" b="1" dirty="0">
                  <a:solidFill>
                    <a:schemeClr val="accent1"/>
                  </a:solidFill>
                  <a:latin typeface="+mn-lt"/>
                  <a:ea typeface="+mn-ea"/>
                  <a:cs typeface="+mn-cs"/>
                </a:rPr>
                <a:t>CHỈ SỐ THEO DÕI</a:t>
              </a:r>
            </a:p>
          </p:txBody>
        </p:sp>
        <p:sp>
          <p:nvSpPr>
            <p:cNvPr id="33" name="Rectangle 33"/>
            <p:cNvSpPr/>
            <p:nvPr/>
          </p:nvSpPr>
          <p:spPr>
            <a:xfrm>
              <a:off x="533400" y="5600700"/>
              <a:ext cx="2571750" cy="457200"/>
            </a:xfrm>
            <a:prstGeom prst="roundRect">
              <a:avLst>
                <a:gd name="adj" fmla="val 25000"/>
              </a:avLst>
            </a:prstGeom>
            <a:solidFill>
              <a:schemeClr val="lt2"/>
            </a:solidFill>
            <a:ln>
              <a:noFill/>
            </a:ln>
          </p:spPr>
          <p:txBody>
            <a:bodyPr/>
            <a:lstStyle/>
            <a:p>
              <a:endParaRPr lang="en-US"/>
            </a:p>
          </p:txBody>
        </p:sp>
        <p:sp>
          <p:nvSpPr>
            <p:cNvPr id="34" name="TextBox 34"/>
            <p:cNvSpPr txBox="1"/>
            <p:nvPr/>
          </p:nvSpPr>
          <p:spPr>
            <a:xfrm>
              <a:off x="977107" y="5748814"/>
              <a:ext cx="1684337" cy="249364"/>
            </a:xfrm>
            <a:prstGeom prst="rect">
              <a:avLst/>
            </a:prstGeom>
            <a:noFill/>
            <a:ln>
              <a:noFill/>
            </a:ln>
          </p:spPr>
          <p:txBody>
            <a:bodyPr wrap="none" lIns="0" tIns="0" rIns="0" bIns="0" anchor="t" anchorCtr="0">
              <a:spAutoFit/>
            </a:bodyPr>
            <a:lstStyle/>
            <a:p>
              <a:pPr algn="ctr"/>
              <a:r>
                <a:rPr lang="en-US" sz="1280" dirty="0">
                  <a:solidFill>
                    <a:schemeClr val="dk1"/>
                  </a:solidFill>
                  <a:latin typeface="+mn-lt"/>
                  <a:ea typeface="+mn-ea"/>
                  <a:cs typeface="+mn-cs"/>
                </a:rPr>
                <a:t>Task đúng hạn ≥ 95%</a:t>
              </a:r>
            </a:p>
          </p:txBody>
        </p:sp>
        <p:sp>
          <p:nvSpPr>
            <p:cNvPr id="35" name="Rectangle 35"/>
            <p:cNvSpPr/>
            <p:nvPr/>
          </p:nvSpPr>
          <p:spPr>
            <a:xfrm>
              <a:off x="3333750" y="5600700"/>
              <a:ext cx="2571750" cy="457200"/>
            </a:xfrm>
            <a:prstGeom prst="roundRect">
              <a:avLst>
                <a:gd name="adj" fmla="val 25000"/>
              </a:avLst>
            </a:prstGeom>
            <a:solidFill>
              <a:schemeClr val="lt2"/>
            </a:solidFill>
            <a:ln>
              <a:noFill/>
            </a:ln>
          </p:spPr>
          <p:txBody>
            <a:bodyPr/>
            <a:lstStyle/>
            <a:p>
              <a:endParaRPr lang="en-US"/>
            </a:p>
          </p:txBody>
        </p:sp>
        <p:sp>
          <p:nvSpPr>
            <p:cNvPr id="36" name="TextBox 36"/>
            <p:cNvSpPr txBox="1"/>
            <p:nvPr/>
          </p:nvSpPr>
          <p:spPr>
            <a:xfrm>
              <a:off x="3829121" y="5748814"/>
              <a:ext cx="1581008" cy="249364"/>
            </a:xfrm>
            <a:prstGeom prst="rect">
              <a:avLst/>
            </a:prstGeom>
            <a:noFill/>
            <a:ln>
              <a:noFill/>
            </a:ln>
          </p:spPr>
          <p:txBody>
            <a:bodyPr wrap="none" lIns="0" tIns="0" rIns="0" bIns="0" anchor="t" anchorCtr="0">
              <a:spAutoFit/>
            </a:bodyPr>
            <a:lstStyle/>
            <a:p>
              <a:pPr algn="ctr"/>
              <a:r>
                <a:rPr lang="en-US" sz="1280" dirty="0">
                  <a:solidFill>
                    <a:schemeClr val="dk1"/>
                  </a:solidFill>
                  <a:latin typeface="+mn-lt"/>
                  <a:ea typeface="+mn-ea"/>
                  <a:cs typeface="+mn-cs"/>
                </a:rPr>
                <a:t>0 task thiếu owner</a:t>
              </a:r>
            </a:p>
          </p:txBody>
        </p:sp>
        <p:sp>
          <p:nvSpPr>
            <p:cNvPr id="37" name="Rectangle 37"/>
            <p:cNvSpPr/>
            <p:nvPr/>
          </p:nvSpPr>
          <p:spPr>
            <a:xfrm>
              <a:off x="6134100" y="5600700"/>
              <a:ext cx="2571750" cy="457200"/>
            </a:xfrm>
            <a:prstGeom prst="roundRect">
              <a:avLst>
                <a:gd name="adj" fmla="val 25000"/>
              </a:avLst>
            </a:prstGeom>
            <a:solidFill>
              <a:schemeClr val="lt2"/>
            </a:solidFill>
            <a:ln>
              <a:noFill/>
            </a:ln>
          </p:spPr>
          <p:txBody>
            <a:bodyPr/>
            <a:lstStyle/>
            <a:p>
              <a:endParaRPr lang="en-US"/>
            </a:p>
          </p:txBody>
        </p:sp>
        <p:sp>
          <p:nvSpPr>
            <p:cNvPr id="38" name="TextBox 38"/>
            <p:cNvSpPr txBox="1"/>
            <p:nvPr/>
          </p:nvSpPr>
          <p:spPr>
            <a:xfrm>
              <a:off x="6409771" y="5748814"/>
              <a:ext cx="2020407" cy="249364"/>
            </a:xfrm>
            <a:prstGeom prst="rect">
              <a:avLst/>
            </a:prstGeom>
            <a:noFill/>
            <a:ln>
              <a:noFill/>
            </a:ln>
          </p:spPr>
          <p:txBody>
            <a:bodyPr wrap="none" lIns="0" tIns="0" rIns="0" bIns="0" anchor="t" anchorCtr="0">
              <a:spAutoFit/>
            </a:bodyPr>
            <a:lstStyle/>
            <a:p>
              <a:pPr algn="ctr"/>
              <a:r>
                <a:rPr lang="en-US" sz="1280" dirty="0">
                  <a:solidFill>
                    <a:schemeClr val="dk1"/>
                  </a:solidFill>
                  <a:latin typeface="+mn-lt"/>
                  <a:ea typeface="+mn-ea"/>
                  <a:cs typeface="+mn-cs"/>
                </a:rPr>
                <a:t>100% handoff có tài liệu</a:t>
              </a:r>
            </a:p>
          </p:txBody>
        </p:sp>
        <p:sp>
          <p:nvSpPr>
            <p:cNvPr id="39" name="Rectangle 39"/>
            <p:cNvSpPr/>
            <p:nvPr/>
          </p:nvSpPr>
          <p:spPr>
            <a:xfrm>
              <a:off x="8934450" y="5600700"/>
              <a:ext cx="2724150" cy="457200"/>
            </a:xfrm>
            <a:prstGeom prst="roundRect">
              <a:avLst>
                <a:gd name="adj" fmla="val 25000"/>
              </a:avLst>
            </a:prstGeom>
            <a:solidFill>
              <a:schemeClr val="lt2"/>
            </a:solidFill>
            <a:ln>
              <a:noFill/>
            </a:ln>
          </p:spPr>
          <p:txBody>
            <a:bodyPr/>
            <a:lstStyle/>
            <a:p>
              <a:endParaRPr lang="en-US"/>
            </a:p>
          </p:txBody>
        </p:sp>
        <p:sp>
          <p:nvSpPr>
            <p:cNvPr id="40" name="TextBox 40"/>
            <p:cNvSpPr txBox="1"/>
            <p:nvPr/>
          </p:nvSpPr>
          <p:spPr>
            <a:xfrm>
              <a:off x="9251859" y="5748814"/>
              <a:ext cx="2089333" cy="249364"/>
            </a:xfrm>
            <a:prstGeom prst="rect">
              <a:avLst/>
            </a:prstGeom>
            <a:noFill/>
            <a:ln>
              <a:noFill/>
            </a:ln>
          </p:spPr>
          <p:txBody>
            <a:bodyPr wrap="none" lIns="0" tIns="0" rIns="0" bIns="0" anchor="t" anchorCtr="0">
              <a:spAutoFit/>
            </a:bodyPr>
            <a:lstStyle/>
            <a:p>
              <a:pPr algn="ctr"/>
              <a:r>
                <a:rPr lang="en-US" sz="1280" dirty="0">
                  <a:solidFill>
                    <a:schemeClr val="dk1"/>
                  </a:solidFill>
                  <a:latin typeface="+mn-lt"/>
                  <a:ea typeface="+mn-ea"/>
                  <a:cs typeface="+mn-cs"/>
                </a:rPr>
                <a:t>1 tài sản dùng lại / tháng</a:t>
              </a:r>
            </a:p>
          </p:txBody>
        </p:sp>
      </p:grpSp>
      <p:sp>
        <p:nvSpPr>
          <p:cNvPr id="42" name="TextBox 42"/>
          <p:cNvSpPr txBox="1"/>
          <p:nvPr/>
        </p:nvSpPr>
        <p:spPr>
          <a:xfrm>
            <a:off x="11141640" y="6630352"/>
            <a:ext cx="484194" cy="205359"/>
          </a:xfrm>
          <a:prstGeom prst="rect">
            <a:avLst/>
          </a:prstGeom>
          <a:noFill/>
          <a:ln>
            <a:noFill/>
          </a:ln>
        </p:spPr>
        <p:txBody>
          <a:bodyPr wrap="none" lIns="0" tIns="0" rIns="0" bIns="0" anchor="t" anchorCtr="0">
            <a:spAutoFit/>
          </a:bodyPr>
          <a:lstStyle/>
          <a:p>
            <a:pPr algn="r"/>
            <a:r>
              <a:rPr lang="en-US" sz="1050" dirty="0">
                <a:solidFill>
                  <a:srgbClr val="66706A"/>
                </a:solidFill>
                <a:latin typeface="+mn-lt"/>
                <a:ea typeface="+mn-ea"/>
                <a:cs typeface="+mn-cs"/>
              </a:rPr>
              <a:t>22 / 23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3"/>
          <a:stretch>
            <a:fillRect/>
          </a:stretch>
        </p:blipFill>
        <p:spPr>
          <a:xfrm>
            <a:off x="400050" y="323850"/>
            <a:ext cx="1562100" cy="457200"/>
          </a:xfrm>
          <a:prstGeom prst="rect">
            <a:avLst/>
          </a:prstGeom>
        </p:spPr>
      </p:pic>
      <p:grpSp>
        <p:nvGrpSpPr>
          <p:cNvPr id="4" name="Group 4"/>
          <p:cNvGrpSpPr/>
          <p:nvPr/>
        </p:nvGrpSpPr>
        <p:grpSpPr>
          <a:xfrm>
            <a:off x="1224534" y="3042285"/>
            <a:ext cx="1390802" cy="528066"/>
            <a:chOff x="1224534" y="3042285"/>
            <a:chExt cx="1390802" cy="528066"/>
          </a:xfrm>
        </p:grpSpPr>
        <p:sp>
          <p:nvSpPr>
            <p:cNvPr id="3" name="TextBox 3"/>
            <p:cNvSpPr txBox="1"/>
            <p:nvPr/>
          </p:nvSpPr>
          <p:spPr>
            <a:xfrm>
              <a:off x="1224534" y="3042285"/>
              <a:ext cx="1390802" cy="528066"/>
            </a:xfrm>
            <a:prstGeom prst="rect">
              <a:avLst/>
            </a:prstGeom>
            <a:noFill/>
            <a:ln>
              <a:noFill/>
            </a:ln>
          </p:spPr>
          <p:txBody>
            <a:bodyPr wrap="none" lIns="0" tIns="0" rIns="0" bIns="0" anchor="t" anchorCtr="0">
              <a:spAutoFit/>
            </a:bodyPr>
            <a:lstStyle/>
            <a:p>
              <a:pPr algn="l"/>
              <a:r>
                <a:rPr lang="en-US" sz="2700" dirty="0">
                  <a:solidFill>
                    <a:srgbClr val="FFFFFF"/>
                  </a:solidFill>
                  <a:latin typeface="+mn-lt"/>
                  <a:ea typeface="+mn-ea"/>
                  <a:cs typeface="+mn-cs"/>
                </a:rPr>
                <a:t>CẢM ƠN!</a:t>
              </a:r>
            </a:p>
          </p:txBody>
        </p:sp>
      </p:grpSp>
      <p:grpSp>
        <p:nvGrpSpPr>
          <p:cNvPr id="6" name="Group 6"/>
          <p:cNvGrpSpPr/>
          <p:nvPr/>
        </p:nvGrpSpPr>
        <p:grpSpPr>
          <a:xfrm>
            <a:off x="5334000" y="476250"/>
            <a:ext cx="5715000" cy="5715000"/>
            <a:chOff x="5334000" y="476250"/>
            <a:chExt cx="5715000" cy="5715000"/>
          </a:xfrm>
        </p:grpSpPr>
        <p:pic>
          <p:nvPicPr>
            <p:cNvPr id="5" name="Image 5"/>
            <p:cNvPicPr>
              <a:picLocks noChangeAspect="1"/>
            </p:cNvPicPr>
            <p:nvPr/>
          </p:nvPicPr>
          <p:blipFill>
            <a:blip r:embed="rId4"/>
            <a:stretch>
              <a:fillRect/>
            </a:stretch>
          </p:blipFill>
          <p:spPr>
            <a:xfrm>
              <a:off x="5334000" y="476250"/>
              <a:ext cx="5715000" cy="5715000"/>
            </a:xfrm>
            <a:prstGeom prst="rect">
              <a:avLst/>
            </a:prstGeom>
          </p:spPr>
        </p:pic>
      </p:grpSp>
      <p:grpSp>
        <p:nvGrpSpPr>
          <p:cNvPr id="10" name="Group 10"/>
          <p:cNvGrpSpPr/>
          <p:nvPr/>
        </p:nvGrpSpPr>
        <p:grpSpPr>
          <a:xfrm>
            <a:off x="6572250" y="1238250"/>
            <a:ext cx="3714750" cy="3597213"/>
            <a:chOff x="6572250" y="1238250"/>
            <a:chExt cx="3714750" cy="3597213"/>
          </a:xfrm>
        </p:grpSpPr>
        <p:pic>
          <p:nvPicPr>
            <p:cNvPr id="7" name="Image 7"/>
            <p:cNvPicPr>
              <a:picLocks noChangeAspect="1"/>
            </p:cNvPicPr>
            <p:nvPr/>
          </p:nvPicPr>
          <p:blipFill>
            <a:blip r:embed="rId5"/>
            <a:stretch>
              <a:fillRect/>
            </a:stretch>
          </p:blipFill>
          <p:spPr>
            <a:xfrm>
              <a:off x="6572250" y="1736787"/>
              <a:ext cx="1619250" cy="3098676"/>
            </a:xfrm>
            <a:prstGeom prst="rect">
              <a:avLst/>
            </a:prstGeom>
          </p:spPr>
        </p:pic>
        <p:pic>
          <p:nvPicPr>
            <p:cNvPr id="8" name="Image 8"/>
            <p:cNvPicPr>
              <a:picLocks noChangeAspect="1"/>
            </p:cNvPicPr>
            <p:nvPr/>
          </p:nvPicPr>
          <p:blipFill>
            <a:blip r:embed="rId6"/>
            <a:stretch>
              <a:fillRect/>
            </a:stretch>
          </p:blipFill>
          <p:spPr>
            <a:xfrm>
              <a:off x="7810500" y="1238250"/>
              <a:ext cx="1619250" cy="3476625"/>
            </a:xfrm>
            <a:prstGeom prst="rect">
              <a:avLst/>
            </a:prstGeom>
          </p:spPr>
        </p:pic>
        <p:pic>
          <p:nvPicPr>
            <p:cNvPr id="9" name="Image 9"/>
            <p:cNvPicPr>
              <a:picLocks noChangeAspect="1"/>
            </p:cNvPicPr>
            <p:nvPr/>
          </p:nvPicPr>
          <p:blipFill>
            <a:blip r:embed="rId7"/>
            <a:stretch>
              <a:fillRect/>
            </a:stretch>
          </p:blipFill>
          <p:spPr>
            <a:xfrm>
              <a:off x="8858250" y="1818409"/>
              <a:ext cx="1428750" cy="2840182"/>
            </a:xfrm>
            <a:prstGeom prst="rect">
              <a:avLst/>
            </a:prstGeom>
          </p:spPr>
        </p:pic>
      </p:grpSp>
      <p:sp>
        <p:nvSpPr>
          <p:cNvPr id="11" name="TextBox 11"/>
          <p:cNvSpPr txBox="1"/>
          <p:nvPr/>
        </p:nvSpPr>
        <p:spPr>
          <a:xfrm>
            <a:off x="393954" y="6290310"/>
            <a:ext cx="1037996" cy="234696"/>
          </a:xfrm>
          <a:prstGeom prst="rect">
            <a:avLst/>
          </a:prstGeom>
          <a:noFill/>
          <a:ln>
            <a:noFill/>
          </a:ln>
        </p:spPr>
        <p:txBody>
          <a:bodyPr wrap="none" lIns="0" tIns="0" rIns="0" bIns="0" anchor="t" anchorCtr="0">
            <a:spAutoFit/>
          </a:bodyPr>
          <a:lstStyle/>
          <a:p>
            <a:pPr algn="l"/>
            <a:r>
              <a:rPr lang="en-US" sz="1200" dirty="0">
                <a:solidFill>
                  <a:srgbClr val="FFFFFF"/>
                </a:solidFill>
                <a:latin typeface="+mn-lt"/>
                <a:ea typeface="+mn-ea"/>
                <a:cs typeface="+mn-cs"/>
              </a:rPr>
              <a:t>www.lumi.vn</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theme/theme1.xml><?xml version="1.0" encoding="utf-8"?>
<a:theme xmlns:a="http://schemas.openxmlformats.org/drawingml/2006/main" name="review_nhan_su_t7_redesign">
  <a:themeElements>
    <a:clrScheme name="review_nhan_su_t7_redesign">
      <a:dk1>
        <a:srgbClr val="1F2329"/>
      </a:dk1>
      <a:lt1>
        <a:srgbClr val="FFFFFF"/>
      </a:lt1>
      <a:dk2>
        <a:srgbClr val="1F497D"/>
      </a:dk2>
      <a:lt2>
        <a:srgbClr val="F4F7F5"/>
      </a:lt2>
      <a:accent1>
        <a:srgbClr val="008C4F"/>
      </a:accent1>
      <a:accent2>
        <a:srgbClr val="1456F0"/>
      </a:accent2>
      <a:accent3>
        <a:srgbClr val="79C6A3"/>
      </a:accent3>
      <a:accent4>
        <a:srgbClr val="008C4F"/>
      </a:accent4>
      <a:accent5>
        <a:srgbClr val="008C4F"/>
      </a:accent5>
      <a:accent6>
        <a:srgbClr val="F79646"/>
      </a:accent6>
      <a:hlink>
        <a:srgbClr val="1456F0"/>
      </a:hlink>
      <a:folHlink>
        <a:srgbClr val="79C6A3"/>
      </a:folHlink>
    </a:clrScheme>
    <a:fontScheme name="review_nhan_su_t7_redesign">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view_nhan_su_t7_re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review_nhan_su_t7_redesign">
  <a:themeElements>
    <a:clrScheme name="review_nhan_su_t7_redesign">
      <a:dk1>
        <a:srgbClr val="1F2329"/>
      </a:dk1>
      <a:lt1>
        <a:srgbClr val="FFFFFF"/>
      </a:lt1>
      <a:dk2>
        <a:srgbClr val="1F497D"/>
      </a:dk2>
      <a:lt2>
        <a:srgbClr val="F4F7F5"/>
      </a:lt2>
      <a:accent1>
        <a:srgbClr val="008C4F"/>
      </a:accent1>
      <a:accent2>
        <a:srgbClr val="1456F0"/>
      </a:accent2>
      <a:accent3>
        <a:srgbClr val="79C6A3"/>
      </a:accent3>
      <a:accent4>
        <a:srgbClr val="008C4F"/>
      </a:accent4>
      <a:accent5>
        <a:srgbClr val="008C4F"/>
      </a:accent5>
      <a:accent6>
        <a:srgbClr val="F79646"/>
      </a:accent6>
      <a:hlink>
        <a:srgbClr val="1456F0"/>
      </a:hlink>
      <a:folHlink>
        <a:srgbClr val="79C6A3"/>
      </a:folHlink>
    </a:clrScheme>
    <a:fontScheme name="review_nhan_su_t7_redesign">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view_nhan_su_t7_re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19</TotalTime>
  <Words>2560</Words>
  <Application>Microsoft Office PowerPoint</Application>
  <PresentationFormat>Màn hình rộng</PresentationFormat>
  <Paragraphs>377</Paragraphs>
  <Slides>22</Slides>
  <Notes>22</Notes>
  <HiddenSlides>0</HiddenSlides>
  <MMClips>0</MMClips>
  <ScaleCrop>false</ScaleCrop>
  <HeadingPairs>
    <vt:vector size="6" baseType="variant">
      <vt:variant>
        <vt:lpstr>Phông được Dùng</vt:lpstr>
      </vt:variant>
      <vt:variant>
        <vt:i4>1</vt:i4>
      </vt:variant>
      <vt:variant>
        <vt:lpstr>Chủ đề</vt:lpstr>
      </vt:variant>
      <vt:variant>
        <vt:i4>1</vt:i4>
      </vt:variant>
      <vt:variant>
        <vt:lpstr>Tiêu đề Bản chiếu</vt:lpstr>
      </vt:variant>
      <vt:variant>
        <vt:i4>22</vt:i4>
      </vt:variant>
    </vt:vector>
  </HeadingPairs>
  <TitlesOfParts>
    <vt:vector size="24" baseType="lpstr">
      <vt:lpstr>Arial</vt:lpstr>
      <vt:lpstr>review_nhan_su_t7_redesign</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Nguyen Van Duong 20241713E</cp:lastModifiedBy>
  <cp:revision>2</cp:revision>
  <dcterms:created xsi:type="dcterms:W3CDTF">2026-07-24T14:01:12Z</dcterms:created>
  <dcterms:modified xsi:type="dcterms:W3CDTF">2026-07-29T17:13:30Z</dcterms:modified>
  <cp:category/>
  <cp:contentStatus/>
  <dc:language/>
</cp:coreProperties>
</file>
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Mở đầu kỳ review ngày 23/07/2026, phạm vi đánh giá từ 20/03 đến 22/07/2026.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trình bày giữ nguyên bốn phần của template cũ: dự án, AI, tự đánh giá và mục tiêu.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Trong kỳ có 114 task thuộc 7 nhóm dự án; 102 task đã Done, tương đương 89,5%.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KNX là trọng tâm lớn nhất với 98 task, bao phủ sản phẩm, tool, hệ thống và đào tạo.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Đầu ra KNX đi xuyên suốt từ firmware đến Jig, benchmark, kiểm thử, tài liệu và đào tạo.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tiến bộ chính là tư duy end-to-end và quy trình tái hiện, đo, đối chiếu, xác nhận.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Auto Test đang ở giai đoạn xây nền, đã hoàn thành 4 trên 5 task trong phạm vi review.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Design tập trung chỉnh sửa tool nguồn DC cho flow vận hành thực tế tại nhà máy.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Đóng góp cho IoT gồm loader Luto và phối hợp định hướng Auto Test; cả hai task đã hoàn thành.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LumesV2 đã có tool test nguồn và tool nạp code cho mạch main V2.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MSB tập trung xử lý lỗi đo sai năng lượng và kiểm tra Jig tại nhà máy.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Smart Lighting mới khởi động từ 20/07, đang dựng nền tool test cho Deep Dimming và CCT Tunable.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AI hỗ trợ code, tài liệu và học nhanh; mọi kết luận kỹ thuật vẫn phải được kiểm chứng thực tế.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mạnh là năng lực end-to-end và chủ động; điểm cần cải thiện là ưu tiên và đóng vòng công việc.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học chung là chuẩn hóa interface, logging, acceptance và handoff càng sớm càng tốt.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Mục tiêu tiếp theo là hoàn tất dự án đang chạy, đóng task còn mở và chuẩn hóa tài sản dùng lại.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và sẵn sàng trao đổi thêm.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iew_nhan_su_t7_re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iew_nhan_su_t7_re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10fcf8f9f909b91.pn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3db7369d2c1e7d49.jp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10707da1aef28a0.png"/>
  <Relationship Id="rId4" Type="http://schemas.openxmlformats.org/officeDocument/2006/relationships/image" Target="../media/image_fd5d8ea2d71d37bf.png"/>
  <Relationship Id="rId5" Type="http://schemas.openxmlformats.org/officeDocument/2006/relationships/image" Target="../media/image_b9e63bc5fbef4046.png"/>
  <Relationship Id="rId6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image" Target="../media/image_1769f417fa58109b.png"/>
  <Relationship Id="rId5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ee3708cd69e1814.jp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deea19358d7d9df9.jp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ebf0602e5ed4ba86.jp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image" Target="../media/image_cd22578ee1f97165.png"/>
  <Relationship Id="rId5" Type="http://schemas.openxmlformats.org/officeDocument/2006/relationships/image" Target="../media/image_5a1205fbd766d78e.png"/>
  <Relationship Id="rId6" Type="http://schemas.openxmlformats.org/officeDocument/2006/relationships/image" Target="../media/image_3f64fe1646839cff.png"/>
  <Relationship Id="rId7" Type="http://schemas.openxmlformats.org/officeDocument/2006/relationships/notesSlide" Target="../notesSlides/notesSlide1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386334" y="2708910"/>
            <a:ext cx="4090416" cy="1765268"/>
            <a:chOff x="386334" y="2708910"/>
            <a:chExt cx="4090416" cy="1765268"/>
          </a:xfrm>
        </p:grpSpPr>
        <p:sp>
          <p:nvSpPr>
            <p:cNvPr id="3" name="TextBox 3"/>
            <p:cNvSpPr txBox="1"/>
            <p:nvPr/>
          </p:nvSpPr>
          <p:spPr>
            <a:xfrm>
              <a:off x="386334" y="2708910"/>
              <a:ext cx="2773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NHÂN SỰ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2430" y="3362325"/>
              <a:ext cx="279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Họ và tên: Nguyễn Văn Dương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00050" y="3762375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3573" y="3929539"/>
              <a:ext cx="210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Ngày review: 23/07/2026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3573" y="4224814"/>
              <a:ext cx="3023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Giai đoạn review: 20/03–22/07/2026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81800" y="847725"/>
            <a:ext cx="5143500" cy="5143500"/>
            <a:chOff x="6781800" y="847725"/>
            <a:chExt cx="5143500" cy="5143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847725"/>
              <a:ext cx="5143500" cy="5143500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41" y="285750"/>
            <a:ext cx="1444792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709026" y="952500"/>
            <a:ext cx="2487198" cy="4953000"/>
            <a:chOff x="709026" y="952500"/>
            <a:chExt cx="2487198" cy="4953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026" y="952500"/>
              <a:ext cx="2487198" cy="4953000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1330361" y="3202305"/>
              <a:ext cx="12445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NỘI DUNG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3325" y="1371600"/>
            <a:ext cx="5849993" cy="3489198"/>
            <a:chOff x="3743325" y="1371600"/>
            <a:chExt cx="5849993" cy="3489198"/>
          </a:xfrm>
        </p:grpSpPr>
        <p:grpSp>
          <p:nvGrpSpPr>
            <p:cNvPr id="12" name="Group 12"/>
            <p:cNvGrpSpPr/>
            <p:nvPr/>
          </p:nvGrpSpPr>
          <p:grpSpPr>
            <a:xfrm>
              <a:off x="3743325" y="1371600"/>
              <a:ext cx="5849993" cy="488823"/>
              <a:chOff x="3743325" y="1371600"/>
              <a:chExt cx="5849993" cy="488823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3743325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3819525" y="159067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000500" y="137160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000625" y="137160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410570" y="14630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61457" y="1449705"/>
                <a:ext cx="403186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Các dự án tham gia và kết quả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43325" y="2371725"/>
              <a:ext cx="5416067" cy="488823"/>
              <a:chOff x="3743325" y="2371725"/>
              <a:chExt cx="5416067" cy="488823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743325" y="25527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9525" y="259080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000500" y="237172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000625" y="237172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10570" y="246316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61457" y="2449830"/>
                <a:ext cx="359793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Sử dụng AI trong công việc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743325" y="3371850"/>
              <a:ext cx="5454120" cy="488823"/>
              <a:chOff x="3743325" y="3371850"/>
              <a:chExt cx="5454120" cy="48882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743325" y="35528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819525" y="359092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000500" y="337185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000625" y="337185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10570" y="34632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61457" y="3449955"/>
                <a:ext cx="36359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Tự đánh giá ưu, nhược điểm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743325" y="4371975"/>
              <a:ext cx="4039948" cy="488823"/>
              <a:chOff x="3743325" y="4371975"/>
              <a:chExt cx="4039948" cy="488823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3743325" y="45529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819525" y="459105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00500" y="437197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000625" y="437197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10570" y="446341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61457" y="4450080"/>
                <a:ext cx="22218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Mục tiêu sắp tới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0" y="65151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DE6E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4416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Các dự án tham gia và kết quả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53500" y="228600"/>
            <a:ext cx="2667000" cy="647700"/>
            <a:chOff x="8953500" y="228600"/>
            <a:chExt cx="2667000" cy="647700"/>
          </a:xfrm>
        </p:grpSpPr>
        <p:sp>
          <p:nvSpPr>
            <p:cNvPr id="4" name="Rectangle 4"/>
            <p:cNvSpPr/>
            <p:nvPr/>
          </p:nvSpPr>
          <p:spPr>
            <a:xfrm>
              <a:off x="8953500" y="228600"/>
              <a:ext cx="1200150" cy="647700"/>
            </a:xfrm>
            <a:prstGeom prst="roundRect">
              <a:avLst>
                <a:gd name="adj" fmla="val 17647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7976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83954" y="66770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267950" y="228600"/>
              <a:ext cx="1352550" cy="64770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7041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53497" y="667702"/>
              <a:ext cx="981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DONE · 89,5%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9130" y="1116806"/>
            <a:ext cx="10586085" cy="4415314"/>
            <a:chOff x="659130" y="1116806"/>
            <a:chExt cx="10586085" cy="4415314"/>
          </a:xfrm>
        </p:grpSpPr>
        <p:sp>
          <p:nvSpPr>
            <p:cNvPr id="11" name="Line 11"/>
            <p:cNvSpPr/>
            <p:nvPr/>
          </p:nvSpPr>
          <p:spPr>
            <a:xfrm>
              <a:off x="2857500" y="138112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rgbClr val="CBD8D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17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20/03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0160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2853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92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1915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22/07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9130" y="1695450"/>
              <a:ext cx="10580370" cy="460534"/>
              <a:chOff x="659130" y="1695450"/>
              <a:chExt cx="10580370" cy="46053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59130" y="1695450"/>
                <a:ext cx="3848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1035" y="1935956"/>
                <a:ext cx="12793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98 task · 91 Done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857500" y="1695450"/>
                <a:ext cx="83820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31100" y="1783556"/>
                <a:ext cx="9236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20/03–22/07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9130" y="2247900"/>
              <a:ext cx="4678128" cy="331470"/>
              <a:chOff x="659130" y="2247900"/>
              <a:chExt cx="4678128" cy="3314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9130" y="2286000"/>
                <a:ext cx="118898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MSB Office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57625" y="2247900"/>
                <a:ext cx="5524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71416" y="23250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07/04–10/04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9130" y="2838450"/>
              <a:ext cx="8392878" cy="331470"/>
              <a:chOff x="659130" y="2838450"/>
              <a:chExt cx="8392878" cy="33147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59130" y="2876550"/>
                <a:ext cx="8901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LumesV2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191250" y="2838450"/>
                <a:ext cx="1905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6166" y="29156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18/05–16/06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9130" y="3429000"/>
              <a:ext cx="7440378" cy="331470"/>
              <a:chOff x="659130" y="3429000"/>
              <a:chExt cx="7440378" cy="33147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59130" y="3467100"/>
                <a:ext cx="1151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Design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477000" y="3429000"/>
                <a:ext cx="6667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45A77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33666" y="35061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21/05–27/05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9130" y="4019550"/>
              <a:ext cx="8659578" cy="331470"/>
              <a:chOff x="659130" y="4019550"/>
              <a:chExt cx="8659578" cy="33147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59130" y="4057650"/>
                <a:ext cx="905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IoT Team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38950" y="40195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452866" y="40967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26/05–15/06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59130" y="4610100"/>
              <a:ext cx="10580370" cy="331470"/>
              <a:chOff x="659130" y="4610100"/>
              <a:chExt cx="10580370" cy="33147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59130" y="4648200"/>
                <a:ext cx="10258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Auto Test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810750" y="4610100"/>
                <a:ext cx="14287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39061" y="4687252"/>
                <a:ext cx="13817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06/07–25/07 dự kiến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9130" y="5200650"/>
              <a:ext cx="10580370" cy="331470"/>
              <a:chOff x="659130" y="5200650"/>
              <a:chExt cx="10580370" cy="33147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59130" y="523875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Smart Lighting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1049000" y="5200650"/>
                <a:ext cx="190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26892" y="5277802"/>
                <a:ext cx="13131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Từ 20/07 · Ongoing</a:t>
                </a:r>
              </a:p>
            </p:txBody>
          </p:sp>
        </p:grpSp>
      </p:grpSp>
      <p:sp>
        <p:nvSpPr>
          <p:cNvPr id="47" name="Rectangle 47"/>
          <p:cNvSpPr/>
          <p:nvPr/>
        </p:nvSpPr>
        <p:spPr>
          <a:xfrm>
            <a:off x="495300" y="5905500"/>
            <a:ext cx="111252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79323" y="6034564"/>
            <a:ext cx="8040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Trọng tâm: KNX xuyên suốt · Mở rộng năng lực sang automation, tool nhà máy và kiểm thử đa hệ.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5769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 Dự án KNX — Tổng quan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3400" y="1190625"/>
            <a:ext cx="4762500" cy="2286000"/>
            <a:chOff x="533400" y="1190625"/>
            <a:chExt cx="4762500" cy="2286000"/>
          </a:xfrm>
        </p:grpSpPr>
        <p:sp>
          <p:nvSpPr>
            <p:cNvPr id="6" name="Rectangle 6"/>
            <p:cNvSpPr/>
            <p:nvPr/>
          </p:nvSpPr>
          <p:spPr>
            <a:xfrm>
              <a:off x="533400" y="1190625"/>
              <a:ext cx="4762500" cy="2286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2673" y="1443514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PHẠM VI ĐÓNG GÓP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768" y="1793558"/>
              <a:ext cx="2157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bị &amp; firmware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768" y="2155508"/>
              <a:ext cx="323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Tool, Jig, loader &amp; benchmark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2517458"/>
              <a:ext cx="3378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Kiểm thử hệ thống &amp; KNX Secure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768" y="2879408"/>
              <a:ext cx="3134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trình, đào tạo &amp; tài liệu</a:t>
              </a:r>
            </a:p>
          </p:txBody>
        </p:sp>
      </p:grp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56" y="1143000"/>
            <a:ext cx="4167188" cy="238125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533400" y="3762375"/>
            <a:ext cx="11180047" cy="1047750"/>
            <a:chOff x="533400" y="3762375"/>
            <a:chExt cx="11180047" cy="1047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086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2011" y="4122896"/>
              <a:ext cx="827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KNX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3054" y="4461510"/>
              <a:ext cx="2330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86% tổng khối lượng kỳ review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1005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7751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9136" y="4122896"/>
              <a:ext cx="440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Done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9704" y="4461510"/>
              <a:ext cx="2497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Đầu ra đã xác nhận trong dữ liệu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86700" y="3762375"/>
              <a:ext cx="3771900" cy="1047750"/>
            </a:xfrm>
            <a:prstGeom prst="roundRect">
              <a:avLst>
                <a:gd name="adj" fmla="val 145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65211" y="4018121"/>
              <a:ext cx="1309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task còn lại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6354" y="4347210"/>
              <a:ext cx="3547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 Ongoing · 2 Late · 2 Not started · 1 Closed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6923" y="5196364"/>
            <a:ext cx="11131677" cy="899636"/>
            <a:chOff x="526923" y="5196364"/>
            <a:chExt cx="11131677" cy="899636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196364"/>
              <a:ext cx="1714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423" y="5710714"/>
              <a:ext cx="2198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Firmware đa dòng thiết bị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1005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94073" y="5710714"/>
              <a:ext cx="2643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Tool/Jig và benchmark hệ thống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86700" y="5486400"/>
              <a:ext cx="37719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70723" y="5710714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 &amp; đào tạo KNX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830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Công việc chính &amp;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33400" y="1066800"/>
            <a:ext cx="11125200" cy="1924050"/>
            <a:chOff x="533400" y="1066800"/>
            <a:chExt cx="11125200" cy="19240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066800"/>
              <a:ext cx="3469631" cy="1924050"/>
              <a:chOff x="533400" y="1066800"/>
              <a:chExt cx="3469631" cy="19240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1924050"/>
              </a:xfrm>
              <a:prstGeom prst="roundRect">
                <a:avLst>
                  <a:gd name="adj" fmla="val 792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33400" y="1066800"/>
                <a:ext cx="76200" cy="19240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93242" y="1283018"/>
                <a:ext cx="22315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THIẾT BỊ &amp; FIRMWARE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93623" y="1643539"/>
                <a:ext cx="201963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8176" indent="-138176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Công tắc 2/4 nút, Rèm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93623" y="1919764"/>
                <a:ext cx="240708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8176" indent="-138176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Actuator, KNOB, .knxprod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800100" y="24003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94385" y="2555081"/>
                <a:ext cx="6470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94104" y="2546985"/>
                <a:ext cx="24089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firmware &amp; kiểm thử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210050" y="1066800"/>
              <a:ext cx="3429000" cy="1924050"/>
              <a:chOff x="4210050" y="1066800"/>
              <a:chExt cx="3429000" cy="19240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210050" y="1066800"/>
                <a:ext cx="3429000" cy="1924050"/>
              </a:xfrm>
              <a:prstGeom prst="roundRect">
                <a:avLst>
                  <a:gd name="adj" fmla="val 792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4210050" y="1066800"/>
                <a:ext cx="76200" cy="19240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69892" y="1283018"/>
                <a:ext cx="18888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TOOL &amp; HỆ THỐNG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470273" y="1643539"/>
                <a:ext cx="210439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8176" indent="-138176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Jig, loader, benchmark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470273" y="1919764"/>
                <a:ext cx="22027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8176" indent="-138176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GA, Coupler, KNX Secure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4476750" y="24003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B8D8C7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471035" y="2555081"/>
                <a:ext cx="6470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270754" y="2546985"/>
                <a:ext cx="21017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hiện, đo và xác nhận lỗi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886700" y="1066800"/>
              <a:ext cx="3771900" cy="1924050"/>
              <a:chOff x="7886700" y="1066800"/>
              <a:chExt cx="3771900" cy="19240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886700" y="1066800"/>
                <a:ext cx="3771900" cy="1924050"/>
              </a:xfrm>
              <a:prstGeom prst="roundRect">
                <a:avLst>
                  <a:gd name="adj" fmla="val 792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7886700" y="1066800"/>
                <a:ext cx="76200" cy="19240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146542" y="1283018"/>
                <a:ext cx="20702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TÀI LIỆU &amp; ĐÀO TẠO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146923" y="1643539"/>
                <a:ext cx="19924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8176" indent="-138176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Giáo trình, ETS, Quiz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46923" y="1919764"/>
                <a:ext cx="265049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8176" indent="-138176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Q&amp;A, Topology, hỗ trợ Tester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8153400" y="240030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147685" y="2555081"/>
                <a:ext cx="6470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947404" y="2546985"/>
                <a:ext cx="18268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Tri thức có thể dùng lại</a:t>
                </a:r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527685" y="3212306"/>
            <a:ext cx="37966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12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BẰNG CHỨNG CÔNG VIỆC · TOOL BENCHMARK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533400" y="3505200"/>
            <a:ext cx="11125200" cy="2571750"/>
            <a:chOff x="533400" y="3505200"/>
            <a:chExt cx="11125200" cy="2571750"/>
          </a:xfrm>
        </p:grpSpPr>
        <p:grpSp>
          <p:nvGrpSpPr>
            <p:cNvPr id="42" name="Group 42"/>
            <p:cNvGrpSpPr/>
            <p:nvPr/>
          </p:nvGrpSpPr>
          <p:grpSpPr>
            <a:xfrm>
              <a:off x="533400" y="3505200"/>
              <a:ext cx="3429000" cy="2571750"/>
              <a:chOff x="533400" y="3505200"/>
              <a:chExt cx="3429000" cy="2571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33400" y="3505200"/>
                <a:ext cx="3429000" cy="2571750"/>
              </a:xfrm>
              <a:prstGeom prst="roundRect">
                <a:avLst>
                  <a:gd name="adj" fmla="val 5926"/>
                </a:avLst>
              </a:prstGeom>
              <a:solidFill>
                <a:schemeClr val="lt1"/>
              </a:solidFill>
              <a:ln w="19050">
                <a:solidFill>
                  <a:srgbClr val="B8D8C7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66750" y="3638550"/>
                <a:ext cx="3162300" cy="1581150"/>
              </a:xfrm>
              <a:prstGeom prst="roundRect">
                <a:avLst>
                  <a:gd name="adj" fmla="val 48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pic>
            <p:nvPicPr>
              <p:cNvPr id="37" name="Image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750" y="3669396"/>
                <a:ext cx="3162300" cy="1519459"/>
              </a:xfrm>
              <a:prstGeom prst="rect">
                <a:avLst/>
              </a:prstGeom>
            </p:spPr>
          </p:pic>
          <p:sp>
            <p:nvSpPr>
              <p:cNvPr id="38" name="Ellipse 38"/>
              <p:cNvSpPr/>
              <p:nvPr/>
            </p:nvSpPr>
            <p:spPr>
              <a:xfrm>
                <a:off x="685800" y="53911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85458" y="5471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98423" y="5367814"/>
                <a:ext cx="231666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Bảng điều khiển benchmark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99185" y="5641181"/>
                <a:ext cx="262491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Theo dõi thiết bị và trạng thái test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4210050" y="3505200"/>
              <a:ext cx="3429000" cy="2571750"/>
              <a:chOff x="4210050" y="3505200"/>
              <a:chExt cx="3429000" cy="25717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4210050" y="3505200"/>
                <a:ext cx="3429000" cy="2571750"/>
              </a:xfrm>
              <a:prstGeom prst="roundRect">
                <a:avLst>
                  <a:gd name="adj" fmla="val 5926"/>
                </a:avLst>
              </a:prstGeom>
              <a:solidFill>
                <a:schemeClr val="lt1"/>
              </a:solidFill>
              <a:ln w="19050">
                <a:solidFill>
                  <a:srgbClr val="B8D8C7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4343400" y="3638550"/>
                <a:ext cx="3162300" cy="1581150"/>
              </a:xfrm>
              <a:prstGeom prst="roundRect">
                <a:avLst>
                  <a:gd name="adj" fmla="val 48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pic>
            <p:nvPicPr>
              <p:cNvPr id="45" name="Image 4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3400" y="3678994"/>
                <a:ext cx="3162300" cy="1500262"/>
              </a:xfrm>
              <a:prstGeom prst="rect">
                <a:avLst/>
              </a:prstGeom>
            </p:spPr>
          </p:pic>
          <p:sp>
            <p:nvSpPr>
              <p:cNvPr id="46" name="Ellipse 46"/>
              <p:cNvSpPr/>
              <p:nvPr/>
            </p:nvSpPr>
            <p:spPr>
              <a:xfrm>
                <a:off x="4362450" y="53911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462108" y="5471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775073" y="5367814"/>
                <a:ext cx="122232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Tạo test case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775835" y="5641181"/>
                <a:ext cx="24893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Chuẩn hóa dữ liệu đầu vào kiểm thử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7886700" y="3505200"/>
              <a:ext cx="3771900" cy="2571750"/>
              <a:chOff x="7886700" y="3505200"/>
              <a:chExt cx="3771900" cy="257175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7886700" y="3505200"/>
                <a:ext cx="3771900" cy="2571750"/>
              </a:xfrm>
              <a:prstGeom prst="roundRect">
                <a:avLst>
                  <a:gd name="adj" fmla="val 5926"/>
                </a:avLst>
              </a:prstGeom>
              <a:solidFill>
                <a:schemeClr val="lt1"/>
              </a:solidFill>
              <a:ln w="19050">
                <a:solidFill>
                  <a:srgbClr val="B8D8C7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8020050" y="3638550"/>
                <a:ext cx="3505200" cy="1581150"/>
              </a:xfrm>
              <a:prstGeom prst="roundRect">
                <a:avLst>
                  <a:gd name="adj" fmla="val 48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pic>
            <p:nvPicPr>
              <p:cNvPr id="53" name="Image 5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87687" y="3638550"/>
                <a:ext cx="3369926" cy="1581150"/>
              </a:xfrm>
              <a:prstGeom prst="rect">
                <a:avLst/>
              </a:prstGeom>
            </p:spPr>
          </p:pic>
          <p:sp>
            <p:nvSpPr>
              <p:cNvPr id="54" name="Ellipse 54"/>
              <p:cNvSpPr/>
              <p:nvPr/>
            </p:nvSpPr>
            <p:spPr>
              <a:xfrm>
                <a:off x="8039100" y="53911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138758" y="5471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451723" y="5367814"/>
                <a:ext cx="137632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Báo cáo kết quả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452485" y="5641181"/>
                <a:ext cx="28662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Tổng hợp trạng thái và bằng chứng test</a:t>
                </a:r>
              </a:p>
            </p:txBody>
          </p:sp>
        </p:grpSp>
      </p:grpSp>
      <p:sp>
        <p:nvSpPr>
          <p:cNvPr id="60" name="TextBox 60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36237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Năng lực &amp; bài học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6896100" cy="4343400"/>
            <a:chOff x="533400" y="1066800"/>
            <a:chExt cx="6896100" cy="43434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333750" cy="2057400"/>
              <a:chOff x="533400" y="1066800"/>
              <a:chExt cx="3333750" cy="2057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4192" y="1292542"/>
                <a:ext cx="7395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573" y="1672114"/>
                <a:ext cx="22637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Firmware · ETS · .knxprod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573" y="1957864"/>
                <a:ext cx="17996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hệ thống và Jig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573" y="2243614"/>
                <a:ext cx="181098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 &amp; đào tạo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095750" y="1066800"/>
              <a:ext cx="3333750" cy="2057400"/>
              <a:chOff x="4095750" y="1066800"/>
              <a:chExt cx="3333750" cy="2057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09575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336542" y="1292542"/>
                <a:ext cx="6286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36923" y="1672114"/>
                <a:ext cx="28968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Nhìn end-to-end, không tách lỗi lẻ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36923" y="1957864"/>
                <a:ext cx="22245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bằng chứng đo được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36923" y="2243614"/>
                <a:ext cx="24655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Biến tri thức thành quy trình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352800"/>
              <a:ext cx="3333750" cy="2057400"/>
              <a:chOff x="533400" y="3352800"/>
              <a:chExt cx="3333750" cy="2057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4192" y="3578542"/>
                <a:ext cx="6891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573" y="3958114"/>
                <a:ext cx="18714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test từ sớm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74573" y="4243864"/>
                <a:ext cx="25001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benchmark, checklist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74573" y="4529614"/>
                <a:ext cx="24053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Handoff đủ context kỹ thuật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095750" y="3352800"/>
              <a:ext cx="3333750" cy="2057400"/>
              <a:chOff x="4095750" y="3352800"/>
              <a:chExt cx="3333750" cy="20574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09575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336542" y="3578542"/>
                <a:ext cx="20904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&amp; CÁCH XỬ LÝ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336923" y="3958114"/>
                <a:ext cx="27611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 · Secure · Coupler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36923" y="4243864"/>
                <a:ext cx="195793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hiện → đo → đối chiếu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36923" y="4529614"/>
                <a:ext cx="261214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lại trên cấu hình thật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658100" y="1066800"/>
            <a:ext cx="4000500" cy="4343400"/>
            <a:chOff x="7658100" y="1066800"/>
            <a:chExt cx="4000500" cy="4343400"/>
          </a:xfrm>
        </p:grpSpPr>
        <p:sp>
          <p:nvSpPr>
            <p:cNvPr id="31" name="Rectangle 31"/>
            <p:cNvSpPr/>
            <p:nvPr/>
          </p:nvSpPr>
          <p:spPr>
            <a:xfrm>
              <a:off x="7658100" y="1066800"/>
              <a:ext cx="4000500" cy="2571750"/>
            </a:xfrm>
            <a:prstGeom prst="roundRect">
              <a:avLst>
                <a:gd name="adj" fmla="val 5926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0985" y="1269206"/>
              <a:ext cx="1778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8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86700" y="1543050"/>
              <a:ext cx="3543300" cy="1695450"/>
            </a:xfrm>
            <a:prstGeom prst="roundRect">
              <a:avLst>
                <a:gd name="adj" fmla="val 4494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8778" y="1543050"/>
              <a:ext cx="3219144" cy="169545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880604" y="3347085"/>
              <a:ext cx="3114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nạp code KNX · giao diện vận hành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58100" y="3867150"/>
              <a:ext cx="4000500" cy="1543050"/>
            </a:xfrm>
            <a:prstGeom prst="roundRect">
              <a:avLst>
                <a:gd name="adj" fmla="val 98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80985" y="4060031"/>
              <a:ext cx="1717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8412" y="43834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22411" y="4541996"/>
              <a:ext cx="964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Done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24316" y="4858702"/>
              <a:ext cx="1436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DDF3E8"/>
                  </a:solidFill>
                  <a:latin typeface="+mn-lt"/>
                  <a:ea typeface="+mn-ea"/>
                  <a:cs typeface="+mn-cs"/>
                </a:rPr>
                <a:t>Tool · test · đào tạo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001250" y="4171950"/>
              <a:ext cx="1428750" cy="9144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01250" y="4171950"/>
              <a:ext cx="1428750" cy="914400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9995916" y="5153978"/>
              <a:ext cx="1394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KNX Basic · 91 điểm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47216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 Dự án Auto Test</a:t>
            </a:r>
          </a:p>
        </p:txBody>
      </p:sp>
      <p:sp>
        <p:nvSpPr>
          <p:cNvPr id="4" name="Rectangle 4"/>
          <p:cNvSpPr/>
          <p:nvPr/>
        </p:nvSpPr>
        <p:spPr>
          <a:xfrm>
            <a:off x="8858250" y="285750"/>
            <a:ext cx="2762250" cy="40005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18368" y="405289"/>
            <a:ext cx="24420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06/07–25/07/2026 · Dự kiến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9647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cảm biến màu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6417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API &amp; luồng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31365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Controller, servo và sensor module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6833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4/5 task Done trong kỳ review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4189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tài liệu API/flow ban đầu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5828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đúng kế hoạch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2186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flow automation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30366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sensor/servo/controller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180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API và test scenario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18460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Modular và API-first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548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phần cứng khỏi test logic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3374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để mở rộng về sau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8372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Khó đồng bộ cơ khí–sensor–code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045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chốt interface trước tích hợp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5734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sớm từng module độc lập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4/5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13638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6672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Đặt nền kiến trúc cho Auto Test</a:t>
                </a:r>
              </a:p>
            </p:txBody>
          </p:sp>
          <p:pic>
            <p:nvPicPr>
              <p:cNvPr id="41" name="Image 41"/>
              <p:cNvPicPr>
                <a:picLocks noChangeAspect="1"/>
              </p:cNvPicPr>
              <p:nvPr/>
            </p:nvPicPr>
            <p:blipFill>
              <a:blip r:embed="rId3"/>
              <a:srcRect l="0" t="14819" r="0" b="14819"/>
              <a:stretch>
                <a:fillRect/>
              </a:stretch>
            </p:blipFill>
            <p:spPr>
              <a:xfrm>
                <a:off x="10382250" y="4143375"/>
                <a:ext cx="1000125" cy="1190625"/>
              </a:xfrm>
              <a:prstGeom prst="rect">
                <a:avLst/>
              </a:prstGeom>
            </p:spPr>
          </p:pic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07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6970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3. Dự án Tool Design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5334000" cy="4191000"/>
            <a:chOff x="533400" y="1066800"/>
            <a:chExt cx="5334000" cy="4191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2571750" cy="2000250"/>
              <a:chOff x="533400" y="1066800"/>
              <a:chExt cx="2571750" cy="2000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55523" y="1291114"/>
                <a:ext cx="144673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5904" y="1661160"/>
                <a:ext cx="18702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Chỉnh sửa tool nguồn DC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55904" y="1927860"/>
                <a:ext cx="18835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Điều chỉnh flow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55904" y="2194560"/>
                <a:ext cx="13182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Rà soát vận hành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295650" y="1066800"/>
              <a:ext cx="2571750" cy="2000250"/>
              <a:chOff x="3295650" y="1066800"/>
              <a:chExt cx="2571750" cy="2000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29565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517773" y="1291114"/>
                <a:ext cx="7394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18154" y="1661160"/>
                <a:ext cx="91510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18154" y="1927860"/>
                <a:ext cx="20375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tất 2 vòng chỉnh sửa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518154" y="2194560"/>
                <a:ext cx="15872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chưa khởi tạo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257550"/>
              <a:ext cx="2571750" cy="2000250"/>
              <a:chOff x="533400" y="3257550"/>
              <a:chExt cx="2571750" cy="2000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55523" y="3481864"/>
                <a:ext cx="150408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KỸ NĂNG &amp; 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5904" y="3851910"/>
                <a:ext cx="19481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tool phần cứng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5904" y="4118610"/>
                <a:ext cx="19082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ổn định, bảo trì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5904" y="4385310"/>
                <a:ext cx="19076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người dùng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295650" y="3257550"/>
              <a:ext cx="2571750" cy="2000250"/>
              <a:chOff x="3295650" y="3257550"/>
              <a:chExt cx="2571750" cy="2000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29565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517773" y="3481864"/>
                <a:ext cx="16665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18154" y="3851910"/>
                <a:ext cx="1996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thực địa thay đổi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18154" y="4118610"/>
                <a:ext cx="15688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Task mở thiếu mô tả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18154" y="4385310"/>
                <a:ext cx="23355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checklist acceptance sớm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153150" y="1066800"/>
            <a:ext cx="5505450" cy="4343400"/>
            <a:chOff x="6153150" y="1066800"/>
            <a:chExt cx="5505450" cy="4343400"/>
          </a:xfrm>
        </p:grpSpPr>
        <p:sp>
          <p:nvSpPr>
            <p:cNvPr id="31" name="Rectangle 31"/>
            <p:cNvSpPr/>
            <p:nvPr/>
          </p:nvSpPr>
          <p:spPr>
            <a:xfrm>
              <a:off x="6153150" y="1066800"/>
              <a:ext cx="5505450" cy="4343400"/>
            </a:xfrm>
            <a:prstGeom prst="roundRect">
              <a:avLst>
                <a:gd name="adj" fmla="val 3947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95085" y="1307306"/>
              <a:ext cx="3439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05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 · TOOL NẠP CODE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00800" y="1600200"/>
              <a:ext cx="5010150" cy="2590800"/>
            </a:xfrm>
            <a:prstGeom prst="roundRect">
              <a:avLst>
                <a:gd name="adj" fmla="val 3676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1600200"/>
              <a:ext cx="5010150" cy="2590800"/>
            </a:xfrm>
            <a:prstGeom prst="rect">
              <a:avLst/>
            </a:prstGeom>
          </p:spPr>
        </p:pic>
        <p:sp>
          <p:nvSpPr>
            <p:cNvPr id="35" name="Line 35"/>
            <p:cNvSpPr/>
            <p:nvPr/>
          </p:nvSpPr>
          <p:spPr>
            <a:xfrm>
              <a:off x="6400800" y="44196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9525">
              <a:solidFill>
                <a:srgbClr val="D7E4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94323" y="4596289"/>
              <a:ext cx="4632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Giao diện vận hành được điều chỉnh theo flow nhà máy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00800" y="4914900"/>
              <a:ext cx="18669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38529" y="5012531"/>
              <a:ext cx="1391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VÒNG HOÀN TẤT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71535" y="5012531"/>
              <a:ext cx="2753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Ưu tiên ổn định · dễ dùng · dễ bảo trì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08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2165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 Dự án IoT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26/05–15/06/2026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4518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Phát triển code loader Luto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2497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Họp định hướng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7368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interface giữa các team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1520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loader cho Luto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4494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hướng Auto Test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5916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Loader và quy trình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3279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Làm rõ interface kỹ thuật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15825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liên team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6551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sử dụng tool và pattern cũ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8367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contract trước code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19283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kèm ngữ cảnh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Đồng bộ ưu tiên giữa nhiều team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Interface mơ hồ tạo vòng lặp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200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decision log ngắn gọn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1784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Loader Luto được bàn giao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09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22949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5. Dự án LumesV2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18/05–16/06/2026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3826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test nguồn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3805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nạp code mạch main V2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4099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theo flow nhà máy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tool cho hai công đoạn chính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3826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Sẵn sàng tích hợp vào flow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0373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nguồn và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2806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với mạch main V2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4916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thao tác vận hành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191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rõ test và nạp code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0916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công đoạn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8823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Giảm thao tác thừa của operator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118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Tương thích mạch cần xác nhận sớm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8188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Flow nhà máy cần rõ acceptance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546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fixture trước khi rollout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7605" t="0" r="7605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10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7710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6. Dự án MSB Office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07/04–10/04/2026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0640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Fix lỗi đo sai năng lượng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1344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Jig tại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dữ liệu đo thực tế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0099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đo sai đã được xử lý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029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Done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30915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cần đóng trạng thái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lường và hiệu chuẩn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9522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Jig tại thực địa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095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sai lệch dữ liệu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09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Dựa trên dữ liệu thay vì phỏng đoán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2918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chuẩn–đo–sai lệch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tại môi trường thật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018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thực địa khó tái hiện trong lab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456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Hiệu chuẩn phải có chuẩn tham chiếu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700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đóng trạng thái sau hỗ trợ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17388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FIX LỖI ĐO SAI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59618"/>
                <a:ext cx="21071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Năng lượng trên Jig MSB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23047" t="0" r="23047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4024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7. Dự án Smart Lighting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37908" y="405289"/>
            <a:ext cx="21839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B56A00"/>
                </a:solidFill>
                <a:latin typeface="+mn-lt"/>
                <a:ea typeface="+mn-ea"/>
                <a:cs typeface="+mn-cs"/>
              </a:rPr>
              <a:t>Từ 20/07/2026 · Ongoing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809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DEV tool test Driver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11612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Deep Dimming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1045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CCT Tunable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165809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 HIỆN TẠI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182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Đã xác định phạm vi test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9917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Đang xây dựng nền tool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88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Chưa có mốc kết thúc chính thức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test theo dải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5834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dimming và CCT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Xây tool có khả năng lặp lại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32230" cy="2143125"/>
              <a:chOff x="533400" y="3457575"/>
              <a:chExt cx="343223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91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toàn dải, không chỉ điểm chuẩn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642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dữ liệu đo có cấu trúc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tiêu chí pass/fail rõ ràng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3553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Dữ liệu đầu vào còn hạn chế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550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thống nhất chuẩn đo và dải test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824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prototype đo được sớm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550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BAN ĐẦU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2585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DỰNG NỀN TOOL TEST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69142"/>
                <a:ext cx="27663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Cho Deep Dimming &amp; CCT Tunable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8134350" y="50482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13141" y="5117306"/>
                <a:ext cx="11664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ĐANG TRIỂN KHAI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8558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Sử dụng AI trong công việc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125200" cy="3143250"/>
            <a:chOff x="533400" y="1285875"/>
            <a:chExt cx="11125200" cy="3143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143250"/>
              <a:chOff x="533400" y="1285875"/>
              <a:chExt cx="3429000" cy="31432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429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05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0387" y="2137886"/>
                <a:ext cx="163590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CODE &amp; DEBUG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911" y="2608421"/>
                <a:ext cx="17985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Gợi ý hướng xử lý lỗi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2932271"/>
                <a:ext cx="209509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Sinh test case ban đầu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3256121"/>
                <a:ext cx="190311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API và flow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3054" y="3870960"/>
                <a:ext cx="21662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Rút ngắn thời gian khám phá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143250"/>
              <a:chOff x="4381500" y="1285875"/>
              <a:chExt cx="3429000" cy="3143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45910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7086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8487" y="2137886"/>
                <a:ext cx="9551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TÀI LIỆU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0011" y="2608421"/>
                <a:ext cx="22879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Tóm tắt tài liệu KNX/ETS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60011" y="2932271"/>
                <a:ext cx="262564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Q&amp;A và giáo trình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60011" y="3256121"/>
                <a:ext cx="23730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Soạn API/flow dễ bàn giao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61154" y="3870960"/>
                <a:ext cx="21743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Tăng tốc chuẩn hóa tri thức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429000" cy="3143250"/>
              <a:chOff x="8229600" y="1285875"/>
              <a:chExt cx="3429000" cy="3143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439150" y="1495425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567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6587" y="2137886"/>
                <a:ext cx="12248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HỌC NHANH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8111" y="2608421"/>
                <a:ext cx="21334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công nghệ mới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8111" y="2932271"/>
                <a:ext cx="26302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phương án triển khai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08111" y="3256121"/>
                <a:ext cx="23628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bị câu hỏi kỹ thuật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09254" y="3870960"/>
                <a:ext cx="2755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Giảm thời gian tiếp cận lĩnh vực mới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857750"/>
            <a:ext cx="11519878" cy="1143000"/>
            <a:chOff x="533400" y="4857750"/>
            <a:chExt cx="11519878" cy="1143000"/>
          </a:xfrm>
        </p:grpSpPr>
        <p:sp>
          <p:nvSpPr>
            <p:cNvPr id="32" name="Rectangle 32"/>
            <p:cNvSpPr/>
            <p:nvPr/>
          </p:nvSpPr>
          <p:spPr>
            <a:xfrm>
              <a:off x="533400" y="4857750"/>
              <a:ext cx="11125200" cy="1143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673" y="5110639"/>
              <a:ext cx="2068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NGUYÊN TẮC KIỂM CHỨNG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006" y="5463540"/>
              <a:ext cx="11243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hỗ trợ tăng tốc; kết luận kỹ thuật vẫn phải được đo, test và xác nhận trên hệ thống thực tế.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90721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Tự đánh giá ưu, nhược điểm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33400" y="1190625"/>
            <a:ext cx="11125200" cy="4095750"/>
            <a:chOff x="533400" y="1190625"/>
            <a:chExt cx="11125200" cy="40957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190625"/>
              <a:ext cx="5286375" cy="4095750"/>
              <a:chOff x="533400" y="1190625"/>
              <a:chExt cx="5286375" cy="4095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71525" y="14382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04875" y="1581150"/>
                <a:ext cx="2190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71450">
                    <a:moveTo>
                      <a:pt x="0" y="95250"/>
                    </a:moveTo>
                    <a:lnTo>
                      <a:pt x="76200" y="171450"/>
                    </a:lnTo>
                    <a:lnTo>
                      <a:pt x="219075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418844" y="1542098"/>
                <a:ext cx="105370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ƯU ĐIỂM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2171700"/>
                <a:ext cx="4536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Năng lực end-to-end: firmware → tool → test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2571750"/>
                <a:ext cx="38898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Chủ động học nhanh và xử lý vấn đề mới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530" y="2971800"/>
                <a:ext cx="39505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tư duy hệ thống, ưu tiên bằng chứng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530" y="3371850"/>
                <a:ext cx="43033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liệu, đào tạo và phối hợp liên team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19150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03173" y="4558189"/>
                <a:ext cx="36388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Bằng chứng: 102 task Done / 7 nhóm dự án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372225" y="1190625"/>
              <a:ext cx="5286375" cy="4095750"/>
              <a:chOff x="6372225" y="1190625"/>
              <a:chExt cx="5286375" cy="4095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372225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610350" y="1438275"/>
                <a:ext cx="476250" cy="47625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801166" y="1558290"/>
                <a:ext cx="946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57669" y="1542098"/>
                <a:ext cx="181091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CẦN CẢI THIỆN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50355" y="2171700"/>
                <a:ext cx="4293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Dễ phân tán khi nhiều luồng chạy song song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50355" y="2571750"/>
                <a:ext cx="40711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Ước lượng và ưu tiên chưa luôn nhất quán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50355" y="2971800"/>
                <a:ext cx="4661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Một số task Late/Not started chưa được đóng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50355" y="3371850"/>
                <a:ext cx="44550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cập nhật trạng thái sau hỗ trợ thực địa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657975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41998" y="4558189"/>
                <a:ext cx="42801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Hành động: weekly planning + acceptance rõ ràng</a:t>
                </a:r>
              </a:p>
            </p:txBody>
          </p:sp>
        </p:grpSp>
      </p:grpSp>
      <p:sp>
        <p:nvSpPr>
          <p:cNvPr id="27" name="Rectangle 27"/>
          <p:cNvSpPr/>
          <p:nvPr/>
        </p:nvSpPr>
        <p:spPr>
          <a:xfrm>
            <a:off x="533400" y="5619750"/>
            <a:ext cx="11125200" cy="476250"/>
          </a:xfrm>
          <a:prstGeom prst="roundRect">
            <a:avLst>
              <a:gd name="adj" fmla="val 24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54648" y="5770721"/>
            <a:ext cx="90827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Tư duy cần duy trì: chủ động, đo được, tài liệu hóa — nhưng tập trung hơn vào ưu tiên và hoàn tất.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5755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Bài học &amp; khó khăn xuyên dự án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33400" y="1143000"/>
            <a:ext cx="11125200" cy="4572000"/>
            <a:chOff x="533400" y="1143000"/>
            <a:chExt cx="1112520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143000"/>
              <a:ext cx="11125200" cy="1000125"/>
              <a:chOff x="533400" y="1143000"/>
              <a:chExt cx="11125200" cy="1000125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4300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74573" y="136731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73430" y="1695450"/>
                <a:ext cx="35154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Hệ thống nhiều thiết bị và phiên bản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5191125" y="163830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57900" y="155257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429375" y="114300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670548" y="136731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69405" y="1695450"/>
                <a:ext cx="47976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interface, phiên bản và checklist test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2333625"/>
              <a:ext cx="11125200" cy="1000125"/>
              <a:chOff x="533400" y="2333625"/>
              <a:chExt cx="11125200" cy="10001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33362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74573" y="255793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3430" y="2886075"/>
                <a:ext cx="21823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khó tái hiện tại lab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191125" y="282892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57900" y="274320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429375" y="233362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670548" y="255793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69405" y="2886075"/>
                <a:ext cx="465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 và mẫu đo chuẩn từ thực địa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3524250"/>
              <a:ext cx="11125200" cy="1000125"/>
              <a:chOff x="533400" y="3524250"/>
              <a:chExt cx="11125200" cy="1000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52425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74573" y="374856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3430" y="4076700"/>
                <a:ext cx="24253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nhà máy thay đổi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191125" y="401955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57900" y="39338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29375" y="352425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70548" y="374856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69405" y="4076700"/>
                <a:ext cx="49489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Chốt acceptance và kiểm thử fixture trước rollout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33400" y="4714875"/>
              <a:ext cx="11125200" cy="1000125"/>
              <a:chOff x="533400" y="4714875"/>
              <a:chExt cx="11125200" cy="1000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71487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4573" y="493918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3430" y="5267325"/>
                <a:ext cx="29400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nhiều team và ưu tiên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191125" y="521017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57900" y="512445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429375" y="471487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70548" y="493918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69405" y="5267325"/>
                <a:ext cx="44444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Decision log, owner rõ và handoff đủ context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9980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Mục tiêu sắp tới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313372" cy="3429000"/>
            <a:chOff x="533400" y="1285875"/>
            <a:chExt cx="11313372" cy="3429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429000"/>
              <a:chOff x="533400" y="1285875"/>
              <a:chExt cx="342900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12673" y="1624489"/>
                <a:ext cx="141805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NOW · 0–4 TUẦN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8482" y="2078355"/>
                <a:ext cx="276189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Hoàn tất triển khai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1530" y="2676525"/>
                <a:ext cx="27857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Auto Test: đóng task còn lại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3057525"/>
                <a:ext cx="30979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Smart Lighting: prototype tool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3438525"/>
                <a:ext cx="29373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Xác nhận mốc và tiêu chí Done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8191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84961" y="4212431"/>
                <a:ext cx="8876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ƯU TIÊN CAO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429000"/>
              <a:chOff x="4381500" y="1285875"/>
              <a:chExt cx="3429000" cy="3429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60773" y="1624489"/>
                <a:ext cx="155187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NEXT · 1–2 THÁNG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56582" y="2078355"/>
                <a:ext cx="28363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Đóng vòng công việc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9630" y="2676525"/>
                <a:ext cx="22778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Xử lý Late/Not started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59630" y="3057525"/>
                <a:ext cx="23855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Cập nhật trạng thái MSB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59630" y="3438525"/>
                <a:ext cx="2868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Weekly planning và review tải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672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49856" y="4212431"/>
                <a:ext cx="125403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KỶ LUẬT THỰC THI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617172" cy="3429000"/>
              <a:chOff x="8229600" y="1285875"/>
              <a:chExt cx="3617172" cy="3429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508873" y="1624489"/>
                <a:ext cx="16570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SCALE · 2–3 THÁNG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04682" y="2078355"/>
                <a:ext cx="334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Chuẩn hóa &amp; tái sử dụng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7730" y="2676525"/>
                <a:ext cx="25562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Thư viện tool và test case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7730" y="3057525"/>
                <a:ext cx="25357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Template tài liệu/handoff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7730" y="3438525"/>
                <a:ext cx="24756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Đào tạo ngắn theo module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5153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717869" y="4212431"/>
                <a:ext cx="12142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TÀI SẢN DÙNG LẠI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26923" y="5291614"/>
            <a:ext cx="11131677" cy="766286"/>
            <a:chOff x="526923" y="5291614"/>
            <a:chExt cx="11131677" cy="766286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5291614"/>
              <a:ext cx="14371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CHỈ SỐ THEO DÕI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7107" y="5748814"/>
              <a:ext cx="1684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 đúng hạn ≥ 95%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3375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29121" y="574881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task thiếu owner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341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09771" y="57488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100% handoff có tài liệu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34450" y="5600700"/>
              <a:ext cx="27241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51859" y="5748814"/>
              <a:ext cx="2089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tài sản dùng lại / tháng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224534" y="3042285"/>
            <a:ext cx="1390802" cy="528066"/>
            <a:chOff x="1224534" y="3042285"/>
            <a:chExt cx="1390802" cy="528066"/>
          </a:xfrm>
        </p:grpSpPr>
        <p:sp>
          <p:nvSpPr>
            <p:cNvPr id="3" name="TextBox 3"/>
            <p:cNvSpPr txBox="1"/>
            <p:nvPr/>
          </p:nvSpPr>
          <p:spPr>
            <a:xfrm>
              <a:off x="1224534" y="3042285"/>
              <a:ext cx="1390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CẢM ƠN!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34000" y="476250"/>
            <a:ext cx="5715000" cy="5715000"/>
            <a:chOff x="5334000" y="476250"/>
            <a:chExt cx="5715000" cy="5715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0" y="476250"/>
              <a:ext cx="5715000" cy="5715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572250" y="1238250"/>
            <a:ext cx="3714750" cy="3597213"/>
            <a:chOff x="6572250" y="1238250"/>
            <a:chExt cx="3714750" cy="3597213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0" y="1736787"/>
              <a:ext cx="1619250" cy="3098676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10500" y="1238250"/>
              <a:ext cx="1619250" cy="3476625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0" y="1818409"/>
              <a:ext cx="1428750" cy="2840182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2026-07-24T13:19:12Z</dcterms:created>
  <dcterms:modified xsi:type="dcterms:W3CDTF">2026-07-24T13:19:12Z</dcterms:modified>
  <cp:category/>
  <cp:contentStatus/>
</cp:coreProperties>
</file>
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Xin chào anh chị, đây là phần review nhân sự của Nguyễn Văn Dương. Nội dung tập trung vào kết quả dự án, cách áp dụng AI, phần tự đánh giá và mục tiêu phát triển tiếp theo.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Buổi trao đổi gồm bốn phần theo đúng thứ tự trên trang. Trước hết là các dự án và kết quả, sau đó là việc sử dụng AI, tự đánh giá và cuối cùng là mục tiêu sắp tới.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Dự án đầu tiên là dự án Hội sở MSB. Mục tiêu là phát triển thiết bị từ công tắc cơ Lumes, đồng thời bổ sung đo năng lượng và thống kê thời gian chiếu sáng theo từng kênh.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Trong dự án MSB, các đầu việc chính gồm phát triển Tool Jig, kiểm tra các trường hợp lỗi, đo và hiệu chuẩn, cùng với hoàn thiện tài liệu hướng dẫn. Các công việc đã đáp ứng mục tiêu và tiến độ của dự án.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Dự án giúp củng cố kỹ năng Horenso, tư duy phản biện, viết báo cáo và sử dụng AI. Khó khăn về nhiễu ZCD và các trường hợp ngoại lệ cũng tạo thêm kinh nghiệm xử lý tình huống thực tế.</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Tiếp theo là dự án Lumes, tập trung vào Tool Jig test phiên bản hai. Phạm vi gồm chuyển đổi giữa hai sơ đồ mắc, kiểm tra relay và đo ZCD trong cấu hình nguồn hai dây.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Các công việc của dự án Lumes đã được hoàn thành đúng hạn. Tài liệu hướng dẫn và Tool Jig cũng đã được bàn giao để phục vụ sản xuất.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Điểm tích cực là chủ động báo cáo, đề xuất phương án và sử dụng AI trong phát triển cũng như viết tài liệu. Bài học quan trọng là cần làm rõ thông số test với cả phía hardware và firmware ngay từ đầu.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Dự án KNX hướng tới phát triển thiết bị riêng cho Lumi và tích hợp điều khiển qua ứng dụng Lumi Life. Đây là dự án đang tiếp tục triển khai với phạm vi phối hợp giữa nhiều nhóm.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Các đầu việc KNX bao phủ từ porting stack, phát triển firmware đến tạo file sản phẩm và cấu hình ETS. Ngoài ra còn có nhiệm vụ hỗ trợ App và Tester trong quá trình cấu hình và kiểm thử thiết bị.</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Đến nay, KNX Stack đã được port sang nền tảng Nordic và firmware cho một số thiết bị đã hoàn thành. Các file cấu hình, tài liệu hướng dẫn và hoạt động training cũng đã được bàn giao cho các nhóm liên quan.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Dự án KNX cho thấy khả năng phối hợp và ứng dụng AI tốt. Tuy nhiên, cần cải thiện việc bám deadline, kiến thức sản phẩm, kiểm soát code do AI hỗ trợ và kế hoạch công việc theo tuần.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AI đang hỗ trợ trực tiếp cho việc viết và debug code, đọc tài liệu, giảm rào cản ngoại ngữ và tăng tốc học tập. Mục tiêu là dùng AI như công cụ hỗ trợ nhưng vẫn duy trì khả năng kiểm soát kết quả.</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Trong thực tế, AI được dùng để review kiến trúc, đọc datasheet, lên kế hoạch và xử lý dữ liệu bằng các ngôn ngữ mới. AI cũng hỗ trợ viết hướng dẫn sử dụng, tài liệu quy trình và báo cáo.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Điểm mạnh hiện tại là khả năng học nhanh, tư duy hệ thống, làm việc với giao thức và phối hợp giữa các nhóm. Các điểm cần cải thiện là kinh nghiệm thực tế, kiểm soát source code do AI tạo, bám deadline và kiến thức chung về thiết bị.</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Trong ngắn hạn, ưu tiên là hoàn thành các đầu việc KNX, xử lý bug, review code hằng ngày và cải thiện việc lập kế hoạch. Về dài hạn, mục tiêu là nâng cao tư duy hệ thống, kỹ năng AI, chất lượng kiến trúc và kiến thức chuyên sâu về MCU.</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Phần trình bày đến đây là kết thúc. Cảm ơn anh chị đã theo dõi và mong nhận được góp ý để thống nhất các mục tiêu phát triển trong giai đoạn tiếp theo.</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review_nhan_su_alignmen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review_nhan_su_alignmen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b7dad2eee78ee9d.png"/>
  <Relationship Id="rId3" Type="http://schemas.openxmlformats.org/officeDocument/2006/relationships/image" Target="../media/image_b3ef018bf0b10f2b.pn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10fcf8f9f909b91.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deea19358d7d9df9.jp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9f31c49d5ae33b66.jp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4b9114ead751e97d.jp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bc82a45d35f49412.jp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6519313ef59a5f53.pn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3db7369d2c1e7d49.jp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2977a4dbbd3092f6.jp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b7dad2eee78ee9d.png"/>
  <Relationship Id="rId3" Type="http://schemas.openxmlformats.org/officeDocument/2006/relationships/image" Target="../media/image_b3ef018bf0b10f2b.png"/>
  <Relationship Id="rId4" Type="http://schemas.openxmlformats.org/officeDocument/2006/relationships/image" Target="../media/image_cd22578ee1f97165.png"/>
  <Relationship Id="rId5" Type="http://schemas.openxmlformats.org/officeDocument/2006/relationships/image" Target="../media/image_5a1205fbd766d78e.png"/>
  <Relationship Id="rId6" Type="http://schemas.openxmlformats.org/officeDocument/2006/relationships/image" Target="../media/image_3f64fe1646839cff.png"/>
  <Relationship Id="rId7"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00050" y="323850"/>
            <a:ext cx="1562100" cy="457200"/>
          </a:xfrm>
          <a:prstGeom prst="rect">
            <a:avLst/>
          </a:prstGeom>
        </p:spPr>
      </p:pic>
      <p:grpSp>
        <p:nvGrpSpPr>
          <p:cNvPr id="5" name="Group 5"/>
          <p:cNvGrpSpPr/>
          <p:nvPr/>
        </p:nvGrpSpPr>
        <p:grpSpPr>
          <a:xfrm>
            <a:off x="386334" y="2708910"/>
            <a:ext cx="2797193" cy="946785"/>
            <a:chOff x="386334" y="2708910"/>
            <a:chExt cx="2797193" cy="946785"/>
          </a:xfrm>
        </p:grpSpPr>
        <p:sp>
          <p:nvSpPr>
            <p:cNvPr id="3" name="TextBox 3"/>
            <p:cNvSpPr txBox="1"/>
            <p:nvPr/>
          </p:nvSpPr>
          <p:spPr>
            <a:xfrm>
              <a:off x="386334" y="2708910"/>
              <a:ext cx="2773375" cy="528066"/>
            </a:xfrm>
            <a:prstGeom prst="rect">
              <a:avLst/>
            </a:prstGeom>
            <a:noFill/>
            <a:ln>
              <a:noFill/>
            </a:ln>
          </p:spPr>
          <p:txBody>
            <a:bodyPr wrap="none" lIns="0" tIns="0" rIns="0" bIns="0" anchor="t" anchorCtr="0">
              <a:spAutoFit/>
            </a:bodyPr>
            <a:lstStyle/>
            <a:p>
              <a:pPr algn="l"/>
              <a:r>
                <a:rPr lang="en-US" sz="2700" dirty="0">
                  <a:solidFill>
                    <a:srgbClr val="FFFFFF"/>
                  </a:solidFill>
                  <a:latin typeface="+mn-lt"/>
                  <a:ea typeface="+mn-ea"/>
                  <a:cs typeface="+mn-cs"/>
                </a:rPr>
                <a:t>REVIEW NHÂN SỰ</a:t>
              </a:r>
            </a:p>
          </p:txBody>
        </p:sp>
        <p:sp>
          <p:nvSpPr>
            <p:cNvPr id="4" name="TextBox 4"/>
            <p:cNvSpPr txBox="1"/>
            <p:nvPr/>
          </p:nvSpPr>
          <p:spPr>
            <a:xfrm>
              <a:off x="392430" y="3362325"/>
              <a:ext cx="2791097"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mn-lt"/>
                  <a:ea typeface="+mn-ea"/>
                  <a:cs typeface="+mn-cs"/>
                </a:rPr>
                <a:t>Họ và tên: Nguyễn Văn Dương</a:t>
              </a:r>
            </a:p>
          </p:txBody>
        </p:sp>
      </p:grpSp>
      <p:grpSp>
        <p:nvGrpSpPr>
          <p:cNvPr id="7" name="Group 7"/>
          <p:cNvGrpSpPr/>
          <p:nvPr/>
        </p:nvGrpSpPr>
        <p:grpSpPr>
          <a:xfrm>
            <a:off x="6286500" y="419100"/>
            <a:ext cx="5143500" cy="5143500"/>
            <a:chOff x="6286500" y="419100"/>
            <a:chExt cx="5143500" cy="5143500"/>
          </a:xfrm>
        </p:grpSpPr>
        <p:pic>
          <p:nvPicPr>
            <p:cNvPr id="6" name="Image 6"/>
            <p:cNvPicPr>
              <a:picLocks noChangeAspect="1"/>
            </p:cNvPicPr>
            <p:nvPr/>
          </p:nvPicPr>
          <p:blipFill>
            <a:blip r:embed="rId3"/>
            <a:stretch>
              <a:fillRect/>
            </a:stretch>
          </p:blipFill>
          <p:spPr>
            <a:xfrm>
              <a:off x="6286500" y="419100"/>
              <a:ext cx="5143500" cy="5143500"/>
            </a:xfrm>
            <a:prstGeom prst="rect">
              <a:avLst/>
            </a:prstGeom>
          </p:spPr>
        </p:pic>
      </p:grpSp>
      <p:sp>
        <p:nvSpPr>
          <p:cNvPr id="8" name="TextBox 8"/>
          <p:cNvSpPr txBox="1"/>
          <p:nvPr/>
        </p:nvSpPr>
        <p:spPr>
          <a:xfrm>
            <a:off x="393954" y="6290310"/>
            <a:ext cx="103799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www.lumi.vn</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00050" y="274844"/>
            <a:ext cx="1257300" cy="364713"/>
          </a:xfrm>
          <a:prstGeom prst="rect">
            <a:avLst/>
          </a:prstGeom>
        </p:spPr>
      </p:pic>
      <p:grpSp>
        <p:nvGrpSpPr>
          <p:cNvPr id="4" name="Group 4"/>
          <p:cNvGrpSpPr/>
          <p:nvPr/>
        </p:nvGrpSpPr>
        <p:grpSpPr>
          <a:xfrm>
            <a:off x="732324" y="781050"/>
            <a:ext cx="2726351" cy="5429250"/>
            <a:chOff x="732324" y="781050"/>
            <a:chExt cx="2726351" cy="5429250"/>
          </a:xfrm>
        </p:grpSpPr>
        <p:pic>
          <p:nvPicPr>
            <p:cNvPr id="3" name="Image 3"/>
            <p:cNvPicPr>
              <a:picLocks noChangeAspect="1"/>
            </p:cNvPicPr>
            <p:nvPr/>
          </p:nvPicPr>
          <p:blipFill>
            <a:blip r:embed="rId3"/>
            <a:stretch>
              <a:fillRect/>
            </a:stretch>
          </p:blipFill>
          <p:spPr>
            <a:xfrm>
              <a:off x="732324" y="781050"/>
              <a:ext cx="2726351" cy="5429250"/>
            </a:xfrm>
            <a:prstGeom prst="rect">
              <a:avLst/>
            </a:prstGeom>
          </p:spPr>
        </p:pic>
      </p:grpSp>
      <p:grpSp>
        <p:nvGrpSpPr>
          <p:cNvPr id="6" name="Group 6"/>
          <p:cNvGrpSpPr/>
          <p:nvPr/>
        </p:nvGrpSpPr>
        <p:grpSpPr>
          <a:xfrm>
            <a:off x="1473236" y="3030855"/>
            <a:ext cx="1244529" cy="410718"/>
            <a:chOff x="1473236" y="3030855"/>
            <a:chExt cx="1244529" cy="410718"/>
          </a:xfrm>
        </p:grpSpPr>
        <p:sp>
          <p:nvSpPr>
            <p:cNvPr id="5" name="TextBox 5"/>
            <p:cNvSpPr txBox="1"/>
            <p:nvPr/>
          </p:nvSpPr>
          <p:spPr>
            <a:xfrm>
              <a:off x="1473236" y="3030855"/>
              <a:ext cx="1244529"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NỘI DUNG</a:t>
              </a:r>
            </a:p>
          </p:txBody>
        </p:sp>
      </p:grpSp>
      <p:grpSp>
        <p:nvGrpSpPr>
          <p:cNvPr id="20" name="Group 20"/>
          <p:cNvGrpSpPr/>
          <p:nvPr/>
        </p:nvGrpSpPr>
        <p:grpSpPr>
          <a:xfrm>
            <a:off x="4019550" y="1428750"/>
            <a:ext cx="4186731" cy="3714750"/>
            <a:chOff x="4019550" y="1428750"/>
            <a:chExt cx="4186731" cy="3714750"/>
          </a:xfrm>
        </p:grpSpPr>
        <p:sp>
          <p:nvSpPr>
            <p:cNvPr id="7" name="Line 7"/>
            <p:cNvSpPr/>
            <p:nvPr/>
          </p:nvSpPr>
          <p:spPr>
            <a:xfrm>
              <a:off x="4095750" y="1428750"/>
              <a:ext cx="9525" cy="3714750"/>
            </a:xfrm>
            <a:custGeom>
              <a:avLst/>
              <a:gdLst/>
              <a:ahLst/>
              <a:cxnLst/>
              <a:rect l="l" t="t" r="r" b="b"/>
              <a:pathLst>
                <a:path w="9525" h="3714750">
                  <a:moveTo>
                    <a:pt x="0" y="0"/>
                  </a:moveTo>
                  <a:lnTo>
                    <a:pt x="0" y="3714750"/>
                  </a:lnTo>
                </a:path>
              </a:pathLst>
            </a:custGeom>
            <a:noFill/>
            <a:ln w="19050">
              <a:solidFill>
                <a:schemeClr val="accent3"/>
              </a:solidFill>
            </a:ln>
          </p:spPr>
        </p:sp>
        <p:sp>
          <p:nvSpPr>
            <p:cNvPr id="8" name="Ellipse 8"/>
            <p:cNvSpPr/>
            <p:nvPr/>
          </p:nvSpPr>
          <p:spPr>
            <a:xfrm>
              <a:off x="4019550" y="1504950"/>
              <a:ext cx="152400" cy="152400"/>
            </a:xfrm>
            <a:prstGeom prst="ellipse">
              <a:avLst/>
            </a:prstGeom>
            <a:solidFill>
              <a:schemeClr val="accent1"/>
            </a:solidFill>
            <a:ln>
              <a:noFill/>
            </a:ln>
          </p:spPr>
        </p:sp>
        <p:sp>
          <p:nvSpPr>
            <p:cNvPr id="9" name="TextBox 9"/>
            <p:cNvSpPr txBox="1"/>
            <p:nvPr/>
          </p:nvSpPr>
          <p:spPr>
            <a:xfrm>
              <a:off x="4447032" y="1430655"/>
              <a:ext cx="51111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01.</a:t>
              </a:r>
            </a:p>
          </p:txBody>
        </p:sp>
        <p:sp>
          <p:nvSpPr>
            <p:cNvPr id="10" name="TextBox 10"/>
            <p:cNvSpPr txBox="1"/>
            <p:nvPr/>
          </p:nvSpPr>
          <p:spPr>
            <a:xfrm>
              <a:off x="5326380" y="1495425"/>
              <a:ext cx="2879901"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Các dự án tham gia và kết quả</a:t>
              </a:r>
            </a:p>
          </p:txBody>
        </p:sp>
        <p:sp>
          <p:nvSpPr>
            <p:cNvPr id="11" name="Ellipse 11"/>
            <p:cNvSpPr/>
            <p:nvPr/>
          </p:nvSpPr>
          <p:spPr>
            <a:xfrm>
              <a:off x="4019550" y="2533650"/>
              <a:ext cx="152400" cy="152400"/>
            </a:xfrm>
            <a:prstGeom prst="ellipse">
              <a:avLst/>
            </a:prstGeom>
            <a:solidFill>
              <a:schemeClr val="accent1"/>
            </a:solidFill>
            <a:ln>
              <a:noFill/>
            </a:ln>
          </p:spPr>
        </p:sp>
        <p:sp>
          <p:nvSpPr>
            <p:cNvPr id="12" name="TextBox 12"/>
            <p:cNvSpPr txBox="1"/>
            <p:nvPr/>
          </p:nvSpPr>
          <p:spPr>
            <a:xfrm>
              <a:off x="4447032" y="2459355"/>
              <a:ext cx="51111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02.</a:t>
              </a:r>
            </a:p>
          </p:txBody>
        </p:sp>
        <p:sp>
          <p:nvSpPr>
            <p:cNvPr id="13" name="TextBox 13"/>
            <p:cNvSpPr txBox="1"/>
            <p:nvPr/>
          </p:nvSpPr>
          <p:spPr>
            <a:xfrm>
              <a:off x="5326380" y="2524125"/>
              <a:ext cx="2569954"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Sử dụng AI trong công việc</a:t>
              </a:r>
            </a:p>
          </p:txBody>
        </p:sp>
        <p:sp>
          <p:nvSpPr>
            <p:cNvPr id="14" name="Ellipse 14"/>
            <p:cNvSpPr/>
            <p:nvPr/>
          </p:nvSpPr>
          <p:spPr>
            <a:xfrm>
              <a:off x="4019550" y="3562350"/>
              <a:ext cx="152400" cy="152400"/>
            </a:xfrm>
            <a:prstGeom prst="ellipse">
              <a:avLst/>
            </a:prstGeom>
            <a:solidFill>
              <a:schemeClr val="accent1"/>
            </a:solidFill>
            <a:ln>
              <a:noFill/>
            </a:ln>
          </p:spPr>
        </p:sp>
        <p:sp>
          <p:nvSpPr>
            <p:cNvPr id="15" name="TextBox 15"/>
            <p:cNvSpPr txBox="1"/>
            <p:nvPr/>
          </p:nvSpPr>
          <p:spPr>
            <a:xfrm>
              <a:off x="4447032" y="3488055"/>
              <a:ext cx="51111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03.</a:t>
              </a:r>
            </a:p>
          </p:txBody>
        </p:sp>
        <p:sp>
          <p:nvSpPr>
            <p:cNvPr id="16" name="TextBox 16"/>
            <p:cNvSpPr txBox="1"/>
            <p:nvPr/>
          </p:nvSpPr>
          <p:spPr>
            <a:xfrm>
              <a:off x="5326380" y="3552825"/>
              <a:ext cx="2597134"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Tự đánh giá ưu, nhược điểm</a:t>
              </a:r>
            </a:p>
          </p:txBody>
        </p:sp>
        <p:sp>
          <p:nvSpPr>
            <p:cNvPr id="17" name="Ellipse 17"/>
            <p:cNvSpPr/>
            <p:nvPr/>
          </p:nvSpPr>
          <p:spPr>
            <a:xfrm>
              <a:off x="4019550" y="4591050"/>
              <a:ext cx="152400" cy="152400"/>
            </a:xfrm>
            <a:prstGeom prst="ellipse">
              <a:avLst/>
            </a:prstGeom>
            <a:solidFill>
              <a:schemeClr val="accent1"/>
            </a:solidFill>
            <a:ln>
              <a:noFill/>
            </a:ln>
          </p:spPr>
        </p:sp>
        <p:sp>
          <p:nvSpPr>
            <p:cNvPr id="18" name="TextBox 18"/>
            <p:cNvSpPr txBox="1"/>
            <p:nvPr/>
          </p:nvSpPr>
          <p:spPr>
            <a:xfrm>
              <a:off x="4447032" y="4516755"/>
              <a:ext cx="51111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04.</a:t>
              </a:r>
            </a:p>
          </p:txBody>
        </p:sp>
        <p:sp>
          <p:nvSpPr>
            <p:cNvPr id="19" name="TextBox 19"/>
            <p:cNvSpPr txBox="1"/>
            <p:nvPr/>
          </p:nvSpPr>
          <p:spPr>
            <a:xfrm>
              <a:off x="5326380" y="4581525"/>
              <a:ext cx="1587012"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Mục tiêu sắp tới</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15" name="Group 15"/>
          <p:cNvGrpSpPr/>
          <p:nvPr/>
        </p:nvGrpSpPr>
        <p:grpSpPr>
          <a:xfrm>
            <a:off x="503682" y="1259205"/>
            <a:ext cx="5681653" cy="3634740"/>
            <a:chOff x="503682" y="1259205"/>
            <a:chExt cx="5681653" cy="3634740"/>
          </a:xfrm>
        </p:grpSpPr>
        <p:sp>
          <p:nvSpPr>
            <p:cNvPr id="5" name="TextBox 5"/>
            <p:cNvSpPr txBox="1"/>
            <p:nvPr/>
          </p:nvSpPr>
          <p:spPr>
            <a:xfrm>
              <a:off x="503682" y="1259205"/>
              <a:ext cx="280145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1. Dự án Hội sở MSB</a:t>
              </a:r>
            </a:p>
          </p:txBody>
        </p:sp>
        <p:sp>
          <p:nvSpPr>
            <p:cNvPr id="6" name="TextBox 6"/>
            <p:cNvSpPr txBox="1"/>
            <p:nvPr/>
          </p:nvSpPr>
          <p:spPr>
            <a:xfrm>
              <a:off x="506730" y="1933575"/>
              <a:ext cx="148575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Mục tiêu dự án</a:t>
              </a:r>
            </a:p>
          </p:txBody>
        </p:sp>
        <p:sp>
          <p:nvSpPr>
            <p:cNvPr id="7" name="Ellipse 7"/>
            <p:cNvSpPr/>
            <p:nvPr/>
          </p:nvSpPr>
          <p:spPr>
            <a:xfrm>
              <a:off x="533400" y="2514600"/>
              <a:ext cx="114300" cy="114300"/>
            </a:xfrm>
            <a:prstGeom prst="ellipse">
              <a:avLst/>
            </a:prstGeom>
            <a:solidFill>
              <a:schemeClr val="accent1"/>
            </a:solidFill>
            <a:ln>
              <a:noFill/>
            </a:ln>
          </p:spPr>
        </p:sp>
        <p:sp>
          <p:nvSpPr>
            <p:cNvPr id="8" name="TextBox 8"/>
            <p:cNvSpPr txBox="1"/>
            <p:nvPr/>
          </p:nvSpPr>
          <p:spPr>
            <a:xfrm>
              <a:off x="773430" y="2486025"/>
              <a:ext cx="541190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Phát triển thiết bị từ công tắc cơ Lumes (nguồn 2 dây)</a:t>
              </a:r>
            </a:p>
          </p:txBody>
        </p:sp>
        <p:sp>
          <p:nvSpPr>
            <p:cNvPr id="9" name="Ellipse 9"/>
            <p:cNvSpPr/>
            <p:nvPr/>
          </p:nvSpPr>
          <p:spPr>
            <a:xfrm>
              <a:off x="533400" y="3143250"/>
              <a:ext cx="114300" cy="114300"/>
            </a:xfrm>
            <a:prstGeom prst="ellipse">
              <a:avLst/>
            </a:prstGeom>
            <a:solidFill>
              <a:schemeClr val="accent2"/>
            </a:solidFill>
            <a:ln>
              <a:noFill/>
            </a:ln>
          </p:spPr>
        </p:sp>
        <p:sp>
          <p:nvSpPr>
            <p:cNvPr id="10" name="TextBox 10"/>
            <p:cNvSpPr txBox="1"/>
            <p:nvPr/>
          </p:nvSpPr>
          <p:spPr>
            <a:xfrm>
              <a:off x="773430" y="2981325"/>
              <a:ext cx="4853940" cy="550545"/>
            </a:xfrm>
            <a:prstGeom prst="rect">
              <a:avLst/>
            </a:prstGeom>
            <a:noFill/>
            <a:ln>
              <a:noFill/>
            </a:ln>
          </p:spPr>
          <p:txBody>
            <a:bodyPr wrap="square" lIns="0" tIns="0" rIns="0" bIns="0" anchor="t" anchorCtr="0"/>
            <a:lstStyle/>
            <a:p>
              <a:pPr algn="l">
                <a:lnSpc>
                  <a:spcPts val="2025"/>
                </a:lnSpc>
              </a:pPr>
              <a:r>
                <a:rPr lang="en-US" sz="1500" dirty="0">
                  <a:solidFill>
                    <a:schemeClr val="dk1"/>
                  </a:solidFill>
                  <a:latin typeface="+mn-lt"/>
                  <a:ea typeface="+mn-ea"/>
                  <a:cs typeface="+mn-cs"/>
                </a:rPr>
                <a:t>Bổ sung đo năng lượng &amp; thống kê thời gian chiếu sáng theo từng kênh</a:t>
              </a:r>
            </a:p>
          </p:txBody>
        </p:sp>
        <p:sp>
          <p:nvSpPr>
            <p:cNvPr id="11" name="Ellipse 11"/>
            <p:cNvSpPr/>
            <p:nvPr/>
          </p:nvSpPr>
          <p:spPr>
            <a:xfrm>
              <a:off x="533400" y="4038600"/>
              <a:ext cx="114300" cy="114300"/>
            </a:xfrm>
            <a:prstGeom prst="ellipse">
              <a:avLst/>
            </a:prstGeom>
            <a:solidFill>
              <a:schemeClr val="accent1"/>
            </a:solidFill>
            <a:ln>
              <a:noFill/>
            </a:ln>
          </p:spPr>
        </p:sp>
        <p:sp>
          <p:nvSpPr>
            <p:cNvPr id="12" name="TextBox 12"/>
            <p:cNvSpPr txBox="1"/>
            <p:nvPr/>
          </p:nvSpPr>
          <p:spPr>
            <a:xfrm>
              <a:off x="773430" y="4010025"/>
              <a:ext cx="294492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Thời gian bắt đầu: 01/11/2025</a:t>
              </a:r>
            </a:p>
          </p:txBody>
        </p:sp>
        <p:sp>
          <p:nvSpPr>
            <p:cNvPr id="13" name="Ellipse 13"/>
            <p:cNvSpPr/>
            <p:nvPr/>
          </p:nvSpPr>
          <p:spPr>
            <a:xfrm>
              <a:off x="533400" y="4629150"/>
              <a:ext cx="114300" cy="114300"/>
            </a:xfrm>
            <a:prstGeom prst="ellipse">
              <a:avLst/>
            </a:prstGeom>
            <a:solidFill>
              <a:schemeClr val="dk1"/>
            </a:solidFill>
            <a:ln>
              <a:noFill/>
            </a:ln>
          </p:spPr>
        </p:sp>
        <p:sp>
          <p:nvSpPr>
            <p:cNvPr id="14" name="TextBox 14"/>
            <p:cNvSpPr txBox="1"/>
            <p:nvPr/>
          </p:nvSpPr>
          <p:spPr>
            <a:xfrm>
              <a:off x="773430" y="4600575"/>
              <a:ext cx="327713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Thời gian hoàn thành: 21/01/2026</a:t>
              </a:r>
            </a:p>
          </p:txBody>
        </p:sp>
      </p:grpSp>
      <p:grpSp>
        <p:nvGrpSpPr>
          <p:cNvPr id="17" name="Group 17"/>
          <p:cNvGrpSpPr/>
          <p:nvPr/>
        </p:nvGrpSpPr>
        <p:grpSpPr>
          <a:xfrm>
            <a:off x="7282840" y="1619250"/>
            <a:ext cx="4198570" cy="3714750"/>
            <a:chOff x="7282840" y="1619250"/>
            <a:chExt cx="4198570" cy="3714750"/>
          </a:xfrm>
        </p:grpSpPr>
        <p:pic>
          <p:nvPicPr>
            <p:cNvPr id="16" name="Image 16"/>
            <p:cNvPicPr>
              <a:picLocks noChangeAspect="1"/>
            </p:cNvPicPr>
            <p:nvPr/>
          </p:nvPicPr>
          <p:blipFill>
            <a:blip r:embed="rId3"/>
            <a:stretch>
              <a:fillRect/>
            </a:stretch>
          </p:blipFill>
          <p:spPr>
            <a:xfrm>
              <a:off x="7282840" y="1619250"/>
              <a:ext cx="4198570" cy="3714750"/>
            </a:xfrm>
            <a:prstGeom prst="rect">
              <a:avLst/>
            </a:prstGeom>
          </p:spPr>
        </p:pic>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6" name="Group 6"/>
          <p:cNvGrpSpPr/>
          <p:nvPr/>
        </p:nvGrpSpPr>
        <p:grpSpPr>
          <a:xfrm>
            <a:off x="503682" y="1030605"/>
            <a:ext cx="2801453" cy="410718"/>
            <a:chOff x="503682" y="1030605"/>
            <a:chExt cx="2801453" cy="410718"/>
          </a:xfrm>
        </p:grpSpPr>
        <p:sp>
          <p:nvSpPr>
            <p:cNvPr id="5" name="TextBox 5"/>
            <p:cNvSpPr txBox="1"/>
            <p:nvPr/>
          </p:nvSpPr>
          <p:spPr>
            <a:xfrm>
              <a:off x="503682" y="1030605"/>
              <a:ext cx="280145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1. Dự án Hội sở MSB</a:t>
              </a:r>
            </a:p>
          </p:txBody>
        </p:sp>
      </p:grpSp>
      <p:grpSp>
        <p:nvGrpSpPr>
          <p:cNvPr id="23" name="Group 23"/>
          <p:cNvGrpSpPr/>
          <p:nvPr/>
        </p:nvGrpSpPr>
        <p:grpSpPr>
          <a:xfrm>
            <a:off x="514350" y="1562100"/>
            <a:ext cx="8116664" cy="4762500"/>
            <a:chOff x="514350" y="1562100"/>
            <a:chExt cx="8116664" cy="4762500"/>
          </a:xfrm>
        </p:grpSpPr>
        <p:sp>
          <p:nvSpPr>
            <p:cNvPr id="7" name="Rectangle 7"/>
            <p:cNvSpPr/>
            <p:nvPr/>
          </p:nvSpPr>
          <p:spPr>
            <a:xfrm>
              <a:off x="514350" y="1562100"/>
              <a:ext cx="7810500" cy="4762500"/>
            </a:xfrm>
            <a:prstGeom prst="rect">
              <a:avLst/>
            </a:prstGeom>
            <a:solidFill>
              <a:schemeClr val="lt1"/>
            </a:solidFill>
            <a:ln w="19050">
              <a:solidFill>
                <a:schemeClr val="accent3"/>
              </a:solidFill>
            </a:ln>
          </p:spPr>
        </p:sp>
        <p:sp>
          <p:nvSpPr>
            <p:cNvPr id="8" name="Rectangle 8"/>
            <p:cNvSpPr/>
            <p:nvPr/>
          </p:nvSpPr>
          <p:spPr>
            <a:xfrm>
              <a:off x="514350" y="1562100"/>
              <a:ext cx="1809750" cy="3143250"/>
            </a:xfrm>
            <a:prstGeom prst="rect">
              <a:avLst/>
            </a:prstGeom>
            <a:solidFill>
              <a:schemeClr val="lt2"/>
            </a:solidFill>
            <a:ln>
              <a:noFill/>
            </a:ln>
          </p:spPr>
        </p:sp>
        <p:sp>
          <p:nvSpPr>
            <p:cNvPr id="9" name="Rectangle 9"/>
            <p:cNvSpPr/>
            <p:nvPr/>
          </p:nvSpPr>
          <p:spPr>
            <a:xfrm>
              <a:off x="514350" y="4705350"/>
              <a:ext cx="1809750" cy="1619250"/>
            </a:xfrm>
            <a:prstGeom prst="rect">
              <a:avLst/>
            </a:prstGeom>
            <a:solidFill>
              <a:schemeClr val="lt2"/>
            </a:solidFill>
            <a:ln>
              <a:noFill/>
            </a:ln>
          </p:spPr>
        </p:sp>
        <p:sp>
          <p:nvSpPr>
            <p:cNvPr id="10" name="Line 10"/>
            <p:cNvSpPr/>
            <p:nvPr/>
          </p:nvSpPr>
          <p:spPr>
            <a:xfrm>
              <a:off x="2324100" y="1562100"/>
              <a:ext cx="9525" cy="4762500"/>
            </a:xfrm>
            <a:custGeom>
              <a:avLst/>
              <a:gdLst/>
              <a:ahLst/>
              <a:cxnLst/>
              <a:rect l="l" t="t" r="r" b="b"/>
              <a:pathLst>
                <a:path w="9525" h="4762500">
                  <a:moveTo>
                    <a:pt x="0" y="0"/>
                  </a:moveTo>
                  <a:lnTo>
                    <a:pt x="0" y="4762500"/>
                  </a:lnTo>
                </a:path>
              </a:pathLst>
            </a:custGeom>
            <a:noFill/>
            <a:ln w="19050">
              <a:solidFill>
                <a:schemeClr val="accent3"/>
              </a:solidFill>
            </a:ln>
          </p:spPr>
        </p:sp>
        <p:sp>
          <p:nvSpPr>
            <p:cNvPr id="11" name="Line 11"/>
            <p:cNvSpPr/>
            <p:nvPr/>
          </p:nvSpPr>
          <p:spPr>
            <a:xfrm>
              <a:off x="514350" y="4705350"/>
              <a:ext cx="7810500" cy="9525"/>
            </a:xfrm>
            <a:custGeom>
              <a:avLst/>
              <a:gdLst/>
              <a:ahLst/>
              <a:cxnLst/>
              <a:rect l="l" t="t" r="r" b="b"/>
              <a:pathLst>
                <a:path w="7810500" h="9525">
                  <a:moveTo>
                    <a:pt x="0" y="0"/>
                  </a:moveTo>
                  <a:lnTo>
                    <a:pt x="7810500" y="0"/>
                  </a:lnTo>
                </a:path>
              </a:pathLst>
            </a:custGeom>
            <a:noFill/>
            <a:ln w="19050">
              <a:solidFill>
                <a:schemeClr val="accent3"/>
              </a:solidFill>
            </a:ln>
          </p:spPr>
        </p:sp>
        <p:sp>
          <p:nvSpPr>
            <p:cNvPr id="12" name="TextBox 12"/>
            <p:cNvSpPr txBox="1"/>
            <p:nvPr/>
          </p:nvSpPr>
          <p:spPr>
            <a:xfrm>
              <a:off x="678942" y="1806892"/>
              <a:ext cx="1669923"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Công việc thực hiện trong dự án</a:t>
              </a:r>
            </a:p>
          </p:txBody>
        </p:sp>
        <p:sp>
          <p:nvSpPr>
            <p:cNvPr id="13" name="TextBox 13"/>
            <p:cNvSpPr txBox="1"/>
            <p:nvPr/>
          </p:nvSpPr>
          <p:spPr>
            <a:xfrm>
              <a:off x="2507742" y="1778318"/>
              <a:ext cx="288853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Dev tool jig test cho mạch Lumes</a:t>
              </a:r>
            </a:p>
          </p:txBody>
        </p:sp>
        <p:sp>
          <p:nvSpPr>
            <p:cNvPr id="14" name="TextBox 14"/>
            <p:cNvSpPr txBox="1"/>
            <p:nvPr/>
          </p:nvSpPr>
          <p:spPr>
            <a:xfrm>
              <a:off x="2507742" y="2159318"/>
              <a:ext cx="612327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Check các trường hợp mạch không đạt: không giao tiếp được BL0906,</a:t>
              </a:r>
            </a:p>
          </p:txBody>
        </p:sp>
        <p:sp>
          <p:nvSpPr>
            <p:cNvPr id="15" name="TextBox 15"/>
            <p:cNvSpPr txBox="1"/>
            <p:nvPr/>
          </p:nvSpPr>
          <p:spPr>
            <a:xfrm>
              <a:off x="2679192" y="2397442"/>
              <a:ext cx="540344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không có ZCD, sai số đo năng lượng lớn, relay không hoạt động</a:t>
              </a:r>
            </a:p>
          </p:txBody>
        </p:sp>
        <p:sp>
          <p:nvSpPr>
            <p:cNvPr id="16" name="TextBox 16"/>
            <p:cNvSpPr txBox="1"/>
            <p:nvPr/>
          </p:nvSpPr>
          <p:spPr>
            <a:xfrm>
              <a:off x="2507742" y="2826068"/>
              <a:ext cx="468872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Đo giá trị 12 kênh tải chuẩn phục vụ quá trình Calib</a:t>
              </a:r>
            </a:p>
          </p:txBody>
        </p:sp>
        <p:sp>
          <p:nvSpPr>
            <p:cNvPr id="17" name="TextBox 17"/>
            <p:cNvSpPr txBox="1"/>
            <p:nvPr/>
          </p:nvSpPr>
          <p:spPr>
            <a:xfrm>
              <a:off x="2507742" y="3254692"/>
              <a:ext cx="3974438"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Calib giá trị sai số của mạch và lưu EEPROM</a:t>
              </a:r>
            </a:p>
          </p:txBody>
        </p:sp>
        <p:sp>
          <p:nvSpPr>
            <p:cNvPr id="18" name="TextBox 18"/>
            <p:cNvSpPr txBox="1"/>
            <p:nvPr/>
          </p:nvSpPr>
          <p:spPr>
            <a:xfrm>
              <a:off x="2507742" y="3683318"/>
              <a:ext cx="5805109"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Viết tài liệu hướng dẫn sử dụng Tool Jig, tài liệu đánh giá Tool Jig</a:t>
              </a:r>
            </a:p>
          </p:txBody>
        </p:sp>
        <p:sp>
          <p:nvSpPr>
            <p:cNvPr id="19" name="TextBox 19"/>
            <p:cNvSpPr txBox="1"/>
            <p:nvPr/>
          </p:nvSpPr>
          <p:spPr>
            <a:xfrm>
              <a:off x="678942" y="5016818"/>
              <a:ext cx="1012841"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Các kết quả đạt được</a:t>
              </a:r>
            </a:p>
          </p:txBody>
        </p:sp>
        <p:sp>
          <p:nvSpPr>
            <p:cNvPr id="20" name="TextBox 20"/>
            <p:cNvSpPr txBox="1"/>
            <p:nvPr/>
          </p:nvSpPr>
          <p:spPr>
            <a:xfrm>
              <a:off x="2507742" y="4950142"/>
              <a:ext cx="521795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Hoàn thành công việc được giao đáp ứng mục tiêu công việc</a:t>
              </a:r>
            </a:p>
          </p:txBody>
        </p:sp>
        <p:sp>
          <p:nvSpPr>
            <p:cNvPr id="21" name="TextBox 21"/>
            <p:cNvSpPr txBox="1"/>
            <p:nvPr/>
          </p:nvSpPr>
          <p:spPr>
            <a:xfrm>
              <a:off x="2507742" y="5426392"/>
              <a:ext cx="534532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Tuân thủ tiến độ dự án, viết được tài liệu hướng dẫn sử dụng</a:t>
              </a:r>
            </a:p>
          </p:txBody>
        </p:sp>
        <p:sp>
          <p:nvSpPr>
            <p:cNvPr id="22" name="TextBox 22"/>
            <p:cNvSpPr txBox="1"/>
            <p:nvPr/>
          </p:nvSpPr>
          <p:spPr>
            <a:xfrm>
              <a:off x="2679192" y="5664518"/>
              <a:ext cx="112231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theo yêu cầu</a:t>
              </a:r>
            </a:p>
          </p:txBody>
        </p:sp>
      </p:grpSp>
      <p:grpSp>
        <p:nvGrpSpPr>
          <p:cNvPr id="26" name="Group 26"/>
          <p:cNvGrpSpPr/>
          <p:nvPr/>
        </p:nvGrpSpPr>
        <p:grpSpPr>
          <a:xfrm>
            <a:off x="8763000" y="1790700"/>
            <a:ext cx="2857500" cy="4286250"/>
            <a:chOff x="8763000" y="1790700"/>
            <a:chExt cx="2857500" cy="4286250"/>
          </a:xfrm>
        </p:grpSpPr>
        <p:sp>
          <p:nvSpPr>
            <p:cNvPr id="24" name="Rectangle 24"/>
            <p:cNvSpPr/>
            <p:nvPr/>
          </p:nvSpPr>
          <p:spPr>
            <a:xfrm>
              <a:off x="8763000" y="1790700"/>
              <a:ext cx="2857500" cy="4286250"/>
            </a:xfrm>
            <a:prstGeom prst="rect">
              <a:avLst/>
            </a:prstGeom>
            <a:solidFill>
              <a:schemeClr val="lt2"/>
            </a:solidFill>
            <a:ln w="19050">
              <a:solidFill>
                <a:schemeClr val="accent1"/>
              </a:solidFill>
            </a:ln>
          </p:spPr>
        </p:sp>
        <p:pic>
          <p:nvPicPr>
            <p:cNvPr id="25" name="Image 25"/>
            <p:cNvPicPr>
              <a:picLocks noChangeAspect="1"/>
            </p:cNvPicPr>
            <p:nvPr/>
          </p:nvPicPr>
          <p:blipFill>
            <a:blip r:embed="rId3"/>
            <a:stretch>
              <a:fillRect/>
            </a:stretch>
          </p:blipFill>
          <p:spPr>
            <a:xfrm>
              <a:off x="8981381" y="1885950"/>
              <a:ext cx="2420737" cy="4095750"/>
            </a:xfrm>
            <a:prstGeom prst="rect">
              <a:avLst/>
            </a:prstGeom>
          </p:spPr>
        </p:pic>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6" name="Group 6"/>
          <p:cNvGrpSpPr/>
          <p:nvPr/>
        </p:nvGrpSpPr>
        <p:grpSpPr>
          <a:xfrm>
            <a:off x="503682" y="1011555"/>
            <a:ext cx="2801453" cy="410718"/>
            <a:chOff x="503682" y="1011555"/>
            <a:chExt cx="2801453" cy="410718"/>
          </a:xfrm>
        </p:grpSpPr>
        <p:sp>
          <p:nvSpPr>
            <p:cNvPr id="5" name="TextBox 5"/>
            <p:cNvSpPr txBox="1"/>
            <p:nvPr/>
          </p:nvSpPr>
          <p:spPr>
            <a:xfrm>
              <a:off x="503682" y="1011555"/>
              <a:ext cx="280145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1. Dự án Hội sở MSB</a:t>
              </a:r>
            </a:p>
          </p:txBody>
        </p:sp>
      </p:grpSp>
      <p:grpSp>
        <p:nvGrpSpPr>
          <p:cNvPr id="27" name="Group 27"/>
          <p:cNvGrpSpPr/>
          <p:nvPr/>
        </p:nvGrpSpPr>
        <p:grpSpPr>
          <a:xfrm>
            <a:off x="514350" y="1504950"/>
            <a:ext cx="11163300" cy="4953000"/>
            <a:chOff x="514350" y="1504950"/>
            <a:chExt cx="11163300" cy="4953000"/>
          </a:xfrm>
        </p:grpSpPr>
        <p:sp>
          <p:nvSpPr>
            <p:cNvPr id="7" name="Rectangle 7"/>
            <p:cNvSpPr/>
            <p:nvPr/>
          </p:nvSpPr>
          <p:spPr>
            <a:xfrm>
              <a:off x="514350" y="1504950"/>
              <a:ext cx="11163300" cy="4953000"/>
            </a:xfrm>
            <a:prstGeom prst="rect">
              <a:avLst/>
            </a:prstGeom>
            <a:solidFill>
              <a:schemeClr val="lt1"/>
            </a:solidFill>
            <a:ln w="19050">
              <a:solidFill>
                <a:schemeClr val="accent3"/>
              </a:solidFill>
            </a:ln>
          </p:spPr>
        </p:sp>
        <p:sp>
          <p:nvSpPr>
            <p:cNvPr id="8" name="Rectangle 8"/>
            <p:cNvSpPr/>
            <p:nvPr/>
          </p:nvSpPr>
          <p:spPr>
            <a:xfrm>
              <a:off x="514350" y="1504950"/>
              <a:ext cx="2571750" cy="4953000"/>
            </a:xfrm>
            <a:prstGeom prst="rect">
              <a:avLst/>
            </a:prstGeom>
            <a:solidFill>
              <a:schemeClr val="lt2"/>
            </a:solidFill>
            <a:ln>
              <a:noFill/>
            </a:ln>
          </p:spPr>
        </p:sp>
        <p:sp>
          <p:nvSpPr>
            <p:cNvPr id="9" name="Line 9"/>
            <p:cNvSpPr/>
            <p:nvPr/>
          </p:nvSpPr>
          <p:spPr>
            <a:xfrm>
              <a:off x="3086100" y="1504950"/>
              <a:ext cx="9525" cy="4953000"/>
            </a:xfrm>
            <a:custGeom>
              <a:avLst/>
              <a:gdLst/>
              <a:ahLst/>
              <a:cxnLst/>
              <a:rect l="l" t="t" r="r" b="b"/>
              <a:pathLst>
                <a:path w="9525" h="4953000">
                  <a:moveTo>
                    <a:pt x="0" y="0"/>
                  </a:moveTo>
                  <a:lnTo>
                    <a:pt x="0" y="4953000"/>
                  </a:lnTo>
                </a:path>
              </a:pathLst>
            </a:custGeom>
            <a:noFill/>
            <a:ln w="19050">
              <a:solidFill>
                <a:schemeClr val="accent3"/>
              </a:solidFill>
            </a:ln>
          </p:spPr>
        </p:sp>
        <p:sp>
          <p:nvSpPr>
            <p:cNvPr id="10" name="Line 10"/>
            <p:cNvSpPr/>
            <p:nvPr/>
          </p:nvSpPr>
          <p:spPr>
            <a:xfrm>
              <a:off x="514350" y="2857500"/>
              <a:ext cx="11163300" cy="9525"/>
            </a:xfrm>
            <a:custGeom>
              <a:avLst/>
              <a:gdLst/>
              <a:ahLst/>
              <a:cxnLst/>
              <a:rect l="l" t="t" r="r" b="b"/>
              <a:pathLst>
                <a:path w="11163300" h="9525">
                  <a:moveTo>
                    <a:pt x="0" y="0"/>
                  </a:moveTo>
                  <a:lnTo>
                    <a:pt x="11163300" y="0"/>
                  </a:lnTo>
                </a:path>
              </a:pathLst>
            </a:custGeom>
            <a:noFill/>
            <a:ln w="19050">
              <a:solidFill>
                <a:schemeClr val="accent3"/>
              </a:solidFill>
            </a:ln>
          </p:spPr>
        </p:sp>
        <p:sp>
          <p:nvSpPr>
            <p:cNvPr id="11" name="Line 11"/>
            <p:cNvSpPr/>
            <p:nvPr/>
          </p:nvSpPr>
          <p:spPr>
            <a:xfrm>
              <a:off x="514350" y="4762500"/>
              <a:ext cx="11163300" cy="9525"/>
            </a:xfrm>
            <a:custGeom>
              <a:avLst/>
              <a:gdLst/>
              <a:ahLst/>
              <a:cxnLst/>
              <a:rect l="l" t="t" r="r" b="b"/>
              <a:pathLst>
                <a:path w="11163300" h="9525">
                  <a:moveTo>
                    <a:pt x="0" y="0"/>
                  </a:moveTo>
                  <a:lnTo>
                    <a:pt x="11163300" y="0"/>
                  </a:lnTo>
                </a:path>
              </a:pathLst>
            </a:custGeom>
            <a:noFill/>
            <a:ln w="19050">
              <a:solidFill>
                <a:schemeClr val="accent3"/>
              </a:solidFill>
            </a:ln>
          </p:spPr>
        </p:sp>
        <p:sp>
          <p:nvSpPr>
            <p:cNvPr id="12" name="TextBox 12"/>
            <p:cNvSpPr txBox="1"/>
            <p:nvPr/>
          </p:nvSpPr>
          <p:spPr>
            <a:xfrm>
              <a:off x="697992" y="1778318"/>
              <a:ext cx="1714929"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Các kỹ năng, tư duy áp dụng tốt</a:t>
              </a:r>
            </a:p>
          </p:txBody>
        </p:sp>
        <p:sp>
          <p:nvSpPr>
            <p:cNvPr id="13" name="TextBox 13"/>
            <p:cNvSpPr txBox="1"/>
            <p:nvPr/>
          </p:nvSpPr>
          <p:spPr>
            <a:xfrm>
              <a:off x="3269742" y="1702118"/>
              <a:ext cx="448230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Horenso, tư duy phản biện để xử lý các lỗi, xảy ra</a:t>
              </a:r>
            </a:p>
          </p:txBody>
        </p:sp>
        <p:sp>
          <p:nvSpPr>
            <p:cNvPr id="14" name="TextBox 14"/>
            <p:cNvSpPr txBox="1"/>
            <p:nvPr/>
          </p:nvSpPr>
          <p:spPr>
            <a:xfrm>
              <a:off x="3269742" y="2083118"/>
              <a:ext cx="193765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Kỹ năng viết báo cáo</a:t>
              </a:r>
            </a:p>
          </p:txBody>
        </p:sp>
        <p:sp>
          <p:nvSpPr>
            <p:cNvPr id="15" name="TextBox 15"/>
            <p:cNvSpPr txBox="1"/>
            <p:nvPr/>
          </p:nvSpPr>
          <p:spPr>
            <a:xfrm>
              <a:off x="3269742" y="2464118"/>
              <a:ext cx="3494317"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Sử dụng AI để lập trình và viết tài liệu</a:t>
              </a:r>
            </a:p>
          </p:txBody>
        </p:sp>
        <p:sp>
          <p:nvSpPr>
            <p:cNvPr id="16" name="TextBox 16"/>
            <p:cNvSpPr txBox="1"/>
            <p:nvPr/>
          </p:nvSpPr>
          <p:spPr>
            <a:xfrm>
              <a:off x="697992" y="3188018"/>
              <a:ext cx="219558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Những khó khăn gặp phải</a:t>
              </a:r>
            </a:p>
          </p:txBody>
        </p:sp>
        <p:sp>
          <p:nvSpPr>
            <p:cNvPr id="17" name="TextBox 17"/>
            <p:cNvSpPr txBox="1"/>
            <p:nvPr/>
          </p:nvSpPr>
          <p:spPr>
            <a:xfrm>
              <a:off x="697992" y="3426142"/>
              <a:ext cx="145443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 bài học rút ra</a:t>
              </a:r>
            </a:p>
          </p:txBody>
        </p:sp>
        <p:sp>
          <p:nvSpPr>
            <p:cNvPr id="18" name="TextBox 18"/>
            <p:cNvSpPr txBox="1"/>
            <p:nvPr/>
          </p:nvSpPr>
          <p:spPr>
            <a:xfrm>
              <a:off x="3269742" y="3111818"/>
              <a:ext cx="5455211"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Gặp khó khăn với xử lý đo sai ZCD(nhiễu) do thiếu kinh nghiệm</a:t>
              </a:r>
            </a:p>
          </p:txBody>
        </p:sp>
        <p:sp>
          <p:nvSpPr>
            <p:cNvPr id="19" name="TextBox 19"/>
            <p:cNvSpPr txBox="1"/>
            <p:nvPr/>
          </p:nvSpPr>
          <p:spPr>
            <a:xfrm>
              <a:off x="3269742" y="3530918"/>
              <a:ext cx="599071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Chưa đưa ra hết được các trường hợp fail, cần sự hỗ trợ từ các anh</a:t>
              </a:r>
            </a:p>
          </p:txBody>
        </p:sp>
        <p:sp>
          <p:nvSpPr>
            <p:cNvPr id="20" name="TextBox 20"/>
            <p:cNvSpPr txBox="1"/>
            <p:nvPr/>
          </p:nvSpPr>
          <p:spPr>
            <a:xfrm>
              <a:off x="3441192" y="3769042"/>
              <a:ext cx="56839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=&gt; có được kinh nghiệm xử lý các trường hợp ngoại lệ, lường trước</a:t>
              </a:r>
            </a:p>
          </p:txBody>
        </p:sp>
        <p:sp>
          <p:nvSpPr>
            <p:cNvPr id="21" name="TextBox 21"/>
            <p:cNvSpPr txBox="1"/>
            <p:nvPr/>
          </p:nvSpPr>
          <p:spPr>
            <a:xfrm>
              <a:off x="3441192" y="4007168"/>
              <a:ext cx="324863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các tình huống thực tế có thể xảy ra</a:t>
              </a:r>
            </a:p>
          </p:txBody>
        </p:sp>
        <p:sp>
          <p:nvSpPr>
            <p:cNvPr id="22" name="TextBox 22"/>
            <p:cNvSpPr txBox="1"/>
            <p:nvPr/>
          </p:nvSpPr>
          <p:spPr>
            <a:xfrm>
              <a:off x="697992" y="5093018"/>
              <a:ext cx="173720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Các tài liệu đã viết</a:t>
              </a:r>
            </a:p>
          </p:txBody>
        </p:sp>
        <p:sp>
          <p:nvSpPr>
            <p:cNvPr id="23" name="TextBox 23"/>
            <p:cNvSpPr txBox="1"/>
            <p:nvPr/>
          </p:nvSpPr>
          <p:spPr>
            <a:xfrm>
              <a:off x="3269742" y="4959668"/>
              <a:ext cx="19917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Tài liệu đánh giá mạch:</a:t>
              </a:r>
            </a:p>
          </p:txBody>
        </p:sp>
        <p:sp>
          <p:nvSpPr>
            <p:cNvPr id="24" name="TextBox 24"/>
            <p:cNvSpPr txBox="1"/>
            <p:nvPr/>
          </p:nvSpPr>
          <p:spPr>
            <a:xfrm>
              <a:off x="3269742" y="5264468"/>
              <a:ext cx="3667304" cy="264033"/>
            </a:xfrm>
            <a:prstGeom prst="rect">
              <a:avLst/>
            </a:prstGeom>
            <a:noFill/>
            <a:ln>
              <a:noFill/>
            </a:ln>
          </p:spPr>
          <p:txBody>
            <a:bodyPr wrap="none" lIns="0" tIns="0" rIns="0" bIns="0" anchor="t" anchorCtr="0">
              <a:spAutoFit/>
            </a:bodyPr>
            <a:lstStyle/>
            <a:p>
              <a:pPr algn="l"/>
              <a:r>
                <a:rPr lang="en-US" sz="1350" u="sng" dirty="0">
                  <a:solidFill>
                    <a:schemeClr val="accent2"/>
                  </a:solidFill>
                  <a:latin typeface="+mn-lt"/>
                  <a:ea typeface="+mn-ea"/>
                  <a:cs typeface="+mn-cs"/>
                </a:rPr>
                <a:t>[MSB Office] Đánh giá mạch Tool Jig test</a:t>
              </a:r>
            </a:p>
          </p:txBody>
        </p:sp>
        <p:sp>
          <p:nvSpPr>
            <p:cNvPr id="25" name="TextBox 25"/>
            <p:cNvSpPr txBox="1"/>
            <p:nvPr/>
          </p:nvSpPr>
          <p:spPr>
            <a:xfrm>
              <a:off x="3269742" y="5683568"/>
              <a:ext cx="276415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Tài liệu hướng dẫn sử dụng tool:</a:t>
              </a:r>
            </a:p>
          </p:txBody>
        </p:sp>
        <p:sp>
          <p:nvSpPr>
            <p:cNvPr id="26" name="TextBox 26"/>
            <p:cNvSpPr txBox="1"/>
            <p:nvPr/>
          </p:nvSpPr>
          <p:spPr>
            <a:xfrm>
              <a:off x="3269742" y="5988368"/>
              <a:ext cx="4008447" cy="264033"/>
            </a:xfrm>
            <a:prstGeom prst="rect">
              <a:avLst/>
            </a:prstGeom>
            <a:noFill/>
            <a:ln>
              <a:noFill/>
            </a:ln>
          </p:spPr>
          <p:txBody>
            <a:bodyPr wrap="none" lIns="0" tIns="0" rIns="0" bIns="0" anchor="t" anchorCtr="0">
              <a:spAutoFit/>
            </a:bodyPr>
            <a:lstStyle/>
            <a:p>
              <a:pPr algn="l"/>
              <a:r>
                <a:rPr lang="en-US" sz="1350" u="sng" dirty="0">
                  <a:solidFill>
                    <a:schemeClr val="accent2"/>
                  </a:solidFill>
                  <a:latin typeface="+mn-lt"/>
                  <a:ea typeface="+mn-ea"/>
                  <a:cs typeface="+mn-cs"/>
                </a:rPr>
                <a:t>[LM-xG2WM] Tài liệu hướng dẫn test sản xuất</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15" name="Group 15"/>
          <p:cNvGrpSpPr/>
          <p:nvPr/>
        </p:nvGrpSpPr>
        <p:grpSpPr>
          <a:xfrm>
            <a:off x="503682" y="1240155"/>
            <a:ext cx="5477002" cy="3825240"/>
            <a:chOff x="503682" y="1240155"/>
            <a:chExt cx="5477002" cy="3825240"/>
          </a:xfrm>
        </p:grpSpPr>
        <p:sp>
          <p:nvSpPr>
            <p:cNvPr id="5" name="TextBox 5"/>
            <p:cNvSpPr txBox="1"/>
            <p:nvPr/>
          </p:nvSpPr>
          <p:spPr>
            <a:xfrm>
              <a:off x="503682" y="1240155"/>
              <a:ext cx="217041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2. Dự án Lumes</a:t>
              </a:r>
            </a:p>
          </p:txBody>
        </p:sp>
        <p:sp>
          <p:nvSpPr>
            <p:cNvPr id="6" name="Ellipse 6"/>
            <p:cNvSpPr/>
            <p:nvPr/>
          </p:nvSpPr>
          <p:spPr>
            <a:xfrm>
              <a:off x="533400" y="1943100"/>
              <a:ext cx="114300" cy="114300"/>
            </a:xfrm>
            <a:prstGeom prst="ellipse">
              <a:avLst/>
            </a:prstGeom>
            <a:solidFill>
              <a:schemeClr val="accent1"/>
            </a:solidFill>
            <a:ln>
              <a:noFill/>
            </a:ln>
          </p:spPr>
        </p:sp>
        <p:sp>
          <p:nvSpPr>
            <p:cNvPr id="7" name="TextBox 7"/>
            <p:cNvSpPr txBox="1"/>
            <p:nvPr/>
          </p:nvSpPr>
          <p:spPr>
            <a:xfrm>
              <a:off x="773430" y="1914525"/>
              <a:ext cx="294492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Thời gian bắt đầu: 31/12/2025</a:t>
              </a:r>
            </a:p>
          </p:txBody>
        </p:sp>
        <p:sp>
          <p:nvSpPr>
            <p:cNvPr id="8" name="Ellipse 8"/>
            <p:cNvSpPr/>
            <p:nvPr/>
          </p:nvSpPr>
          <p:spPr>
            <a:xfrm>
              <a:off x="533400" y="2400300"/>
              <a:ext cx="114300" cy="114300"/>
            </a:xfrm>
            <a:prstGeom prst="ellipse">
              <a:avLst/>
            </a:prstGeom>
            <a:solidFill>
              <a:schemeClr val="dk1"/>
            </a:solidFill>
            <a:ln>
              <a:noFill/>
            </a:ln>
          </p:spPr>
        </p:sp>
        <p:sp>
          <p:nvSpPr>
            <p:cNvPr id="9" name="TextBox 9"/>
            <p:cNvSpPr txBox="1"/>
            <p:nvPr/>
          </p:nvSpPr>
          <p:spPr>
            <a:xfrm>
              <a:off x="773430" y="2371725"/>
              <a:ext cx="327713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Thời gian hoàn thành: 05/02/2026</a:t>
              </a:r>
            </a:p>
          </p:txBody>
        </p:sp>
        <p:sp>
          <p:nvSpPr>
            <p:cNvPr id="10" name="TextBox 10"/>
            <p:cNvSpPr txBox="1"/>
            <p:nvPr/>
          </p:nvSpPr>
          <p:spPr>
            <a:xfrm>
              <a:off x="506730" y="2981325"/>
              <a:ext cx="321346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Công việc thực hiện trong dự án</a:t>
              </a:r>
            </a:p>
          </p:txBody>
        </p:sp>
        <p:sp>
          <p:nvSpPr>
            <p:cNvPr id="11" name="TextBox 11"/>
            <p:cNvSpPr txBox="1"/>
            <p:nvPr/>
          </p:nvSpPr>
          <p:spPr>
            <a:xfrm>
              <a:off x="678180" y="3457575"/>
              <a:ext cx="3766312"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Dev tool jig test v2 cho mạch Lumes:</a:t>
              </a:r>
            </a:p>
          </p:txBody>
        </p:sp>
        <p:sp>
          <p:nvSpPr>
            <p:cNvPr id="12" name="TextBox 12"/>
            <p:cNvSpPr txBox="1"/>
            <p:nvPr/>
          </p:nvSpPr>
          <p:spPr>
            <a:xfrm>
              <a:off x="868680" y="3895725"/>
              <a:ext cx="4234046"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Chuyển đổi giữa 2 sơ đồ mắc 2 dây và 1 dây</a:t>
              </a:r>
            </a:p>
          </p:txBody>
        </p:sp>
        <p:sp>
          <p:nvSpPr>
            <p:cNvPr id="13" name="TextBox 13"/>
            <p:cNvSpPr txBox="1"/>
            <p:nvPr/>
          </p:nvSpPr>
          <p:spPr>
            <a:xfrm>
              <a:off x="868680" y="4333875"/>
              <a:ext cx="5112004"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Kiểm tra bật tắt relay, chập chân ở cả 2 sơ đồ mắc</a:t>
              </a:r>
            </a:p>
          </p:txBody>
        </p:sp>
        <p:sp>
          <p:nvSpPr>
            <p:cNvPr id="14" name="TextBox 14"/>
            <p:cNvSpPr txBox="1"/>
            <p:nvPr/>
          </p:nvSpPr>
          <p:spPr>
            <a:xfrm>
              <a:off x="868680" y="4772025"/>
              <a:ext cx="4679700"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Đo chân ZCD trong trường hợp mắc nguồn 2 dây</a:t>
              </a:r>
            </a:p>
          </p:txBody>
        </p:sp>
      </p:grpSp>
      <p:grpSp>
        <p:nvGrpSpPr>
          <p:cNvPr id="17" name="Group 17"/>
          <p:cNvGrpSpPr/>
          <p:nvPr/>
        </p:nvGrpSpPr>
        <p:grpSpPr>
          <a:xfrm>
            <a:off x="7524750" y="1821650"/>
            <a:ext cx="3810000" cy="3710000"/>
            <a:chOff x="7524750" y="1821650"/>
            <a:chExt cx="3810000" cy="3710000"/>
          </a:xfrm>
        </p:grpSpPr>
        <p:pic>
          <p:nvPicPr>
            <p:cNvPr id="16" name="Image 16"/>
            <p:cNvPicPr>
              <a:picLocks noChangeAspect="1"/>
            </p:cNvPicPr>
            <p:nvPr/>
          </p:nvPicPr>
          <p:blipFill>
            <a:blip r:embed="rId3"/>
            <a:stretch>
              <a:fillRect/>
            </a:stretch>
          </p:blipFill>
          <p:spPr>
            <a:xfrm>
              <a:off x="7524750" y="1821650"/>
              <a:ext cx="3810000" cy="3710000"/>
            </a:xfrm>
            <a:prstGeom prst="rect">
              <a:avLst/>
            </a:prstGeom>
          </p:spPr>
        </p:pic>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12" name="Group 12"/>
          <p:cNvGrpSpPr/>
          <p:nvPr/>
        </p:nvGrpSpPr>
        <p:grpSpPr>
          <a:xfrm>
            <a:off x="503682" y="1240155"/>
            <a:ext cx="4902232" cy="3398901"/>
            <a:chOff x="503682" y="1240155"/>
            <a:chExt cx="4902232" cy="3398901"/>
          </a:xfrm>
        </p:grpSpPr>
        <p:sp>
          <p:nvSpPr>
            <p:cNvPr id="5" name="TextBox 5"/>
            <p:cNvSpPr txBox="1"/>
            <p:nvPr/>
          </p:nvSpPr>
          <p:spPr>
            <a:xfrm>
              <a:off x="503682" y="1240155"/>
              <a:ext cx="217041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2. Dự án Lumes</a:t>
              </a:r>
            </a:p>
          </p:txBody>
        </p:sp>
        <p:sp>
          <p:nvSpPr>
            <p:cNvPr id="6" name="TextBox 6"/>
            <p:cNvSpPr txBox="1"/>
            <p:nvPr/>
          </p:nvSpPr>
          <p:spPr>
            <a:xfrm>
              <a:off x="506730" y="1933575"/>
              <a:ext cx="214300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Các kết quả đạt được</a:t>
              </a:r>
            </a:p>
          </p:txBody>
        </p:sp>
        <p:sp>
          <p:nvSpPr>
            <p:cNvPr id="7" name="TextBox 7"/>
            <p:cNvSpPr txBox="1"/>
            <p:nvPr/>
          </p:nvSpPr>
          <p:spPr>
            <a:xfrm>
              <a:off x="678180" y="2409825"/>
              <a:ext cx="3838994"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Hoàn thành tất cả công việc được giao</a:t>
              </a:r>
            </a:p>
          </p:txBody>
        </p:sp>
        <p:sp>
          <p:nvSpPr>
            <p:cNvPr id="8" name="TextBox 8"/>
            <p:cNvSpPr txBox="1"/>
            <p:nvPr/>
          </p:nvSpPr>
          <p:spPr>
            <a:xfrm>
              <a:off x="678180" y="2847975"/>
              <a:ext cx="4727734"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Tuân thủ tiến độ dự án, không bị chậm deadline</a:t>
              </a:r>
            </a:p>
          </p:txBody>
        </p:sp>
        <p:sp>
          <p:nvSpPr>
            <p:cNvPr id="9" name="TextBox 9"/>
            <p:cNvSpPr txBox="1"/>
            <p:nvPr/>
          </p:nvSpPr>
          <p:spPr>
            <a:xfrm>
              <a:off x="678180" y="3286125"/>
              <a:ext cx="4104617"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Viết tài liệu hướng dẫn, bàn giao Tool Jig</a:t>
              </a:r>
            </a:p>
          </p:txBody>
        </p:sp>
        <p:sp>
          <p:nvSpPr>
            <p:cNvPr id="10" name="TextBox 10"/>
            <p:cNvSpPr txBox="1"/>
            <p:nvPr/>
          </p:nvSpPr>
          <p:spPr>
            <a:xfrm>
              <a:off x="678180" y="3800475"/>
              <a:ext cx="1435573"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Link tài liệu:</a:t>
              </a:r>
            </a:p>
          </p:txBody>
        </p:sp>
        <p:sp>
          <p:nvSpPr>
            <p:cNvPr id="11" name="TextBox 11"/>
            <p:cNvSpPr txBox="1"/>
            <p:nvPr/>
          </p:nvSpPr>
          <p:spPr>
            <a:xfrm>
              <a:off x="870204" y="4175760"/>
              <a:ext cx="3906012" cy="463296"/>
            </a:xfrm>
            <a:prstGeom prst="rect">
              <a:avLst/>
            </a:prstGeom>
            <a:noFill/>
            <a:ln>
              <a:noFill/>
            </a:ln>
          </p:spPr>
          <p:txBody>
            <a:bodyPr wrap="square" lIns="0" tIns="0" rIns="0" bIns="0" anchor="t" anchorCtr="0"/>
            <a:lstStyle/>
            <a:p>
              <a:pPr algn="l">
                <a:lnSpc>
                  <a:spcPts val="1800"/>
                </a:lnSpc>
              </a:pPr>
              <a:r>
                <a:rPr lang="en-US" sz="1200" u="sng" dirty="0">
                  <a:solidFill>
                    <a:schemeClr val="accent2"/>
                  </a:solidFill>
                  <a:latin typeface="+mn-lt"/>
                  <a:ea typeface="+mn-ea"/>
                  <a:cs typeface="+mn-cs"/>
                </a:rPr>
                <a:t>[LUMES]- QUY TRÌNH CHUẨN HÓA &amp; BÀN GIAO JIG/TOOL SẢN XUẤT IOT (MASS PRODUCTION HANDOVER)</a:t>
              </a:r>
            </a:p>
          </p:txBody>
        </p:sp>
      </p:grpSp>
      <p:grpSp>
        <p:nvGrpSpPr>
          <p:cNvPr id="15" name="Group 15"/>
          <p:cNvGrpSpPr/>
          <p:nvPr/>
        </p:nvGrpSpPr>
        <p:grpSpPr>
          <a:xfrm>
            <a:off x="6953250" y="1809750"/>
            <a:ext cx="4762500" cy="3429000"/>
            <a:chOff x="6953250" y="1809750"/>
            <a:chExt cx="4762500" cy="3429000"/>
          </a:xfrm>
        </p:grpSpPr>
        <p:sp>
          <p:nvSpPr>
            <p:cNvPr id="13" name="Rectangle 13"/>
            <p:cNvSpPr/>
            <p:nvPr/>
          </p:nvSpPr>
          <p:spPr>
            <a:xfrm>
              <a:off x="6953250" y="1809750"/>
              <a:ext cx="4762500" cy="3429000"/>
            </a:xfrm>
            <a:prstGeom prst="rect">
              <a:avLst/>
            </a:prstGeom>
            <a:solidFill>
              <a:schemeClr val="lt2"/>
            </a:solidFill>
            <a:ln w="19050">
              <a:solidFill>
                <a:schemeClr val="accent1"/>
              </a:solidFill>
            </a:ln>
          </p:spPr>
        </p:sp>
        <p:pic>
          <p:nvPicPr>
            <p:cNvPr id="14" name="Image 14"/>
            <p:cNvPicPr>
              <a:picLocks noChangeAspect="1"/>
            </p:cNvPicPr>
            <p:nvPr/>
          </p:nvPicPr>
          <p:blipFill>
            <a:blip r:embed="rId3"/>
            <a:stretch>
              <a:fillRect/>
            </a:stretch>
          </p:blipFill>
          <p:spPr>
            <a:xfrm>
              <a:off x="7048500" y="2238375"/>
              <a:ext cx="4572000" cy="2571750"/>
            </a:xfrm>
            <a:prstGeom prst="rect">
              <a:avLst/>
            </a:prstGeom>
          </p:spPr>
        </p:pic>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6" name="Group 6"/>
          <p:cNvGrpSpPr/>
          <p:nvPr/>
        </p:nvGrpSpPr>
        <p:grpSpPr>
          <a:xfrm>
            <a:off x="503682" y="1011555"/>
            <a:ext cx="2170418" cy="410718"/>
            <a:chOff x="503682" y="1011555"/>
            <a:chExt cx="2170418" cy="410718"/>
          </a:xfrm>
        </p:grpSpPr>
        <p:sp>
          <p:nvSpPr>
            <p:cNvPr id="5" name="TextBox 5"/>
            <p:cNvSpPr txBox="1"/>
            <p:nvPr/>
          </p:nvSpPr>
          <p:spPr>
            <a:xfrm>
              <a:off x="503682" y="1011555"/>
              <a:ext cx="217041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2. Dự án Lumes</a:t>
              </a:r>
            </a:p>
          </p:txBody>
        </p:sp>
      </p:grpSp>
      <p:grpSp>
        <p:nvGrpSpPr>
          <p:cNvPr id="22" name="Group 22"/>
          <p:cNvGrpSpPr/>
          <p:nvPr/>
        </p:nvGrpSpPr>
        <p:grpSpPr>
          <a:xfrm>
            <a:off x="514350" y="1504950"/>
            <a:ext cx="11163300" cy="4857750"/>
            <a:chOff x="514350" y="1504950"/>
            <a:chExt cx="11163300" cy="4857750"/>
          </a:xfrm>
        </p:grpSpPr>
        <p:sp>
          <p:nvSpPr>
            <p:cNvPr id="7" name="Rectangle 7"/>
            <p:cNvSpPr/>
            <p:nvPr/>
          </p:nvSpPr>
          <p:spPr>
            <a:xfrm>
              <a:off x="514350" y="1504950"/>
              <a:ext cx="11163300" cy="4857750"/>
            </a:xfrm>
            <a:prstGeom prst="rect">
              <a:avLst/>
            </a:prstGeom>
            <a:solidFill>
              <a:schemeClr val="lt1"/>
            </a:solidFill>
            <a:ln w="19050">
              <a:solidFill>
                <a:schemeClr val="accent3"/>
              </a:solidFill>
            </a:ln>
          </p:spPr>
        </p:sp>
        <p:sp>
          <p:nvSpPr>
            <p:cNvPr id="8" name="Rectangle 8"/>
            <p:cNvSpPr/>
            <p:nvPr/>
          </p:nvSpPr>
          <p:spPr>
            <a:xfrm>
              <a:off x="514350" y="1504950"/>
              <a:ext cx="2667000" cy="4857750"/>
            </a:xfrm>
            <a:prstGeom prst="rect">
              <a:avLst/>
            </a:prstGeom>
            <a:solidFill>
              <a:schemeClr val="lt2"/>
            </a:solidFill>
            <a:ln>
              <a:noFill/>
            </a:ln>
          </p:spPr>
        </p:sp>
        <p:sp>
          <p:nvSpPr>
            <p:cNvPr id="9" name="Line 9"/>
            <p:cNvSpPr/>
            <p:nvPr/>
          </p:nvSpPr>
          <p:spPr>
            <a:xfrm>
              <a:off x="3181350" y="1504950"/>
              <a:ext cx="9525" cy="4857750"/>
            </a:xfrm>
            <a:custGeom>
              <a:avLst/>
              <a:gdLst/>
              <a:ahLst/>
              <a:cxnLst/>
              <a:rect l="l" t="t" r="r" b="b"/>
              <a:pathLst>
                <a:path w="9525" h="4857750">
                  <a:moveTo>
                    <a:pt x="0" y="0"/>
                  </a:moveTo>
                  <a:lnTo>
                    <a:pt x="0" y="4857750"/>
                  </a:lnTo>
                </a:path>
              </a:pathLst>
            </a:custGeom>
            <a:noFill/>
            <a:ln w="19050">
              <a:solidFill>
                <a:schemeClr val="accent3"/>
              </a:solidFill>
            </a:ln>
          </p:spPr>
        </p:sp>
        <p:sp>
          <p:nvSpPr>
            <p:cNvPr id="10" name="Line 10"/>
            <p:cNvSpPr/>
            <p:nvPr/>
          </p:nvSpPr>
          <p:spPr>
            <a:xfrm>
              <a:off x="514350" y="2952750"/>
              <a:ext cx="11163300" cy="9525"/>
            </a:xfrm>
            <a:custGeom>
              <a:avLst/>
              <a:gdLst/>
              <a:ahLst/>
              <a:cxnLst/>
              <a:rect l="l" t="t" r="r" b="b"/>
              <a:pathLst>
                <a:path w="11163300" h="9525">
                  <a:moveTo>
                    <a:pt x="0" y="0"/>
                  </a:moveTo>
                  <a:lnTo>
                    <a:pt x="11163300" y="0"/>
                  </a:lnTo>
                </a:path>
              </a:pathLst>
            </a:custGeom>
            <a:noFill/>
            <a:ln w="19050">
              <a:solidFill>
                <a:schemeClr val="accent3"/>
              </a:solidFill>
            </a:ln>
          </p:spPr>
        </p:sp>
        <p:sp>
          <p:nvSpPr>
            <p:cNvPr id="11" name="Line 11"/>
            <p:cNvSpPr/>
            <p:nvPr/>
          </p:nvSpPr>
          <p:spPr>
            <a:xfrm>
              <a:off x="514350" y="4524375"/>
              <a:ext cx="11163300" cy="9525"/>
            </a:xfrm>
            <a:custGeom>
              <a:avLst/>
              <a:gdLst/>
              <a:ahLst/>
              <a:cxnLst/>
              <a:rect l="l" t="t" r="r" b="b"/>
              <a:pathLst>
                <a:path w="11163300" h="9525">
                  <a:moveTo>
                    <a:pt x="0" y="0"/>
                  </a:moveTo>
                  <a:lnTo>
                    <a:pt x="11163300" y="0"/>
                  </a:lnTo>
                </a:path>
              </a:pathLst>
            </a:custGeom>
            <a:noFill/>
            <a:ln w="19050">
              <a:solidFill>
                <a:schemeClr val="accent3"/>
              </a:solidFill>
            </a:ln>
          </p:spPr>
        </p:sp>
        <p:sp>
          <p:nvSpPr>
            <p:cNvPr id="12" name="TextBox 12"/>
            <p:cNvSpPr txBox="1"/>
            <p:nvPr/>
          </p:nvSpPr>
          <p:spPr>
            <a:xfrm>
              <a:off x="697992" y="1806892"/>
              <a:ext cx="1714929"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Các kỹ năng, tư duy áp dụng trong dự án</a:t>
              </a:r>
            </a:p>
          </p:txBody>
        </p:sp>
        <p:sp>
          <p:nvSpPr>
            <p:cNvPr id="13" name="TextBox 13"/>
            <p:cNvSpPr txBox="1"/>
            <p:nvPr/>
          </p:nvSpPr>
          <p:spPr>
            <a:xfrm>
              <a:off x="3364992" y="1797368"/>
              <a:ext cx="562736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Horenso, tư duy phản biện, chủ động báo cáo vấn đề và đề xuất</a:t>
              </a:r>
            </a:p>
          </p:txBody>
        </p:sp>
        <p:sp>
          <p:nvSpPr>
            <p:cNvPr id="14" name="TextBox 14"/>
            <p:cNvSpPr txBox="1"/>
            <p:nvPr/>
          </p:nvSpPr>
          <p:spPr>
            <a:xfrm>
              <a:off x="3536442" y="2035492"/>
              <a:ext cx="13313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phương án xử lý</a:t>
              </a:r>
            </a:p>
          </p:txBody>
        </p:sp>
        <p:sp>
          <p:nvSpPr>
            <p:cNvPr id="15" name="TextBox 15"/>
            <p:cNvSpPr txBox="1"/>
            <p:nvPr/>
          </p:nvSpPr>
          <p:spPr>
            <a:xfrm>
              <a:off x="3364992" y="2464118"/>
              <a:ext cx="369415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Sử dụng AI trong việc dev và viết tài liệu</a:t>
              </a:r>
            </a:p>
          </p:txBody>
        </p:sp>
        <p:sp>
          <p:nvSpPr>
            <p:cNvPr id="16" name="TextBox 16"/>
            <p:cNvSpPr txBox="1"/>
            <p:nvPr/>
          </p:nvSpPr>
          <p:spPr>
            <a:xfrm>
              <a:off x="697992" y="3283268"/>
              <a:ext cx="1660922"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Những khó khăn hạn chế gặp phải</a:t>
              </a:r>
            </a:p>
          </p:txBody>
        </p:sp>
        <p:sp>
          <p:nvSpPr>
            <p:cNvPr id="17" name="TextBox 17"/>
            <p:cNvSpPr txBox="1"/>
            <p:nvPr/>
          </p:nvSpPr>
          <p:spPr>
            <a:xfrm>
              <a:off x="3364992" y="3283268"/>
              <a:ext cx="3200819"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Chưa hiểu rõ các thông số cần test</a:t>
              </a:r>
            </a:p>
          </p:txBody>
        </p:sp>
        <p:sp>
          <p:nvSpPr>
            <p:cNvPr id="18" name="TextBox 18"/>
            <p:cNvSpPr txBox="1"/>
            <p:nvPr/>
          </p:nvSpPr>
          <p:spPr>
            <a:xfrm>
              <a:off x="3364992" y="3797618"/>
              <a:ext cx="459151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Đến lúc làm mới biết là cần mắc test cả 2 sơ đồ mắc</a:t>
              </a:r>
            </a:p>
          </p:txBody>
        </p:sp>
        <p:sp>
          <p:nvSpPr>
            <p:cNvPr id="19" name="TextBox 19"/>
            <p:cNvSpPr txBox="1"/>
            <p:nvPr/>
          </p:nvSpPr>
          <p:spPr>
            <a:xfrm>
              <a:off x="697992" y="4902518"/>
              <a:ext cx="129881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Bài học rút ra</a:t>
              </a:r>
            </a:p>
          </p:txBody>
        </p:sp>
        <p:sp>
          <p:nvSpPr>
            <p:cNvPr id="20" name="TextBox 20"/>
            <p:cNvSpPr txBox="1"/>
            <p:nvPr/>
          </p:nvSpPr>
          <p:spPr>
            <a:xfrm>
              <a:off x="3364992" y="4854892"/>
              <a:ext cx="574549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Cần hỏi rõ ý kiến từ cả 2 phía 2 người làm hardware và firmware</a:t>
              </a:r>
            </a:p>
          </p:txBody>
        </p:sp>
        <p:sp>
          <p:nvSpPr>
            <p:cNvPr id="21" name="TextBox 21"/>
            <p:cNvSpPr txBox="1"/>
            <p:nvPr/>
          </p:nvSpPr>
          <p:spPr>
            <a:xfrm>
              <a:off x="3536442" y="5093018"/>
              <a:ext cx="54343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của thiết bị để làm rõ các thông số cần test (a Dũng, a Hoàn)</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14" name="Group 14"/>
          <p:cNvGrpSpPr/>
          <p:nvPr/>
        </p:nvGrpSpPr>
        <p:grpSpPr>
          <a:xfrm>
            <a:off x="503682" y="1240155"/>
            <a:ext cx="4707908" cy="3434715"/>
            <a:chOff x="503682" y="1240155"/>
            <a:chExt cx="4707908" cy="3434715"/>
          </a:xfrm>
        </p:grpSpPr>
        <p:sp>
          <p:nvSpPr>
            <p:cNvPr id="5" name="TextBox 5"/>
            <p:cNvSpPr txBox="1"/>
            <p:nvPr/>
          </p:nvSpPr>
          <p:spPr>
            <a:xfrm>
              <a:off x="503682" y="1240155"/>
              <a:ext cx="181400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3. Dự án KNX</a:t>
              </a:r>
            </a:p>
          </p:txBody>
        </p:sp>
        <p:sp>
          <p:nvSpPr>
            <p:cNvPr id="6" name="Ellipse 6"/>
            <p:cNvSpPr/>
            <p:nvPr/>
          </p:nvSpPr>
          <p:spPr>
            <a:xfrm>
              <a:off x="533400" y="1943100"/>
              <a:ext cx="114300" cy="114300"/>
            </a:xfrm>
            <a:prstGeom prst="ellipse">
              <a:avLst/>
            </a:prstGeom>
            <a:solidFill>
              <a:schemeClr val="accent1"/>
            </a:solidFill>
            <a:ln>
              <a:noFill/>
            </a:ln>
          </p:spPr>
        </p:sp>
        <p:sp>
          <p:nvSpPr>
            <p:cNvPr id="7" name="TextBox 7"/>
            <p:cNvSpPr txBox="1"/>
            <p:nvPr/>
          </p:nvSpPr>
          <p:spPr>
            <a:xfrm>
              <a:off x="773430" y="1914525"/>
              <a:ext cx="294492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Thời gian bắt đầu: 20/11/2026</a:t>
              </a:r>
            </a:p>
          </p:txBody>
        </p:sp>
        <p:sp>
          <p:nvSpPr>
            <p:cNvPr id="8" name="Ellipse 8"/>
            <p:cNvSpPr/>
            <p:nvPr/>
          </p:nvSpPr>
          <p:spPr>
            <a:xfrm>
              <a:off x="533400" y="2400300"/>
              <a:ext cx="114300" cy="114300"/>
            </a:xfrm>
            <a:prstGeom prst="ellipse">
              <a:avLst/>
            </a:prstGeom>
            <a:solidFill>
              <a:schemeClr val="dk1"/>
            </a:solidFill>
            <a:ln>
              <a:noFill/>
            </a:ln>
          </p:spPr>
        </p:sp>
        <p:sp>
          <p:nvSpPr>
            <p:cNvPr id="9" name="TextBox 9"/>
            <p:cNvSpPr txBox="1"/>
            <p:nvPr/>
          </p:nvSpPr>
          <p:spPr>
            <a:xfrm>
              <a:off x="773430" y="2371725"/>
              <a:ext cx="367730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Thời gian hoàn thành: dự án đang chạy</a:t>
              </a:r>
            </a:p>
          </p:txBody>
        </p:sp>
        <p:sp>
          <p:nvSpPr>
            <p:cNvPr id="10" name="TextBox 10"/>
            <p:cNvSpPr txBox="1"/>
            <p:nvPr/>
          </p:nvSpPr>
          <p:spPr>
            <a:xfrm>
              <a:off x="506730" y="3095625"/>
              <a:ext cx="160296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Mục tiêu dự án:</a:t>
              </a:r>
            </a:p>
          </p:txBody>
        </p:sp>
        <p:sp>
          <p:nvSpPr>
            <p:cNvPr id="11" name="TextBox 11"/>
            <p:cNvSpPr txBox="1"/>
            <p:nvPr/>
          </p:nvSpPr>
          <p:spPr>
            <a:xfrm>
              <a:off x="678180" y="3629025"/>
              <a:ext cx="3916410"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Phát triển thiết bị KNX riêng cho Lumi</a:t>
              </a:r>
            </a:p>
          </p:txBody>
        </p:sp>
        <p:sp>
          <p:nvSpPr>
            <p:cNvPr id="12" name="TextBox 12"/>
            <p:cNvSpPr txBox="1"/>
            <p:nvPr/>
          </p:nvSpPr>
          <p:spPr>
            <a:xfrm>
              <a:off x="678180" y="4124325"/>
              <a:ext cx="4533410"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Tích hợp KNX vào hệ thống Lumi và điều khiển</a:t>
              </a:r>
            </a:p>
          </p:txBody>
        </p:sp>
        <p:sp>
          <p:nvSpPr>
            <p:cNvPr id="13" name="TextBox 13"/>
            <p:cNvSpPr txBox="1"/>
            <p:nvPr/>
          </p:nvSpPr>
          <p:spPr>
            <a:xfrm>
              <a:off x="849630" y="4381500"/>
              <a:ext cx="171158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qua App Lumi Life</a:t>
              </a:r>
            </a:p>
          </p:txBody>
        </p:sp>
      </p:grpSp>
      <p:grpSp>
        <p:nvGrpSpPr>
          <p:cNvPr id="17" name="Group 17"/>
          <p:cNvGrpSpPr/>
          <p:nvPr/>
        </p:nvGrpSpPr>
        <p:grpSpPr>
          <a:xfrm>
            <a:off x="6096000" y="1524000"/>
            <a:ext cx="5524500" cy="4095750"/>
            <a:chOff x="6096000" y="1524000"/>
            <a:chExt cx="5524500" cy="4095750"/>
          </a:xfrm>
        </p:grpSpPr>
        <p:sp>
          <p:nvSpPr>
            <p:cNvPr id="15" name="Rectangle 15"/>
            <p:cNvSpPr/>
            <p:nvPr/>
          </p:nvSpPr>
          <p:spPr>
            <a:xfrm>
              <a:off x="6096000" y="1524000"/>
              <a:ext cx="5524500" cy="4095750"/>
            </a:xfrm>
            <a:prstGeom prst="rect">
              <a:avLst/>
            </a:prstGeom>
            <a:solidFill>
              <a:schemeClr val="lt1"/>
            </a:solidFill>
            <a:ln w="19050">
              <a:solidFill>
                <a:schemeClr val="accent3"/>
              </a:solidFill>
            </a:ln>
          </p:spPr>
        </p:sp>
        <p:pic>
          <p:nvPicPr>
            <p:cNvPr id="16" name="Image 16"/>
            <p:cNvPicPr>
              <a:picLocks noChangeAspect="1"/>
            </p:cNvPicPr>
            <p:nvPr/>
          </p:nvPicPr>
          <p:blipFill>
            <a:blip r:embed="rId3"/>
            <a:stretch>
              <a:fillRect/>
            </a:stretch>
          </p:blipFill>
          <p:spPr>
            <a:xfrm>
              <a:off x="6210300" y="2096555"/>
              <a:ext cx="5295900" cy="2950641"/>
            </a:xfrm>
            <a:prstGeom prst="rect">
              <a:avLst/>
            </a:prstGeom>
          </p:spPr>
        </p:pic>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16" name="Group 16"/>
          <p:cNvGrpSpPr/>
          <p:nvPr/>
        </p:nvGrpSpPr>
        <p:grpSpPr>
          <a:xfrm>
            <a:off x="503682" y="1163955"/>
            <a:ext cx="5871286" cy="4415790"/>
            <a:chOff x="503682" y="1163955"/>
            <a:chExt cx="5871286" cy="4415790"/>
          </a:xfrm>
        </p:grpSpPr>
        <p:sp>
          <p:nvSpPr>
            <p:cNvPr id="5" name="TextBox 5"/>
            <p:cNvSpPr txBox="1"/>
            <p:nvPr/>
          </p:nvSpPr>
          <p:spPr>
            <a:xfrm>
              <a:off x="503682" y="1163955"/>
              <a:ext cx="181400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3. Dự án KNX</a:t>
              </a:r>
            </a:p>
          </p:txBody>
        </p:sp>
        <p:sp>
          <p:nvSpPr>
            <p:cNvPr id="6" name="TextBox 6"/>
            <p:cNvSpPr txBox="1"/>
            <p:nvPr/>
          </p:nvSpPr>
          <p:spPr>
            <a:xfrm>
              <a:off x="506730" y="1724025"/>
              <a:ext cx="362697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Công việc cần thực hiện trong dự án</a:t>
              </a:r>
            </a:p>
          </p:txBody>
        </p:sp>
        <p:sp>
          <p:nvSpPr>
            <p:cNvPr id="7" name="TextBox 7"/>
            <p:cNvSpPr txBox="1"/>
            <p:nvPr/>
          </p:nvSpPr>
          <p:spPr>
            <a:xfrm>
              <a:off x="678180" y="2143125"/>
              <a:ext cx="4073721"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Porting KNX Stack sang platform Nordic</a:t>
              </a:r>
            </a:p>
          </p:txBody>
        </p:sp>
        <p:sp>
          <p:nvSpPr>
            <p:cNvPr id="8" name="TextBox 8"/>
            <p:cNvSpPr txBox="1"/>
            <p:nvPr/>
          </p:nvSpPr>
          <p:spPr>
            <a:xfrm>
              <a:off x="678180" y="2581275"/>
              <a:ext cx="5466490"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Phát triển firmware, xử lý phần KNX cho các thiết bị:</a:t>
              </a:r>
            </a:p>
          </p:txBody>
        </p:sp>
        <p:sp>
          <p:nvSpPr>
            <p:cNvPr id="9" name="TextBox 9"/>
            <p:cNvSpPr txBox="1"/>
            <p:nvPr/>
          </p:nvSpPr>
          <p:spPr>
            <a:xfrm>
              <a:off x="868680" y="2838450"/>
              <a:ext cx="510003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Công tắc cảnh 4 nút, Actuator 4 Relay, Rèm, KNOB,</a:t>
              </a:r>
            </a:p>
          </p:txBody>
        </p:sp>
        <p:sp>
          <p:nvSpPr>
            <p:cNvPr id="10" name="TextBox 10"/>
            <p:cNvSpPr txBox="1"/>
            <p:nvPr/>
          </p:nvSpPr>
          <p:spPr>
            <a:xfrm>
              <a:off x="868680" y="3095625"/>
              <a:ext cx="252182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Công tắc cảnh 4 nút + KNX</a:t>
              </a:r>
            </a:p>
          </p:txBody>
        </p:sp>
        <p:sp>
          <p:nvSpPr>
            <p:cNvPr id="11" name="TextBox 11"/>
            <p:cNvSpPr txBox="1"/>
            <p:nvPr/>
          </p:nvSpPr>
          <p:spPr>
            <a:xfrm>
              <a:off x="678180" y="3533775"/>
              <a:ext cx="4778100"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Tạo file .knxprod cho từng sản phẩm phát triển</a:t>
              </a:r>
            </a:p>
          </p:txBody>
        </p:sp>
        <p:sp>
          <p:nvSpPr>
            <p:cNvPr id="12" name="TextBox 12"/>
            <p:cNvSpPr txBox="1"/>
            <p:nvPr/>
          </p:nvSpPr>
          <p:spPr>
            <a:xfrm>
              <a:off x="678180" y="3971925"/>
              <a:ext cx="4729658"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Sử dụng phần mềm ETS để cấu hình cho thiết bị</a:t>
              </a:r>
            </a:p>
          </p:txBody>
        </p:sp>
        <p:sp>
          <p:nvSpPr>
            <p:cNvPr id="13" name="TextBox 13"/>
            <p:cNvSpPr txBox="1"/>
            <p:nvPr/>
          </p:nvSpPr>
          <p:spPr>
            <a:xfrm>
              <a:off x="678180" y="4410075"/>
              <a:ext cx="5696788"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Hỗ trợ tạo file .knxproj trong quá trình test app config</a:t>
              </a:r>
            </a:p>
          </p:txBody>
        </p:sp>
        <p:sp>
          <p:nvSpPr>
            <p:cNvPr id="14" name="TextBox 14"/>
            <p:cNvSpPr txBox="1"/>
            <p:nvPr/>
          </p:nvSpPr>
          <p:spPr>
            <a:xfrm>
              <a:off x="868680" y="4667250"/>
              <a:ext cx="80276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thiết bị</a:t>
              </a:r>
            </a:p>
          </p:txBody>
        </p:sp>
        <p:sp>
          <p:nvSpPr>
            <p:cNvPr id="15" name="TextBox 15"/>
            <p:cNvSpPr txBox="1"/>
            <p:nvPr/>
          </p:nvSpPr>
          <p:spPr>
            <a:xfrm>
              <a:off x="678180" y="5286375"/>
              <a:ext cx="3432253"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Hỗ trợ team Tester test thiết bị</a:t>
              </a:r>
            </a:p>
          </p:txBody>
        </p:sp>
      </p:grpSp>
      <p:grpSp>
        <p:nvGrpSpPr>
          <p:cNvPr id="18" name="Group 18"/>
          <p:cNvGrpSpPr/>
          <p:nvPr/>
        </p:nvGrpSpPr>
        <p:grpSpPr>
          <a:xfrm>
            <a:off x="7524750" y="2354036"/>
            <a:ext cx="4095750" cy="2340429"/>
            <a:chOff x="7524750" y="2354036"/>
            <a:chExt cx="4095750" cy="2340429"/>
          </a:xfrm>
        </p:grpSpPr>
        <p:pic>
          <p:nvPicPr>
            <p:cNvPr id="17" name="Image 17"/>
            <p:cNvPicPr>
              <a:picLocks noChangeAspect="1"/>
            </p:cNvPicPr>
            <p:nvPr/>
          </p:nvPicPr>
          <p:blipFill>
            <a:blip r:embed="rId3"/>
            <a:stretch>
              <a:fillRect/>
            </a:stretch>
          </p:blipFill>
          <p:spPr>
            <a:xfrm>
              <a:off x="7524750" y="2354036"/>
              <a:ext cx="4095750" cy="2340429"/>
            </a:xfrm>
            <a:prstGeom prst="rect">
              <a:avLst/>
            </a:prstGeom>
          </p:spPr>
        </p:pic>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8017439" cy="579501"/>
            <a:chOff x="381000" y="266700"/>
            <a:chExt cx="8017439"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701034" y="3181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6" name="Group 6"/>
          <p:cNvGrpSpPr/>
          <p:nvPr/>
        </p:nvGrpSpPr>
        <p:grpSpPr>
          <a:xfrm>
            <a:off x="503682" y="1011555"/>
            <a:ext cx="1814000" cy="410718"/>
            <a:chOff x="503682" y="1011555"/>
            <a:chExt cx="1814000" cy="410718"/>
          </a:xfrm>
        </p:grpSpPr>
        <p:sp>
          <p:nvSpPr>
            <p:cNvPr id="5" name="TextBox 5"/>
            <p:cNvSpPr txBox="1"/>
            <p:nvPr/>
          </p:nvSpPr>
          <p:spPr>
            <a:xfrm>
              <a:off x="503682" y="1011555"/>
              <a:ext cx="181400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3. Dự án KNX</a:t>
              </a:r>
            </a:p>
          </p:txBody>
        </p:sp>
      </p:grpSp>
      <p:grpSp>
        <p:nvGrpSpPr>
          <p:cNvPr id="24" name="Group 24"/>
          <p:cNvGrpSpPr/>
          <p:nvPr/>
        </p:nvGrpSpPr>
        <p:grpSpPr>
          <a:xfrm>
            <a:off x="514350" y="1504950"/>
            <a:ext cx="11163300" cy="4857750"/>
            <a:chOff x="514350" y="1504950"/>
            <a:chExt cx="11163300" cy="4857750"/>
          </a:xfrm>
        </p:grpSpPr>
        <p:sp>
          <p:nvSpPr>
            <p:cNvPr id="7" name="Rectangle 7"/>
            <p:cNvSpPr/>
            <p:nvPr/>
          </p:nvSpPr>
          <p:spPr>
            <a:xfrm>
              <a:off x="514350" y="1504950"/>
              <a:ext cx="11163300" cy="4857750"/>
            </a:xfrm>
            <a:prstGeom prst="rect">
              <a:avLst/>
            </a:prstGeom>
            <a:solidFill>
              <a:schemeClr val="lt1"/>
            </a:solidFill>
            <a:ln w="19050">
              <a:solidFill>
                <a:schemeClr val="accent3"/>
              </a:solidFill>
            </a:ln>
          </p:spPr>
        </p:sp>
        <p:sp>
          <p:nvSpPr>
            <p:cNvPr id="8" name="Rectangle 8"/>
            <p:cNvSpPr/>
            <p:nvPr/>
          </p:nvSpPr>
          <p:spPr>
            <a:xfrm>
              <a:off x="514350" y="1504950"/>
              <a:ext cx="2381250" cy="4857750"/>
            </a:xfrm>
            <a:prstGeom prst="rect">
              <a:avLst/>
            </a:prstGeom>
            <a:solidFill>
              <a:schemeClr val="lt2"/>
            </a:solidFill>
            <a:ln>
              <a:noFill/>
            </a:ln>
          </p:spPr>
        </p:sp>
        <p:sp>
          <p:nvSpPr>
            <p:cNvPr id="9" name="Line 9"/>
            <p:cNvSpPr/>
            <p:nvPr/>
          </p:nvSpPr>
          <p:spPr>
            <a:xfrm>
              <a:off x="2895600" y="1504950"/>
              <a:ext cx="9525" cy="4857750"/>
            </a:xfrm>
            <a:custGeom>
              <a:avLst/>
              <a:gdLst/>
              <a:ahLst/>
              <a:cxnLst/>
              <a:rect l="l" t="t" r="r" b="b"/>
              <a:pathLst>
                <a:path w="9525" h="4857750">
                  <a:moveTo>
                    <a:pt x="0" y="0"/>
                  </a:moveTo>
                  <a:lnTo>
                    <a:pt x="0" y="4857750"/>
                  </a:lnTo>
                </a:path>
              </a:pathLst>
            </a:custGeom>
            <a:noFill/>
            <a:ln w="19050">
              <a:solidFill>
                <a:schemeClr val="accent3"/>
              </a:solidFill>
            </a:ln>
          </p:spPr>
        </p:sp>
        <p:sp>
          <p:nvSpPr>
            <p:cNvPr id="10" name="TextBox 10"/>
            <p:cNvSpPr txBox="1"/>
            <p:nvPr/>
          </p:nvSpPr>
          <p:spPr>
            <a:xfrm>
              <a:off x="697992" y="1797368"/>
              <a:ext cx="192870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Các kết quả đạt được</a:t>
              </a:r>
            </a:p>
          </p:txBody>
        </p:sp>
        <p:sp>
          <p:nvSpPr>
            <p:cNvPr id="11" name="TextBox 11"/>
            <p:cNvSpPr txBox="1"/>
            <p:nvPr/>
          </p:nvSpPr>
          <p:spPr>
            <a:xfrm>
              <a:off x="3098292" y="1721168"/>
              <a:ext cx="661169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Porting thành công KNX Stack sang platform Nordic (giao tiếp uart và lưu</a:t>
              </a:r>
            </a:p>
          </p:txBody>
        </p:sp>
        <p:sp>
          <p:nvSpPr>
            <p:cNvPr id="12" name="TextBox 12"/>
            <p:cNvSpPr txBox="1"/>
            <p:nvPr/>
          </p:nvSpPr>
          <p:spPr>
            <a:xfrm>
              <a:off x="3269742" y="1949768"/>
              <a:ext cx="21050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cấu hình KNX vào flash)</a:t>
              </a:r>
            </a:p>
          </p:txBody>
        </p:sp>
        <p:sp>
          <p:nvSpPr>
            <p:cNvPr id="13" name="TextBox 13"/>
            <p:cNvSpPr txBox="1"/>
            <p:nvPr/>
          </p:nvSpPr>
          <p:spPr>
            <a:xfrm>
              <a:off x="3098292" y="2349818"/>
              <a:ext cx="578081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Hoàn thành firmware và phần KNX của thiết bị Công tắc 4 nút và</a:t>
              </a:r>
            </a:p>
          </p:txBody>
        </p:sp>
        <p:sp>
          <p:nvSpPr>
            <p:cNvPr id="14" name="TextBox 14"/>
            <p:cNvSpPr txBox="1"/>
            <p:nvPr/>
          </p:nvSpPr>
          <p:spPr>
            <a:xfrm>
              <a:off x="3269742" y="2578418"/>
              <a:ext cx="365509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Actuator 4 relay, đã có tính năng secure</a:t>
              </a:r>
            </a:p>
          </p:txBody>
        </p:sp>
        <p:sp>
          <p:nvSpPr>
            <p:cNvPr id="15" name="TextBox 15"/>
            <p:cNvSpPr txBox="1"/>
            <p:nvPr/>
          </p:nvSpPr>
          <p:spPr>
            <a:xfrm>
              <a:off x="3098292" y="2978468"/>
              <a:ext cx="523992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Tìm hiểu cách sử dụng AI để tạo file .knxprod cho thiết bị</a:t>
              </a:r>
            </a:p>
          </p:txBody>
        </p:sp>
        <p:sp>
          <p:nvSpPr>
            <p:cNvPr id="16" name="TextBox 16"/>
            <p:cNvSpPr txBox="1"/>
            <p:nvPr/>
          </p:nvSpPr>
          <p:spPr>
            <a:xfrm>
              <a:off x="3269742" y="3207068"/>
              <a:ext cx="237629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(cả secure và non-secure)</a:t>
              </a:r>
            </a:p>
          </p:txBody>
        </p:sp>
        <p:sp>
          <p:nvSpPr>
            <p:cNvPr id="17" name="TextBox 17"/>
            <p:cNvSpPr txBox="1"/>
            <p:nvPr/>
          </p:nvSpPr>
          <p:spPr>
            <a:xfrm>
              <a:off x="3098292" y="3607118"/>
              <a:ext cx="568845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Tạo thành công file .knxprod cho thiết bị Công tắc cảnh 4 nút,</a:t>
              </a:r>
            </a:p>
          </p:txBody>
        </p:sp>
        <p:sp>
          <p:nvSpPr>
            <p:cNvPr id="18" name="TextBox 18"/>
            <p:cNvSpPr txBox="1"/>
            <p:nvPr/>
          </p:nvSpPr>
          <p:spPr>
            <a:xfrm>
              <a:off x="3269742" y="3835718"/>
              <a:ext cx="23561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Actuator 4 relay, Rèm KNX</a:t>
              </a:r>
            </a:p>
          </p:txBody>
        </p:sp>
        <p:sp>
          <p:nvSpPr>
            <p:cNvPr id="19" name="TextBox 19"/>
            <p:cNvSpPr txBox="1"/>
            <p:nvPr/>
          </p:nvSpPr>
          <p:spPr>
            <a:xfrm>
              <a:off x="3098292" y="4235768"/>
              <a:ext cx="4865019"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Sử dụng thành thạo phần mềm ETS để tạo file .knxproj</a:t>
              </a:r>
            </a:p>
          </p:txBody>
        </p:sp>
        <p:sp>
          <p:nvSpPr>
            <p:cNvPr id="20" name="TextBox 20"/>
            <p:cNvSpPr txBox="1"/>
            <p:nvPr/>
          </p:nvSpPr>
          <p:spPr>
            <a:xfrm>
              <a:off x="3098292" y="4712018"/>
              <a:ext cx="622025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Bàn giao các file .knxprj (Non Secure, Secure, đủ DPT) cho team App</a:t>
              </a:r>
            </a:p>
          </p:txBody>
        </p:sp>
        <p:sp>
          <p:nvSpPr>
            <p:cNvPr id="21" name="TextBox 21"/>
            <p:cNvSpPr txBox="1"/>
            <p:nvPr/>
          </p:nvSpPr>
          <p:spPr>
            <a:xfrm>
              <a:off x="3269742" y="4940618"/>
              <a:ext cx="390007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và team Tester để thực hiện test app config</a:t>
              </a:r>
            </a:p>
          </p:txBody>
        </p:sp>
        <p:sp>
          <p:nvSpPr>
            <p:cNvPr id="22" name="TextBox 22"/>
            <p:cNvSpPr txBox="1"/>
            <p:nvPr/>
          </p:nvSpPr>
          <p:spPr>
            <a:xfrm>
              <a:off x="3098292" y="5378768"/>
              <a:ext cx="646914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Làm video hướng dẫn và training trực tiếp cho team Tester cách sử dụng</a:t>
              </a:r>
            </a:p>
          </p:txBody>
        </p:sp>
        <p:sp>
          <p:nvSpPr>
            <p:cNvPr id="23" name="TextBox 23"/>
            <p:cNvSpPr txBox="1"/>
            <p:nvPr/>
          </p:nvSpPr>
          <p:spPr>
            <a:xfrm>
              <a:off x="3269742" y="5607368"/>
              <a:ext cx="339553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phần mềm ETS để cấu hình cho thiết bị</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28600"/>
            <a:ext cx="8017439" cy="579501"/>
            <a:chOff x="381000" y="228600"/>
            <a:chExt cx="8017439" cy="579501"/>
          </a:xfrm>
        </p:grpSpPr>
        <p:pic>
          <p:nvPicPr>
            <p:cNvPr id="2" name="Image 2"/>
            <p:cNvPicPr>
              <a:picLocks noChangeAspect="1"/>
            </p:cNvPicPr>
            <p:nvPr/>
          </p:nvPicPr>
          <p:blipFill>
            <a:blip r:embed="rId2"/>
            <a:stretch>
              <a:fillRect/>
            </a:stretch>
          </p:blipFill>
          <p:spPr>
            <a:xfrm>
              <a:off x="381000" y="228600"/>
              <a:ext cx="1238250" cy="361950"/>
            </a:xfrm>
            <a:prstGeom prst="rect">
              <a:avLst/>
            </a:prstGeom>
          </p:spPr>
        </p:pic>
        <p:sp>
          <p:nvSpPr>
            <p:cNvPr id="3" name="TextBox 3"/>
            <p:cNvSpPr txBox="1"/>
            <p:nvPr/>
          </p:nvSpPr>
          <p:spPr>
            <a:xfrm>
              <a:off x="3701034" y="280035"/>
              <a:ext cx="4697405"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Dự án tham gia và kết quả</a:t>
              </a:r>
            </a:p>
          </p:txBody>
        </p:sp>
      </p:grpSp>
      <p:grpSp>
        <p:nvGrpSpPr>
          <p:cNvPr id="6" name="Group 6"/>
          <p:cNvGrpSpPr/>
          <p:nvPr/>
        </p:nvGrpSpPr>
        <p:grpSpPr>
          <a:xfrm>
            <a:off x="503682" y="897255"/>
            <a:ext cx="1814000" cy="410718"/>
            <a:chOff x="503682" y="897255"/>
            <a:chExt cx="1814000" cy="410718"/>
          </a:xfrm>
        </p:grpSpPr>
        <p:sp>
          <p:nvSpPr>
            <p:cNvPr id="5" name="TextBox 5"/>
            <p:cNvSpPr txBox="1"/>
            <p:nvPr/>
          </p:nvSpPr>
          <p:spPr>
            <a:xfrm>
              <a:off x="503682" y="897255"/>
              <a:ext cx="181400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3. Dự án KNX</a:t>
              </a:r>
            </a:p>
          </p:txBody>
        </p:sp>
      </p:grpSp>
      <p:grpSp>
        <p:nvGrpSpPr>
          <p:cNvPr id="29" name="Group 29"/>
          <p:cNvGrpSpPr/>
          <p:nvPr/>
        </p:nvGrpSpPr>
        <p:grpSpPr>
          <a:xfrm>
            <a:off x="514350" y="1352550"/>
            <a:ext cx="11163300" cy="5143500"/>
            <a:chOff x="514350" y="1352550"/>
            <a:chExt cx="11163300" cy="5143500"/>
          </a:xfrm>
        </p:grpSpPr>
        <p:sp>
          <p:nvSpPr>
            <p:cNvPr id="7" name="Rectangle 7"/>
            <p:cNvSpPr/>
            <p:nvPr/>
          </p:nvSpPr>
          <p:spPr>
            <a:xfrm>
              <a:off x="514350" y="1352550"/>
              <a:ext cx="11163300" cy="5143500"/>
            </a:xfrm>
            <a:prstGeom prst="rect">
              <a:avLst/>
            </a:prstGeom>
            <a:solidFill>
              <a:schemeClr val="lt1"/>
            </a:solidFill>
            <a:ln w="19050">
              <a:solidFill>
                <a:schemeClr val="accent3"/>
              </a:solidFill>
            </a:ln>
          </p:spPr>
        </p:sp>
        <p:sp>
          <p:nvSpPr>
            <p:cNvPr id="8" name="Rectangle 8"/>
            <p:cNvSpPr/>
            <p:nvPr/>
          </p:nvSpPr>
          <p:spPr>
            <a:xfrm>
              <a:off x="514350" y="1352550"/>
              <a:ext cx="2476500" cy="5143500"/>
            </a:xfrm>
            <a:prstGeom prst="rect">
              <a:avLst/>
            </a:prstGeom>
            <a:solidFill>
              <a:schemeClr val="lt2"/>
            </a:solidFill>
            <a:ln>
              <a:noFill/>
            </a:ln>
          </p:spPr>
        </p:sp>
        <p:sp>
          <p:nvSpPr>
            <p:cNvPr id="9" name="Line 9"/>
            <p:cNvSpPr/>
            <p:nvPr/>
          </p:nvSpPr>
          <p:spPr>
            <a:xfrm>
              <a:off x="2990850" y="1352550"/>
              <a:ext cx="9525" cy="5143500"/>
            </a:xfrm>
            <a:custGeom>
              <a:avLst/>
              <a:gdLst/>
              <a:ahLst/>
              <a:cxnLst/>
              <a:rect l="l" t="t" r="r" b="b"/>
              <a:pathLst>
                <a:path w="9525" h="5143500">
                  <a:moveTo>
                    <a:pt x="0" y="0"/>
                  </a:moveTo>
                  <a:lnTo>
                    <a:pt x="0" y="5143500"/>
                  </a:lnTo>
                </a:path>
              </a:pathLst>
            </a:custGeom>
            <a:noFill/>
            <a:ln w="19050">
              <a:solidFill>
                <a:schemeClr val="accent3"/>
              </a:solidFill>
            </a:ln>
          </p:spPr>
        </p:sp>
        <p:sp>
          <p:nvSpPr>
            <p:cNvPr id="10" name="Line 10"/>
            <p:cNvSpPr/>
            <p:nvPr/>
          </p:nvSpPr>
          <p:spPr>
            <a:xfrm>
              <a:off x="514350" y="2590800"/>
              <a:ext cx="11163300" cy="9525"/>
            </a:xfrm>
            <a:custGeom>
              <a:avLst/>
              <a:gdLst/>
              <a:ahLst/>
              <a:cxnLst/>
              <a:rect l="l" t="t" r="r" b="b"/>
              <a:pathLst>
                <a:path w="11163300" h="9525">
                  <a:moveTo>
                    <a:pt x="0" y="0"/>
                  </a:moveTo>
                  <a:lnTo>
                    <a:pt x="11163300" y="0"/>
                  </a:lnTo>
                </a:path>
              </a:pathLst>
            </a:custGeom>
            <a:noFill/>
            <a:ln w="19050">
              <a:solidFill>
                <a:schemeClr val="accent3"/>
              </a:solidFill>
            </a:ln>
          </p:spPr>
        </p:sp>
        <p:sp>
          <p:nvSpPr>
            <p:cNvPr id="11" name="Line 11"/>
            <p:cNvSpPr/>
            <p:nvPr/>
          </p:nvSpPr>
          <p:spPr>
            <a:xfrm>
              <a:off x="514350" y="4810125"/>
              <a:ext cx="11163300" cy="9525"/>
            </a:xfrm>
            <a:custGeom>
              <a:avLst/>
              <a:gdLst/>
              <a:ahLst/>
              <a:cxnLst/>
              <a:rect l="l" t="t" r="r" b="b"/>
              <a:pathLst>
                <a:path w="11163300" h="9525">
                  <a:moveTo>
                    <a:pt x="0" y="0"/>
                  </a:moveTo>
                  <a:lnTo>
                    <a:pt x="11163300" y="0"/>
                  </a:lnTo>
                </a:path>
              </a:pathLst>
            </a:custGeom>
            <a:noFill/>
            <a:ln w="19050">
              <a:solidFill>
                <a:schemeClr val="accent3"/>
              </a:solidFill>
            </a:ln>
          </p:spPr>
        </p:sp>
        <p:sp>
          <p:nvSpPr>
            <p:cNvPr id="12" name="TextBox 12"/>
            <p:cNvSpPr txBox="1"/>
            <p:nvPr/>
          </p:nvSpPr>
          <p:spPr>
            <a:xfrm>
              <a:off x="697992" y="1587818"/>
              <a:ext cx="69753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Ưu điểm</a:t>
              </a:r>
            </a:p>
          </p:txBody>
        </p:sp>
        <p:sp>
          <p:nvSpPr>
            <p:cNvPr id="13" name="TextBox 13"/>
            <p:cNvSpPr txBox="1"/>
            <p:nvPr/>
          </p:nvSpPr>
          <p:spPr>
            <a:xfrm>
              <a:off x="3174492" y="1530668"/>
              <a:ext cx="475464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Chủ động horeso, làm việc tốt với các team liên quan</a:t>
              </a:r>
            </a:p>
          </p:txBody>
        </p:sp>
        <p:sp>
          <p:nvSpPr>
            <p:cNvPr id="14" name="TextBox 14"/>
            <p:cNvSpPr txBox="1"/>
            <p:nvPr/>
          </p:nvSpPr>
          <p:spPr>
            <a:xfrm>
              <a:off x="3174492" y="1892618"/>
              <a:ext cx="5121349"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Sử dụng tốt AI trong việc đọc tài liệu, code, viết tài liệu</a:t>
              </a:r>
            </a:p>
          </p:txBody>
        </p:sp>
        <p:sp>
          <p:nvSpPr>
            <p:cNvPr id="15" name="TextBox 15"/>
            <p:cNvSpPr txBox="1"/>
            <p:nvPr/>
          </p:nvSpPr>
          <p:spPr>
            <a:xfrm>
              <a:off x="3174492" y="2254568"/>
              <a:ext cx="7618788"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Hỗ trợ tốt các team tạo file .knxproj, cung cấp kiến thức, cách sử dụng thiết bị KNX</a:t>
              </a:r>
            </a:p>
          </p:txBody>
        </p:sp>
        <p:sp>
          <p:nvSpPr>
            <p:cNvPr id="16" name="TextBox 16"/>
            <p:cNvSpPr txBox="1"/>
            <p:nvPr/>
          </p:nvSpPr>
          <p:spPr>
            <a:xfrm>
              <a:off x="697992" y="2864168"/>
              <a:ext cx="1615916"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Hạn chế + khó khăn gặp phải</a:t>
              </a:r>
            </a:p>
          </p:txBody>
        </p:sp>
        <p:sp>
          <p:nvSpPr>
            <p:cNvPr id="17" name="TextBox 17"/>
            <p:cNvSpPr txBox="1"/>
            <p:nvPr/>
          </p:nvSpPr>
          <p:spPr>
            <a:xfrm>
              <a:off x="3174492" y="2730818"/>
              <a:ext cx="7190439"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Chậm deadline, một số task để trôi 1 2 tuần chưa thực hiện được =&gt; phải thay đổi</a:t>
              </a:r>
            </a:p>
          </p:txBody>
        </p:sp>
        <p:sp>
          <p:nvSpPr>
            <p:cNvPr id="18" name="TextBox 18"/>
            <p:cNvSpPr txBox="1"/>
            <p:nvPr/>
          </p:nvSpPr>
          <p:spPr>
            <a:xfrm>
              <a:off x="3345942" y="2940368"/>
              <a:ext cx="23538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góc nhìn + xin ý kiến từ PM</a:t>
              </a:r>
            </a:p>
          </p:txBody>
        </p:sp>
        <p:sp>
          <p:nvSpPr>
            <p:cNvPr id="19" name="TextBox 19"/>
            <p:cNvSpPr txBox="1"/>
            <p:nvPr/>
          </p:nvSpPr>
          <p:spPr>
            <a:xfrm>
              <a:off x="3174492" y="3226118"/>
              <a:ext cx="674522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Thiếu kiến thức về các tính năng của sản phẩm(công tắc, actuator,rèm,…)</a:t>
              </a:r>
            </a:p>
          </p:txBody>
        </p:sp>
        <p:sp>
          <p:nvSpPr>
            <p:cNvPr id="20" name="TextBox 20"/>
            <p:cNvSpPr txBox="1"/>
            <p:nvPr/>
          </p:nvSpPr>
          <p:spPr>
            <a:xfrm>
              <a:off x="3174492" y="3569018"/>
              <a:ext cx="451853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Quy trình làm việc giữa các team chưa nắm rõ hết</a:t>
              </a:r>
            </a:p>
          </p:txBody>
        </p:sp>
        <p:sp>
          <p:nvSpPr>
            <p:cNvPr id="21" name="TextBox 21"/>
            <p:cNvSpPr txBox="1"/>
            <p:nvPr/>
          </p:nvSpPr>
          <p:spPr>
            <a:xfrm>
              <a:off x="3174492" y="3911918"/>
              <a:ext cx="497625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Sử dụng AI để code nhiều nhưng chưa kiểm soát được hết</a:t>
              </a:r>
            </a:p>
          </p:txBody>
        </p:sp>
        <p:sp>
          <p:nvSpPr>
            <p:cNvPr id="22" name="TextBox 22"/>
            <p:cNvSpPr txBox="1"/>
            <p:nvPr/>
          </p:nvSpPr>
          <p:spPr>
            <a:xfrm>
              <a:off x="3174492" y="4254818"/>
              <a:ext cx="493618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Thực hiện chưa tốt việc lên kế hoạch công việc tuần tới</a:t>
              </a:r>
            </a:p>
          </p:txBody>
        </p:sp>
        <p:sp>
          <p:nvSpPr>
            <p:cNvPr id="23" name="TextBox 23"/>
            <p:cNvSpPr txBox="1"/>
            <p:nvPr/>
          </p:nvSpPr>
          <p:spPr>
            <a:xfrm>
              <a:off x="3174492" y="4559618"/>
              <a:ext cx="611331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Tồn tại vấn đề chưa xử lý được: chỉ đang nạp được tối đa 5 GA secure</a:t>
              </a:r>
            </a:p>
          </p:txBody>
        </p:sp>
        <p:sp>
          <p:nvSpPr>
            <p:cNvPr id="24" name="TextBox 24"/>
            <p:cNvSpPr txBox="1"/>
            <p:nvPr/>
          </p:nvSpPr>
          <p:spPr>
            <a:xfrm>
              <a:off x="697992" y="5093018"/>
              <a:ext cx="1570911"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Bài học + kế hoạch tiếp theo</a:t>
              </a:r>
            </a:p>
          </p:txBody>
        </p:sp>
        <p:sp>
          <p:nvSpPr>
            <p:cNvPr id="25" name="TextBox 25"/>
            <p:cNvSpPr txBox="1"/>
            <p:nvPr/>
          </p:nvSpPr>
          <p:spPr>
            <a:xfrm>
              <a:off x="3174492" y="4978718"/>
              <a:ext cx="420018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Cải thiện hơn quy trình làm việc giữa các team</a:t>
              </a:r>
            </a:p>
          </p:txBody>
        </p:sp>
        <p:sp>
          <p:nvSpPr>
            <p:cNvPr id="26" name="TextBox 26"/>
            <p:cNvSpPr txBox="1"/>
            <p:nvPr/>
          </p:nvSpPr>
          <p:spPr>
            <a:xfrm>
              <a:off x="3174492" y="5283518"/>
              <a:ext cx="274646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Chủ động hơn khi gặp khó khăn</a:t>
              </a:r>
            </a:p>
          </p:txBody>
        </p:sp>
        <p:sp>
          <p:nvSpPr>
            <p:cNvPr id="27" name="TextBox 27"/>
            <p:cNvSpPr txBox="1"/>
            <p:nvPr/>
          </p:nvSpPr>
          <p:spPr>
            <a:xfrm>
              <a:off x="3174492" y="5588318"/>
              <a:ext cx="627209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Phân chia thời gian tự review code, kiểm soát chất lượng code tốt hơn</a:t>
              </a:r>
            </a:p>
          </p:txBody>
        </p:sp>
        <p:sp>
          <p:nvSpPr>
            <p:cNvPr id="28" name="TextBox 28"/>
            <p:cNvSpPr txBox="1"/>
            <p:nvPr/>
          </p:nvSpPr>
          <p:spPr>
            <a:xfrm>
              <a:off x="3174492" y="5893118"/>
              <a:ext cx="552825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Hoàn thành firmware các thiết bị KNX, xử lý các bug gặp phải</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7890125" cy="579501"/>
            <a:chOff x="381000" y="266700"/>
            <a:chExt cx="7890125"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415284" y="318135"/>
              <a:ext cx="4855841"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Áp dụng AI trong công việc</a:t>
              </a:r>
            </a:p>
          </p:txBody>
        </p:sp>
      </p:grpSp>
      <p:grpSp>
        <p:nvGrpSpPr>
          <p:cNvPr id="14" name="Group 14"/>
          <p:cNvGrpSpPr/>
          <p:nvPr/>
        </p:nvGrpSpPr>
        <p:grpSpPr>
          <a:xfrm>
            <a:off x="541782" y="1716405"/>
            <a:ext cx="5116354" cy="3244215"/>
            <a:chOff x="541782" y="1716405"/>
            <a:chExt cx="5116354" cy="3244215"/>
          </a:xfrm>
        </p:grpSpPr>
        <p:sp>
          <p:nvSpPr>
            <p:cNvPr id="5" name="TextBox 5"/>
            <p:cNvSpPr txBox="1"/>
            <p:nvPr/>
          </p:nvSpPr>
          <p:spPr>
            <a:xfrm>
              <a:off x="541782" y="1716405"/>
              <a:ext cx="179059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Ứng dụng AI:</a:t>
              </a:r>
            </a:p>
          </p:txBody>
        </p:sp>
        <p:sp>
          <p:nvSpPr>
            <p:cNvPr id="6" name="Ellipse 6"/>
            <p:cNvSpPr/>
            <p:nvPr/>
          </p:nvSpPr>
          <p:spPr>
            <a:xfrm>
              <a:off x="561975" y="2505075"/>
              <a:ext cx="133350" cy="133350"/>
            </a:xfrm>
            <a:prstGeom prst="ellipse">
              <a:avLst/>
            </a:prstGeom>
            <a:solidFill>
              <a:schemeClr val="accent2"/>
            </a:solidFill>
            <a:ln>
              <a:noFill/>
            </a:ln>
          </p:spPr>
        </p:sp>
        <p:sp>
          <p:nvSpPr>
            <p:cNvPr id="7" name="TextBox 7"/>
            <p:cNvSpPr txBox="1"/>
            <p:nvPr/>
          </p:nvSpPr>
          <p:spPr>
            <a:xfrm>
              <a:off x="849630" y="2381250"/>
              <a:ext cx="4206240" cy="550545"/>
            </a:xfrm>
            <a:prstGeom prst="rect">
              <a:avLst/>
            </a:prstGeom>
            <a:noFill/>
            <a:ln>
              <a:noFill/>
            </a:ln>
          </p:spPr>
          <p:txBody>
            <a:bodyPr wrap="square" lIns="0" tIns="0" rIns="0" bIns="0" anchor="t" anchorCtr="0"/>
            <a:lstStyle/>
            <a:p>
              <a:pPr algn="l">
                <a:lnSpc>
                  <a:spcPts val="2025"/>
                </a:lnSpc>
              </a:pPr>
              <a:r>
                <a:rPr lang="en-US" sz="1500" dirty="0">
                  <a:solidFill>
                    <a:schemeClr val="dk1"/>
                  </a:solidFill>
                  <a:latin typeface="+mn-lt"/>
                  <a:ea typeface="+mn-ea"/>
                  <a:cs typeface="+mn-cs"/>
                </a:rPr>
                <a:t>Hỗ trợ viết code, debug và tối ưu thuật toán, kiến thức về MCU, SDK</a:t>
              </a:r>
            </a:p>
          </p:txBody>
        </p:sp>
        <p:sp>
          <p:nvSpPr>
            <p:cNvPr id="8" name="Ellipse 8"/>
            <p:cNvSpPr/>
            <p:nvPr/>
          </p:nvSpPr>
          <p:spPr>
            <a:xfrm>
              <a:off x="561975" y="3362325"/>
              <a:ext cx="133350" cy="133350"/>
            </a:xfrm>
            <a:prstGeom prst="ellipse">
              <a:avLst/>
            </a:prstGeom>
            <a:solidFill>
              <a:schemeClr val="accent1"/>
            </a:solidFill>
            <a:ln>
              <a:noFill/>
            </a:ln>
          </p:spPr>
        </p:sp>
        <p:sp>
          <p:nvSpPr>
            <p:cNvPr id="9" name="TextBox 9"/>
            <p:cNvSpPr txBox="1"/>
            <p:nvPr/>
          </p:nvSpPr>
          <p:spPr>
            <a:xfrm>
              <a:off x="849630" y="3333750"/>
              <a:ext cx="418213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Tóm tắt, tra cứu và đọc hiểu tài liệu nhanh</a:t>
              </a:r>
            </a:p>
          </p:txBody>
        </p:sp>
        <p:sp>
          <p:nvSpPr>
            <p:cNvPr id="10" name="Ellipse 10"/>
            <p:cNvSpPr/>
            <p:nvPr/>
          </p:nvSpPr>
          <p:spPr>
            <a:xfrm>
              <a:off x="561975" y="4029075"/>
              <a:ext cx="133350" cy="133350"/>
            </a:xfrm>
            <a:prstGeom prst="ellipse">
              <a:avLst/>
            </a:prstGeom>
            <a:solidFill>
              <a:schemeClr val="accent2"/>
            </a:solidFill>
            <a:ln>
              <a:noFill/>
            </a:ln>
          </p:spPr>
        </p:sp>
        <p:sp>
          <p:nvSpPr>
            <p:cNvPr id="11" name="TextBox 11"/>
            <p:cNvSpPr txBox="1"/>
            <p:nvPr/>
          </p:nvSpPr>
          <p:spPr>
            <a:xfrm>
              <a:off x="849630" y="4000500"/>
              <a:ext cx="480850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Thu hẹp rào cản ngoại ngữ (dịch, viết, giao tiếp)</a:t>
              </a:r>
            </a:p>
          </p:txBody>
        </p:sp>
        <p:sp>
          <p:nvSpPr>
            <p:cNvPr id="12" name="Ellipse 12"/>
            <p:cNvSpPr/>
            <p:nvPr/>
          </p:nvSpPr>
          <p:spPr>
            <a:xfrm>
              <a:off x="561975" y="4695825"/>
              <a:ext cx="133350" cy="133350"/>
            </a:xfrm>
            <a:prstGeom prst="ellipse">
              <a:avLst/>
            </a:prstGeom>
            <a:solidFill>
              <a:schemeClr val="accent1"/>
            </a:solidFill>
            <a:ln>
              <a:noFill/>
            </a:ln>
          </p:spPr>
        </p:sp>
        <p:sp>
          <p:nvSpPr>
            <p:cNvPr id="13" name="TextBox 13"/>
            <p:cNvSpPr txBox="1"/>
            <p:nvPr/>
          </p:nvSpPr>
          <p:spPr>
            <a:xfrm>
              <a:off x="849630" y="4667250"/>
              <a:ext cx="362672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Tăng tốc học tập và giải quyết vấn đề</a:t>
              </a:r>
            </a:p>
          </p:txBody>
        </p:sp>
      </p:grpSp>
      <p:grpSp>
        <p:nvGrpSpPr>
          <p:cNvPr id="17" name="Group 17"/>
          <p:cNvGrpSpPr/>
          <p:nvPr/>
        </p:nvGrpSpPr>
        <p:grpSpPr>
          <a:xfrm>
            <a:off x="6667500" y="1428750"/>
            <a:ext cx="4953000" cy="4095750"/>
            <a:chOff x="6667500" y="1428750"/>
            <a:chExt cx="4953000" cy="4095750"/>
          </a:xfrm>
        </p:grpSpPr>
        <p:sp>
          <p:nvSpPr>
            <p:cNvPr id="15" name="Rectangle 15"/>
            <p:cNvSpPr/>
            <p:nvPr/>
          </p:nvSpPr>
          <p:spPr>
            <a:xfrm>
              <a:off x="6667500" y="1428750"/>
              <a:ext cx="4953000" cy="4095750"/>
            </a:xfrm>
            <a:prstGeom prst="rect">
              <a:avLst/>
            </a:prstGeom>
            <a:solidFill>
              <a:schemeClr val="lt2"/>
            </a:solidFill>
            <a:ln w="19050">
              <a:solidFill>
                <a:schemeClr val="accent1"/>
              </a:solidFill>
            </a:ln>
          </p:spPr>
        </p:sp>
        <p:pic>
          <p:nvPicPr>
            <p:cNvPr id="16" name="Image 16"/>
            <p:cNvPicPr>
              <a:picLocks noChangeAspect="1"/>
            </p:cNvPicPr>
            <p:nvPr/>
          </p:nvPicPr>
          <p:blipFill>
            <a:blip r:embed="rId3"/>
            <a:stretch>
              <a:fillRect/>
            </a:stretch>
          </p:blipFill>
          <p:spPr>
            <a:xfrm>
              <a:off x="6762750" y="1697664"/>
              <a:ext cx="4762500" cy="3557922"/>
            </a:xfrm>
            <a:prstGeom prst="rect">
              <a:avLst/>
            </a:prstGeom>
          </p:spPr>
        </p:pic>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66700"/>
            <a:ext cx="7890125" cy="579501"/>
            <a:chOff x="381000" y="266700"/>
            <a:chExt cx="7890125" cy="579501"/>
          </a:xfrm>
        </p:grpSpPr>
        <p:pic>
          <p:nvPicPr>
            <p:cNvPr id="2" name="Image 2"/>
            <p:cNvPicPr>
              <a:picLocks noChangeAspect="1"/>
            </p:cNvPicPr>
            <p:nvPr/>
          </p:nvPicPr>
          <p:blipFill>
            <a:blip r:embed="rId2"/>
            <a:stretch>
              <a:fillRect/>
            </a:stretch>
          </p:blipFill>
          <p:spPr>
            <a:xfrm>
              <a:off x="381000" y="266700"/>
              <a:ext cx="1238250" cy="361950"/>
            </a:xfrm>
            <a:prstGeom prst="rect">
              <a:avLst/>
            </a:prstGeom>
          </p:spPr>
        </p:pic>
        <p:sp>
          <p:nvSpPr>
            <p:cNvPr id="3" name="TextBox 3"/>
            <p:cNvSpPr txBox="1"/>
            <p:nvPr/>
          </p:nvSpPr>
          <p:spPr>
            <a:xfrm>
              <a:off x="3415284" y="318135"/>
              <a:ext cx="4855841"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Áp dụng AI trong công việc</a:t>
              </a:r>
            </a:p>
          </p:txBody>
        </p:sp>
      </p:grpSp>
      <p:grpSp>
        <p:nvGrpSpPr>
          <p:cNvPr id="23" name="Group 23"/>
          <p:cNvGrpSpPr/>
          <p:nvPr/>
        </p:nvGrpSpPr>
        <p:grpSpPr>
          <a:xfrm>
            <a:off x="514350" y="1143000"/>
            <a:ext cx="11163300" cy="5286375"/>
            <a:chOff x="514350" y="1143000"/>
            <a:chExt cx="11163300" cy="5286375"/>
          </a:xfrm>
        </p:grpSpPr>
        <p:sp>
          <p:nvSpPr>
            <p:cNvPr id="5" name="Rectangle 5"/>
            <p:cNvSpPr/>
            <p:nvPr/>
          </p:nvSpPr>
          <p:spPr>
            <a:xfrm>
              <a:off x="514350" y="1143000"/>
              <a:ext cx="11163300" cy="5286375"/>
            </a:xfrm>
            <a:prstGeom prst="rect">
              <a:avLst/>
            </a:prstGeom>
            <a:solidFill>
              <a:schemeClr val="lt1"/>
            </a:solidFill>
            <a:ln w="19050">
              <a:solidFill>
                <a:schemeClr val="accent3"/>
              </a:solidFill>
            </a:ln>
          </p:spPr>
        </p:sp>
        <p:sp>
          <p:nvSpPr>
            <p:cNvPr id="6" name="Rectangle 6"/>
            <p:cNvSpPr/>
            <p:nvPr/>
          </p:nvSpPr>
          <p:spPr>
            <a:xfrm>
              <a:off x="514350" y="1143000"/>
              <a:ext cx="2476500" cy="5286375"/>
            </a:xfrm>
            <a:prstGeom prst="rect">
              <a:avLst/>
            </a:prstGeom>
            <a:solidFill>
              <a:schemeClr val="lt2"/>
            </a:solidFill>
            <a:ln>
              <a:noFill/>
            </a:ln>
          </p:spPr>
        </p:sp>
        <p:sp>
          <p:nvSpPr>
            <p:cNvPr id="7" name="Line 7"/>
            <p:cNvSpPr/>
            <p:nvPr/>
          </p:nvSpPr>
          <p:spPr>
            <a:xfrm>
              <a:off x="2990850" y="1143000"/>
              <a:ext cx="9525" cy="5286375"/>
            </a:xfrm>
            <a:custGeom>
              <a:avLst/>
              <a:gdLst/>
              <a:ahLst/>
              <a:cxnLst/>
              <a:rect l="l" t="t" r="r" b="b"/>
              <a:pathLst>
                <a:path w="9525" h="5286375">
                  <a:moveTo>
                    <a:pt x="0" y="0"/>
                  </a:moveTo>
                  <a:lnTo>
                    <a:pt x="0" y="5286375"/>
                  </a:lnTo>
                </a:path>
              </a:pathLst>
            </a:custGeom>
            <a:noFill/>
            <a:ln w="19050">
              <a:solidFill>
                <a:schemeClr val="accent3"/>
              </a:solidFill>
            </a:ln>
          </p:spPr>
        </p:sp>
        <p:sp>
          <p:nvSpPr>
            <p:cNvPr id="8" name="Line 8"/>
            <p:cNvSpPr/>
            <p:nvPr/>
          </p:nvSpPr>
          <p:spPr>
            <a:xfrm>
              <a:off x="514350" y="4667250"/>
              <a:ext cx="11163300" cy="9525"/>
            </a:xfrm>
            <a:custGeom>
              <a:avLst/>
              <a:gdLst/>
              <a:ahLst/>
              <a:cxnLst/>
              <a:rect l="l" t="t" r="r" b="b"/>
              <a:pathLst>
                <a:path w="11163300" h="9525">
                  <a:moveTo>
                    <a:pt x="0" y="0"/>
                  </a:moveTo>
                  <a:lnTo>
                    <a:pt x="11163300" y="0"/>
                  </a:lnTo>
                </a:path>
              </a:pathLst>
            </a:custGeom>
            <a:noFill/>
            <a:ln w="19050">
              <a:solidFill>
                <a:schemeClr val="accent3"/>
              </a:solidFill>
            </a:ln>
          </p:spPr>
        </p:sp>
        <p:sp>
          <p:nvSpPr>
            <p:cNvPr id="9" name="TextBox 9"/>
            <p:cNvSpPr txBox="1"/>
            <p:nvPr/>
          </p:nvSpPr>
          <p:spPr>
            <a:xfrm>
              <a:off x="697992" y="1416368"/>
              <a:ext cx="1516904"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Áp dụng vào dự án cụ thể</a:t>
              </a:r>
            </a:p>
          </p:txBody>
        </p:sp>
        <p:sp>
          <p:nvSpPr>
            <p:cNvPr id="10" name="TextBox 10"/>
            <p:cNvSpPr txBox="1"/>
            <p:nvPr/>
          </p:nvSpPr>
          <p:spPr>
            <a:xfrm>
              <a:off x="3174492" y="1359218"/>
              <a:ext cx="223718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Review về kiến trúc dự án</a:t>
              </a:r>
            </a:p>
          </p:txBody>
        </p:sp>
        <p:sp>
          <p:nvSpPr>
            <p:cNvPr id="11" name="TextBox 11"/>
            <p:cNvSpPr txBox="1"/>
            <p:nvPr/>
          </p:nvSpPr>
          <p:spPr>
            <a:xfrm>
              <a:off x="3174492" y="1721168"/>
              <a:ext cx="521817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Đọc tài liệu datasheet chip, SDK, lên plan và tiến hành code</a:t>
              </a:r>
            </a:p>
          </p:txBody>
        </p:sp>
        <p:sp>
          <p:nvSpPr>
            <p:cNvPr id="12" name="TextBox 12"/>
            <p:cNvSpPr txBox="1"/>
            <p:nvPr/>
          </p:nvSpPr>
          <p:spPr>
            <a:xfrm>
              <a:off x="3345942" y="2083118"/>
              <a:ext cx="783633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KNX: datasheet chip NCN5120, đọc tài liệu The KNX Standard, đọc nrf SDK, code, debug</a:t>
              </a:r>
            </a:p>
          </p:txBody>
        </p:sp>
        <p:sp>
          <p:nvSpPr>
            <p:cNvPr id="13" name="TextBox 13"/>
            <p:cNvSpPr txBox="1"/>
            <p:nvPr/>
          </p:nvSpPr>
          <p:spPr>
            <a:xfrm>
              <a:off x="3345942" y="2445068"/>
              <a:ext cx="5422041"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Dev Tool Jig: đọc datasheet BL0906, EEPROM, STM32, code</a:t>
              </a:r>
            </a:p>
          </p:txBody>
        </p:sp>
        <p:sp>
          <p:nvSpPr>
            <p:cNvPr id="14" name="TextBox 14"/>
            <p:cNvSpPr txBox="1"/>
            <p:nvPr/>
          </p:nvSpPr>
          <p:spPr>
            <a:xfrm>
              <a:off x="3174492" y="2959418"/>
              <a:ext cx="50003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Lập trình những ngôn ngữ chưa được học (python, xml,…)</a:t>
              </a:r>
            </a:p>
          </p:txBody>
        </p:sp>
        <p:sp>
          <p:nvSpPr>
            <p:cNvPr id="15" name="TextBox 15"/>
            <p:cNvSpPr txBox="1"/>
            <p:nvPr/>
          </p:nvSpPr>
          <p:spPr>
            <a:xfrm>
              <a:off x="3345942" y="3321368"/>
              <a:ext cx="733562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Python: phân tích data, thao tác với các file khác trên máy, xử lý file âm thanh,</a:t>
              </a:r>
            </a:p>
          </p:txBody>
        </p:sp>
        <p:sp>
          <p:nvSpPr>
            <p:cNvPr id="16" name="TextBox 16"/>
            <p:cNvSpPr txBox="1"/>
            <p:nvPr/>
          </p:nvSpPr>
          <p:spPr>
            <a:xfrm>
              <a:off x="3517392" y="3549968"/>
              <a:ext cx="16766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capture log uart,…</a:t>
              </a:r>
            </a:p>
          </p:txBody>
        </p:sp>
        <p:sp>
          <p:nvSpPr>
            <p:cNvPr id="17" name="TextBox 17"/>
            <p:cNvSpPr txBox="1"/>
            <p:nvPr/>
          </p:nvSpPr>
          <p:spPr>
            <a:xfrm>
              <a:off x="3345942" y="3950018"/>
              <a:ext cx="289647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XML: phục vụ tạo file .knxprod</a:t>
              </a:r>
            </a:p>
          </p:txBody>
        </p:sp>
        <p:sp>
          <p:nvSpPr>
            <p:cNvPr id="18" name="TextBox 18"/>
            <p:cNvSpPr txBox="1"/>
            <p:nvPr/>
          </p:nvSpPr>
          <p:spPr>
            <a:xfrm>
              <a:off x="697992" y="4959668"/>
              <a:ext cx="1579912" cy="502158"/>
            </a:xfrm>
            <a:prstGeom prst="rect">
              <a:avLst/>
            </a:prstGeom>
            <a:noFill/>
            <a:ln>
              <a:noFill/>
            </a:ln>
          </p:spPr>
          <p:txBody>
            <a:bodyPr wrap="square" lIns="0" tIns="0" rIns="0" bIns="0" anchor="t" anchorCtr="0"/>
            <a:lstStyle/>
            <a:p>
              <a:pPr algn="l">
                <a:lnSpc>
                  <a:spcPts val="1875"/>
                </a:lnSpc>
              </a:pPr>
              <a:r>
                <a:rPr lang="en-US" sz="1350" b="1" dirty="0">
                  <a:solidFill>
                    <a:schemeClr val="dk1"/>
                  </a:solidFill>
                  <a:latin typeface="+mn-lt"/>
                  <a:ea typeface="+mn-ea"/>
                  <a:cs typeface="+mn-cs"/>
                </a:rPr>
                <a:t>Viết tài liệu HDSD, áp dụng AI</a:t>
              </a:r>
            </a:p>
          </p:txBody>
        </p:sp>
        <p:sp>
          <p:nvSpPr>
            <p:cNvPr id="19" name="TextBox 19"/>
            <p:cNvSpPr txBox="1"/>
            <p:nvPr/>
          </p:nvSpPr>
          <p:spPr>
            <a:xfrm>
              <a:off x="3174492" y="4864418"/>
              <a:ext cx="220984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Viết các tài liệu, báo cáo</a:t>
              </a:r>
            </a:p>
          </p:txBody>
        </p:sp>
        <p:sp>
          <p:nvSpPr>
            <p:cNvPr id="20" name="TextBox 20"/>
            <p:cNvSpPr txBox="1"/>
            <p:nvPr/>
          </p:nvSpPr>
          <p:spPr>
            <a:xfrm>
              <a:off x="3174492" y="5226368"/>
              <a:ext cx="36214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Hướng dẫn sử dụng speckit: </a:t>
              </a:r>
              <a:r>
                <a:rPr lang="en-US" sz="1350" u="sng" dirty="0">
                  <a:solidFill>
                    <a:schemeClr val="accent2"/>
                  </a:solidFill>
                  <a:latin typeface="+mn-lt"/>
                  <a:ea typeface="+mn-ea"/>
                  <a:cs typeface="+mn-cs"/>
                </a:rPr>
                <a:t>Speckit Guide</a:t>
              </a:r>
            </a:p>
          </p:txBody>
        </p:sp>
        <p:sp>
          <p:nvSpPr>
            <p:cNvPr id="21" name="TextBox 21"/>
            <p:cNvSpPr txBox="1"/>
            <p:nvPr/>
          </p:nvSpPr>
          <p:spPr>
            <a:xfrm>
              <a:off x="3174492" y="5588318"/>
              <a:ext cx="32593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Hướng dẫn sử dụng BMAD: </a:t>
              </a:r>
              <a:r>
                <a:rPr lang="en-US" sz="1350" u="sng" dirty="0">
                  <a:solidFill>
                    <a:schemeClr val="accent2"/>
                  </a:solidFill>
                  <a:latin typeface="+mn-lt"/>
                  <a:ea typeface="+mn-ea"/>
                  <a:cs typeface="+mn-cs"/>
                </a:rPr>
                <a:t>BMAD GUIDE</a:t>
              </a:r>
            </a:p>
          </p:txBody>
        </p:sp>
        <p:sp>
          <p:nvSpPr>
            <p:cNvPr id="22" name="TextBox 22"/>
            <p:cNvSpPr txBox="1"/>
            <p:nvPr/>
          </p:nvSpPr>
          <p:spPr>
            <a:xfrm>
              <a:off x="3174492" y="5950268"/>
              <a:ext cx="38628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Cuộc thi AI (được sếp trao giải 3): </a:t>
              </a:r>
              <a:r>
                <a:rPr lang="en-US" sz="1350" u="sng" dirty="0">
                  <a:solidFill>
                    <a:schemeClr val="accent2"/>
                  </a:solidFill>
                  <a:latin typeface="+mn-lt"/>
                  <a:ea typeface="+mn-ea"/>
                  <a:cs typeface="+mn-cs"/>
                </a:rPr>
                <a:t>Dương NV</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47650"/>
            <a:ext cx="8036746" cy="579501"/>
            <a:chOff x="381000" y="247650"/>
            <a:chExt cx="8036746" cy="579501"/>
          </a:xfrm>
        </p:grpSpPr>
        <p:pic>
          <p:nvPicPr>
            <p:cNvPr id="2" name="Image 2"/>
            <p:cNvPicPr>
              <a:picLocks noChangeAspect="1"/>
            </p:cNvPicPr>
            <p:nvPr/>
          </p:nvPicPr>
          <p:blipFill>
            <a:blip r:embed="rId2"/>
            <a:stretch>
              <a:fillRect/>
            </a:stretch>
          </p:blipFill>
          <p:spPr>
            <a:xfrm>
              <a:off x="381000" y="247650"/>
              <a:ext cx="1238250" cy="361950"/>
            </a:xfrm>
            <a:prstGeom prst="rect">
              <a:avLst/>
            </a:prstGeom>
          </p:spPr>
        </p:pic>
        <p:sp>
          <p:nvSpPr>
            <p:cNvPr id="3" name="TextBox 3"/>
            <p:cNvSpPr txBox="1"/>
            <p:nvPr/>
          </p:nvSpPr>
          <p:spPr>
            <a:xfrm>
              <a:off x="3510534" y="299085"/>
              <a:ext cx="4907212"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Tự đánh giá ưu, nhược điểm</a:t>
              </a:r>
            </a:p>
          </p:txBody>
        </p:sp>
      </p:grpSp>
      <p:grpSp>
        <p:nvGrpSpPr>
          <p:cNvPr id="23" name="Group 23"/>
          <p:cNvGrpSpPr/>
          <p:nvPr/>
        </p:nvGrpSpPr>
        <p:grpSpPr>
          <a:xfrm>
            <a:off x="514350" y="1066800"/>
            <a:ext cx="5737947" cy="5391150"/>
            <a:chOff x="514350" y="1066800"/>
            <a:chExt cx="5737947" cy="5391150"/>
          </a:xfrm>
        </p:grpSpPr>
        <p:sp>
          <p:nvSpPr>
            <p:cNvPr id="5" name="Rectangle 5"/>
            <p:cNvSpPr/>
            <p:nvPr/>
          </p:nvSpPr>
          <p:spPr>
            <a:xfrm>
              <a:off x="514350" y="1066800"/>
              <a:ext cx="5391150" cy="5391150"/>
            </a:xfrm>
            <a:prstGeom prst="rect">
              <a:avLst/>
            </a:prstGeom>
            <a:solidFill>
              <a:schemeClr val="lt1"/>
            </a:solidFill>
            <a:ln w="19050">
              <a:solidFill>
                <a:schemeClr val="accent3"/>
              </a:solidFill>
            </a:ln>
          </p:spPr>
        </p:sp>
        <p:sp>
          <p:nvSpPr>
            <p:cNvPr id="6" name="Rectangle 6"/>
            <p:cNvSpPr/>
            <p:nvPr/>
          </p:nvSpPr>
          <p:spPr>
            <a:xfrm>
              <a:off x="514350" y="1066800"/>
              <a:ext cx="5391150" cy="457200"/>
            </a:xfrm>
            <a:prstGeom prst="rect">
              <a:avLst/>
            </a:prstGeom>
            <a:solidFill>
              <a:schemeClr val="lt2"/>
            </a:solidFill>
            <a:ln>
              <a:noFill/>
            </a:ln>
          </p:spPr>
        </p:sp>
        <p:sp>
          <p:nvSpPr>
            <p:cNvPr id="7" name="TextBox 7"/>
            <p:cNvSpPr txBox="1"/>
            <p:nvPr/>
          </p:nvSpPr>
          <p:spPr>
            <a:xfrm>
              <a:off x="2822408" y="1209675"/>
              <a:ext cx="775035"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Ưu điểm</a:t>
              </a:r>
            </a:p>
          </p:txBody>
        </p:sp>
        <p:sp>
          <p:nvSpPr>
            <p:cNvPr id="8" name="TextBox 8"/>
            <p:cNvSpPr txBox="1"/>
            <p:nvPr/>
          </p:nvSpPr>
          <p:spPr>
            <a:xfrm>
              <a:off x="697992" y="1664018"/>
              <a:ext cx="116586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Chuyên môn:</a:t>
              </a:r>
            </a:p>
          </p:txBody>
        </p:sp>
        <p:sp>
          <p:nvSpPr>
            <p:cNvPr id="9" name="TextBox 9"/>
            <p:cNvSpPr txBox="1"/>
            <p:nvPr/>
          </p:nvSpPr>
          <p:spPr>
            <a:xfrm>
              <a:off x="697992" y="1987868"/>
              <a:ext cx="500001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Tìm hiểu nhanh, tiếp cận nhanh với những công nghệ mới</a:t>
              </a:r>
            </a:p>
          </p:txBody>
        </p:sp>
        <p:sp>
          <p:nvSpPr>
            <p:cNvPr id="10" name="TextBox 10"/>
            <p:cNvSpPr txBox="1"/>
            <p:nvPr/>
          </p:nvSpPr>
          <p:spPr>
            <a:xfrm>
              <a:off x="869442" y="2206942"/>
              <a:ext cx="347207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(sử dụng AI, đọc datasheet, tài liệu,…)</a:t>
              </a:r>
            </a:p>
          </p:txBody>
        </p:sp>
        <p:sp>
          <p:nvSpPr>
            <p:cNvPr id="11" name="TextBox 11"/>
            <p:cNvSpPr txBox="1"/>
            <p:nvPr/>
          </p:nvSpPr>
          <p:spPr>
            <a:xfrm>
              <a:off x="697992" y="2578418"/>
              <a:ext cx="4845799"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Nắm được cách hoạt động của các hệ thống, phân tầng</a:t>
              </a:r>
            </a:p>
          </p:txBody>
        </p:sp>
        <p:sp>
          <p:nvSpPr>
            <p:cNvPr id="12" name="TextBox 12"/>
            <p:cNvSpPr txBox="1"/>
            <p:nvPr/>
          </p:nvSpPr>
          <p:spPr>
            <a:xfrm>
              <a:off x="869442" y="2797492"/>
              <a:ext cx="253077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hệ thống, modul hóa khi code</a:t>
              </a:r>
            </a:p>
          </p:txBody>
        </p:sp>
        <p:sp>
          <p:nvSpPr>
            <p:cNvPr id="13" name="TextBox 13"/>
            <p:cNvSpPr txBox="1"/>
            <p:nvPr/>
          </p:nvSpPr>
          <p:spPr>
            <a:xfrm>
              <a:off x="697992" y="3168968"/>
              <a:ext cx="350061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Làm việc được và hiểu về các giao thức</a:t>
              </a:r>
            </a:p>
          </p:txBody>
        </p:sp>
        <p:sp>
          <p:nvSpPr>
            <p:cNvPr id="14" name="TextBox 14"/>
            <p:cNvSpPr txBox="1"/>
            <p:nvPr/>
          </p:nvSpPr>
          <p:spPr>
            <a:xfrm>
              <a:off x="869442" y="3388042"/>
              <a:ext cx="198196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(UART, I2C, KNX,...)</a:t>
              </a:r>
            </a:p>
          </p:txBody>
        </p:sp>
        <p:sp>
          <p:nvSpPr>
            <p:cNvPr id="15" name="TextBox 15"/>
            <p:cNvSpPr txBox="1"/>
            <p:nvPr/>
          </p:nvSpPr>
          <p:spPr>
            <a:xfrm>
              <a:off x="697992" y="3759518"/>
              <a:ext cx="4318668"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Debug được các case thực tế (nhiễu, sai điện áp</a:t>
              </a:r>
            </a:p>
          </p:txBody>
        </p:sp>
        <p:sp>
          <p:nvSpPr>
            <p:cNvPr id="16" name="TextBox 16"/>
            <p:cNvSpPr txBox="1"/>
            <p:nvPr/>
          </p:nvSpPr>
          <p:spPr>
            <a:xfrm>
              <a:off x="869442" y="3978592"/>
              <a:ext cx="125861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tham chiếu,…)</a:t>
              </a:r>
            </a:p>
          </p:txBody>
        </p:sp>
        <p:sp>
          <p:nvSpPr>
            <p:cNvPr id="17" name="TextBox 17"/>
            <p:cNvSpPr txBox="1"/>
            <p:nvPr/>
          </p:nvSpPr>
          <p:spPr>
            <a:xfrm>
              <a:off x="697992" y="4378642"/>
              <a:ext cx="126187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Kỹ năng mềm:</a:t>
              </a:r>
            </a:p>
          </p:txBody>
        </p:sp>
        <p:sp>
          <p:nvSpPr>
            <p:cNvPr id="18" name="TextBox 18"/>
            <p:cNvSpPr txBox="1"/>
            <p:nvPr/>
          </p:nvSpPr>
          <p:spPr>
            <a:xfrm>
              <a:off x="697992" y="4702492"/>
              <a:ext cx="5090857"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Tiếp tục cải thiện kỹ năng viết báo cáo, tư duy phản biện</a:t>
              </a:r>
            </a:p>
          </p:txBody>
        </p:sp>
        <p:sp>
          <p:nvSpPr>
            <p:cNvPr id="19" name="TextBox 19"/>
            <p:cNvSpPr txBox="1"/>
            <p:nvPr/>
          </p:nvSpPr>
          <p:spPr>
            <a:xfrm>
              <a:off x="697992" y="5073968"/>
              <a:ext cx="555430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Horenso tốt trong công việc, chủ động làm việc giữa các team</a:t>
              </a:r>
            </a:p>
          </p:txBody>
        </p:sp>
        <p:sp>
          <p:nvSpPr>
            <p:cNvPr id="20" name="TextBox 20"/>
            <p:cNvSpPr txBox="1"/>
            <p:nvPr/>
          </p:nvSpPr>
          <p:spPr>
            <a:xfrm>
              <a:off x="869442" y="5293042"/>
              <a:ext cx="301720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(Tester, Hardware, Software,…)</a:t>
              </a:r>
            </a:p>
          </p:txBody>
        </p:sp>
        <p:sp>
          <p:nvSpPr>
            <p:cNvPr id="21" name="TextBox 21"/>
            <p:cNvSpPr txBox="1"/>
            <p:nvPr/>
          </p:nvSpPr>
          <p:spPr>
            <a:xfrm>
              <a:off x="697992" y="5664518"/>
              <a:ext cx="537875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Hòa nhập được với văn hóa của Lumi trong và ngoài công việc</a:t>
              </a:r>
            </a:p>
          </p:txBody>
        </p:sp>
        <p:sp>
          <p:nvSpPr>
            <p:cNvPr id="22" name="TextBox 22"/>
            <p:cNvSpPr txBox="1"/>
            <p:nvPr/>
          </p:nvSpPr>
          <p:spPr>
            <a:xfrm>
              <a:off x="869442" y="5883592"/>
              <a:ext cx="307504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(thể thao, văn nghệ, MC, game,…)</a:t>
              </a:r>
            </a:p>
          </p:txBody>
        </p:sp>
      </p:grpSp>
      <p:grpSp>
        <p:nvGrpSpPr>
          <p:cNvPr id="35" name="Group 35"/>
          <p:cNvGrpSpPr/>
          <p:nvPr/>
        </p:nvGrpSpPr>
        <p:grpSpPr>
          <a:xfrm>
            <a:off x="6286500" y="1066800"/>
            <a:ext cx="5547028" cy="5391150"/>
            <a:chOff x="6286500" y="1066800"/>
            <a:chExt cx="5547028" cy="5391150"/>
          </a:xfrm>
        </p:grpSpPr>
        <p:sp>
          <p:nvSpPr>
            <p:cNvPr id="24" name="Rectangle 24"/>
            <p:cNvSpPr/>
            <p:nvPr/>
          </p:nvSpPr>
          <p:spPr>
            <a:xfrm>
              <a:off x="6286500" y="1066800"/>
              <a:ext cx="5391150" cy="5391150"/>
            </a:xfrm>
            <a:prstGeom prst="rect">
              <a:avLst/>
            </a:prstGeom>
            <a:solidFill>
              <a:schemeClr val="lt1"/>
            </a:solidFill>
            <a:ln w="19050">
              <a:solidFill>
                <a:schemeClr val="accent3"/>
              </a:solidFill>
            </a:ln>
          </p:spPr>
        </p:sp>
        <p:sp>
          <p:nvSpPr>
            <p:cNvPr id="25" name="Rectangle 25"/>
            <p:cNvSpPr/>
            <p:nvPr/>
          </p:nvSpPr>
          <p:spPr>
            <a:xfrm>
              <a:off x="6286500" y="1066800"/>
              <a:ext cx="5391150" cy="457200"/>
            </a:xfrm>
            <a:prstGeom prst="rect">
              <a:avLst/>
            </a:prstGeom>
            <a:solidFill>
              <a:schemeClr val="lt2"/>
            </a:solidFill>
            <a:ln>
              <a:noFill/>
            </a:ln>
          </p:spPr>
        </p:sp>
        <p:sp>
          <p:nvSpPr>
            <p:cNvPr id="26" name="TextBox 26"/>
            <p:cNvSpPr txBox="1"/>
            <p:nvPr/>
          </p:nvSpPr>
          <p:spPr>
            <a:xfrm>
              <a:off x="7316904" y="1209675"/>
              <a:ext cx="3330342"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Các hạn chế và khó khăn gặp phải</a:t>
              </a:r>
            </a:p>
          </p:txBody>
        </p:sp>
        <p:sp>
          <p:nvSpPr>
            <p:cNvPr id="27" name="TextBox 27"/>
            <p:cNvSpPr txBox="1"/>
            <p:nvPr/>
          </p:nvSpPr>
          <p:spPr>
            <a:xfrm>
              <a:off x="6470142" y="1806892"/>
              <a:ext cx="5275990"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Sử dụng AI nhiều nên không kiểm soát được hết source code</a:t>
              </a:r>
            </a:p>
          </p:txBody>
        </p:sp>
        <p:sp>
          <p:nvSpPr>
            <p:cNvPr id="28" name="TextBox 28"/>
            <p:cNvSpPr txBox="1"/>
            <p:nvPr/>
          </p:nvSpPr>
          <p:spPr>
            <a:xfrm>
              <a:off x="6641592" y="204501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(KNX Stack,…)</a:t>
              </a:r>
            </a:p>
          </p:txBody>
        </p:sp>
        <p:sp>
          <p:nvSpPr>
            <p:cNvPr id="29" name="TextBox 29"/>
            <p:cNvSpPr txBox="1"/>
            <p:nvPr/>
          </p:nvSpPr>
          <p:spPr>
            <a:xfrm>
              <a:off x="6470142" y="2616518"/>
              <a:ext cx="536338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Thiếu kinh nghiệm thực tế, không lường trước được các case</a:t>
              </a:r>
            </a:p>
          </p:txBody>
        </p:sp>
        <p:sp>
          <p:nvSpPr>
            <p:cNvPr id="30" name="TextBox 30"/>
            <p:cNvSpPr txBox="1"/>
            <p:nvPr/>
          </p:nvSpPr>
          <p:spPr>
            <a:xfrm>
              <a:off x="6641592" y="2854642"/>
              <a:ext cx="457697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có thể gặp phải (nhiễu khi đo ZCD, điện áp ref UART,</a:t>
              </a:r>
            </a:p>
          </p:txBody>
        </p:sp>
        <p:sp>
          <p:nvSpPr>
            <p:cNvPr id="31" name="TextBox 31"/>
            <p:cNvSpPr txBox="1"/>
            <p:nvPr/>
          </p:nvSpPr>
          <p:spPr>
            <a:xfrm>
              <a:off x="6641592" y="3092768"/>
              <a:ext cx="329406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cấu trúc các vùng nhớ trong flash,…)</a:t>
              </a:r>
            </a:p>
          </p:txBody>
        </p:sp>
        <p:sp>
          <p:nvSpPr>
            <p:cNvPr id="32" name="TextBox 32"/>
            <p:cNvSpPr txBox="1"/>
            <p:nvPr/>
          </p:nvSpPr>
          <p:spPr>
            <a:xfrm>
              <a:off x="6470142" y="3711892"/>
              <a:ext cx="4909028"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Chậm deadline, lên kế hoạch làm việc tuần tới chưa tốt</a:t>
              </a:r>
            </a:p>
          </p:txBody>
        </p:sp>
        <p:sp>
          <p:nvSpPr>
            <p:cNvPr id="33" name="TextBox 33"/>
            <p:cNvSpPr txBox="1"/>
            <p:nvPr/>
          </p:nvSpPr>
          <p:spPr>
            <a:xfrm>
              <a:off x="6470142" y="4378642"/>
              <a:ext cx="3409575"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Thiếu kiến thức chung về các thiết bị</a:t>
              </a:r>
            </a:p>
          </p:txBody>
        </p:sp>
        <p:sp>
          <p:nvSpPr>
            <p:cNvPr id="34" name="TextBox 34"/>
            <p:cNvSpPr txBox="1"/>
            <p:nvPr/>
          </p:nvSpPr>
          <p:spPr>
            <a:xfrm>
              <a:off x="6641592" y="4616768"/>
              <a:ext cx="30747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(Công tắc cảnh, rèm, actuator,…)</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247650"/>
            <a:ext cx="6603864" cy="579501"/>
            <a:chOff x="381000" y="247650"/>
            <a:chExt cx="6603864" cy="579501"/>
          </a:xfrm>
        </p:grpSpPr>
        <p:pic>
          <p:nvPicPr>
            <p:cNvPr id="2" name="Image 2"/>
            <p:cNvPicPr>
              <a:picLocks noChangeAspect="1"/>
            </p:cNvPicPr>
            <p:nvPr/>
          </p:nvPicPr>
          <p:blipFill>
            <a:blip r:embed="rId2"/>
            <a:stretch>
              <a:fillRect/>
            </a:stretch>
          </p:blipFill>
          <p:spPr>
            <a:xfrm>
              <a:off x="381000" y="247650"/>
              <a:ext cx="1238250" cy="361950"/>
            </a:xfrm>
            <a:prstGeom prst="rect">
              <a:avLst/>
            </a:prstGeom>
          </p:spPr>
        </p:pic>
        <p:sp>
          <p:nvSpPr>
            <p:cNvPr id="3" name="TextBox 3"/>
            <p:cNvSpPr txBox="1"/>
            <p:nvPr/>
          </p:nvSpPr>
          <p:spPr>
            <a:xfrm>
              <a:off x="3986784" y="299085"/>
              <a:ext cx="2998080"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Mục tiêu sắp tới</a:t>
              </a:r>
            </a:p>
          </p:txBody>
        </p:sp>
      </p:grpSp>
      <p:grpSp>
        <p:nvGrpSpPr>
          <p:cNvPr id="16" name="Group 16"/>
          <p:cNvGrpSpPr/>
          <p:nvPr/>
        </p:nvGrpSpPr>
        <p:grpSpPr>
          <a:xfrm>
            <a:off x="514350" y="1066800"/>
            <a:ext cx="5391150" cy="5391150"/>
            <a:chOff x="514350" y="1066800"/>
            <a:chExt cx="5391150" cy="5391150"/>
          </a:xfrm>
        </p:grpSpPr>
        <p:sp>
          <p:nvSpPr>
            <p:cNvPr id="5" name="Rectangle 5"/>
            <p:cNvSpPr/>
            <p:nvPr/>
          </p:nvSpPr>
          <p:spPr>
            <a:xfrm>
              <a:off x="514350" y="1066800"/>
              <a:ext cx="5391150" cy="5391150"/>
            </a:xfrm>
            <a:prstGeom prst="rect">
              <a:avLst/>
            </a:prstGeom>
            <a:solidFill>
              <a:schemeClr val="lt1"/>
            </a:solidFill>
            <a:ln w="19050">
              <a:solidFill>
                <a:schemeClr val="accent3"/>
              </a:solidFill>
            </a:ln>
          </p:spPr>
        </p:sp>
        <p:sp>
          <p:nvSpPr>
            <p:cNvPr id="6" name="Rectangle 6"/>
            <p:cNvSpPr/>
            <p:nvPr/>
          </p:nvSpPr>
          <p:spPr>
            <a:xfrm>
              <a:off x="514350" y="1066800"/>
              <a:ext cx="5391150" cy="514350"/>
            </a:xfrm>
            <a:prstGeom prst="rect">
              <a:avLst/>
            </a:prstGeom>
            <a:solidFill>
              <a:schemeClr val="lt2"/>
            </a:solidFill>
            <a:ln>
              <a:noFill/>
            </a:ln>
          </p:spPr>
        </p:sp>
        <p:sp>
          <p:nvSpPr>
            <p:cNvPr id="7" name="TextBox 7"/>
            <p:cNvSpPr txBox="1"/>
            <p:nvPr/>
          </p:nvSpPr>
          <p:spPr>
            <a:xfrm>
              <a:off x="1131146" y="1228725"/>
              <a:ext cx="4157558"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Ngắn hạn (cần thực hiện, cải thiện ngay)</a:t>
              </a:r>
            </a:p>
          </p:txBody>
        </p:sp>
        <p:sp>
          <p:nvSpPr>
            <p:cNvPr id="8" name="TextBox 8"/>
            <p:cNvSpPr txBox="1"/>
            <p:nvPr/>
          </p:nvSpPr>
          <p:spPr>
            <a:xfrm>
              <a:off x="697992" y="1797368"/>
              <a:ext cx="423899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Hoàn thành các công việc được giao dự án KNX:</a:t>
              </a:r>
            </a:p>
          </p:txBody>
        </p:sp>
        <p:sp>
          <p:nvSpPr>
            <p:cNvPr id="9" name="TextBox 9"/>
            <p:cNvSpPr txBox="1"/>
            <p:nvPr/>
          </p:nvSpPr>
          <p:spPr>
            <a:xfrm>
              <a:off x="697992" y="2197418"/>
              <a:ext cx="3858560"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Xử lý bug không thêm được nhiều GA secure</a:t>
              </a:r>
            </a:p>
          </p:txBody>
        </p:sp>
        <p:sp>
          <p:nvSpPr>
            <p:cNvPr id="10" name="TextBox 10"/>
            <p:cNvSpPr txBox="1"/>
            <p:nvPr/>
          </p:nvSpPr>
          <p:spPr>
            <a:xfrm>
              <a:off x="697992" y="2578418"/>
              <a:ext cx="3019180"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Review + refactor code mỗi ngày</a:t>
              </a:r>
            </a:p>
          </p:txBody>
        </p:sp>
        <p:sp>
          <p:nvSpPr>
            <p:cNvPr id="11" name="TextBox 11"/>
            <p:cNvSpPr txBox="1"/>
            <p:nvPr/>
          </p:nvSpPr>
          <p:spPr>
            <a:xfrm>
              <a:off x="697992" y="2959418"/>
              <a:ext cx="422759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Hoàn thành firmware các thiết bị rèm, KNOB,</a:t>
              </a:r>
            </a:p>
          </p:txBody>
        </p:sp>
        <p:sp>
          <p:nvSpPr>
            <p:cNvPr id="12" name="TextBox 12"/>
            <p:cNvSpPr txBox="1"/>
            <p:nvPr/>
          </p:nvSpPr>
          <p:spPr>
            <a:xfrm>
              <a:off x="869442" y="3188018"/>
              <a:ext cx="19024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Công tắc cảnh + KNOB</a:t>
              </a:r>
            </a:p>
          </p:txBody>
        </p:sp>
        <p:sp>
          <p:nvSpPr>
            <p:cNvPr id="13" name="TextBox 13"/>
            <p:cNvSpPr txBox="1"/>
            <p:nvPr/>
          </p:nvSpPr>
          <p:spPr>
            <a:xfrm>
              <a:off x="697992" y="3607118"/>
              <a:ext cx="5043128"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Thực hiện lên kế hoạch công việc đầy đủ =&gt; Nếu chưa biết</a:t>
              </a:r>
            </a:p>
          </p:txBody>
        </p:sp>
        <p:sp>
          <p:nvSpPr>
            <p:cNvPr id="14" name="TextBox 14"/>
            <p:cNvSpPr txBox="1"/>
            <p:nvPr/>
          </p:nvSpPr>
          <p:spPr>
            <a:xfrm>
              <a:off x="869442" y="3835718"/>
              <a:ext cx="49482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phải làn gì tiếp theo cần Horenso hỏi ý kiến PM nhiều hơn</a:t>
              </a:r>
            </a:p>
          </p:txBody>
        </p:sp>
        <p:sp>
          <p:nvSpPr>
            <p:cNvPr id="15" name="TextBox 15"/>
            <p:cNvSpPr txBox="1"/>
            <p:nvPr/>
          </p:nvSpPr>
          <p:spPr>
            <a:xfrm>
              <a:off x="697992" y="4350068"/>
              <a:ext cx="448213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Nắm vững hơn về quy trình làm việc giữa các team</a:t>
              </a:r>
            </a:p>
          </p:txBody>
        </p:sp>
      </p:grpSp>
      <p:grpSp>
        <p:nvGrpSpPr>
          <p:cNvPr id="29" name="Group 29"/>
          <p:cNvGrpSpPr/>
          <p:nvPr/>
        </p:nvGrpSpPr>
        <p:grpSpPr>
          <a:xfrm>
            <a:off x="6286500" y="1066800"/>
            <a:ext cx="5748223" cy="5391150"/>
            <a:chOff x="6286500" y="1066800"/>
            <a:chExt cx="5748223" cy="5391150"/>
          </a:xfrm>
        </p:grpSpPr>
        <p:sp>
          <p:nvSpPr>
            <p:cNvPr id="17" name="Rectangle 17"/>
            <p:cNvSpPr/>
            <p:nvPr/>
          </p:nvSpPr>
          <p:spPr>
            <a:xfrm>
              <a:off x="6286500" y="1066800"/>
              <a:ext cx="5391150" cy="5391150"/>
            </a:xfrm>
            <a:prstGeom prst="rect">
              <a:avLst/>
            </a:prstGeom>
            <a:solidFill>
              <a:schemeClr val="lt1"/>
            </a:solidFill>
            <a:ln w="19050">
              <a:solidFill>
                <a:schemeClr val="accent3"/>
              </a:solidFill>
            </a:ln>
          </p:spPr>
        </p:sp>
        <p:sp>
          <p:nvSpPr>
            <p:cNvPr id="18" name="Rectangle 18"/>
            <p:cNvSpPr/>
            <p:nvPr/>
          </p:nvSpPr>
          <p:spPr>
            <a:xfrm>
              <a:off x="6286500" y="1066800"/>
              <a:ext cx="5391150" cy="514350"/>
            </a:xfrm>
            <a:prstGeom prst="rect">
              <a:avLst/>
            </a:prstGeom>
            <a:solidFill>
              <a:schemeClr val="lt2"/>
            </a:solidFill>
            <a:ln>
              <a:noFill/>
            </a:ln>
          </p:spPr>
        </p:sp>
        <p:sp>
          <p:nvSpPr>
            <p:cNvPr id="19" name="TextBox 19"/>
            <p:cNvSpPr txBox="1"/>
            <p:nvPr/>
          </p:nvSpPr>
          <p:spPr>
            <a:xfrm>
              <a:off x="8615960" y="1228725"/>
              <a:ext cx="732230"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Dài hạn</a:t>
              </a:r>
            </a:p>
          </p:txBody>
        </p:sp>
        <p:sp>
          <p:nvSpPr>
            <p:cNvPr id="20" name="TextBox 20"/>
            <p:cNvSpPr txBox="1"/>
            <p:nvPr/>
          </p:nvSpPr>
          <p:spPr>
            <a:xfrm>
              <a:off x="6470142" y="1854518"/>
              <a:ext cx="5218237"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Tiếp tục nâng cao tư duy hệ thống nói chung, và hiểu thêm</a:t>
              </a:r>
            </a:p>
          </p:txBody>
        </p:sp>
        <p:sp>
          <p:nvSpPr>
            <p:cNvPr id="21" name="TextBox 21"/>
            <p:cNvSpPr txBox="1"/>
            <p:nvPr/>
          </p:nvSpPr>
          <p:spPr>
            <a:xfrm>
              <a:off x="6641592" y="2092642"/>
              <a:ext cx="213726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hệ thống Lumi nói riêng.</a:t>
              </a:r>
            </a:p>
          </p:txBody>
        </p:sp>
        <p:sp>
          <p:nvSpPr>
            <p:cNvPr id="22" name="TextBox 22"/>
            <p:cNvSpPr txBox="1"/>
            <p:nvPr/>
          </p:nvSpPr>
          <p:spPr>
            <a:xfrm>
              <a:off x="6470142" y="2635568"/>
              <a:ext cx="4739940"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Tiếp tục nâng cao kỹ năng sử dụng AI trong công việc</a:t>
              </a:r>
            </a:p>
          </p:txBody>
        </p:sp>
        <p:sp>
          <p:nvSpPr>
            <p:cNvPr id="23" name="TextBox 23"/>
            <p:cNvSpPr txBox="1"/>
            <p:nvPr/>
          </p:nvSpPr>
          <p:spPr>
            <a:xfrm>
              <a:off x="6641592" y="2873692"/>
              <a:ext cx="53931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(prompt, xây dựng tài liệu, kiến trúc, skills, workflows,…).</a:t>
              </a:r>
            </a:p>
          </p:txBody>
        </p:sp>
        <p:sp>
          <p:nvSpPr>
            <p:cNvPr id="24" name="TextBox 24"/>
            <p:cNvSpPr txBox="1"/>
            <p:nvPr/>
          </p:nvSpPr>
          <p:spPr>
            <a:xfrm>
              <a:off x="6470142" y="3416618"/>
              <a:ext cx="5312471"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Thực hiện việc review code AI mỗi ngày, đảm bảo chất lượng</a:t>
              </a:r>
            </a:p>
          </p:txBody>
        </p:sp>
        <p:sp>
          <p:nvSpPr>
            <p:cNvPr id="25" name="TextBox 25"/>
            <p:cNvSpPr txBox="1"/>
            <p:nvPr/>
          </p:nvSpPr>
          <p:spPr>
            <a:xfrm>
              <a:off x="6641592" y="3654742"/>
              <a:ext cx="228542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code, kiến trúc hệ thống.</a:t>
              </a:r>
            </a:p>
          </p:txBody>
        </p:sp>
        <p:sp>
          <p:nvSpPr>
            <p:cNvPr id="26" name="TextBox 26"/>
            <p:cNvSpPr txBox="1"/>
            <p:nvPr/>
          </p:nvSpPr>
          <p:spPr>
            <a:xfrm>
              <a:off x="6470142" y="4197668"/>
              <a:ext cx="5136699"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en-US" sz="1350" dirty="0">
                  <a:solidFill>
                    <a:schemeClr val="dk1"/>
                  </a:solidFill>
                  <a:latin typeface="+mn-lt"/>
                  <a:ea typeface="+mn-ea"/>
                  <a:cs typeface="+mn-cs"/>
                </a:rPr>
                <a:t>Tiếp tục cải thiện kiến thức chuyên sâu về MCU thông qua</a:t>
              </a:r>
            </a:p>
          </p:txBody>
        </p:sp>
        <p:sp>
          <p:nvSpPr>
            <p:cNvPr id="27" name="TextBox 27"/>
            <p:cNvSpPr txBox="1"/>
            <p:nvPr/>
          </p:nvSpPr>
          <p:spPr>
            <a:xfrm>
              <a:off x="6641592" y="4435792"/>
              <a:ext cx="482066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các dự án và đồ án thực tế (các giao thức, thuật toán,</a:t>
              </a:r>
            </a:p>
          </p:txBody>
        </p:sp>
        <p:sp>
          <p:nvSpPr>
            <p:cNvPr id="28" name="TextBox 28"/>
            <p:cNvSpPr txBox="1"/>
            <p:nvPr/>
          </p:nvSpPr>
          <p:spPr>
            <a:xfrm>
              <a:off x="6641592" y="4673918"/>
              <a:ext cx="14857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xử lý tín hiệu,…)</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00050" y="323850"/>
            <a:ext cx="1562100" cy="457200"/>
          </a:xfrm>
          <a:prstGeom prst="rect">
            <a:avLst/>
          </a:prstGeom>
        </p:spPr>
      </p:pic>
      <p:grpSp>
        <p:nvGrpSpPr>
          <p:cNvPr id="4" name="Group 4"/>
          <p:cNvGrpSpPr/>
          <p:nvPr/>
        </p:nvGrpSpPr>
        <p:grpSpPr>
          <a:xfrm>
            <a:off x="1224534" y="3042285"/>
            <a:ext cx="1390802" cy="528066"/>
            <a:chOff x="1224534" y="3042285"/>
            <a:chExt cx="1390802" cy="528066"/>
          </a:xfrm>
        </p:grpSpPr>
        <p:sp>
          <p:nvSpPr>
            <p:cNvPr id="3" name="TextBox 3"/>
            <p:cNvSpPr txBox="1"/>
            <p:nvPr/>
          </p:nvSpPr>
          <p:spPr>
            <a:xfrm>
              <a:off x="1224534" y="3042285"/>
              <a:ext cx="1390802" cy="528066"/>
            </a:xfrm>
            <a:prstGeom prst="rect">
              <a:avLst/>
            </a:prstGeom>
            <a:noFill/>
            <a:ln>
              <a:noFill/>
            </a:ln>
          </p:spPr>
          <p:txBody>
            <a:bodyPr wrap="none" lIns="0" tIns="0" rIns="0" bIns="0" anchor="t" anchorCtr="0">
              <a:spAutoFit/>
            </a:bodyPr>
            <a:lstStyle/>
            <a:p>
              <a:pPr algn="l"/>
              <a:r>
                <a:rPr lang="en-US" sz="2700" dirty="0">
                  <a:solidFill>
                    <a:srgbClr val="FFFFFF"/>
                  </a:solidFill>
                  <a:latin typeface="+mn-lt"/>
                  <a:ea typeface="+mn-ea"/>
                  <a:cs typeface="+mn-cs"/>
                </a:rPr>
                <a:t>CẢM ƠN!</a:t>
              </a:r>
            </a:p>
          </p:txBody>
        </p:sp>
      </p:grpSp>
      <p:grpSp>
        <p:nvGrpSpPr>
          <p:cNvPr id="6" name="Group 6"/>
          <p:cNvGrpSpPr/>
          <p:nvPr/>
        </p:nvGrpSpPr>
        <p:grpSpPr>
          <a:xfrm>
            <a:off x="5334000" y="476250"/>
            <a:ext cx="5715000" cy="5715000"/>
            <a:chOff x="5334000" y="476250"/>
            <a:chExt cx="5715000" cy="5715000"/>
          </a:xfrm>
        </p:grpSpPr>
        <p:pic>
          <p:nvPicPr>
            <p:cNvPr id="5" name="Image 5"/>
            <p:cNvPicPr>
              <a:picLocks noChangeAspect="1"/>
            </p:cNvPicPr>
            <p:nvPr/>
          </p:nvPicPr>
          <p:blipFill>
            <a:blip r:embed="rId3"/>
            <a:stretch>
              <a:fillRect/>
            </a:stretch>
          </p:blipFill>
          <p:spPr>
            <a:xfrm>
              <a:off x="5334000" y="476250"/>
              <a:ext cx="5715000" cy="5715000"/>
            </a:xfrm>
            <a:prstGeom prst="rect">
              <a:avLst/>
            </a:prstGeom>
          </p:spPr>
        </p:pic>
      </p:grpSp>
      <p:grpSp>
        <p:nvGrpSpPr>
          <p:cNvPr id="10" name="Group 10"/>
          <p:cNvGrpSpPr/>
          <p:nvPr/>
        </p:nvGrpSpPr>
        <p:grpSpPr>
          <a:xfrm>
            <a:off x="6572250" y="1238250"/>
            <a:ext cx="3714750" cy="3597213"/>
            <a:chOff x="6572250" y="1238250"/>
            <a:chExt cx="3714750" cy="3597213"/>
          </a:xfrm>
        </p:grpSpPr>
        <p:pic>
          <p:nvPicPr>
            <p:cNvPr id="7" name="Image 7"/>
            <p:cNvPicPr>
              <a:picLocks noChangeAspect="1"/>
            </p:cNvPicPr>
            <p:nvPr/>
          </p:nvPicPr>
          <p:blipFill>
            <a:blip r:embed="rId4"/>
            <a:stretch>
              <a:fillRect/>
            </a:stretch>
          </p:blipFill>
          <p:spPr>
            <a:xfrm>
              <a:off x="6572250" y="1736787"/>
              <a:ext cx="1619250" cy="3098676"/>
            </a:xfrm>
            <a:prstGeom prst="rect">
              <a:avLst/>
            </a:prstGeom>
          </p:spPr>
        </p:pic>
        <p:pic>
          <p:nvPicPr>
            <p:cNvPr id="8" name="Image 8"/>
            <p:cNvPicPr>
              <a:picLocks noChangeAspect="1"/>
            </p:cNvPicPr>
            <p:nvPr/>
          </p:nvPicPr>
          <p:blipFill>
            <a:blip r:embed="rId5"/>
            <a:stretch>
              <a:fillRect/>
            </a:stretch>
          </p:blipFill>
          <p:spPr>
            <a:xfrm>
              <a:off x="7810500" y="1238250"/>
              <a:ext cx="1619250" cy="3476625"/>
            </a:xfrm>
            <a:prstGeom prst="rect">
              <a:avLst/>
            </a:prstGeom>
          </p:spPr>
        </p:pic>
        <p:pic>
          <p:nvPicPr>
            <p:cNvPr id="9" name="Image 9"/>
            <p:cNvPicPr>
              <a:picLocks noChangeAspect="1"/>
            </p:cNvPicPr>
            <p:nvPr/>
          </p:nvPicPr>
          <p:blipFill>
            <a:blip r:embed="rId6"/>
            <a:stretch>
              <a:fillRect/>
            </a:stretch>
          </p:blipFill>
          <p:spPr>
            <a:xfrm>
              <a:off x="8858250" y="1818409"/>
              <a:ext cx="1428750" cy="2840182"/>
            </a:xfrm>
            <a:prstGeom prst="rect">
              <a:avLst/>
            </a:prstGeom>
          </p:spPr>
        </p:pic>
      </p:grpSp>
      <p:sp>
        <p:nvSpPr>
          <p:cNvPr id="11" name="TextBox 11"/>
          <p:cNvSpPr txBox="1"/>
          <p:nvPr/>
        </p:nvSpPr>
        <p:spPr>
          <a:xfrm>
            <a:off x="393954" y="6290310"/>
            <a:ext cx="103799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www.lumi.vn</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review_nhan_su_alignment">
  <a:themeElements>
    <a:clrScheme name="review_nhan_su_alignment">
      <a:dk1>
        <a:srgbClr val="1F2329"/>
      </a:dk1>
      <a:lt1>
        <a:srgbClr val="FFFFFF"/>
      </a:lt1>
      <a:dk2>
        <a:srgbClr val="1F497D"/>
      </a:dk2>
      <a:lt2>
        <a:srgbClr val="F4F7F5"/>
      </a:lt2>
      <a:accent1>
        <a:srgbClr val="008C4F"/>
      </a:accent1>
      <a:accent2>
        <a:srgbClr val="1456F0"/>
      </a:accent2>
      <a:accent3>
        <a:srgbClr val="DDDEDF"/>
      </a:accent3>
      <a:accent4>
        <a:srgbClr val="008C4F"/>
      </a:accent4>
      <a:accent5>
        <a:srgbClr val="4BACC6"/>
      </a:accent5>
      <a:accent6>
        <a:srgbClr val="F79646"/>
      </a:accent6>
      <a:hlink>
        <a:srgbClr val="1456F0"/>
      </a:hlink>
      <a:folHlink>
        <a:srgbClr val="DDDEDF"/>
      </a:folHlink>
    </a:clrScheme>
    <a:fontScheme name="review_nhan_su_alignmen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view_nhan_su_align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review_nhan_su_alignment">
  <a:themeElements>
    <a:clrScheme name="review_nhan_su_alignment">
      <a:dk1>
        <a:srgbClr val="1F2329"/>
      </a:dk1>
      <a:lt1>
        <a:srgbClr val="FFFFFF"/>
      </a:lt1>
      <a:dk2>
        <a:srgbClr val="1F497D"/>
      </a:dk2>
      <a:lt2>
        <a:srgbClr val="F4F7F5"/>
      </a:lt2>
      <a:accent1>
        <a:srgbClr val="008C4F"/>
      </a:accent1>
      <a:accent2>
        <a:srgbClr val="1456F0"/>
      </a:accent2>
      <a:accent3>
        <a:srgbClr val="DDDEDF"/>
      </a:accent3>
      <a:accent4>
        <a:srgbClr val="008C4F"/>
      </a:accent4>
      <a:accent5>
        <a:srgbClr val="4BACC6"/>
      </a:accent5>
      <a:accent6>
        <a:srgbClr val="F79646"/>
      </a:accent6>
      <a:hlink>
        <a:srgbClr val="1456F0"/>
      </a:hlink>
      <a:folHlink>
        <a:srgbClr val="DDDEDF"/>
      </a:folHlink>
    </a:clrScheme>
    <a:fontScheme name="review_nhan_su_alignmen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view_nhan_su_align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2026-07-22T13:24:12Z</dcterms:created>
  <dcterms:modified xsi:type="dcterms:W3CDTF">2026-07-22T13:24:12Z</dcterms:modified>
  <cp:category/>
  <cp:contentStatus/>
</cp:coreProperties>
</file>